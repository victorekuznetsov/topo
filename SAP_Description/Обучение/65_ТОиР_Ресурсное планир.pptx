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1389" r:id="rId5"/>
    <p:sldId id="1417" r:id="rId6"/>
    <p:sldId id="1514" r:id="rId7"/>
    <p:sldId id="1515" r:id="rId8"/>
    <p:sldId id="1516" r:id="rId9"/>
    <p:sldId id="1517" r:id="rId10"/>
    <p:sldId id="1392" r:id="rId11"/>
    <p:sldId id="1414" r:id="rId12"/>
    <p:sldId id="1518" r:id="rId13"/>
    <p:sldId id="1431" r:id="rId14"/>
    <p:sldId id="1432" r:id="rId15"/>
    <p:sldId id="1413" r:id="rId16"/>
    <p:sldId id="1440" r:id="rId17"/>
    <p:sldId id="1522" r:id="rId18"/>
    <p:sldId id="1456" r:id="rId19"/>
    <p:sldId id="1519" r:id="rId20"/>
    <p:sldId id="1520" r:id="rId21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B8"/>
    <a:srgbClr val="C00937"/>
    <a:srgbClr val="595959"/>
    <a:srgbClr val="EAEFF7"/>
    <a:srgbClr val="19938A"/>
    <a:srgbClr val="FAC90B"/>
    <a:srgbClr val="F6CC0C"/>
    <a:srgbClr val="FBC90B"/>
    <a:srgbClr val="C80000"/>
    <a:srgbClr val="642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74555" autoAdjust="0"/>
  </p:normalViewPr>
  <p:slideViewPr>
    <p:cSldViewPr snapToGrid="0" showGuides="1">
      <p:cViewPr varScale="1">
        <p:scale>
          <a:sx n="89" d="100"/>
          <a:sy n="89" d="100"/>
        </p:scale>
        <p:origin x="1267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11.12.2019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11.12.2019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08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69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05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Мандант</a:t>
            </a:r>
            <a:r>
              <a:rPr lang="ru-RU" dirty="0"/>
              <a:t> – это организационная единица в SAP-системе, которая является самостоятельной с правовой и организационной точки зрения и имеет собственные основные записи и независимый набор таблиц. Например, мандант может представлять концерн. Мандант представляет собой самый высокий уровень иерархии в SAP-системе. Спецификации или данные, которые создаются и вводятся на этом уровне, относятся ко всем балансовым единицам и всем прочим организационным единицам. Поэтому не следует более одного раза вводить в систему спецификации и данные на уровне манданта. Соблюдение этого требования обеспечивает </a:t>
            </a:r>
            <a:r>
              <a:rPr lang="ru-RU" dirty="0" err="1"/>
              <a:t>унифицированность</a:t>
            </a:r>
            <a:r>
              <a:rPr lang="ru-RU" dirty="0"/>
              <a:t> данных.</a:t>
            </a:r>
          </a:p>
          <a:p>
            <a:r>
              <a:rPr lang="ru-RU" dirty="0"/>
              <a:t>Полномочия на доступ присваиваются в зависимости от манданта. Для каждого пользователя в рамках того манданта, где он работает, должна быть создана отдельная основная запись пользователя. Если поле Мандант не было заполнено по умолчанию, каждый пользователь при входе в SAP-систему должен указать код манданта. Так пользователь определяет мандант, в котором будет работать. Хранение, обработка и анализ всех данных, которые вводятся пользователем, осуществляются в зависимости от манданта. Мандант однозначно определяется в системе с помощью трехзначного числового кода.</a:t>
            </a:r>
          </a:p>
          <a:p>
            <a:endParaRPr lang="ru-RU" dirty="0"/>
          </a:p>
          <a:p>
            <a:r>
              <a:rPr lang="ru-RU" b="1" dirty="0"/>
              <a:t>Балансовая единица</a:t>
            </a:r>
            <a:r>
              <a:rPr lang="ru-RU" dirty="0"/>
              <a:t> является наименьшей организационной единицей внешнего учета и отчетности, для которой можно выполнить ведение полной автономной системы бухгалтерского учета. Балансовая единица представляет собой независимую единицу системы со своим собственным балансом (например, компанию внутри концерна (манданта)). В одном манданте можно создать несколько балансовых единиц, чтобы хранить отдельные наборы счетов.</a:t>
            </a:r>
          </a:p>
          <a:p>
            <a:r>
              <a:rPr lang="ru-RU" dirty="0"/>
              <a:t>Балансовая единица определяется в системе посредством </a:t>
            </a:r>
            <a:r>
              <a:rPr lang="ru-RU" dirty="0" err="1"/>
              <a:t>четырехсимвольного</a:t>
            </a:r>
            <a:r>
              <a:rPr lang="ru-RU" dirty="0"/>
              <a:t> буквенно-цифрового кода, который является уникальным в данном манданте.</a:t>
            </a:r>
          </a:p>
          <a:p>
            <a:endParaRPr lang="ru-RU" dirty="0"/>
          </a:p>
          <a:p>
            <a:r>
              <a:rPr lang="ru-RU" b="1" dirty="0"/>
              <a:t>Заводы</a:t>
            </a:r>
            <a:r>
              <a:rPr lang="ru-RU" dirty="0"/>
              <a:t> являются организационными единицами логистики, на которые предприятие подразделяется с точки зрения производства, заготовки, технического обслуживания, ремонта оборудования и планирования потребности в материалах. Завод определяется в системе посредством </a:t>
            </a:r>
            <a:r>
              <a:rPr lang="ru-RU" dirty="0" err="1"/>
              <a:t>четырехсимвольного</a:t>
            </a:r>
            <a:r>
              <a:rPr lang="ru-RU" dirty="0"/>
              <a:t> буквенно-цифрового кода, который является уникальным в данном манданте.</a:t>
            </a:r>
          </a:p>
          <a:p>
            <a:endParaRPr lang="ru-RU" dirty="0"/>
          </a:p>
          <a:p>
            <a:r>
              <a:rPr lang="ru-RU" b="1" dirty="0"/>
              <a:t>Склад</a:t>
            </a:r>
            <a:r>
              <a:rPr lang="ru-RU" dirty="0"/>
              <a:t> – это организационная единица логистики, которая позволяет дифференцировать запасы материалов в рамках завода. Управление запасами в количественном отношении осуществляется на заводе на уровне склада. </a:t>
            </a:r>
          </a:p>
          <a:p>
            <a:r>
              <a:rPr lang="ru-RU" dirty="0"/>
              <a:t>Инвентаризация также производится на этом уровне. Склад определяется посредством </a:t>
            </a:r>
            <a:r>
              <a:rPr lang="ru-RU" dirty="0" err="1"/>
              <a:t>четырехсимвольного</a:t>
            </a:r>
            <a:r>
              <a:rPr lang="ru-RU" dirty="0"/>
              <a:t> буквенно-цифрового кода. Код склада является уникальным в рамках завода.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510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366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215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endParaRPr lang="ru-RU" sz="1000" b="1" kern="1200" cap="all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– организационная единица, представляющая собой территориально обособленную совокупность запасов материалов, планирующее и производящее подразделение предприятия, применяющее отличный от других подразделений метод учета или планирования потребности в материалах.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Завода ведется множество управляющих параметров, определяющих способы планирования МПЗ, их заготовки, сбытовые, производственные ракурсы, данные оценки,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т.ч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бухгалтерские параметры.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является уровнем оценки запаса материалов, т.е. оценка материала на каждом заводе производится по собственной цене,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т.ч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 использованием отдельных бухгалтерских счетов при необходимости.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присваивается одной Балансовой Единице.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в каждой балансовой единице предполагается создать отдельные заводы для производственных площадок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 (включая порты), филиалов и управляющих офисов; производственных заводов: ГТК,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фабрик, аффинажных заводов.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производственных заводах будет вестись учет запасов только по основной производимой продукции, НЗП и полуфабрикатам основного производства.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Основная производственная площадка (ГОК) в БЕ кодируется аналогично БЕ;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для аффинажной переработки в КЗЦМ кодируется как XXXA, где ХХХ – три первых символа кода БЕ;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Остальные заводы кодируются как ХХХ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ХХХ – три первых символа кода БЕ, 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последовательная нумерация (сначала цифрами, затем латинскими буквами) пропуская XXXA. Сначала кодируются производственные заводы в последовательности: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ГТК. После производственных кодируются остальные заводы: производственные площадки (кроме основной), управляющие офисы и филиалы, перевалочные базы и порты.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568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735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Разделитель 2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535" y="655411"/>
            <a:ext cx="7886700" cy="1325563"/>
          </a:xfrm>
        </p:spPr>
        <p:txBody>
          <a:bodyPr>
            <a:normAutofit/>
          </a:bodyPr>
          <a:lstStyle>
            <a:lvl1pPr>
              <a:defRPr sz="3800">
                <a:solidFill>
                  <a:srgbClr val="FCC917"/>
                </a:solidFill>
                <a:latin typeface="Calibri Body"/>
              </a:defRPr>
            </a:lvl1pPr>
          </a:lstStyle>
          <a:p>
            <a:r>
              <a:rPr lang="ru-RU" sz="3800" b="1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ЗАГОЛОВОК</a:t>
            </a: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СЛАЙДА-РАЗДЕЛИТЕЛЯ</a:t>
            </a:r>
            <a:endParaRPr lang="en-US" sz="3800" b="1" dirty="0">
              <a:solidFill>
                <a:srgbClr val="FCC917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35" y="6161497"/>
            <a:ext cx="2190375" cy="49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9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73658" y="2619706"/>
            <a:ext cx="7940712" cy="917124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br>
              <a:rPr lang="ru-RU" sz="4000" dirty="0" smtClean="0"/>
            </a:br>
            <a:r>
              <a:rPr lang="ru-RU" sz="4000" dirty="0"/>
              <a:t/>
            </a:r>
            <a:br>
              <a:rPr lang="ru-RU" sz="4000" dirty="0"/>
            </a:br>
            <a:r>
              <a:rPr lang="ru-RU" sz="3100" b="0" dirty="0" smtClean="0"/>
              <a:t>65_ТОиР «Ресурсное </a:t>
            </a:r>
            <a:r>
              <a:rPr lang="ru-RU" sz="3100" b="0" dirty="0"/>
              <a:t>планирование ТОРО (</a:t>
            </a:r>
            <a:r>
              <a:rPr lang="en-US" sz="3100" b="0" dirty="0"/>
              <a:t>MRS)</a:t>
            </a:r>
            <a:r>
              <a:rPr lang="ru-RU" sz="3100" b="0" dirty="0" smtClean="0"/>
              <a:t>»</a:t>
            </a:r>
            <a:endParaRPr lang="en-US" sz="3100" b="0" dirty="0"/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+mn-lt"/>
              </a:rPr>
              <a:t>Основные элементы организационной структуры ТОиР </a:t>
            </a:r>
            <a:r>
              <a:rPr lang="en-US" sz="3600" dirty="0" smtClean="0">
                <a:latin typeface="+mn-lt"/>
              </a:rPr>
              <a:t>S/4 HANA</a:t>
            </a:r>
            <a:endParaRPr 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95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8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13634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4493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28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Объект 67">
            <a:extLst>
              <a:ext uri="{FF2B5EF4-FFF2-40B4-BE49-F238E27FC236}">
                <a16:creationId xmlns:a16="http://schemas.microsoft.com/office/drawing/2014/main" xmlns="" id="{79C35A4D-ADDC-4C3A-AD0C-D7B4984C666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Архитектура 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MRS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dirty="0"/>
          </a:p>
        </p:txBody>
      </p:sp>
      <p:sp>
        <p:nvSpPr>
          <p:cNvPr id="69" name="Rectangle 11">
            <a:extLst>
              <a:ext uri="{FF2B5EF4-FFF2-40B4-BE49-F238E27FC236}">
                <a16:creationId xmlns:a16="http://schemas.microsoft.com/office/drawing/2014/main" xmlns="" id="{61DD9FD3-FDE8-4C8A-A549-8E4E6CE7710B}"/>
              </a:ext>
            </a:extLst>
          </p:cNvPr>
          <p:cNvSpPr/>
          <p:nvPr/>
        </p:nvSpPr>
        <p:spPr>
          <a:xfrm>
            <a:off x="1371600" y="1390650"/>
            <a:ext cx="6629400" cy="4929469"/>
          </a:xfrm>
          <a:prstGeom prst="rect">
            <a:avLst/>
          </a:prstGeom>
          <a:solidFill>
            <a:srgbClr val="DFDD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SAP HANA S/4</a:t>
            </a:r>
          </a:p>
        </p:txBody>
      </p:sp>
      <p:sp>
        <p:nvSpPr>
          <p:cNvPr id="70" name="Rectangle 12">
            <a:extLst>
              <a:ext uri="{FF2B5EF4-FFF2-40B4-BE49-F238E27FC236}">
                <a16:creationId xmlns:a16="http://schemas.microsoft.com/office/drawing/2014/main" xmlns="" id="{B14D9560-992B-452E-AC4C-9EB4D0AB3925}"/>
              </a:ext>
            </a:extLst>
          </p:cNvPr>
          <p:cNvSpPr/>
          <p:nvPr/>
        </p:nvSpPr>
        <p:spPr>
          <a:xfrm>
            <a:off x="2743202" y="2808659"/>
            <a:ext cx="4829173" cy="185345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MRS</a:t>
            </a:r>
          </a:p>
        </p:txBody>
      </p:sp>
      <p:sp>
        <p:nvSpPr>
          <p:cNvPr id="71" name="Rectangle 13">
            <a:extLst>
              <a:ext uri="{FF2B5EF4-FFF2-40B4-BE49-F238E27FC236}">
                <a16:creationId xmlns:a16="http://schemas.microsoft.com/office/drawing/2014/main" xmlns="" id="{E9B368B4-780C-4651-B839-4DEC0569442D}"/>
              </a:ext>
            </a:extLst>
          </p:cNvPr>
          <p:cNvSpPr/>
          <p:nvPr/>
        </p:nvSpPr>
        <p:spPr>
          <a:xfrm>
            <a:off x="2895614" y="3200410"/>
            <a:ext cx="1414094" cy="53335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Потребности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2" name="Rectangle 14">
            <a:extLst>
              <a:ext uri="{FF2B5EF4-FFF2-40B4-BE49-F238E27FC236}">
                <a16:creationId xmlns:a16="http://schemas.microsoft.com/office/drawing/2014/main" xmlns="" id="{BB924CF4-FAB1-4F76-AD81-AAD997F8B68C}"/>
              </a:ext>
            </a:extLst>
          </p:cNvPr>
          <p:cNvSpPr/>
          <p:nvPr/>
        </p:nvSpPr>
        <p:spPr>
          <a:xfrm>
            <a:off x="2895613" y="3933980"/>
            <a:ext cx="1414094" cy="53335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Ресурсы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xmlns="" id="{58B5655C-64F9-4A90-B348-71EB6E489EC5}"/>
              </a:ext>
            </a:extLst>
          </p:cNvPr>
          <p:cNvSpPr/>
          <p:nvPr/>
        </p:nvSpPr>
        <p:spPr>
          <a:xfrm>
            <a:off x="5846627" y="3200409"/>
            <a:ext cx="1414094" cy="53335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Назначения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4" name="Rectangle 17">
            <a:extLst>
              <a:ext uri="{FF2B5EF4-FFF2-40B4-BE49-F238E27FC236}">
                <a16:creationId xmlns:a16="http://schemas.microsoft.com/office/drawing/2014/main" xmlns="" id="{5BC7A077-C45A-4A5B-AAC1-CB31387CA3E0}"/>
              </a:ext>
            </a:extLst>
          </p:cNvPr>
          <p:cNvSpPr/>
          <p:nvPr/>
        </p:nvSpPr>
        <p:spPr>
          <a:xfrm>
            <a:off x="2341048" y="1616690"/>
            <a:ext cx="925775" cy="870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18">
            <a:extLst>
              <a:ext uri="{FF2B5EF4-FFF2-40B4-BE49-F238E27FC236}">
                <a16:creationId xmlns:a16="http://schemas.microsoft.com/office/drawing/2014/main" xmlns="" id="{4A8FFAED-3207-45D8-BC14-E77ABB1AA710}"/>
              </a:ext>
            </a:extLst>
          </p:cNvPr>
          <p:cNvSpPr/>
          <p:nvPr/>
        </p:nvSpPr>
        <p:spPr>
          <a:xfrm>
            <a:off x="3727259" y="1776017"/>
            <a:ext cx="925775" cy="870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ERP PS</a:t>
            </a: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xmlns="" id="{7FE8BEA6-750E-4662-ACB7-051649298DF1}"/>
              </a:ext>
            </a:extLst>
          </p:cNvPr>
          <p:cNvSpPr/>
          <p:nvPr/>
        </p:nvSpPr>
        <p:spPr>
          <a:xfrm>
            <a:off x="2465738" y="1769090"/>
            <a:ext cx="925775" cy="870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ERP PM/CS</a:t>
            </a:r>
          </a:p>
        </p:txBody>
      </p:sp>
      <p:sp>
        <p:nvSpPr>
          <p:cNvPr id="77" name="Rectangle 25">
            <a:extLst>
              <a:ext uri="{FF2B5EF4-FFF2-40B4-BE49-F238E27FC236}">
                <a16:creationId xmlns:a16="http://schemas.microsoft.com/office/drawing/2014/main" xmlns="" id="{744D495B-4B75-4AD5-B140-896CADF9BEAC}"/>
              </a:ext>
            </a:extLst>
          </p:cNvPr>
          <p:cNvSpPr/>
          <p:nvPr/>
        </p:nvSpPr>
        <p:spPr>
          <a:xfrm>
            <a:off x="2350751" y="5097761"/>
            <a:ext cx="1182646" cy="870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HR </a:t>
            </a:r>
            <a:r>
              <a:rPr lang="ru-RU" b="1" dirty="0"/>
              <a:t>сотрудники</a:t>
            </a:r>
            <a:endParaRPr lang="en-US" b="1" dirty="0"/>
          </a:p>
        </p:txBody>
      </p:sp>
      <p:sp>
        <p:nvSpPr>
          <p:cNvPr id="78" name="Rectangle 27">
            <a:extLst>
              <a:ext uri="{FF2B5EF4-FFF2-40B4-BE49-F238E27FC236}">
                <a16:creationId xmlns:a16="http://schemas.microsoft.com/office/drawing/2014/main" xmlns="" id="{6715B16A-3D4F-48A8-906C-D06B6A259242}"/>
              </a:ext>
            </a:extLst>
          </p:cNvPr>
          <p:cNvSpPr/>
          <p:nvPr/>
        </p:nvSpPr>
        <p:spPr>
          <a:xfrm>
            <a:off x="3815290" y="5097761"/>
            <a:ext cx="1544875" cy="870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ВПС (инструменты, оборудование)</a:t>
            </a:r>
            <a:endParaRPr lang="en-US" sz="1600" b="1" dirty="0"/>
          </a:p>
        </p:txBody>
      </p:sp>
      <p:cxnSp>
        <p:nvCxnSpPr>
          <p:cNvPr id="79" name="Straight Arrow Connector 37">
            <a:extLst>
              <a:ext uri="{FF2B5EF4-FFF2-40B4-BE49-F238E27FC236}">
                <a16:creationId xmlns:a16="http://schemas.microsoft.com/office/drawing/2014/main" xmlns="" id="{1C86E309-6F71-41EC-8EDE-4A6B0703D652}"/>
              </a:ext>
            </a:extLst>
          </p:cNvPr>
          <p:cNvCxnSpPr>
            <a:cxnSpLocks/>
          </p:cNvCxnSpPr>
          <p:nvPr/>
        </p:nvCxnSpPr>
        <p:spPr>
          <a:xfrm>
            <a:off x="2895612" y="2646228"/>
            <a:ext cx="284845" cy="561425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39">
            <a:extLst>
              <a:ext uri="{FF2B5EF4-FFF2-40B4-BE49-F238E27FC236}">
                <a16:creationId xmlns:a16="http://schemas.microsoft.com/office/drawing/2014/main" xmlns="" id="{95E13A11-8930-4DB2-B5C9-F1A5F8207F32}"/>
              </a:ext>
            </a:extLst>
          </p:cNvPr>
          <p:cNvCxnSpPr>
            <a:cxnSpLocks/>
          </p:cNvCxnSpPr>
          <p:nvPr/>
        </p:nvCxnSpPr>
        <p:spPr>
          <a:xfrm flipH="1">
            <a:off x="3634985" y="2657456"/>
            <a:ext cx="563521" cy="542953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47">
            <a:extLst>
              <a:ext uri="{FF2B5EF4-FFF2-40B4-BE49-F238E27FC236}">
                <a16:creationId xmlns:a16="http://schemas.microsoft.com/office/drawing/2014/main" xmlns="" id="{5AFF02DD-CD4B-43EF-95D3-4065882392A4}"/>
              </a:ext>
            </a:extLst>
          </p:cNvPr>
          <p:cNvCxnSpPr>
            <a:cxnSpLocks/>
            <a:stCxn id="77" idx="0"/>
          </p:cNvCxnSpPr>
          <p:nvPr/>
        </p:nvCxnSpPr>
        <p:spPr>
          <a:xfrm flipV="1">
            <a:off x="2942074" y="4444307"/>
            <a:ext cx="324749" cy="653454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51">
            <a:extLst>
              <a:ext uri="{FF2B5EF4-FFF2-40B4-BE49-F238E27FC236}">
                <a16:creationId xmlns:a16="http://schemas.microsoft.com/office/drawing/2014/main" xmlns="" id="{D5311F58-E2D8-47D9-B1A4-368BB4A16956}"/>
              </a:ext>
            </a:extLst>
          </p:cNvPr>
          <p:cNvCxnSpPr>
            <a:cxnSpLocks/>
            <a:stCxn id="78" idx="0"/>
          </p:cNvCxnSpPr>
          <p:nvPr/>
        </p:nvCxnSpPr>
        <p:spPr>
          <a:xfrm flipH="1" flipV="1">
            <a:off x="4020400" y="4467471"/>
            <a:ext cx="567328" cy="630290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59">
            <a:extLst>
              <a:ext uri="{FF2B5EF4-FFF2-40B4-BE49-F238E27FC236}">
                <a16:creationId xmlns:a16="http://schemas.microsoft.com/office/drawing/2014/main" xmlns="" id="{DA3BBD81-6F6A-451B-A9D6-558455028C31}"/>
              </a:ext>
            </a:extLst>
          </p:cNvPr>
          <p:cNvCxnSpPr>
            <a:stCxn id="71" idx="3"/>
            <a:endCxn id="73" idx="1"/>
          </p:cNvCxnSpPr>
          <p:nvPr/>
        </p:nvCxnSpPr>
        <p:spPr>
          <a:xfrm flipV="1">
            <a:off x="4309708" y="3467087"/>
            <a:ext cx="1536919" cy="1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61">
            <a:extLst>
              <a:ext uri="{FF2B5EF4-FFF2-40B4-BE49-F238E27FC236}">
                <a16:creationId xmlns:a16="http://schemas.microsoft.com/office/drawing/2014/main" xmlns="" id="{3D44648E-3DDC-4B49-BDAB-B87C11B19A3C}"/>
              </a:ext>
            </a:extLst>
          </p:cNvPr>
          <p:cNvCxnSpPr>
            <a:stCxn id="72" idx="3"/>
          </p:cNvCxnSpPr>
          <p:nvPr/>
        </p:nvCxnSpPr>
        <p:spPr>
          <a:xfrm flipV="1">
            <a:off x="4309707" y="3726883"/>
            <a:ext cx="1536918" cy="473775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98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Основные справочники ТОиР (НСИ)</a:t>
            </a:r>
            <a:endParaRPr 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358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Пятиугольник 15"/>
          <p:cNvSpPr/>
          <p:nvPr/>
        </p:nvSpPr>
        <p:spPr>
          <a:xfrm rot="5400000">
            <a:off x="1188738" y="223537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Рабочие 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7162" y="1819461"/>
            <a:ext cx="275763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Рабочие места подразделяются на ответственные, собственные </a:t>
            </a:r>
            <a:r>
              <a:rPr lang="ru-RU" sz="1200" dirty="0" smtClean="0"/>
              <a:t>выполняющие и </a:t>
            </a:r>
            <a:r>
              <a:rPr lang="ru-RU" sz="1200" dirty="0"/>
              <a:t>рабочие места подрядчика.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Ответственные и </a:t>
            </a:r>
            <a:r>
              <a:rPr lang="ru-RU" sz="1200" dirty="0" smtClean="0"/>
              <a:t>выполняющие рабочие </a:t>
            </a:r>
            <a:r>
              <a:rPr lang="ru-RU" sz="1200" dirty="0"/>
              <a:t>места представлены в виде иерархии рабочих мест:</a:t>
            </a:r>
          </a:p>
          <a:p>
            <a:pPr marL="806450" lvl="1" indent="-285750">
              <a:buFont typeface="Arial" pitchFamily="34" charset="0"/>
              <a:buChar char="•"/>
            </a:pPr>
            <a:endParaRPr lang="ru-RU" sz="1200" dirty="0"/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/>
              <a:t>Ответственные рабочие места детализированы до </a:t>
            </a:r>
            <a:r>
              <a:rPr lang="ru-RU" sz="1200" dirty="0" smtClean="0"/>
              <a:t>Ф.И.О</a:t>
            </a:r>
            <a:r>
              <a:rPr lang="ru-RU" sz="1200" dirty="0"/>
              <a:t>. или наименование группы лиц, ответственных за рабочие места</a:t>
            </a:r>
            <a:r>
              <a:rPr lang="ru-RU" sz="1200" dirty="0" smtClean="0"/>
              <a:t>. </a:t>
            </a: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endParaRPr lang="ru-RU" sz="1200" dirty="0"/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 smtClean="0"/>
              <a:t>Выполняющие рабочие </a:t>
            </a:r>
            <a:r>
              <a:rPr lang="ru-RU" sz="1200" dirty="0"/>
              <a:t>места детализированы до уровня бригады </a:t>
            </a:r>
            <a:r>
              <a:rPr lang="ru-RU" sz="1200" dirty="0" smtClean="0"/>
              <a:t>цеха. </a:t>
            </a: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Рабочие места подрядчика детализированы до уровня подрядной организации</a:t>
            </a:r>
            <a:r>
              <a:rPr lang="ru-RU" sz="1200" dirty="0" smtClean="0"/>
              <a:t>.</a:t>
            </a:r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427" y="997544"/>
            <a:ext cx="6068432" cy="570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9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Основные данные 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SAP MRS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xmlns="" id="{7EC834DE-AA85-4BAA-8445-65CC342D8F1C}"/>
              </a:ext>
            </a:extLst>
          </p:cNvPr>
          <p:cNvSpPr/>
          <p:nvPr/>
        </p:nvSpPr>
        <p:spPr>
          <a:xfrm>
            <a:off x="296367" y="1809368"/>
            <a:ext cx="8551266" cy="45737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numCol="2" rtlCol="0" anchor="t" anchorCtr="0"/>
          <a:lstStyle/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Могут вестись двумя способами: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как сотрудники в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SAP ERP HCM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как деловые партнеры с ролью «Сотрудник»</a:t>
            </a:r>
          </a:p>
          <a:p>
            <a:pPr>
              <a:buClr>
                <a:schemeClr val="accent4"/>
              </a:buClr>
            </a:pPr>
            <a:endParaRPr lang="ru-RU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Для передачи данных из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HR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используется отчет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/MRSS/HCM_RPTWFMIF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. Передаются следующие </a:t>
            </a:r>
            <a:r>
              <a:rPr lang="ru-RU" dirty="0" err="1">
                <a:solidFill>
                  <a:schemeClr val="bg2">
                    <a:lumMod val="25000"/>
                  </a:schemeClr>
                </a:solidFill>
              </a:rPr>
              <a:t>инфотипы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ru-RU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0006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Адреса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0007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Нормативное рабочее время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0024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Квалификации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2001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Отсутствия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2002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Присутствия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2003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Замещения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2004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 – Дежурства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Для передачи данных о ДП используется отчет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/MRSS/WFM_MASTERDATA_ADMIN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. Передаются данные: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Адрес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Контактные данные</a:t>
            </a:r>
          </a:p>
          <a:p>
            <a:pPr marL="742950" lvl="1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Квалификации  (стандартные)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Данные о доступности и присвоения времени также создаются в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/MRSS/WFM_MASTERDATA_ADMIN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FA73DE14-3085-4DEE-8E8C-FD12DE17FCD9}"/>
              </a:ext>
            </a:extLst>
          </p:cNvPr>
          <p:cNvSpPr/>
          <p:nvPr/>
        </p:nvSpPr>
        <p:spPr>
          <a:xfrm>
            <a:off x="296367" y="1130496"/>
            <a:ext cx="8551266" cy="475017"/>
          </a:xfrm>
          <a:prstGeom prst="rect">
            <a:avLst/>
          </a:prstGeom>
          <a:solidFill>
            <a:srgbClr val="557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Человеческие ресурсы</a:t>
            </a:r>
            <a:r>
              <a:rPr lang="en-US" b="1" dirty="0"/>
              <a:t> </a:t>
            </a:r>
            <a:r>
              <a:rPr lang="ru-RU" b="1" dirty="0"/>
              <a:t>и доступность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869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Основные данные 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SAP MRS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xmlns="" id="{00F02B58-AF42-4A01-8F43-0B1BD2135F9F}"/>
              </a:ext>
            </a:extLst>
          </p:cNvPr>
          <p:cNvSpPr/>
          <p:nvPr/>
        </p:nvSpPr>
        <p:spPr>
          <a:xfrm>
            <a:off x="1666875" y="1674095"/>
            <a:ext cx="5560416" cy="48410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numCol="1" rtlCol="0" anchor="t" anchorCtr="0"/>
          <a:lstStyle/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Организационные единицы + рабочие места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Присвоение плановика ресурсов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Присвоение контактного лица (для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PS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Технические рабочие места (опционально)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ru-RU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xmlns="" id="{5773BA6F-CECD-4E51-807A-46F4F6D6794C}"/>
              </a:ext>
            </a:extLst>
          </p:cNvPr>
          <p:cNvSpPr/>
          <p:nvPr/>
        </p:nvSpPr>
        <p:spPr>
          <a:xfrm>
            <a:off x="1666875" y="1081234"/>
            <a:ext cx="5560416" cy="484909"/>
          </a:xfrm>
          <a:prstGeom prst="rect">
            <a:avLst/>
          </a:prstGeom>
          <a:solidFill>
            <a:srgbClr val="557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Структура планирования ресурсов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044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549481" y="655410"/>
            <a:ext cx="78867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rgbClr val="FCC917"/>
                </a:solidFill>
                <a:latin typeface="Calibri Body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latin typeface="+mn-lt"/>
              </a:rPr>
              <a:t>Описание процесса</a:t>
            </a:r>
            <a:endParaRPr lang="ru-RU" sz="36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481" y="1318192"/>
            <a:ext cx="8420783" cy="14381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800" dirty="0">
                <a:solidFill>
                  <a:srgbClr val="FCC917"/>
                </a:solidFill>
              </a:rPr>
              <a:t>Ресурсное планирование ТОРО (</a:t>
            </a:r>
            <a:r>
              <a:rPr lang="en-US" sz="2800" dirty="0">
                <a:solidFill>
                  <a:srgbClr val="FCC917"/>
                </a:solidFill>
              </a:rPr>
              <a:t>MRS)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3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Балансировка </a:t>
            </a:r>
            <a:r>
              <a:rPr lang="ru-RU" dirty="0"/>
              <a:t>собственного персонала и </a:t>
            </a:r>
            <a:r>
              <a:rPr lang="ru-RU" dirty="0" smtClean="0"/>
              <a:t>подрядчиков</a:t>
            </a:r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390641" y="2610965"/>
            <a:ext cx="2496314" cy="1839000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Оперативное планирование на уровне конкретных исполнителей</a:t>
              </a: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>
            <a:off x="5886955" y="3537035"/>
            <a:ext cx="2903362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362816" y="3517337"/>
            <a:ext cx="3031876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2816" y="2798371"/>
            <a:ext cx="30818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Заказ ТОРО запланированный на выполнение на недельном горизонте (статусы </a:t>
            </a:r>
            <a:r>
              <a:rPr lang="ru-RU" sz="1400" dirty="0">
                <a:solidFill>
                  <a:srgbClr val="595959"/>
                </a:solidFill>
              </a:rPr>
              <a:t>ПЛАН, НЕД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6941" y="2798371"/>
            <a:ext cx="29697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Ресурсы собственного персонала и подрядчиков сбалансированы на недельном горизонте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Входными данными для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выполнения данного шага могут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являться: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Заказы ТОРО в статусах </a:t>
            </a:r>
            <a:r>
              <a:rPr lang="ru-RU" sz="1400" dirty="0">
                <a:solidFill>
                  <a:srgbClr val="595959"/>
                </a:solidFill>
              </a:rPr>
              <a:t>ПЛАН, НЕД </a:t>
            </a:r>
            <a:endParaRPr lang="ru-RU" sz="1400" dirty="0" smtClean="0">
              <a:solidFill>
                <a:srgbClr val="5959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Период планирования (неделя/сутки)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Узел планирования ресурсов</a:t>
            </a:r>
            <a:r>
              <a:rPr lang="en-US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 –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Идентификатор рабочего места по операции из справочника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Потребность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3084" y="5322173"/>
            <a:ext cx="8297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Балансировка выполняется Планировщиком ТОиР</a:t>
            </a:r>
            <a:r>
              <a:rPr lang="en-US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/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Инженером 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Н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азначение сотрудников на работы из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заказа в ракурсе </a:t>
            </a:r>
            <a:r>
              <a:rPr lang="en-US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RESOURCE_LAYOUT</a:t>
            </a:r>
            <a:endParaRPr lang="ru-RU" sz="1400" dirty="0" smtClean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При внесении данных система контролирует назначение работ на рабочие часы сотрудников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Для балансировки персонала необходимо выбрать определенный ракурс в транзакции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5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Балансировка </a:t>
            </a:r>
            <a:r>
              <a:rPr lang="ru-RU" dirty="0"/>
              <a:t>мощностей ВПС по Подразделению</a:t>
            </a:r>
          </a:p>
          <a:p>
            <a:endParaRPr lang="ru-RU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467758" y="2587924"/>
            <a:ext cx="2496314" cy="1805235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24289"/>
              <a:ext cx="1284889" cy="9148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Укрупненное планирование на уровне рабочих мест</a:t>
              </a:r>
            </a:p>
          </p:txBody>
        </p:sp>
      </p:grpSp>
      <p:cxnSp>
        <p:nvCxnSpPr>
          <p:cNvPr id="16" name="Прямая со стрелкой 15"/>
          <p:cNvCxnSpPr/>
          <p:nvPr/>
        </p:nvCxnSpPr>
        <p:spPr>
          <a:xfrm>
            <a:off x="5964072" y="3528394"/>
            <a:ext cx="2757234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390547" y="3508696"/>
            <a:ext cx="3081262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0547" y="2756879"/>
            <a:ext cx="3268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Заказ ТОРО запланированный на выполнение на недельном горизонте (</a:t>
            </a:r>
            <a:r>
              <a:rPr lang="ru-RU" sz="1400" dirty="0">
                <a:solidFill>
                  <a:srgbClr val="595959"/>
                </a:solidFill>
              </a:rPr>
              <a:t>статусы ПЛАН, НЕД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0022" y="2972323"/>
            <a:ext cx="2761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Планирование рабочих мест на каждую операцию произведено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Входными данными для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выполнения данного шага могут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являться: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Заказы ТОРО в статусах </a:t>
            </a:r>
            <a:r>
              <a:rPr lang="ru-RU" sz="1400" dirty="0">
                <a:solidFill>
                  <a:srgbClr val="595959"/>
                </a:solidFill>
              </a:rPr>
              <a:t>ПЛАН, НЕД </a:t>
            </a:r>
            <a:endParaRPr lang="ru-RU" sz="1400" dirty="0" smtClean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Период планирования (неделя/сутки)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Узел планирования ресурсов </a:t>
            </a: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</a:rPr>
              <a:t>–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Идентификатор рабочего места по операции из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справочника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Потребность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084" y="5322173"/>
            <a:ext cx="8297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</a:rPr>
              <a:t>Балансировка выполняется Планировщиком </a:t>
            </a:r>
            <a:r>
              <a:rPr lang="ru-RU" sz="1400" dirty="0" smtClean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</a:rPr>
              <a:t>ТОиР</a:t>
            </a:r>
            <a:r>
              <a:rPr lang="en-US" sz="1400" dirty="0">
                <a:solidFill>
                  <a:srgbClr val="595959"/>
                </a:solidFill>
                <a:latin typeface="Calibri" panose="020F0502020204030204" pitchFamily="34" charset="0"/>
              </a:rPr>
              <a:t>/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Инженером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endParaRPr lang="ru-RU" sz="1400" dirty="0" smtClean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</a:rPr>
              <a:t>Балансировка по мощностям ВПС осуществляется в ракурсе </a:t>
            </a:r>
            <a:r>
              <a:rPr lang="en-US" sz="1400" dirty="0" smtClean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</a:rPr>
              <a:t>DEMAND_LAYOUT</a:t>
            </a:r>
            <a:endParaRPr lang="ru-RU" sz="1400" dirty="0" smtClean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Для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балансировки персонала необходимо выбрать определенный ракурс в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транзакции</a:t>
            </a:r>
            <a:endParaRPr lang="ru-RU" sz="1400" dirty="0">
              <a:solidFill>
                <a:srgbClr val="C00937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15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8CFD866-F36F-4A7C-B968-3678D5B21E1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Запуск панели планирования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8369ADD-8FB8-4E34-BE90-ACD70B1CCEE7}"/>
              </a:ext>
            </a:extLst>
          </p:cNvPr>
          <p:cNvSpPr txBox="1"/>
          <p:nvPr/>
        </p:nvSpPr>
        <p:spPr>
          <a:xfrm>
            <a:off x="412257" y="1542530"/>
            <a:ext cx="8319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595959"/>
                </a:solidFill>
              </a:rPr>
              <a:t>Панель планирования может быть запущена с помощью различных транзакций, однако процесс планирования аналогичен для всех транзакций.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8E5BBF3-125C-4FC1-AA20-BCEDFFA43E84}"/>
              </a:ext>
            </a:extLst>
          </p:cNvPr>
          <p:cNvSpPr txBox="1"/>
          <p:nvPr/>
        </p:nvSpPr>
        <p:spPr>
          <a:xfrm>
            <a:off x="412257" y="2385769"/>
            <a:ext cx="83194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595959"/>
                </a:solidFill>
              </a:rPr>
              <a:t>Возможные транзакции для запуска панели планирования:</a:t>
            </a:r>
          </a:p>
          <a:p>
            <a:endParaRPr lang="ru-RU" dirty="0">
              <a:solidFill>
                <a:srgbClr val="5959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95959"/>
                </a:solidFill>
              </a:rPr>
              <a:t>/MRSS/PLBOORGM</a:t>
            </a:r>
            <a:r>
              <a:rPr lang="ru-RU" dirty="0">
                <a:solidFill>
                  <a:srgbClr val="595959"/>
                </a:solidFill>
              </a:rPr>
              <a:t> - Планирование для определенной орг. единицы; </a:t>
            </a:r>
            <a:endParaRPr lang="en-US" dirty="0">
              <a:solidFill>
                <a:srgbClr val="5959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95959"/>
                </a:solidFill>
              </a:rPr>
              <a:t>/MRSS/PLBOORGSRV</a:t>
            </a:r>
            <a:r>
              <a:rPr lang="ru-RU" dirty="0">
                <a:solidFill>
                  <a:srgbClr val="595959"/>
                </a:solidFill>
              </a:rPr>
              <a:t> – Планирование с возможностью отбора ресурсов и потребностей;</a:t>
            </a:r>
            <a:endParaRPr lang="en-US" dirty="0">
              <a:solidFill>
                <a:srgbClr val="5959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95959"/>
                </a:solidFill>
              </a:rPr>
              <a:t>/MRSS/PLBOSRV</a:t>
            </a:r>
            <a:r>
              <a:rPr lang="ru-RU" dirty="0">
                <a:solidFill>
                  <a:srgbClr val="595959"/>
                </a:solidFill>
              </a:rPr>
              <a:t> – Планирование для определенной потребности;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95959"/>
                </a:solidFill>
              </a:rPr>
              <a:t>/MRSS/PLBOORG</a:t>
            </a:r>
            <a:r>
              <a:rPr lang="ru-RU" dirty="0">
                <a:solidFill>
                  <a:srgbClr val="595959"/>
                </a:solidFill>
              </a:rPr>
              <a:t> – Планирование с возможностью выбора орг. структуры.</a:t>
            </a:r>
            <a:endParaRPr lang="en-US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262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59334"/>
              </p:ext>
            </p:extLst>
          </p:nvPr>
        </p:nvGraphicFramePr>
        <p:xfrm>
          <a:off x="195386" y="1248586"/>
          <a:ext cx="8802310" cy="299301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24523"/>
                <a:gridCol w="2487980"/>
                <a:gridCol w="2489807"/>
              </a:tblGrid>
              <a:tr h="99767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6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Балансировка собственного персонала и подрядчиков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76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Балансировка мощностей ВПС по Подразделению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60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0430" y="404059"/>
            <a:ext cx="8118730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2000" dirty="0"/>
              <a:t>Ресурсное планирование ТОРО (</a:t>
            </a:r>
            <a:r>
              <a:rPr lang="en-US" sz="2000" dirty="0"/>
              <a:t>MRS</a:t>
            </a:r>
            <a:r>
              <a:rPr lang="en-US" sz="2000" dirty="0" smtClean="0"/>
              <a:t>)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15626"/>
              </p:ext>
            </p:extLst>
          </p:nvPr>
        </p:nvGraphicFramePr>
        <p:xfrm>
          <a:off x="676442" y="1965374"/>
          <a:ext cx="8628574" cy="1981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1340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Панель планирования </a:t>
                      </a:r>
                      <a:r>
                        <a:rPr kumimoji="0" 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MRS</a:t>
                      </a:r>
                      <a:endParaRPr kumimoji="0" lang="ru-RU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/MRSS/PLBOORGM</a:t>
                      </a:r>
                      <a:r>
                        <a:rPr kumimoji="0" lang="ru-RU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- Планирование для определенной орг. единицы</a:t>
                      </a:r>
                      <a:endParaRPr kumimoji="0" lang="en-US" sz="16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/MRSS/PLBOORGSRV</a:t>
                      </a:r>
                      <a:r>
                        <a:rPr kumimoji="0" lang="ru-RU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Планирование с возможностью отбора ресурсов и потребностей</a:t>
                      </a:r>
                      <a:endParaRPr kumimoji="0" lang="en-US" sz="16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/MRSS/PLBOSRV</a:t>
                      </a:r>
                      <a:r>
                        <a:rPr kumimoji="0" lang="ru-RU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Планирование для определенной потребности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/MRSS/PLBOORG</a:t>
                      </a:r>
                      <a:r>
                        <a:rPr kumimoji="0" lang="ru-RU" sz="16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Планирование с возможностью выбора орг. Структуры</a:t>
                      </a:r>
                      <a:endParaRPr kumimoji="0" lang="en-US" sz="1600" b="0" i="0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* </a:t>
                      </a:r>
                      <a:r>
                        <a:rPr kumimoji="0" lang="ru-RU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При ошибке «Функция невозможна» перед транзакциями ставится </a:t>
                      </a:r>
                      <a:r>
                        <a:rPr kumimoji="0" 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/n</a:t>
                      </a:r>
                      <a:endParaRPr kumimoji="0" lang="ru-RU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4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9D53CE6-B077-440D-BCDF-7BAED625E3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105552</TotalTime>
  <Words>1933</Words>
  <Application>Microsoft Office PowerPoint</Application>
  <PresentationFormat>Экран (4:3)</PresentationFormat>
  <Paragraphs>215</Paragraphs>
  <Slides>17</Slides>
  <Notes>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Инструктаж по функциональному направлению «ТОиР»  65_ТОиР «Ресурсное планирование ТОРО (MRS)»</vt:lpstr>
      <vt:lpstr>Основные элементы организационной структуры ТОиР S/4 HANA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справочники ТОиР (НСИ)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Kalashnikova Ekaterina</cp:lastModifiedBy>
  <cp:revision>4200</cp:revision>
  <cp:lastPrinted>2018-04-09T09:22:20Z</cp:lastPrinted>
  <dcterms:created xsi:type="dcterms:W3CDTF">2015-07-14T13:53:28Z</dcterms:created>
  <dcterms:modified xsi:type="dcterms:W3CDTF">2019-12-11T09:26:37Z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