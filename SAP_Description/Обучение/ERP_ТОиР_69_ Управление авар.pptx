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81" r:id="rId12"/>
    <p:sldId id="1682" r:id="rId13"/>
    <p:sldId id="1699" r:id="rId14"/>
    <p:sldId id="1700" r:id="rId15"/>
    <p:sldId id="1668" r:id="rId16"/>
    <p:sldId id="1718" r:id="rId17"/>
    <p:sldId id="1719" r:id="rId18"/>
    <p:sldId id="1672" r:id="rId19"/>
    <p:sldId id="1701" r:id="rId20"/>
    <p:sldId id="1702" r:id="rId21"/>
    <p:sldId id="1703" r:id="rId22"/>
    <p:sldId id="1704" r:id="rId23"/>
    <p:sldId id="1705" r:id="rId24"/>
    <p:sldId id="1706" r:id="rId25"/>
    <p:sldId id="1713" r:id="rId26"/>
    <p:sldId id="1712" r:id="rId27"/>
    <p:sldId id="1710" r:id="rId28"/>
    <p:sldId id="1717" r:id="rId29"/>
    <p:sldId id="1714" r:id="rId30"/>
    <p:sldId id="1715" r:id="rId31"/>
    <p:sldId id="1716" r:id="rId32"/>
    <p:sldId id="1674" r:id="rId33"/>
    <p:sldId id="1679" r:id="rId34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B8B8B8"/>
    <a:srgbClr val="FCC917"/>
    <a:srgbClr val="FBC90B"/>
    <a:srgbClr val="FFD966"/>
    <a:srgbClr val="FFF7E0"/>
    <a:srgbClr val="FAC90B"/>
    <a:srgbClr val="F6CC0C"/>
    <a:srgbClr val="19938A"/>
    <a:srgbClr val="C00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17" d="100"/>
          <a:sy n="117" d="100"/>
        </p:scale>
        <p:origin x="1056" y="10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17.11.2019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17.11.2019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ru-RU" sz="2800" dirty="0" smtClean="0">
                <a:solidFill>
                  <a:srgbClr val="FCC917"/>
                </a:solidFill>
              </a:rPr>
              <a:t>69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«Управление аварийными воздействиями </a:t>
            </a:r>
            <a:r>
              <a:rPr lang="ru-RU" sz="2800" dirty="0" err="1">
                <a:solidFill>
                  <a:srgbClr val="FCC917"/>
                </a:solidFill>
              </a:rPr>
              <a:t>ТОиР</a:t>
            </a:r>
            <a:r>
              <a:rPr lang="ru-RU" sz="2800" dirty="0">
                <a:solidFill>
                  <a:srgbClr val="FCC917"/>
                </a:solidFill>
              </a:rPr>
              <a:t> критичного оборудования»</a:t>
            </a: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=""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=""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=""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=""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=""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=""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=""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="" xmlns:a16="http://schemas.microsoft.com/office/drawing/2014/main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=""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=""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=""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=""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=""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9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Управление аварийными воздействиями </a:t>
            </a:r>
            <a:r>
              <a:rPr lang="ru-RU" sz="1800" dirty="0" err="1"/>
              <a:t>ТОиР</a:t>
            </a:r>
            <a:r>
              <a:rPr lang="ru-RU" sz="1800" dirty="0"/>
              <a:t> критичного оборудования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14350" y="1101092"/>
            <a:ext cx="461749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584911" y="341594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425992" y="2263951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Скругленный прямоугольник 54"/>
          <p:cNvSpPr/>
          <p:nvPr/>
        </p:nvSpPr>
        <p:spPr>
          <a:xfrm>
            <a:off x="5334639" y="3240397"/>
            <a:ext cx="1502559" cy="1368132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3592463" y="4469639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7043492" y="3113424"/>
            <a:ext cx="1502559" cy="1670647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extBox 1"/>
          <p:cNvSpPr txBox="1"/>
          <p:nvPr/>
        </p:nvSpPr>
        <p:spPr>
          <a:xfrm>
            <a:off x="628650" y="3415940"/>
            <a:ext cx="1428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Уточнение дефектов в сообщении ТОРО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5614" y="2277836"/>
            <a:ext cx="1412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Фиксация результатов ремонта в заказе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5634" y="4588530"/>
            <a:ext cx="1576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Прикрепление подтверждающих  документов</a:t>
            </a:r>
          </a:p>
        </p:txBody>
      </p:sp>
      <p:sp>
        <p:nvSpPr>
          <p:cNvPr id="1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5228000" y="1101092"/>
            <a:ext cx="169132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74364" y="3240397"/>
            <a:ext cx="14628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Согласование аварийных мероприятий и запроса на корректировку Планировщиком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3491" y="3183634"/>
            <a:ext cx="15025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Согласование аварийных мероприятий  и запроса на корректировку Старшим планировщиком</a:t>
            </a:r>
          </a:p>
        </p:txBody>
      </p:sp>
      <p:sp>
        <p:nvSpPr>
          <p:cNvPr id="17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7006664" y="1101092"/>
            <a:ext cx="169132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Управление аварийными воздействиями </a:t>
            </a:r>
            <a:r>
              <a:rPr lang="ru-RU" sz="1800" dirty="0" err="1"/>
              <a:t>ТОиР</a:t>
            </a:r>
            <a:r>
              <a:rPr lang="ru-RU" sz="1800" dirty="0"/>
              <a:t> критичного оборудования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257327" y="1101092"/>
            <a:ext cx="16002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310117" y="3240397"/>
            <a:ext cx="1502559" cy="116955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028249" y="3360697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Скругленный прямоугольник 54"/>
          <p:cNvSpPr/>
          <p:nvPr/>
        </p:nvSpPr>
        <p:spPr>
          <a:xfrm>
            <a:off x="5249524" y="3359288"/>
            <a:ext cx="1502559" cy="977855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3710138" y="3360697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6812897" y="3359288"/>
            <a:ext cx="1833082" cy="977855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2068340" y="3429442"/>
            <a:ext cx="14124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Перенос лимита в рамках БЕ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3309" y="3479588"/>
            <a:ext cx="1576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Фиксация причин дефекта в сообщении ТОРО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9657" y="3586605"/>
            <a:ext cx="1502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Деблокирование заказа ТОРО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8910" y="3563562"/>
            <a:ext cx="1893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Создание запроса на </a:t>
            </a:r>
            <a:r>
              <a:rPr lang="ru-RU" sz="1400" dirty="0" err="1">
                <a:solidFill>
                  <a:schemeClr val="bg1"/>
                </a:solidFill>
              </a:rPr>
              <a:t>перерезервирование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52259" y="3240397"/>
            <a:ext cx="184266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Согласование аварийных мероприятий  и запроса на корректировку  ГС</a:t>
            </a:r>
          </a:p>
        </p:txBody>
      </p:sp>
      <p:sp>
        <p:nvSpPr>
          <p:cNvPr id="1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972218" y="1101092"/>
            <a:ext cx="16002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бюджета 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УА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649325" y="1101092"/>
            <a:ext cx="499665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5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Управление аварийными воздействиями </a:t>
            </a:r>
            <a:r>
              <a:rPr lang="ru-RU" sz="1800" dirty="0" err="1"/>
              <a:t>ТОиР</a:t>
            </a:r>
            <a:r>
              <a:rPr lang="ru-RU" sz="1800" dirty="0"/>
              <a:t> критичного оборудования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52260" y="1101092"/>
            <a:ext cx="1793264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234262" y="3240397"/>
            <a:ext cx="1661049" cy="1169551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045606" y="3184137"/>
            <a:ext cx="1502559" cy="123829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Скругленный прямоугольник 54"/>
          <p:cNvSpPr/>
          <p:nvPr/>
        </p:nvSpPr>
        <p:spPr>
          <a:xfrm>
            <a:off x="6175463" y="3348729"/>
            <a:ext cx="1502559" cy="977855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3712443" y="3348729"/>
            <a:ext cx="2249791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2085697" y="3252882"/>
            <a:ext cx="14124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Подтверждение фактического количества израсходованных МТР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52260" y="3429442"/>
            <a:ext cx="18426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Согласование запроса на </a:t>
            </a:r>
            <a:r>
              <a:rPr lang="ru-RU" sz="1400" dirty="0" err="1">
                <a:solidFill>
                  <a:schemeClr val="bg1"/>
                </a:solidFill>
              </a:rPr>
              <a:t>перерезервирование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9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1972218" y="1101092"/>
            <a:ext cx="16002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3649325" y="1101092"/>
            <a:ext cx="240041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учету трудозатрат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55570" y="3467277"/>
            <a:ext cx="2163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Отражение времени, фактически затраченного на мероприятия </a:t>
            </a:r>
            <a:r>
              <a:rPr lang="ru-RU" sz="1400" dirty="0" err="1">
                <a:solidFill>
                  <a:schemeClr val="bg1"/>
                </a:solidFill>
              </a:rPr>
              <a:t>ТОиР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21" name="Скругленный прямоугольник 311">
            <a:extLst>
              <a:ext uri="{FF2B5EF4-FFF2-40B4-BE49-F238E27FC236}">
                <a16:creationId xmlns="" xmlns:a16="http://schemas.microsoft.com/office/drawing/2014/main" id="{6B94761C-2B1A-43FF-9AEA-440BE2A8FCFD}"/>
              </a:ext>
            </a:extLst>
          </p:cNvPr>
          <p:cNvSpPr/>
          <p:nvPr/>
        </p:nvSpPr>
        <p:spPr>
          <a:xfrm>
            <a:off x="6126643" y="1101092"/>
            <a:ext cx="16002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7270" y="3387839"/>
            <a:ext cx="13389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Техническое закрытие мероприятий </a:t>
            </a:r>
            <a:r>
              <a:rPr lang="ru-RU" sz="1400" dirty="0" err="1">
                <a:solidFill>
                  <a:schemeClr val="bg1"/>
                </a:solidFill>
              </a:rPr>
              <a:t>ТОиР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23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«Уточнение дефектов в сообщении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сообщений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Аварийное сообщение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39246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Дефекты занесены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 возникновении аварии, получении внесистемного уведомления об останове и дефектной ведомости на бумажном носителе Инженер </a:t>
            </a:r>
            <a:r>
              <a:rPr lang="ru-RU" sz="1400" dirty="0" err="1"/>
              <a:t>ТОиР</a:t>
            </a:r>
            <a:r>
              <a:rPr lang="ru-RU" sz="1400" dirty="0"/>
              <a:t> проводит анализ о необходимости срочного ремонта и после устранения аварии заносит </a:t>
            </a:r>
            <a:r>
              <a:rPr lang="ru-RU" sz="1400" dirty="0" smtClean="0"/>
              <a:t>дефекты</a:t>
            </a:r>
            <a:r>
              <a:rPr lang="en-US" sz="1400" dirty="0"/>
              <a:t>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«Фиксация результатов ремонта в заказе»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Заказ ТОРО для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IW34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Аварийное сообщение с дефектами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59891" y="339247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Заполненный заказ вида </a:t>
            </a:r>
            <a:r>
              <a:rPr lang="en-US" sz="1200" dirty="0" smtClean="0"/>
              <a:t>AVR1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заказе ТОРО фиксируются сроки выполненных работ, МТР, израсходованные во время ремонта и ресурсы, выполняющие ремонт.</a:t>
            </a:r>
            <a:endParaRPr lang="ru-RU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63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«Прикрепление подтверждающих  </a:t>
            </a:r>
            <a:r>
              <a:rPr lang="ru-RU" sz="1600" dirty="0" smtClean="0"/>
              <a:t>документов»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заказа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вида </a:t>
            </a:r>
            <a:r>
              <a:rPr lang="en-US" sz="1200" dirty="0" smtClean="0"/>
              <a:t>AVR1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784063" y="32105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Документы прикреплены в аварийному заказу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заказе ТОРО через функцию GOS-объектов (сервер приложения) прикрепляются отсканированные бумажные документы: дефектная ведомость, акт расследования, М-11 и т.д.</a:t>
            </a:r>
            <a:endParaRPr lang="ru-RU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64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аварийных мероприятий и запроса на корректировку Планировщиком»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7966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Заполненный аварийный заказ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2105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передан на дальнейшее согласование в статусе СГПЛ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согласует </a:t>
            </a:r>
            <a:r>
              <a:rPr lang="ru-RU" sz="1400" dirty="0" smtClean="0"/>
              <a:t>аварийный заказ, аварийные работы </a:t>
            </a:r>
            <a:r>
              <a:rPr lang="ru-RU" sz="1400" dirty="0"/>
              <a:t>и корректировку бюджета.</a:t>
            </a:r>
          </a:p>
          <a:p>
            <a:r>
              <a:rPr lang="ru-RU" sz="1400" dirty="0"/>
              <a:t>На заказе ТОРО устанавливается статус СГПЛ – «отправлен на согласование планировщиком </a:t>
            </a:r>
            <a:r>
              <a:rPr lang="ru-RU" sz="1400" dirty="0" err="1"/>
              <a:t>ТОиР</a:t>
            </a:r>
            <a:r>
              <a:rPr lang="ru-RU" sz="1400" dirty="0" smtClean="0"/>
              <a:t>».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1270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аварийных мероприятий  и запроса на корректировку Старшим планировщиком»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95822" y="3208560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заказов </a:t>
              </a:r>
              <a:r>
                <a:rPr lang="ru-RU" sz="1600" dirty="0" smtClean="0">
                  <a:solidFill>
                    <a:schemeClr val="bg1"/>
                  </a:solidFill>
                </a:rPr>
                <a:t>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94826" y="4382716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71037" y="2907171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92136" y="367242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42166" y="5460402"/>
            <a:ext cx="330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Старший 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6969" y="3800947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СГПЛ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210759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отправлен на дальнейшее согласование в статусе ССПЛ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975" y="1024850"/>
            <a:ext cx="86509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анализирует </a:t>
            </a:r>
            <a:r>
              <a:rPr lang="ru-RU" sz="1400" dirty="0" smtClean="0"/>
              <a:t>аварийные заказы </a:t>
            </a:r>
            <a:r>
              <a:rPr lang="ru-RU" sz="1400" dirty="0"/>
              <a:t>ТОРО с присвоенным статусом СГПЛ – «отправлен на согласование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». Проверяет </a:t>
            </a:r>
            <a:r>
              <a:rPr lang="ru-RU" sz="1400" dirty="0" smtClean="0"/>
              <a:t>корректность заказа.</a:t>
            </a:r>
            <a:endParaRPr lang="ru-RU" sz="1400" dirty="0"/>
          </a:p>
          <a:p>
            <a:r>
              <a:rPr lang="ru-RU" sz="1400" dirty="0"/>
              <a:t>В случае выявления замечаний Старший планировщик </a:t>
            </a:r>
            <a:r>
              <a:rPr lang="ru-RU" sz="1400" dirty="0" err="1"/>
              <a:t>ТОиР</a:t>
            </a:r>
            <a:r>
              <a:rPr lang="ru-RU" sz="1400" dirty="0"/>
              <a:t> БЕ ГОК возвращает заказ ТОРО на корректировку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ГОК, устанавливая статус ПЛАН – «планируется» и добавляя комментарии в подробный текст.</a:t>
            </a:r>
          </a:p>
          <a:p>
            <a:r>
              <a:rPr lang="ru-RU" sz="1400" dirty="0"/>
              <a:t>В случае отсутствия замечаний согласовывает Заказ ТОРО установкой статуса ССПЛ – «согласовано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 и инициирует в зависимости от требуемых сроков работ включение заказа ТОРО в соответствующий горизонт планирования.</a:t>
            </a:r>
          </a:p>
          <a:p>
            <a:endParaRPr lang="ru-RU" sz="1400" dirty="0" smtClean="0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5892136" y="4975989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92136" y="4459894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отправлен на доработку в статусе ПЛАН</a:t>
            </a:r>
          </a:p>
        </p:txBody>
      </p:sp>
    </p:spTree>
    <p:extLst>
      <p:ext uri="{BB962C8B-B14F-4D97-AF65-F5344CB8AC3E}">
        <p14:creationId xmlns:p14="http://schemas.microsoft.com/office/powerpoint/2010/main" val="192013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аварийных мероприятий  и запроса на корректировку  ГС»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Заказ в статусе </a:t>
            </a:r>
            <a:r>
              <a:rPr lang="ru-RU" sz="1200" dirty="0" smtClean="0"/>
              <a:t>ССПЛ</a:t>
            </a:r>
            <a:endParaRPr lang="ru-RU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выбирает в системе заказы ТОРО, с пользовательским статусом ССПЛ – «согласовано старшим планировщиком </a:t>
            </a:r>
            <a:r>
              <a:rPr lang="ru-RU" sz="1400" dirty="0" err="1"/>
              <a:t>ТОиР</a:t>
            </a:r>
            <a:r>
              <a:rPr lang="ru-RU" sz="1400" dirty="0"/>
              <a:t>», проверяет </a:t>
            </a:r>
            <a:r>
              <a:rPr lang="ru-RU" sz="1400" dirty="0" smtClean="0"/>
              <a:t>корректность. </a:t>
            </a:r>
            <a:r>
              <a:rPr lang="ru-RU" sz="1400" dirty="0"/>
              <a:t>При отсутствии замечаний согласовывает заказы ТОРО путем установки статуса СГГС – «согласовано главным специалистом».</a:t>
            </a:r>
          </a:p>
          <a:p>
            <a:r>
              <a:rPr lang="ru-RU" sz="1400" dirty="0"/>
              <a:t>В случае выявления замечаний Главный специалист </a:t>
            </a:r>
            <a:r>
              <a:rPr lang="ru-RU" sz="1400" dirty="0" err="1"/>
              <a:t>ТОиР</a:t>
            </a:r>
            <a:r>
              <a:rPr lang="ru-RU" sz="1400" dirty="0"/>
              <a:t> БЕ ГОК возвращает заказ ТОРО на корректировку Планировщику </a:t>
            </a:r>
            <a:r>
              <a:rPr lang="ru-RU" sz="1400" dirty="0" err="1"/>
              <a:t>ТОиР</a:t>
            </a:r>
            <a:r>
              <a:rPr lang="ru-RU" sz="1400" dirty="0"/>
              <a:t> БЕ ГОК, устанавливая статус ПЛАН – «планируется» и добавляя комментарии в подробный текст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012621" y="4962380"/>
            <a:ext cx="306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Главный специалист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5870243" y="335905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70243" y="289738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СГГС</a:t>
            </a: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5870243" y="4662619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70243" y="4146524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отправлен на доработку в статусе ПЛАН</a:t>
            </a:r>
          </a:p>
        </p:txBody>
      </p:sp>
    </p:spTree>
    <p:extLst>
      <p:ext uri="{BB962C8B-B14F-4D97-AF65-F5344CB8AC3E}">
        <p14:creationId xmlns:p14="http://schemas.microsoft.com/office/powerpoint/2010/main" val="388270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«Перенос лимита в рамках БЕ»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Перенос бюджета </a:t>
              </a:r>
              <a:r>
                <a:rPr lang="ru-RU" sz="1600" dirty="0" smtClean="0">
                  <a:solidFill>
                    <a:schemeClr val="bg1"/>
                  </a:solidFill>
                </a:rPr>
                <a:t>проекта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17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CJ34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СПП-элемент отправитель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5" y="32105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Лимиты перенесены в СПП-элемент получатель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В случае необходимости корректировки бюджета для аварийного заказа Планировщик бюджета УА осуществляет перенос свободных средств из СПП-элемента отправителя в СПП-элемент получатель, при совершении успешной проводки статус заказа меняется с ТРКБ на КОРБ.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5278" y="4962380"/>
            <a:ext cx="3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бюджета УА</a:t>
            </a:r>
          </a:p>
        </p:txBody>
      </p:sp>
    </p:spTree>
    <p:extLst>
      <p:ext uri="{BB962C8B-B14F-4D97-AF65-F5344CB8AC3E}">
        <p14:creationId xmlns:p14="http://schemas.microsoft.com/office/powerpoint/2010/main" val="1859454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«Фиксация причин дефекта в сообщении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заказа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2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44337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 сообщением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3490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По каждому дефекту указана причина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фиксирует в сообщении ТОРО причину </a:t>
            </a:r>
            <a:r>
              <a:rPr lang="ru-RU" sz="1400" dirty="0" smtClean="0"/>
              <a:t>дефекта.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72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«Деблокирование заказа ТОРО 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заказа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3284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в статусе СГГС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59891" y="3392471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со статусом ДЕБЛ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деблокирует заказ ТОРО для фактического </a:t>
            </a:r>
            <a:r>
              <a:rPr lang="ru-RU" sz="1400" dirty="0" smtClean="0"/>
              <a:t>учёта.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78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запроса на </a:t>
            </a:r>
            <a:r>
              <a:rPr lang="ru-RU" sz="1600" dirty="0" err="1"/>
              <a:t>перерезервирование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3969524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Ведение запросов на </a:t>
              </a:r>
              <a:r>
                <a:rPr lang="ru-RU" sz="1600" dirty="0" err="1"/>
                <a:t>перерезервирование</a:t>
              </a:r>
              <a:r>
                <a:rPr lang="ru-RU" sz="1600" dirty="0"/>
                <a:t> запасов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5143680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5838099" y="5143680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4561911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Заказ-реципиент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4469577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Создан запрос на </a:t>
            </a:r>
            <a:r>
              <a:rPr lang="ru-RU" sz="1200" dirty="0" err="1"/>
              <a:t>перерезервирование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905753"/>
            <a:ext cx="86509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 необходимости перенести резерв запаса с одной потребности на другую, </a:t>
            </a:r>
            <a:r>
              <a:rPr lang="ru-RU" sz="1400" dirty="0" smtClean="0"/>
              <a:t>Инженер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</a:t>
            </a:r>
            <a:r>
              <a:rPr lang="ru-RU" sz="1400" dirty="0"/>
              <a:t>может сформировать Запрос на </a:t>
            </a:r>
            <a:r>
              <a:rPr lang="ru-RU" sz="1400" dirty="0" err="1"/>
              <a:t>перерезервирование</a:t>
            </a:r>
            <a:r>
              <a:rPr lang="ru-RU" sz="1400" dirty="0"/>
              <a:t> </a:t>
            </a:r>
            <a:r>
              <a:rPr lang="ru-RU" sz="1400" dirty="0" smtClean="0"/>
              <a:t>запаса. </a:t>
            </a:r>
          </a:p>
          <a:p>
            <a:r>
              <a:rPr lang="ru-RU" sz="1400" dirty="0"/>
              <a:t>Отчет Потребности-доноры содержит данные </a:t>
            </a:r>
            <a:r>
              <a:rPr lang="ru-RU" sz="1400" dirty="0" err="1"/>
              <a:t>потребности:Номер</a:t>
            </a:r>
            <a:r>
              <a:rPr lang="ru-RU" sz="1400" dirty="0"/>
              <a:t> исходной потребности, Дата потребности, Запрашиваемое количество, Код и наименование МТР, Объем потребности, Отпущенное количество, Зарезервированное количество, </a:t>
            </a:r>
            <a:r>
              <a:rPr lang="ru-RU" sz="1400" dirty="0" err="1"/>
              <a:t>Завод,Склад</a:t>
            </a:r>
            <a:r>
              <a:rPr lang="ru-RU" sz="1400" dirty="0"/>
              <a:t>, МВЗ, Сетевой график, СПП-элемент</a:t>
            </a:r>
          </a:p>
          <a:p>
            <a:r>
              <a:rPr lang="ru-RU" sz="1400" dirty="0"/>
              <a:t>Отчет Потребности-реципиенты содержит данные </a:t>
            </a:r>
          </a:p>
          <a:p>
            <a:r>
              <a:rPr lang="ru-RU" sz="1400" dirty="0" err="1"/>
              <a:t>потребности:Номер</a:t>
            </a:r>
            <a:r>
              <a:rPr lang="ru-RU" sz="1400" dirty="0"/>
              <a:t> исходной потребности, Дата потребности, Запрашиваемое количество, Код и наименование МТР, Объем потребности, Отпущенное количество, Зарезервированное количество, </a:t>
            </a:r>
            <a:r>
              <a:rPr lang="ru-RU" sz="1400" dirty="0" err="1"/>
              <a:t>Завод,Склад</a:t>
            </a:r>
            <a:r>
              <a:rPr lang="ru-RU" sz="1400" dirty="0"/>
              <a:t>, МВЗ, Сетевой график, </a:t>
            </a:r>
            <a:r>
              <a:rPr lang="ru-RU" sz="1400" dirty="0" smtClean="0"/>
              <a:t>СПП-элемент.</a:t>
            </a:r>
          </a:p>
          <a:p>
            <a:r>
              <a:rPr lang="ru-RU" sz="1400" dirty="0"/>
              <a:t>Если перераспределение подтвержденного запаса происходит между потребностями, относящимися к одному планирующему подразделению, то согласование данного запроса не требуется, резерв должен быть перенесен автоматически после сохранения </a:t>
            </a:r>
            <a:r>
              <a:rPr lang="ru-RU" sz="1400" dirty="0" smtClean="0"/>
              <a:t>запроса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689996" y="6221367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8366" y="3651353"/>
            <a:ext cx="234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ZMM_RESREQ_MAINT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829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«Согласование запроса на </a:t>
            </a:r>
            <a:r>
              <a:rPr lang="ru-RU" sz="1600" dirty="0" err="1"/>
              <a:t>перерезервирование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Формирование запроса на </a:t>
              </a:r>
              <a:r>
                <a:rPr lang="ru-RU" sz="1600" dirty="0" err="1">
                  <a:solidFill>
                    <a:schemeClr val="bg1"/>
                  </a:solidFill>
                </a:rPr>
                <a:t>перерезервирование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Запрос на </a:t>
            </a:r>
            <a:r>
              <a:rPr lang="ru-RU" sz="1200" dirty="0" err="1" smtClean="0"/>
              <a:t>перерезервирование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210591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Запрос на </a:t>
            </a:r>
            <a:r>
              <a:rPr lang="ru-RU" sz="1200" dirty="0" err="1" smtClean="0"/>
              <a:t>перерезервирование</a:t>
            </a:r>
            <a:r>
              <a:rPr lang="ru-RU" sz="1200" dirty="0" smtClean="0"/>
              <a:t> согласован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создания запроса на </a:t>
            </a:r>
            <a:r>
              <a:rPr lang="ru-RU" sz="1400" dirty="0" err="1"/>
              <a:t>перерезервирование</a:t>
            </a:r>
            <a:r>
              <a:rPr lang="ru-RU" sz="1400" dirty="0"/>
              <a:t> отправляются уведомления о согласовании </a:t>
            </a:r>
            <a:r>
              <a:rPr lang="ru-RU" sz="1400" dirty="0" smtClean="0"/>
              <a:t>ответственному </a:t>
            </a:r>
            <a:r>
              <a:rPr lang="ru-RU" sz="1400" dirty="0"/>
              <a:t>донора с указанием номера потребности, номера запроса на </a:t>
            </a:r>
            <a:r>
              <a:rPr lang="ru-RU" sz="1400" dirty="0" err="1"/>
              <a:t>перерезервирование</a:t>
            </a:r>
            <a:r>
              <a:rPr lang="ru-RU" sz="1400" dirty="0"/>
              <a:t> и ФИО инициатора запроса на </a:t>
            </a:r>
            <a:r>
              <a:rPr lang="ru-RU" sz="1400" dirty="0" err="1" smtClean="0"/>
              <a:t>перерезервирование</a:t>
            </a:r>
            <a:r>
              <a:rPr lang="ru-RU" sz="1400" dirty="0" smtClean="0"/>
              <a:t>.</a:t>
            </a:r>
          </a:p>
          <a:p>
            <a:r>
              <a:rPr lang="ru-RU" sz="1400" dirty="0"/>
              <a:t>После того, как запрос на </a:t>
            </a:r>
            <a:r>
              <a:rPr lang="ru-RU" sz="1400" dirty="0" err="1"/>
              <a:t>перерезервирование</a:t>
            </a:r>
            <a:r>
              <a:rPr lang="ru-RU" sz="1400" dirty="0"/>
              <a:t> </a:t>
            </a:r>
            <a:r>
              <a:rPr lang="ru-RU" sz="1400" dirty="0" smtClean="0"/>
              <a:t>согласован, </a:t>
            </a:r>
            <a:r>
              <a:rPr lang="ru-RU" sz="1400" dirty="0"/>
              <a:t>выполняется автоматическое перераспределение резерва, т.е. уменьшение подтверждённого объёма одной потребности и увеличение подтверждённого объёма другой потребности в размере, указанном в согласованном </a:t>
            </a:r>
            <a:r>
              <a:rPr lang="ru-RU" sz="1400" dirty="0" smtClean="0"/>
              <a:t>запросе.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689996" y="4962381"/>
            <a:ext cx="1799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8366" y="2392367"/>
            <a:ext cx="234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ZMM_RESREQ_MAINT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805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«Подтверждение фактического количества израсходованных МТР»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Движение материала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67843" y="4962380"/>
            <a:ext cx="135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2932" y="3302925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Аварийный заказ ТОРО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302925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Проводка выполнена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22966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 выполнении аварийных работ критичного оборудования материалы у МОЛ </a:t>
            </a:r>
            <a:r>
              <a:rPr lang="ru-RU" sz="1400" dirty="0" err="1"/>
              <a:t>ТОиР</a:t>
            </a:r>
            <a:r>
              <a:rPr lang="ru-RU" sz="1400" dirty="0"/>
              <a:t> БЕ ГОК получают на основе требований-накладных оформленных вручную. Исполнитель работ </a:t>
            </a:r>
            <a:r>
              <a:rPr lang="ru-RU" sz="1400" dirty="0" err="1"/>
              <a:t>ТОиР</a:t>
            </a:r>
            <a:r>
              <a:rPr lang="ru-RU" sz="1400" dirty="0"/>
              <a:t> БЕ ГОК получает по требованию-накладной М11</a:t>
            </a:r>
            <a:r>
              <a:rPr lang="ru-RU" sz="1400" dirty="0" smtClean="0"/>
              <a:t>. </a:t>
            </a:r>
            <a:r>
              <a:rPr lang="ru-RU" sz="1400" dirty="0"/>
              <a:t>Списание материалов в </a:t>
            </a:r>
            <a:r>
              <a:rPr lang="ru-RU" sz="1400" dirty="0" smtClean="0"/>
              <a:t>системе</a:t>
            </a:r>
            <a:r>
              <a:rPr lang="en-US" sz="1400" dirty="0" smtClean="0"/>
              <a:t> </a:t>
            </a:r>
            <a:r>
              <a:rPr lang="ru-RU" sz="1400" dirty="0"/>
              <a:t>будет производиться по окончании ремонта на основе документа «Акт об использовании материала</a:t>
            </a:r>
            <a:r>
              <a:rPr lang="ru-RU" sz="1400" dirty="0" smtClean="0"/>
              <a:t>».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217000" y="2409149"/>
            <a:ext cx="737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MIGO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21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«Отражение времени, фактически затраченного на мероприятия </a:t>
            </a:r>
            <a:r>
              <a:rPr lang="ru-RU" sz="1600" dirty="0" err="1"/>
              <a:t>ТОиР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Общее подтверждение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IW4</a:t>
            </a:r>
            <a:r>
              <a:rPr lang="ru-RU" dirty="0"/>
              <a:t>1</a:t>
            </a:r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50599" y="4962380"/>
            <a:ext cx="2469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учету трудозатрат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 операциями для подтверждения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395257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Операции заказа подтверждены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Специалист по учету трудозатрат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осуществляет подтверждение операций выполненных в рамках аварийного заказа.</a:t>
            </a:r>
          </a:p>
        </p:txBody>
      </p:sp>
    </p:spTree>
    <p:extLst>
      <p:ext uri="{BB962C8B-B14F-4D97-AF65-F5344CB8AC3E}">
        <p14:creationId xmlns:p14="http://schemas.microsoft.com/office/powerpoint/2010/main" val="382803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«Техническое закрытие мероприятий </a:t>
            </a:r>
            <a:r>
              <a:rPr lang="ru-RU" sz="1600" dirty="0" err="1"/>
              <a:t>ТОиР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заказа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17000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02925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который необходимо закрыть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65117" y="3395257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со статусом ТЗКР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БЕ ГОК закрывает аварийный заказ ТОРО. На заказе автоматически устанавливается статус </a:t>
            </a:r>
            <a:r>
              <a:rPr lang="ru-RU" sz="1400" dirty="0"/>
              <a:t>ТЗКР </a:t>
            </a:r>
            <a:r>
              <a:rPr lang="ru-RU" sz="1400" dirty="0" smtClean="0"/>
              <a:t>– «технически закрыто».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7966" y="4962380"/>
            <a:ext cx="23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7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12811"/>
              </p:ext>
            </p:extLst>
          </p:nvPr>
        </p:nvGraphicFramePr>
        <p:xfrm>
          <a:off x="195386" y="1248586"/>
          <a:ext cx="8802310" cy="364533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28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сообщений ТОРО в соответствии с приоритетом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и изменение планового заказа ТОРО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Формирование нового заказа ТОРО по данным сообщения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628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Корректировка заказа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22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Присвоение заказа к СПП-элементу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лимитов на СПП-элементе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заказа на внеплановые работы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Согласование заказа ТОРО Главным специалистом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Деблокирование заказа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0753"/>
              </p:ext>
            </p:extLst>
          </p:nvPr>
        </p:nvGraphicFramePr>
        <p:xfrm>
          <a:off x="277682" y="1745478"/>
          <a:ext cx="8628574" cy="236061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сообщений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 – Анализ и ведение сообщений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Создание заказа на основе сообщения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34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Заказ ТОРО для сообщения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2789538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Изменение заказа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32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заказа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Анализ и ведение заказов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A8D3441-DF26-4C7E-9641-F6E293897DF1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119847</TotalTime>
  <Words>2306</Words>
  <Application>Microsoft Office PowerPoint</Application>
  <PresentationFormat>Экран (4:3)</PresentationFormat>
  <Paragraphs>295</Paragraphs>
  <Slides>30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Medvedev Maxim</cp:lastModifiedBy>
  <cp:revision>4472</cp:revision>
  <cp:lastPrinted>2018-04-09T09:22:20Z</cp:lastPrinted>
  <dcterms:created xsi:type="dcterms:W3CDTF">2015-07-14T13:53:28Z</dcterms:created>
  <dcterms:modified xsi:type="dcterms:W3CDTF">2019-11-17T12:58:56Z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