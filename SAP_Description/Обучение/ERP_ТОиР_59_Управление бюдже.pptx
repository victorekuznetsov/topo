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1389" r:id="rId5"/>
    <p:sldId id="1580" r:id="rId6"/>
    <p:sldId id="1685" r:id="rId7"/>
    <p:sldId id="1686" r:id="rId8"/>
    <p:sldId id="1584" r:id="rId9"/>
    <p:sldId id="1684" r:id="rId10"/>
    <p:sldId id="1668" r:id="rId11"/>
    <p:sldId id="1680" r:id="rId12"/>
    <p:sldId id="1672" r:id="rId13"/>
    <p:sldId id="1671" r:id="rId14"/>
    <p:sldId id="1670" r:id="rId15"/>
    <p:sldId id="1669" r:id="rId16"/>
    <p:sldId id="1676" r:id="rId17"/>
    <p:sldId id="1677" r:id="rId18"/>
    <p:sldId id="1678" r:id="rId19"/>
    <p:sldId id="1681" r:id="rId20"/>
    <p:sldId id="1682" r:id="rId21"/>
    <p:sldId id="1683" r:id="rId22"/>
    <p:sldId id="1674" r:id="rId23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FBC90B"/>
    <a:srgbClr val="FCC917"/>
    <a:srgbClr val="FFD966"/>
    <a:srgbClr val="FFF7E0"/>
    <a:srgbClr val="FAC90B"/>
    <a:srgbClr val="F6CC0C"/>
    <a:srgbClr val="19938A"/>
    <a:srgbClr val="C00937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89" d="100"/>
          <a:sy n="89" d="100"/>
        </p:scale>
        <p:origin x="739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21.10.2019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21.10.2019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31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1341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CC917"/>
                </a:solidFill>
              </a:rPr>
              <a:t>59_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«Управление бюджетами воздействий на ПА в </a:t>
            </a:r>
            <a:r>
              <a:rPr lang="ru-RU" sz="2800" dirty="0" smtClean="0">
                <a:solidFill>
                  <a:srgbClr val="FCC917"/>
                </a:solidFill>
              </a:rPr>
              <a:t>MCB»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5527" y="472364"/>
            <a:ext cx="7927975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Ввод бюджетных ориентиров по затратам на ППА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548636" y="1116438"/>
            <a:ext cx="2694097" cy="2566038"/>
            <a:chOff x="1002988" y="3390009"/>
            <a:chExt cx="2720875" cy="313604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A03B924C-2E9B-49B1-86FF-0B5A577F2F13}"/>
                </a:ext>
              </a:extLst>
            </p:cNvPr>
            <p:cNvSpPr txBox="1"/>
            <p:nvPr/>
          </p:nvSpPr>
          <p:spPr>
            <a:xfrm>
              <a:off x="1626413" y="3390009"/>
              <a:ext cx="2071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457200">
                <a:defRPr/>
              </a:pPr>
              <a:r>
                <a:rPr lang="ru-RU" sz="1400" b="1" noProof="0" dirty="0" smtClean="0">
                  <a:solidFill>
                    <a:prstClr val="black"/>
                  </a:solidFill>
                  <a:latin typeface="Calibri" panose="020F0502020204030204"/>
                </a:rPr>
                <a:t>Группа планирования</a:t>
              </a:r>
              <a:endPara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28723BFB-ECB8-430E-84E0-DEE5BC0C26DA}"/>
                </a:ext>
              </a:extLst>
            </p:cNvPr>
            <p:cNvSpPr txBox="1"/>
            <p:nvPr/>
          </p:nvSpPr>
          <p:spPr>
            <a:xfrm>
              <a:off x="2067285" y="4173822"/>
              <a:ext cx="9847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ru-RU" sz="1400" b="1" dirty="0" smtClean="0">
                  <a:solidFill>
                    <a:prstClr val="black"/>
                  </a:solidFill>
                </a:rPr>
                <a:t>Механики</a:t>
              </a:r>
              <a:endParaRPr lang="ru-RU" sz="1400" b="1" dirty="0">
                <a:solidFill>
                  <a:prstClr val="black"/>
                </a:solidFill>
              </a:endParaRPr>
            </a:p>
          </p:txBody>
        </p:sp>
        <p:pic>
          <p:nvPicPr>
            <p:cNvPr id="74" name="Picture 11" descr="q7">
              <a:extLst>
                <a:ext uri="{FF2B5EF4-FFF2-40B4-BE49-F238E27FC236}">
                  <a16:creationId xmlns:a16="http://schemas.microsoft.com/office/drawing/2014/main" xmlns="" id="{370C5E81-E3FD-4C69-B9BD-18039387E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28678" y="3953314"/>
              <a:ext cx="233362" cy="630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5" name="Connector: Elbow 26">
              <a:extLst>
                <a:ext uri="{FF2B5EF4-FFF2-40B4-BE49-F238E27FC236}">
                  <a16:creationId xmlns:a16="http://schemas.microsoft.com/office/drawing/2014/main" xmlns="" id="{EE5D4648-FA46-435D-8C88-B69916011E23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rot="16200000" flipH="1">
              <a:off x="977230" y="4191663"/>
              <a:ext cx="969400" cy="418316"/>
            </a:xfrm>
            <a:prstGeom prst="bentConnector3">
              <a:avLst>
                <a:gd name="adj1" fmla="val 9978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28">
              <a:extLst>
                <a:ext uri="{FF2B5EF4-FFF2-40B4-BE49-F238E27FC236}">
                  <a16:creationId xmlns:a16="http://schemas.microsoft.com/office/drawing/2014/main" xmlns="" id="{3814E9AF-D996-4CA9-AB03-EAF3EEFC8983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rot="16200000" flipH="1">
              <a:off x="695051" y="4473842"/>
              <a:ext cx="1533758" cy="418316"/>
            </a:xfrm>
            <a:prstGeom prst="bentConnector3">
              <a:avLst>
                <a:gd name="adj1" fmla="val 10051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Elbow 30">
              <a:extLst>
                <a:ext uri="{FF2B5EF4-FFF2-40B4-BE49-F238E27FC236}">
                  <a16:creationId xmlns:a16="http://schemas.microsoft.com/office/drawing/2014/main" xmlns="" id="{70BCBBD2-7604-446B-9BF1-6D8F3937AD04}"/>
                </a:ext>
              </a:extLst>
            </p:cNvPr>
            <p:cNvCxnSpPr>
              <a:cxnSpLocks/>
              <a:stCxn id="78" idx="2"/>
              <a:endCxn id="74" idx="1"/>
            </p:cNvCxnSpPr>
            <p:nvPr/>
          </p:nvCxnSpPr>
          <p:spPr>
            <a:xfrm rot="16200000" flipH="1">
              <a:off x="1314569" y="3854324"/>
              <a:ext cx="352312" cy="47590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Picture 1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2988" y="3390485"/>
              <a:ext cx="499568" cy="525636"/>
            </a:xfrm>
            <a:prstGeom prst="rect">
              <a:avLst/>
            </a:prstGeom>
          </p:spPr>
        </p:pic>
        <p:pic>
          <p:nvPicPr>
            <p:cNvPr id="79" name="Picture 11" descr="q7">
              <a:extLst>
                <a:ext uri="{FF2B5EF4-FFF2-40B4-BE49-F238E27FC236}">
                  <a16:creationId xmlns:a16="http://schemas.microsoft.com/office/drawing/2014/main" xmlns="" id="{370C5E81-E3FD-4C69-B9BD-18039387E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28678" y="4596500"/>
              <a:ext cx="233362" cy="630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" name="Picture 11" descr="q7">
              <a:extLst>
                <a:ext uri="{FF2B5EF4-FFF2-40B4-BE49-F238E27FC236}">
                  <a16:creationId xmlns:a16="http://schemas.microsoft.com/office/drawing/2014/main" xmlns="" id="{370C5E81-E3FD-4C69-B9BD-18039387E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34156" y="5239686"/>
              <a:ext cx="233362" cy="630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28723BFB-ECB8-430E-84E0-DEE5BC0C26DA}"/>
                </a:ext>
              </a:extLst>
            </p:cNvPr>
            <p:cNvSpPr txBox="1"/>
            <p:nvPr/>
          </p:nvSpPr>
          <p:spPr>
            <a:xfrm>
              <a:off x="2061548" y="4731632"/>
              <a:ext cx="1003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ru-RU" sz="1400" b="1" dirty="0">
                  <a:solidFill>
                    <a:prstClr val="black"/>
                  </a:solidFill>
                </a:rPr>
                <a:t>Электрики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28723BFB-ECB8-430E-84E0-DEE5BC0C26DA}"/>
                </a:ext>
              </a:extLst>
            </p:cNvPr>
            <p:cNvSpPr txBox="1"/>
            <p:nvPr/>
          </p:nvSpPr>
          <p:spPr>
            <a:xfrm>
              <a:off x="2061548" y="5361556"/>
              <a:ext cx="16623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ru-RU" sz="1400" b="1" dirty="0" smtClean="0">
                  <a:solidFill>
                    <a:prstClr val="black"/>
                  </a:solidFill>
                </a:rPr>
                <a:t>Метрологи/</a:t>
              </a:r>
              <a:r>
                <a:rPr lang="ru-RU" sz="1400" b="1" dirty="0" err="1" smtClean="0">
                  <a:solidFill>
                    <a:prstClr val="black"/>
                  </a:solidFill>
                </a:rPr>
                <a:t>КИПиА</a:t>
              </a:r>
              <a:endParaRPr lang="ru-RU" sz="1400" b="1" dirty="0">
                <a:solidFill>
                  <a:prstClr val="black"/>
                </a:solidFill>
              </a:endParaRPr>
            </a:p>
          </p:txBody>
        </p:sp>
        <p:pic>
          <p:nvPicPr>
            <p:cNvPr id="83" name="Picture 11" descr="q7">
              <a:extLst>
                <a:ext uri="{FF2B5EF4-FFF2-40B4-BE49-F238E27FC236}">
                  <a16:creationId xmlns:a16="http://schemas.microsoft.com/office/drawing/2014/main" xmlns="" id="{370C5E81-E3FD-4C69-B9BD-18039387E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28678" y="5895821"/>
              <a:ext cx="233362" cy="630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28723BFB-ECB8-430E-84E0-DEE5BC0C26DA}"/>
                </a:ext>
              </a:extLst>
            </p:cNvPr>
            <p:cNvSpPr txBox="1"/>
            <p:nvPr/>
          </p:nvSpPr>
          <p:spPr>
            <a:xfrm>
              <a:off x="2056070" y="6017691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ru-RU" sz="1400" b="1" dirty="0" smtClean="0">
                  <a:solidFill>
                    <a:prstClr val="black"/>
                  </a:solidFill>
                </a:rPr>
                <a:t>ЗИС</a:t>
              </a:r>
              <a:endParaRPr lang="ru-RU" sz="1400" b="1" dirty="0">
                <a:solidFill>
                  <a:prstClr val="black"/>
                </a:solidFill>
              </a:endParaRPr>
            </a:p>
          </p:txBody>
        </p:sp>
        <p:cxnSp>
          <p:nvCxnSpPr>
            <p:cNvPr id="146" name="Connector: Elbow 28">
              <a:extLst>
                <a:ext uri="{FF2B5EF4-FFF2-40B4-BE49-F238E27FC236}">
                  <a16:creationId xmlns:a16="http://schemas.microsoft.com/office/drawing/2014/main" xmlns="" id="{3814E9AF-D996-4CA9-AB03-EAF3EEFC8983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rot="16200000" flipH="1">
              <a:off x="335986" y="4832907"/>
              <a:ext cx="2298106" cy="464534"/>
            </a:xfrm>
            <a:prstGeom prst="bentConnector3">
              <a:avLst>
                <a:gd name="adj1" fmla="val 10028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extBox 148"/>
          <p:cNvSpPr txBox="1"/>
          <p:nvPr/>
        </p:nvSpPr>
        <p:spPr>
          <a:xfrm>
            <a:off x="3607316" y="1712748"/>
            <a:ext cx="4757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smtClean="0"/>
              <a:t>Формирование</a:t>
            </a:r>
            <a:r>
              <a:rPr lang="ru-RU" sz="1200" dirty="0" smtClean="0"/>
              <a:t> </a:t>
            </a:r>
            <a:r>
              <a:rPr lang="ru-RU" dirty="0" smtClean="0"/>
              <a:t>лимитов на год в разрезе БЕ, </a:t>
            </a:r>
            <a:r>
              <a:rPr lang="ru-RU" dirty="0"/>
              <a:t>ЦФО </a:t>
            </a:r>
            <a:r>
              <a:rPr lang="ru-RU" dirty="0" smtClean="0"/>
              <a:t>(</a:t>
            </a:r>
            <a:r>
              <a:rPr lang="ru-RU" dirty="0"/>
              <a:t>Группа </a:t>
            </a:r>
            <a:r>
              <a:rPr lang="ru-RU" dirty="0" smtClean="0"/>
              <a:t>планирования), </a:t>
            </a:r>
            <a:r>
              <a:rPr lang="ru-RU" dirty="0"/>
              <a:t>ЦЗ (ПФМ - структура бюджета по подразделениям-заявителям потребности в МТР, услугах)</a:t>
            </a:r>
          </a:p>
        </p:txBody>
      </p:sp>
      <p:pic>
        <p:nvPicPr>
          <p:cNvPr id="5122" name="Рисунок 1" descr="image0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70" y="4062159"/>
            <a:ext cx="4018319" cy="26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887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406400"/>
            <a:ext cx="7814733" cy="472490"/>
          </a:xfrm>
          <a:ln>
            <a:noFill/>
          </a:ln>
        </p:spPr>
        <p:txBody>
          <a:bodyPr/>
          <a:lstStyle/>
          <a:p>
            <a:r>
              <a:rPr lang="ru-RU" sz="2000" dirty="0"/>
              <a:t>Формирование годового бюджета воздействий на производственные активы</a:t>
            </a:r>
          </a:p>
        </p:txBody>
      </p:sp>
      <p:pic>
        <p:nvPicPr>
          <p:cNvPr id="6146" name="Рисунок 2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1" y="2987924"/>
            <a:ext cx="8401051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4486" y="1135504"/>
            <a:ext cx="7879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Отображение </a:t>
            </a:r>
            <a:r>
              <a:rPr lang="ru-RU" dirty="0" smtClean="0"/>
              <a:t>Плана освоения по </a:t>
            </a:r>
            <a:r>
              <a:rPr lang="ru-RU" dirty="0"/>
              <a:t>каждому </a:t>
            </a:r>
            <a:r>
              <a:rPr lang="ru-RU" dirty="0" smtClean="0"/>
              <a:t>месяцу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Годовое планирование Бюджета воздействия ПА по каждому месяцу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Иерархия СПП-элементов в разрезе заказов ТОРО и сетевых графиков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Дополнительная аналитика: Виз затрат, Тип затрат, Способ выполнения работ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Формирование лимитов бюджета в разрезе СПП-элементов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271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Основные общие элементы организационной структуры S/4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541825" y="1175053"/>
            <a:ext cx="341752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Место возникновения затрат</a:t>
            </a:r>
            <a:r>
              <a:rPr lang="ru-RU" sz="1600" dirty="0"/>
              <a:t> (далее МВЗ) - подразделения, а также объекты учета затрат, в которых происходит первоначальное потребление ресурсов и по которым организуется планирование и учет затрат в целях контроля и управления затратами.</a:t>
            </a:r>
          </a:p>
          <a:p>
            <a:endParaRPr lang="ru-RU" dirty="0"/>
          </a:p>
          <a:p>
            <a:r>
              <a:rPr lang="ru-RU" sz="1600" dirty="0"/>
              <a:t>МВЗ — это самостоятельная единица, определенная в рамках </a:t>
            </a:r>
            <a:r>
              <a:rPr lang="ru-RU" sz="1600" dirty="0" err="1"/>
              <a:t>контроллинговой</a:t>
            </a:r>
            <a:r>
              <a:rPr lang="ru-RU" sz="1600" dirty="0"/>
              <a:t> единицы. Принцип, по которому формируются МВЗ, может быть основан на функциональном, организационном, территориальном или ином подходе. Кроме того, возможно выделение технических МВЗ для обеспечения транзита и распределения затрат, выделения поставщиков и др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519679"/>
            <a:ext cx="5047488" cy="484895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087368" y="1019164"/>
            <a:ext cx="4983480" cy="2637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1600" dirty="0" smtClean="0">
                <a:solidFill>
                  <a:schemeClr val="tx1"/>
                </a:solidFill>
              </a:rPr>
              <a:t>Пример справочника МВЗ Полюс-</a:t>
            </a:r>
            <a:r>
              <a:rPr lang="ru-RU" sz="1600" dirty="0" err="1" smtClean="0">
                <a:solidFill>
                  <a:schemeClr val="tx1"/>
                </a:solidFill>
              </a:rPr>
              <a:t>Вернинское</a:t>
            </a:r>
            <a:r>
              <a:rPr lang="ru-RU" sz="1600" dirty="0" smtClean="0">
                <a:solidFill>
                  <a:schemeClr val="tx1"/>
                </a:solidFill>
              </a:rPr>
              <a:t> 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38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шагов </a:t>
            </a:r>
            <a:r>
              <a:rPr lang="en-US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MCB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процесса </a:t>
            </a:r>
            <a:r>
              <a:rPr lang="ru-RU" sz="1800" dirty="0" smtClean="0"/>
              <a:t>«</a:t>
            </a:r>
            <a:r>
              <a:rPr lang="ru-RU" sz="1800" dirty="0"/>
              <a:t>Формирование годового бюджета воздействий на производственные </a:t>
            </a:r>
            <a:r>
              <a:rPr lang="ru-RU" sz="1800" dirty="0" smtClean="0"/>
              <a:t>активы»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411214" y="3435701"/>
            <a:ext cx="1390692" cy="772087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Расчёт бюджетных ориентиров по затратам на ППА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grpSp>
        <p:nvGrpSpPr>
          <p:cNvPr id="36" name="Группа 35"/>
          <p:cNvGrpSpPr/>
          <p:nvPr/>
        </p:nvGrpSpPr>
        <p:grpSpPr>
          <a:xfrm>
            <a:off x="7622815" y="3435702"/>
            <a:ext cx="1142423" cy="776941"/>
            <a:chOff x="103199" y="808239"/>
            <a:chExt cx="916520" cy="682828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Скругленный прямоугольник 4"/>
            <p:cNvSpPr txBox="1"/>
            <p:nvPr/>
          </p:nvSpPr>
          <p:spPr>
            <a:xfrm>
              <a:off x="123198" y="838207"/>
              <a:ext cx="876521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годового плана и бюджета (на уровне БЕ)</a:t>
              </a:r>
              <a:endParaRPr lang="ru-RU" sz="1050" kern="1200" dirty="0" smtClean="0"/>
            </a:p>
          </p:txBody>
        </p:sp>
      </p:grp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39069" y="1096391"/>
            <a:ext cx="16647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бюджета УА ООО «УК Полюс»</a:t>
            </a: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>
            <a:off x="8745416" y="3798887"/>
            <a:ext cx="3411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155741" y="1096391"/>
            <a:ext cx="152389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Технический директор ООО «УК Полюс»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Вице-президент БП и ТП ООО «УК Полюс»</a:t>
            </a: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3926478" y="1101092"/>
            <a:ext cx="158758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Вице-президент по финансам и стратегии ООО «УК Полюс»</a:t>
            </a: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7480802" y="1101092"/>
            <a:ext cx="1435165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 ГОК</a:t>
            </a: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771287" y="1090123"/>
            <a:ext cx="150856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бюджета УА БЕ ГОК </a:t>
            </a:r>
          </a:p>
        </p:txBody>
      </p:sp>
      <p:grpSp>
        <p:nvGrpSpPr>
          <p:cNvPr id="46" name="Группа 45"/>
          <p:cNvGrpSpPr/>
          <p:nvPr/>
        </p:nvGrpSpPr>
        <p:grpSpPr>
          <a:xfrm>
            <a:off x="5968738" y="3440557"/>
            <a:ext cx="1152382" cy="767232"/>
            <a:chOff x="103199" y="808239"/>
            <a:chExt cx="916520" cy="682828"/>
          </a:xfrm>
        </p:grpSpPr>
        <p:sp>
          <p:nvSpPr>
            <p:cNvPr id="47" name="Скругленный прямоугольник 4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Формирование годового бюджета воздействий на ПА БЕ</a:t>
              </a:r>
              <a:endParaRPr lang="ru-RU" sz="1050" kern="1200" dirty="0"/>
            </a:p>
          </p:txBody>
        </p:sp>
      </p:grpSp>
      <p:cxnSp>
        <p:nvCxnSpPr>
          <p:cNvPr id="66" name="Прямая соединительная линия 65"/>
          <p:cNvCxnSpPr/>
          <p:nvPr/>
        </p:nvCxnSpPr>
        <p:spPr>
          <a:xfrm>
            <a:off x="95501" y="3798887"/>
            <a:ext cx="3411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Группа 66"/>
          <p:cNvGrpSpPr/>
          <p:nvPr/>
        </p:nvGrpSpPr>
        <p:grpSpPr>
          <a:xfrm>
            <a:off x="4139692" y="3440557"/>
            <a:ext cx="1152382" cy="767232"/>
            <a:chOff x="103199" y="808239"/>
            <a:chExt cx="916520" cy="682828"/>
          </a:xfrm>
        </p:grpSpPr>
        <p:sp>
          <p:nvSpPr>
            <p:cNvPr id="68" name="Скругленный прямоугольник 6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Согласование с </a:t>
              </a:r>
              <a:r>
                <a:rPr lang="ru-RU" sz="1050" dirty="0" err="1" smtClean="0"/>
                <a:t>БФиС</a:t>
              </a:r>
              <a:endParaRPr lang="ru-RU" sz="1050" kern="1200" dirty="0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2338933" y="3440557"/>
            <a:ext cx="1152382" cy="767232"/>
            <a:chOff x="103199" y="808239"/>
            <a:chExt cx="916520" cy="682828"/>
          </a:xfrm>
        </p:grpSpPr>
        <p:sp>
          <p:nvSpPr>
            <p:cNvPr id="71" name="Скругленный прямоугольник 70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2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Согласование ориентиров по затратам на ППА</a:t>
              </a:r>
            </a:p>
          </p:txBody>
        </p:sp>
      </p:grpSp>
      <p:cxnSp>
        <p:nvCxnSpPr>
          <p:cNvPr id="74" name="Прямая соединительная линия 73"/>
          <p:cNvCxnSpPr>
            <a:stCxn id="13" idx="3"/>
            <a:endCxn id="71" idx="1"/>
          </p:cNvCxnSpPr>
          <p:nvPr/>
        </p:nvCxnSpPr>
        <p:spPr>
          <a:xfrm>
            <a:off x="1801906" y="3821745"/>
            <a:ext cx="537027" cy="24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>
            <a:stCxn id="71" idx="3"/>
            <a:endCxn id="68" idx="1"/>
          </p:cNvCxnSpPr>
          <p:nvPr/>
        </p:nvCxnSpPr>
        <p:spPr>
          <a:xfrm>
            <a:off x="3491315" y="3824173"/>
            <a:ext cx="6483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>
            <a:stCxn id="68" idx="3"/>
            <a:endCxn id="47" idx="1"/>
          </p:cNvCxnSpPr>
          <p:nvPr/>
        </p:nvCxnSpPr>
        <p:spPr>
          <a:xfrm>
            <a:off x="5292074" y="3824173"/>
            <a:ext cx="67666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>
            <a:stCxn id="47" idx="3"/>
            <a:endCxn id="37" idx="1"/>
          </p:cNvCxnSpPr>
          <p:nvPr/>
        </p:nvCxnSpPr>
        <p:spPr>
          <a:xfrm>
            <a:off x="7121120" y="3824173"/>
            <a:ext cx="50169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шагов 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MCB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процесса </a:t>
            </a:r>
            <a:r>
              <a:rPr lang="ru-RU" sz="1800" dirty="0"/>
              <a:t>«Формирование годового бюджета воздействий на производственные активы»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6" name="Группа 45"/>
          <p:cNvGrpSpPr/>
          <p:nvPr/>
        </p:nvGrpSpPr>
        <p:grpSpPr>
          <a:xfrm>
            <a:off x="411214" y="3435701"/>
            <a:ext cx="1390692" cy="772087"/>
            <a:chOff x="103199" y="808239"/>
            <a:chExt cx="916520" cy="68282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47" name="Скругленный прямоугольник 4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solidFill>
              <a:srgbClr val="76717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Рассмотрение плана и бюджета воздействий на ПА Техническим комитетом БЕ</a:t>
              </a:r>
              <a:endParaRPr lang="ru-RU" sz="1050" kern="1200" dirty="0"/>
            </a:p>
          </p:txBody>
        </p:sp>
      </p:grpSp>
      <p:sp>
        <p:nvSpPr>
          <p:cNvPr id="49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grpSp>
        <p:nvGrpSpPr>
          <p:cNvPr id="50" name="Группа 49"/>
          <p:cNvGrpSpPr/>
          <p:nvPr/>
        </p:nvGrpSpPr>
        <p:grpSpPr>
          <a:xfrm>
            <a:off x="7622815" y="3435701"/>
            <a:ext cx="1142423" cy="776941"/>
            <a:chOff x="103199" y="808239"/>
            <a:chExt cx="916520" cy="682828"/>
          </a:xfrm>
        </p:grpSpPr>
        <p:sp>
          <p:nvSpPr>
            <p:cNvPr id="51" name="Скругленный прямоугольник 50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" name="Скругленный прямоугольник 4"/>
            <p:cNvSpPr txBox="1"/>
            <p:nvPr/>
          </p:nvSpPr>
          <p:spPr>
            <a:xfrm>
              <a:off x="123198" y="838207"/>
              <a:ext cx="876521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Формирование лимитов бюджета в разрезе СПП-элементов</a:t>
              </a:r>
              <a:endParaRPr lang="ru-RU" sz="1050" kern="1200" dirty="0" smtClean="0"/>
            </a:p>
          </p:txBody>
        </p:sp>
      </p:grpSp>
      <p:sp>
        <p:nvSpPr>
          <p:cNvPr id="53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39069" y="1096391"/>
            <a:ext cx="16647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Согласующий технического комитета БЕ ГОК</a:t>
            </a:r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>
            <a:off x="8745416" y="3798887"/>
            <a:ext cx="3411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155741" y="1096391"/>
            <a:ext cx="152389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УК</a:t>
            </a:r>
          </a:p>
        </p:txBody>
      </p:sp>
      <p:sp>
        <p:nvSpPr>
          <p:cNvPr id="56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3926478" y="1101092"/>
            <a:ext cx="158758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Технический директор ООО «УК Полюс»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Вице-президент БП и ТП ООО «УК Полюс»</a:t>
            </a:r>
          </a:p>
        </p:txBody>
      </p:sp>
      <p:sp>
        <p:nvSpPr>
          <p:cNvPr id="57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7480802" y="1101092"/>
            <a:ext cx="1435165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бюджета ООО «УК Полюс»</a:t>
            </a:r>
          </a:p>
        </p:txBody>
      </p:sp>
      <p:sp>
        <p:nvSpPr>
          <p:cNvPr id="5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771287" y="1090123"/>
            <a:ext cx="150856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УК</a:t>
            </a:r>
          </a:p>
        </p:txBody>
      </p:sp>
      <p:grpSp>
        <p:nvGrpSpPr>
          <p:cNvPr id="59" name="Группа 58"/>
          <p:cNvGrpSpPr/>
          <p:nvPr/>
        </p:nvGrpSpPr>
        <p:grpSpPr>
          <a:xfrm>
            <a:off x="5893107" y="3232885"/>
            <a:ext cx="1264928" cy="1177718"/>
            <a:chOff x="103199" y="808239"/>
            <a:chExt cx="916520" cy="682828"/>
          </a:xfrm>
        </p:grpSpPr>
        <p:sp>
          <p:nvSpPr>
            <p:cNvPr id="60" name="Скругленный прямоугольник 5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1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корректировки бюджета по результатам рассмотрения на Бюджетом комитете</a:t>
              </a:r>
              <a:endParaRPr lang="ru-RU" sz="1050" kern="1200" dirty="0"/>
            </a:p>
          </p:txBody>
        </p:sp>
      </p:grpSp>
      <p:cxnSp>
        <p:nvCxnSpPr>
          <p:cNvPr id="62" name="Прямая соединительная линия 61"/>
          <p:cNvCxnSpPr/>
          <p:nvPr/>
        </p:nvCxnSpPr>
        <p:spPr>
          <a:xfrm>
            <a:off x="95501" y="3798887"/>
            <a:ext cx="3411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Группа 62"/>
          <p:cNvGrpSpPr/>
          <p:nvPr/>
        </p:nvGrpSpPr>
        <p:grpSpPr>
          <a:xfrm>
            <a:off x="4139692" y="3440557"/>
            <a:ext cx="1152382" cy="767232"/>
            <a:chOff x="103199" y="808239"/>
            <a:chExt cx="916520" cy="682828"/>
          </a:xfrm>
        </p:grpSpPr>
        <p:sp>
          <p:nvSpPr>
            <p:cNvPr id="64" name="Скругленный прямоугольник 63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Рассмотрение плана и бюджета воздействий на ПА Техническим комитетом УК</a:t>
              </a:r>
              <a:endParaRPr lang="ru-RU" sz="1050" kern="1200" dirty="0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2338933" y="3440557"/>
            <a:ext cx="1152382" cy="767232"/>
            <a:chOff x="103199" y="808239"/>
            <a:chExt cx="916520" cy="682828"/>
          </a:xfrm>
        </p:grpSpPr>
        <p:sp>
          <p:nvSpPr>
            <p:cNvPr id="67" name="Скругленный прямоугольник 6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8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  <a:solidFill>
              <a:srgbClr val="76717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годового плана и бюджета воздействия на ПА (на уровне УК)</a:t>
              </a:r>
            </a:p>
          </p:txBody>
        </p:sp>
      </p:grpSp>
      <p:cxnSp>
        <p:nvCxnSpPr>
          <p:cNvPr id="69" name="Прямая соединительная линия 68"/>
          <p:cNvCxnSpPr>
            <a:stCxn id="47" idx="3"/>
            <a:endCxn id="67" idx="1"/>
          </p:cNvCxnSpPr>
          <p:nvPr/>
        </p:nvCxnSpPr>
        <p:spPr>
          <a:xfrm>
            <a:off x="1801906" y="3821745"/>
            <a:ext cx="537027" cy="24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>
            <a:stCxn id="67" idx="3"/>
            <a:endCxn id="64" idx="1"/>
          </p:cNvCxnSpPr>
          <p:nvPr/>
        </p:nvCxnSpPr>
        <p:spPr>
          <a:xfrm>
            <a:off x="3491315" y="3824173"/>
            <a:ext cx="6483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7"/>
          <p:cNvCxnSpPr>
            <a:stCxn id="60" idx="2"/>
            <a:endCxn id="64" idx="2"/>
          </p:cNvCxnSpPr>
          <p:nvPr/>
        </p:nvCxnSpPr>
        <p:spPr>
          <a:xfrm rot="5400000" flipH="1">
            <a:off x="5519320" y="3404352"/>
            <a:ext cx="202814" cy="1809688"/>
          </a:xfrm>
          <a:prstGeom prst="bentConnector3">
            <a:avLst>
              <a:gd name="adj1" fmla="val -112714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64" idx="3"/>
            <a:endCxn id="60" idx="1"/>
          </p:cNvCxnSpPr>
          <p:nvPr/>
        </p:nvCxnSpPr>
        <p:spPr>
          <a:xfrm flipV="1">
            <a:off x="5292074" y="3821744"/>
            <a:ext cx="601033" cy="24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>
            <a:stCxn id="60" idx="3"/>
            <a:endCxn id="51" idx="1"/>
          </p:cNvCxnSpPr>
          <p:nvPr/>
        </p:nvCxnSpPr>
        <p:spPr>
          <a:xfrm>
            <a:off x="7158035" y="3821744"/>
            <a:ext cx="464780" cy="24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9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</a:t>
            </a:r>
            <a:r>
              <a:rPr lang="ru-RU" sz="1600" dirty="0"/>
              <a:t>Расчёт бюджетных ориентиров по затратам на </a:t>
            </a:r>
            <a:r>
              <a:rPr lang="ru-RU" sz="1600" dirty="0" smtClean="0"/>
              <a:t>ППА»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Расчёт бюджетных ориентиров по затратам на ППА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0653" y="350589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Сохранены ориентиры на год в разрезе БЕ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192448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Ограничения по ориентирам затрат на ППА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Мероприятия в составе среднесрочного производственного плана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ссылке из электронного письма либо из потока бизнес-операций происходит переход в приложение для анализа данных в формат планирования годового и среднесрочного бюджетов воздействий. В формате заполняется колонка "Ориентир" по БЕ.</a:t>
            </a: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ориентиров по затратам на </a:t>
            </a:r>
            <a:r>
              <a:rPr lang="ru-RU" sz="1600" dirty="0" smtClean="0"/>
              <a:t>ППА»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Согласование ориентиров по затратам на ППА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9875" y="3053187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Утверждены ориентиры по затратам на ППА. 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Данные блокируются от изменения.</a:t>
            </a:r>
          </a:p>
          <a:p>
            <a:r>
              <a:rPr lang="ru-RU" sz="1100" dirty="0">
                <a:solidFill>
                  <a:srgbClr val="595959"/>
                </a:solidFill>
              </a:rPr>
              <a:t>Распечатан бумажный экземпляр ориентиров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483306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Ориентиры по затратам на ППА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ссылке из электронного письма либо из потока бизнес-операций происходит переход  к шагу согласования путем вызова формата планирования в приложении для анализа данных.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Печатается бумажный экземпляр ориентиров</a:t>
            </a:r>
          </a:p>
        </p:txBody>
      </p:sp>
    </p:spTree>
    <p:extLst>
      <p:ext uri="{BB962C8B-B14F-4D97-AF65-F5344CB8AC3E}">
        <p14:creationId xmlns:p14="http://schemas.microsoft.com/office/powerpoint/2010/main" val="4178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с </a:t>
            </a:r>
            <a:r>
              <a:rPr lang="ru-RU" sz="1600" dirty="0" err="1"/>
              <a:t>БФиС</a:t>
            </a:r>
            <a:r>
              <a:rPr lang="ru-RU" sz="1600" dirty="0" smtClean="0"/>
              <a:t>»</a:t>
            </a:r>
            <a:endParaRPr lang="ru-RU" sz="1600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3115872" y="2370686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Согласование с </a:t>
              </a:r>
              <a:r>
                <a:rPr lang="ru-RU" sz="1600" dirty="0" err="1"/>
                <a:t>БФиС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8135" y="3450770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5863" y="343107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1826" y="2512051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Протокол согласования ориентиров по затратам на ППА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Ориентиры по затратам  на ППА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223" y="2492353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Согласованы ориентиры по затратам на ППА. </a:t>
            </a:r>
          </a:p>
          <a:p>
            <a:r>
              <a:rPr lang="ru-RU" sz="1100" dirty="0">
                <a:solidFill>
                  <a:srgbClr val="595959"/>
                </a:solidFill>
              </a:rPr>
              <a:t>Ставиться отметка в протоколе согласования ориентиров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15" y="1099360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</a:rPr>
              <a:t>По ссылке потока операций из электронного письма  происходит переход  к шагу согласования путем вызова формата планирования в приложении для анализа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37636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800" dirty="0"/>
              <a:t>«Формирование годового бюджета воздействий на ПА БЕ»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годового бюджета воздействий на ПА БЕ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256783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Сформирован план финансирования и план ввода в эксплуатацию в помесячной разбивке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71366" y="2533508"/>
            <a:ext cx="25916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Ориентиры по затратам на </a:t>
            </a:r>
            <a:r>
              <a:rPr lang="ru-RU" sz="1100" dirty="0" smtClean="0">
                <a:solidFill>
                  <a:srgbClr val="595959"/>
                </a:solidFill>
              </a:rPr>
              <a:t>ППА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Среднесрочный план воздействий на ПА </a:t>
            </a:r>
            <a:r>
              <a:rPr lang="ru-RU" sz="1100" dirty="0" smtClean="0">
                <a:solidFill>
                  <a:srgbClr val="595959"/>
                </a:solidFill>
              </a:rPr>
              <a:t>БЕ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Согласованный ГИ план-график воздействий на ПА по предприятию (заказы ТОРО в статусе в статусе ГИП, ГОД</a:t>
            </a:r>
            <a:r>
              <a:rPr lang="ru-RU" sz="1100" dirty="0" smtClean="0">
                <a:solidFill>
                  <a:srgbClr val="595959"/>
                </a:solidFill>
              </a:rPr>
              <a:t>)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Заявки на списание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ссылке из электронного письма либо из потока бизнес-операций запускается формат планирования, структурированный по иерархии проектов, СПП-элементов и типу затрат.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Вводится значение плановой стоимости воздействий из запланированных заказов ТОРО, формирующих годовой план-график воздействий, в разрезе структуры СПП-элементов.</a:t>
            </a:r>
            <a:b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</a:b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Вводится значение отсрочки платежа и ставки НДС.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Запускается алгоритм формирования плана финансирования и плана ввода в эксплуатацию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66" y="5586278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Последующим шагом Планировщика бюджета УА БЕ ГОК выполняет процедуру формирования обоснования для включения проекта в Годовой бюджет воздействий на ПА БЕ, которое необходимо для ранжирования проектов и переноса проектов по определённым критериям на следующие года воздействий (внесистемный шаг).</a:t>
            </a:r>
          </a:p>
        </p:txBody>
      </p:sp>
    </p:spTree>
    <p:extLst>
      <p:ext uri="{BB962C8B-B14F-4D97-AF65-F5344CB8AC3E}">
        <p14:creationId xmlns:p14="http://schemas.microsoft.com/office/powerpoint/2010/main" val="12892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«Анализ годового плана и бюджета (на уровне БЕ)»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годового плана и бюджета (на уровне БЕ)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6452" y="3374863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утвержден.</a:t>
            </a:r>
          </a:p>
          <a:p>
            <a:r>
              <a:rPr lang="ru-RU" sz="1100" dirty="0">
                <a:solidFill>
                  <a:srgbClr val="595959"/>
                </a:solidFill>
              </a:rPr>
              <a:t>Утверждённый бюджет блокируется от изменений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воздействий на ПА БЕ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ссылке из электронного письма либо из потока бизнес-операций запускается аналитический отчёт в приложении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Excel</a:t>
            </a:r>
            <a:r>
              <a:rPr lang="ru-RU" sz="1400" dirty="0"/>
              <a:t>.</a:t>
            </a:r>
          </a:p>
          <a:p>
            <a:r>
              <a:rPr lang="ru-RU" sz="1400" dirty="0"/>
              <a:t>Сформированный бюджет воздействий БЕ утверждается.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0308" y="5636339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утверждения становится доступен следующий шаг процесса – рассмотрение плана и бюджета </a:t>
            </a:r>
            <a:r>
              <a:rPr lang="ru-RU" sz="1400" dirty="0" err="1"/>
              <a:t>воздей-ствий</a:t>
            </a:r>
            <a:r>
              <a:rPr lang="ru-RU" sz="1400" dirty="0"/>
              <a:t> на ПА на Техническом комитете БЕ. Участники Технического комитета БЕ информируются по электронной почте о необходимости выполнить свои шаги </a:t>
            </a:r>
            <a:r>
              <a:rPr lang="ru-RU" sz="1400" dirty="0" smtClean="0"/>
              <a:t>процесса.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60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4442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«Рассмотрение плана и бюджета воздействий на ПА Техническим комитетом БЕ»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Рассмотрение плана и бюджета воздействий на ПА Техническим комитетом БЕ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согласован</a:t>
            </a:r>
            <a:r>
              <a:rPr lang="ru-RU" sz="1100" dirty="0" smtClean="0">
                <a:solidFill>
                  <a:srgbClr val="595959"/>
                </a:solidFill>
              </a:rPr>
              <a:t>. Распечатан </a:t>
            </a:r>
            <a:r>
              <a:rPr lang="ru-RU" sz="1100" dirty="0">
                <a:solidFill>
                  <a:srgbClr val="595959"/>
                </a:solidFill>
              </a:rPr>
              <a:t>бумажный экземпляр 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воздействий на ПА БЕ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ссылке из электронного письма либо из потока бизнес-операций запускается аналитический отчёт в приложении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Excel</a:t>
            </a:r>
            <a:r>
              <a:rPr lang="ru-RU" sz="1400" dirty="0"/>
              <a:t>.</a:t>
            </a:r>
          </a:p>
          <a:p>
            <a:r>
              <a:rPr lang="ru-RU" sz="1400" dirty="0"/>
              <a:t>Сформированный бюджет воздействий БЕ утверждается. На заказах ТОРО устанавливается статусы ТКБЕ.</a:t>
            </a:r>
          </a:p>
          <a:p>
            <a:r>
              <a:rPr lang="ru-RU" sz="1400" dirty="0"/>
              <a:t>Печатается бумажный экземпляр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4484" y="553460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 согласовании годового бюджета воздействий на ПА бизнес-единицы запускается процесс закупки материалов с длительным сроком поставки.</a:t>
            </a:r>
          </a:p>
          <a:p>
            <a:r>
              <a:rPr lang="ru-RU" sz="1400" dirty="0"/>
              <a:t>Решение Технического комитета БЕ в отношении принятия или отклонения планов и бюджетов воздействий БЕ оформляется в виде протокола заседания согласующего органа.  </a:t>
            </a:r>
          </a:p>
          <a:p>
            <a:r>
              <a:rPr lang="ru-RU" sz="1400" dirty="0"/>
              <a:t>Бумажный экземпляр прикладывается к подготовленному вне системы протоколу заседания.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59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«Анализ годового плана и бюджета (на уровне УК)»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годового плана и бюджета воздействия на ПА (на уровне УК)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ссылке из электронного письма либо из потока бизнес-операций запускается аналитический отчёт в приложении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Excel</a:t>
            </a:r>
            <a:r>
              <a:rPr lang="ru-RU" sz="1400" dirty="0"/>
              <a:t>.</a:t>
            </a:r>
          </a:p>
          <a:p>
            <a:r>
              <a:rPr lang="ru-RU" sz="1400" dirty="0"/>
              <a:t>Сформированный бюджет воздействий БЕ утверждается.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воздействий на ПА БЕ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5839" y="3394561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утвержден.</a:t>
            </a:r>
          </a:p>
          <a:p>
            <a:r>
              <a:rPr lang="ru-RU" sz="1100" dirty="0">
                <a:solidFill>
                  <a:srgbClr val="595959"/>
                </a:solidFill>
              </a:rPr>
              <a:t>Утверждённый бюджет блокируется от </a:t>
            </a:r>
            <a:r>
              <a:rPr lang="ru-RU" sz="1100" dirty="0" smtClean="0">
                <a:solidFill>
                  <a:srgbClr val="595959"/>
                </a:solidFill>
              </a:rPr>
              <a:t>изменений.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5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3102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«Рассмотрение плана и бюджета воздействий на ПА Техническим комитетом УК»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Рассмотрение плана и бюджета воздействий на ПА Техническим комитетом УК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ссылке из электронного письма либо из потока бизнес-операций запускается аналитический отчёт в приложении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Excel</a:t>
            </a:r>
            <a:r>
              <a:rPr lang="ru-RU" sz="1400" dirty="0"/>
              <a:t>.</a:t>
            </a:r>
          </a:p>
          <a:p>
            <a:r>
              <a:rPr lang="ru-RU" sz="1400" dirty="0"/>
              <a:t>Сформированный бюджет воздействий БЕ утверждается.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воздействий на ПА БЕ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6452" y="3374863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утвержден.</a:t>
            </a:r>
          </a:p>
          <a:p>
            <a:r>
              <a:rPr lang="ru-RU" sz="1100" dirty="0">
                <a:solidFill>
                  <a:srgbClr val="595959"/>
                </a:solidFill>
              </a:rPr>
              <a:t>Утверждённый бюджет блокируется от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403794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корректировки бюджета по результатам рассмотрения на Бюджетом комитете»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корректировки бюджета по результатам рассмотрения на Бюджетом комитете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том случае, если в результате рассмотрения Бюджетным комитетом в системе АСКБ годовой бюджет воздействий на ПА не будет утверждён, то процесс будет развиваться в сторону корректировки.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Годовой бюджет воздействий на ПА БЕ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9875" y="354919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Годовой бюджет утвержден либо передан на корректировку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59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лимитов бюджета в разрезе СПП-элементов для контроля исполнения Бюджета ремонтов»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лимитов бюджета в разрезе СПП-элементов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Осуществляется автоматический перенос сумм из объектов хранения данных бюджета затрат в структуру СПП-элементов на годовом горизонте.</a:t>
            </a:r>
          </a:p>
          <a:p>
            <a:r>
              <a:rPr lang="ru-RU" sz="1400" dirty="0"/>
              <a:t>Осуществляется автоматическая установка статуса УТВП для заказов ТОРО и на проектах , которые сформировали данный бюджет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3567" y="3529492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Утвержденный Годовой бюджет воздействий на ПА БЕ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6452" y="3190937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Суммы лимитов бюджета перенесены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На соответствующих заказах ТОРО проставлен статус УТВП и на проектах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484" y="6280558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Шаг запускается автоматически при согласовании бюджета на предыдущем шаге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27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293367"/>
              </p:ext>
            </p:extLst>
          </p:nvPr>
        </p:nvGraphicFramePr>
        <p:xfrm>
          <a:off x="195386" y="1248586"/>
          <a:ext cx="8802310" cy="48954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435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3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Ввод бюджетных ориентиров по затратам на ППА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3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ориентиров по затратам на ППА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ориентиров с блоком финансов и стратегии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годового бюджета воздействий на ПА БЕ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годового плана и бюджета (на уровне БЕ)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Рассмотрение плана и бюджета воздействий на ПА Техническим комитетом БЕ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8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годового плана и бюджета воздействия на ПА (на уровне УК)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Рассмотрение плана и бюджета воздействий на ПА Техническим комитетом УК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корректировки бюджета по результатам рассмотрения на Бюджетом комитете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лимитов бюджета в разрезе СПП-элементов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109920</TotalTime>
  <Words>1458</Words>
  <Application>Microsoft Office PowerPoint</Application>
  <PresentationFormat>Экран (4:3)</PresentationFormat>
  <Paragraphs>160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4415</cp:revision>
  <cp:lastPrinted>2018-04-09T09:22:20Z</cp:lastPrinted>
  <dcterms:created xsi:type="dcterms:W3CDTF">2015-07-14T13:53:28Z</dcterms:created>
  <dcterms:modified xsi:type="dcterms:W3CDTF">2019-10-21T11:07:33Z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