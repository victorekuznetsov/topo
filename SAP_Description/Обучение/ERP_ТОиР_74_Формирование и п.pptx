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8"/>
  </p:notesMasterIdLst>
  <p:handoutMasterIdLst>
    <p:handoutMasterId r:id="rId29"/>
  </p:handoutMasterIdLst>
  <p:sldIdLst>
    <p:sldId id="1389" r:id="rId5"/>
    <p:sldId id="1580" r:id="rId6"/>
    <p:sldId id="1581" r:id="rId7"/>
    <p:sldId id="1582" r:id="rId8"/>
    <p:sldId id="1583" r:id="rId9"/>
    <p:sldId id="1584" r:id="rId10"/>
    <p:sldId id="1665" r:id="rId11"/>
    <p:sldId id="1668" r:id="rId12"/>
    <p:sldId id="1675" r:id="rId13"/>
    <p:sldId id="1672" r:id="rId14"/>
    <p:sldId id="1671" r:id="rId15"/>
    <p:sldId id="1670" r:id="rId16"/>
    <p:sldId id="1669" r:id="rId17"/>
    <p:sldId id="1676" r:id="rId18"/>
    <p:sldId id="1677" r:id="rId19"/>
    <p:sldId id="1678" r:id="rId20"/>
    <p:sldId id="1679" r:id="rId21"/>
    <p:sldId id="1680" r:id="rId22"/>
    <p:sldId id="1681" r:id="rId23"/>
    <p:sldId id="1682" r:id="rId24"/>
    <p:sldId id="1683" r:id="rId25"/>
    <p:sldId id="1674" r:id="rId26"/>
    <p:sldId id="1673" r:id="rId27"/>
  </p:sldIdLst>
  <p:sldSz cx="9144000" cy="6858000" type="screen4x3"/>
  <p:notesSz cx="6735763" cy="98663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20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3" pos="5465" userDrawn="1">
          <p15:clr>
            <a:srgbClr val="A4A3A4"/>
          </p15:clr>
        </p15:guide>
        <p15:guide id="4" pos="3061" userDrawn="1">
          <p15:clr>
            <a:srgbClr val="A4A3A4"/>
          </p15:clr>
        </p15:guide>
        <p15:guide id="5" pos="28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Чайка Ирина Николаевна" initials="ЧИН" lastIdx="1" clrIdx="0">
    <p:extLst>
      <p:ext uri="{19B8F6BF-5375-455C-9EA6-DF929625EA0E}">
        <p15:presenceInfo xmlns:p15="http://schemas.microsoft.com/office/powerpoint/2012/main" userId="S-1-5-21-4125628198-1674668921-3204586943-91972" providerId="AD"/>
      </p:ext>
    </p:extLst>
  </p:cmAuthor>
  <p:cmAuthor id="2" name="Nesterov, Ivan" initials="NI" lastIdx="1" clrIdx="1">
    <p:extLst>
      <p:ext uri="{19B8F6BF-5375-455C-9EA6-DF929625EA0E}">
        <p15:presenceInfo xmlns:p15="http://schemas.microsoft.com/office/powerpoint/2012/main" userId="S-1-5-21-74642-3284969411-2123768488-1208332" providerId="AD"/>
      </p:ext>
    </p:extLst>
  </p:cmAuthor>
  <p:cmAuthor id="3" name="Корнева Елена Александровна" initials="КЕА" lastIdx="2" clrIdx="2">
    <p:extLst>
      <p:ext uri="{19B8F6BF-5375-455C-9EA6-DF929625EA0E}">
        <p15:presenceInfo xmlns:p15="http://schemas.microsoft.com/office/powerpoint/2012/main" userId="S-1-5-21-4125628198-1674668921-3204586943-102375" providerId="AD"/>
      </p:ext>
    </p:extLst>
  </p:cmAuthor>
  <p:cmAuthor id="4" name="Александр" initials="А" lastIdx="1" clrIdx="3">
    <p:extLst>
      <p:ext uri="{19B8F6BF-5375-455C-9EA6-DF929625EA0E}">
        <p15:presenceInfo xmlns:p15="http://schemas.microsoft.com/office/powerpoint/2012/main" userId="Александр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7171"/>
    <a:srgbClr val="FBC90B"/>
    <a:srgbClr val="FCC917"/>
    <a:srgbClr val="FFD966"/>
    <a:srgbClr val="FFF7E0"/>
    <a:srgbClr val="FAC90B"/>
    <a:srgbClr val="F6CC0C"/>
    <a:srgbClr val="19938A"/>
    <a:srgbClr val="C00937"/>
    <a:srgbClr val="B8B8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473" autoAdjust="0"/>
    <p:restoredTop sz="87093" autoAdjust="0"/>
  </p:normalViewPr>
  <p:slideViewPr>
    <p:cSldViewPr snapToGrid="0" showGuides="1">
      <p:cViewPr varScale="1">
        <p:scale>
          <a:sx n="87" d="100"/>
          <a:sy n="87" d="100"/>
        </p:scale>
        <p:origin x="792" y="90"/>
      </p:cViewPr>
      <p:guideLst>
        <p:guide orient="horz" pos="4020"/>
        <p:guide pos="295"/>
        <p:guide pos="5465"/>
        <p:guide pos="3061"/>
        <p:guide pos="2877"/>
      </p:guideLst>
    </p:cSldViewPr>
  </p:slideViewPr>
  <p:outlineViewPr>
    <p:cViewPr>
      <p:scale>
        <a:sx n="33" d="100"/>
        <a:sy n="33" d="100"/>
      </p:scale>
      <p:origin x="0" y="-122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94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16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98B3E6-7D14-4828-917E-251E799EB6D3}" type="datetimeFigureOut">
              <a:rPr lang="ru-RU" smtClean="0"/>
              <a:t>21.10.2019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25A57-54F6-47CC-8C31-8285844BAA9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81644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0.26178" units="1/cm"/>
          <inkml:channelProperty channel="Y" name="resolution" value="50.23256" units="1/cm"/>
          <inkml:channelProperty channel="T" name="resolution" value="1" units="1/dev"/>
        </inkml:channelProperties>
      </inkml:inkSource>
      <inkml:timestamp xml:id="ts0" timeString="2019-05-07T15:43:07.43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00650547-FCE6-4C9F-924D-FDAD7C07A1D4}" emma:medium="tactile" emma:mode="ink">
          <msink:context xmlns:msink="http://schemas.microsoft.com/ink/2010/main" type="writingRegion" rotatedBoundingBox="2932,9998 2947,9998 2947,10044 2932,10044"/>
        </emma:interpretation>
      </emma:emma>
    </inkml:annotationXML>
    <inkml:traceGroup>
      <inkml:annotationXML>
        <emma:emma xmlns:emma="http://www.w3.org/2003/04/emma" version="1.0">
          <emma:interpretation id="{4D413BF5-E76C-41CB-8FBE-6F59FA865CB4}" emma:medium="tactile" emma:mode="ink">
            <msink:context xmlns:msink="http://schemas.microsoft.com/ink/2010/main" type="paragraph" rotatedBoundingBox="2932,9998 2947,9998 2947,10044 2932,1004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912B46F-84C0-4E15-8744-C86480B7AB20}" emma:medium="tactile" emma:mode="ink">
              <msink:context xmlns:msink="http://schemas.microsoft.com/ink/2010/main" type="line" rotatedBoundingBox="2932,9998 2947,9998 2947,10044 2932,10044"/>
            </emma:interpretation>
          </emma:emma>
        </inkml:annotationXML>
        <inkml:traceGroup>
          <inkml:annotationXML>
            <emma:emma xmlns:emma="http://www.w3.org/2003/04/emma" version="1.0">
              <emma:interpretation id="{1F809A82-46CF-449C-9753-033BEF717237}" emma:medium="tactile" emma:mode="ink">
                <msink:context xmlns:msink="http://schemas.microsoft.com/ink/2010/main" type="inkWord" rotatedBoundingBox="2932,9998 2947,9998 2947,10044 2932,10044"/>
              </emma:interpretation>
              <emma:one-of disjunction-type="recognition" id="oneOf0">
                <emma:interpretation id="interp0" emma:lang="" emma:confidence="0">
                  <emma:literal>'</emma:literal>
                </emma:interpretation>
                <emma:interpretation id="interp1" emma:lang="" emma:confidence="0">
                  <emma:literal>.</emma:literal>
                </emma:interpretation>
                <emma:interpretation id="interp2" emma:lang="" emma:confidence="0">
                  <emma:literal>1</emma:literal>
                </emma:interpretation>
                <emma:interpretation id="interp3" emma:lang="" emma:confidence="0">
                  <emma:literal>/</emma:literal>
                </emma:interpretation>
                <emma:interpretation id="interp4" emma:lang="" emma:confidence="0">
                  <emma:literal>,</emma:literal>
                </emma:interpretation>
              </emma:one-of>
            </emma:emma>
          </inkml:annotationXML>
          <inkml:trace contextRef="#ctx0" brushRef="#br0">0 46 0,'0'-46'0</inkml:trace>
        </inkml:traceGroup>
      </inkml:traceGroup>
    </inkml:traceGroup>
  </inkml:traceGroup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5BFBE-1AB8-064D-92FF-01DC96DD8794}" type="datetimeFigureOut">
              <a:rPr lang="ru-RU" smtClean="0"/>
              <a:t>21.10.2019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 dirty="0"/>
              <a:t>j</a:t>
            </a:r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7C119-28D5-5342-8FDF-728EEBCB3E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8195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</a:t>
            </a:r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РАСПОЛОЖЕНИЯ </a:t>
            </a:r>
            <a:r>
              <a:rPr lang="ru-RU" sz="1200" b="1" kern="1200" cap="all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ТЕХНических</a:t>
            </a:r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Объектов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расположения – организационная единица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 которой установлены и физически находятся технические объекты или объекты общего назначения (например, здания и сооружения) предприятия, подлежащие техническому обслуживанию и ремонту. Если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производится на самом заводе расположения технических объектов, то завод расположения технических объектов является одновременно и заводом, планирующим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Группы компаний Полюс заводы расположения предполагается создать для всех управляющих офисов, производственных заводов: ГТК,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золотоизвлекательных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фабрик и других заводов, где есть оборудование или здания и сооружения, подлежащие техническому обслуживанию и ремонту.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создаются для логистических заводов: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Производственных и месторождений вспомогательного производства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Управляющих офисов – для зданий, сооружений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Перевалочных баз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не создаются для логистических заводов: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аффинажных заводов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портов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заводов Полюс-Проекта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lvl="3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кодируются аналогично логистическим заводам.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кодируются как ХХ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ХХ – два первых символа кода БЕ, а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последовательная нумерация (сначала цифрами, затем латинскими буквами). 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Перечень заводов расположения приведен в Приложении № 1 к данному КД.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3122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 – организационная единица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 которой планируются потребности в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также планируется потребность в МТР и ведется учет остатков МТР. На заводе ведутся все данные, необходимые для технического обслуживания и ремонта оборудования, например, локальные технологические карты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собираются затраты на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 присваивается одному логистическому заводу.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Группы компаний Полюс заводы планирования ТОРО предполагается создать для всех логистических заводов для МТР производственных площадок (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ГОКов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разрезов), перевалочных баз, управляющих офисов, и других заводов, где осуществляется планирование потребности в мероприятиях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заводов планирования ТОРО осуществляется разделение полномочий между отдельными предприятиями, которые выполняют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планирования ТОРО один к одному соответствуют логистическим заводам и создаются для 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Заводов МТР (производственных площадок (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ГОКов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разрезов));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Перевалочных баз;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Управляющих офисов.</a:t>
            </a:r>
          </a:p>
          <a:p>
            <a:pPr lvl="3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планирования ТОРО кодируются аналогично логистическим заводам.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кодируются как ХХ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ХХ – два первых символа кода БЕ, а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последовательная нумерация (сначала цифрами, затем латинскими буквами) пропуская аффинажные заводы XXXA. Сначала кодируются производственные заводы в последовательности: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золотоизвлекательные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фабрики, рудоуправления. После производственных кодируются остальные заводы: заводы МТР  (кроме основного), управляющие офисы и филиалы, и перевалочные базы. 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Перечень заводов планирования ТОРО приведен в Приложении № 1 к данному КД.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5294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 - это элемент организационной структуры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осуществляет планирование и организацию технического обслуживания и ремонта в рамках отдельного подразделения, службы, отдела, направления завода планирования ТОРО.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производства Группы компаний Полюс на заводах будут созданы группы планирования ТОРО в соответствии с направлениями деятельности служб и отделов, выполняющих планирование работ ТОРО, таких как: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Механики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Электрики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Метрологи/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КИПиА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ЗИС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Одному заводу планирования ТОРО может соответствовать несколько групп планирования ТОРО в соответствии с направлениями деятельности по планированию работ ТОРО. На уровне группа планирования ТОРО выполняется разделение полномочий к объектам заказов ТОРО, к отчетности для более детального разграничения прав доступа в рамках подразделений и служб, выполняющих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3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Группы планирования ТОРО кодируются длиной от 1 до 3 символов: XXX.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завода планирования ТОРО будут созданы группы планирования с трехсимвольными номерами: «100», «200» и т.д. 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 на каждому заводе планирования ТОРО будут кодироваться следующим образом: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628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Единицы оборудования (ЕО) – отдельные объекты, которые подлежат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качестве самостоятельных единиц. ЕО отражает данные и характеристики конкретного объекта, эксплуатируемого на предприятии, для которого является необходимым отслеживание жизненного цикла, включающего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приобретение;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ввод в эксплуатацию;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выполнение обслуживания и ремонта;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перемещение на склад/в обменный фонд;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перемещение между местами установки;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продление срока эксплуатации;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вывод из эксплуатации;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консервация;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утилизация.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3480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277161" y="586295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rgbClr val="FCC917"/>
                </a:solidFill>
                <a:latin typeface="+mn-lt"/>
                <a:cs typeface="Calibri" panose="020F0502020204030204" pitchFamily="34" charset="0"/>
              </a:rPr>
              <a:t>Повестка</a:t>
            </a:r>
            <a:endParaRPr lang="en-US" sz="2400" dirty="0">
              <a:solidFill>
                <a:srgbClr val="FCC917"/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 userDrawn="1"/>
        </p:nvSpPr>
        <p:spPr>
          <a:xfrm>
            <a:off x="277665" y="130681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kern="1200" dirty="0" smtClean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rPr>
              <a:t>Внедрение «Пилота» и стабилизация решения</a:t>
            </a:r>
            <a:endParaRPr lang="en-US" sz="1800" kern="1200" dirty="0">
              <a:solidFill>
                <a:schemeClr val="bg1"/>
              </a:solidFill>
              <a:latin typeface="+mj-lt"/>
              <a:ea typeface="+mj-ea"/>
              <a:cs typeface="Calibri" panose="020F0502020204030204" pitchFamily="34" charset="0"/>
            </a:endParaRPr>
          </a:p>
        </p:txBody>
      </p:sp>
      <p:sp>
        <p:nvSpPr>
          <p:cNvPr id="12" name="Прямоугольник 1"/>
          <p:cNvSpPr/>
          <p:nvPr userDrawn="1"/>
        </p:nvSpPr>
        <p:spPr>
          <a:xfrm>
            <a:off x="8683619" y="6488668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E2225EAA-A87D-4D00-A6EA-7D86A67873A6}" type="slidenum">
              <a:rPr lang="ru-RU" altLang="en-US" sz="1600" b="0" smtClean="0">
                <a:latin typeface="Calibri" pitchFamily="34" charset="0"/>
                <a:cs typeface="Arial" pitchFamily="34" charset="0"/>
              </a:rPr>
              <a:pPr/>
              <a:t>‹#›</a:t>
            </a:fld>
            <a:endParaRPr lang="ru-RU" sz="1600" b="0" dirty="0"/>
          </a:p>
        </p:txBody>
      </p:sp>
    </p:spTree>
    <p:extLst>
      <p:ext uri="{BB962C8B-B14F-4D97-AF65-F5344CB8AC3E}">
        <p14:creationId xmlns:p14="http://schemas.microsoft.com/office/powerpoint/2010/main" val="2812108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Content Placeholder 54"/>
          <p:cNvSpPr>
            <a:spLocks noGrp="1"/>
          </p:cNvSpPr>
          <p:nvPr>
            <p:ph sz="quarter" idx="13" hasCustomPrompt="1"/>
          </p:nvPr>
        </p:nvSpPr>
        <p:spPr>
          <a:xfrm>
            <a:off x="259394" y="1044992"/>
            <a:ext cx="8738281" cy="5059362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ru-RU" dirty="0"/>
              <a:t>Первый уровень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 userDrawn="1"/>
        </p:nvSpPr>
        <p:spPr>
          <a:xfrm>
            <a:off x="256645" y="130681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kern="1200" dirty="0" smtClean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rPr>
              <a:t>Внедрение «Пилота» и стабилизация решения</a:t>
            </a:r>
            <a:endParaRPr lang="en-US" sz="1800" kern="1200" dirty="0">
              <a:solidFill>
                <a:schemeClr val="bg1"/>
              </a:solidFill>
              <a:latin typeface="+mj-lt"/>
              <a:ea typeface="+mj-ea"/>
              <a:cs typeface="Calibri" panose="020F0502020204030204" pitchFamily="34" charset="0"/>
            </a:endParaRPr>
          </a:p>
        </p:txBody>
      </p:sp>
      <p:sp>
        <p:nvSpPr>
          <p:cNvPr id="11" name="Content Placeholder 57"/>
          <p:cNvSpPr>
            <a:spLocks noGrp="1"/>
          </p:cNvSpPr>
          <p:nvPr>
            <p:ph sz="quarter" idx="14" hasCustomPrompt="1"/>
          </p:nvPr>
        </p:nvSpPr>
        <p:spPr>
          <a:xfrm>
            <a:off x="259394" y="537881"/>
            <a:ext cx="7927975" cy="4109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CC917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13" name="Прямоугольник 1"/>
          <p:cNvSpPr/>
          <p:nvPr userDrawn="1"/>
        </p:nvSpPr>
        <p:spPr>
          <a:xfrm>
            <a:off x="8683619" y="6488668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E2225EAA-A87D-4D00-A6EA-7D86A67873A6}" type="slidenum">
              <a:rPr lang="ru-RU" altLang="en-US" sz="1600" b="0" smtClean="0">
                <a:latin typeface="+mn-lt"/>
                <a:cs typeface="Arial" pitchFamily="34" charset="0"/>
              </a:rPr>
              <a:pPr/>
              <a:t>‹#›</a:t>
            </a:fld>
            <a:endParaRPr lang="ru-RU" sz="16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63941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Вертикальный заголовок и текст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 userDrawn="1"/>
        </p:nvSpPr>
        <p:spPr>
          <a:xfrm>
            <a:off x="-728132" y="1066799"/>
            <a:ext cx="592666" cy="567267"/>
          </a:xfrm>
          <a:prstGeom prst="rect">
            <a:avLst/>
          </a:prstGeom>
          <a:solidFill>
            <a:srgbClr val="FBC90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-728132" y="1820332"/>
            <a:ext cx="592666" cy="567267"/>
          </a:xfrm>
          <a:prstGeom prst="rect">
            <a:avLst/>
          </a:prstGeom>
          <a:solidFill>
            <a:srgbClr val="55585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-728132" y="3005666"/>
            <a:ext cx="592666" cy="567267"/>
          </a:xfrm>
          <a:prstGeom prst="rect">
            <a:avLst/>
          </a:prstGeom>
          <a:solidFill>
            <a:srgbClr val="C00937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-728132" y="3759199"/>
            <a:ext cx="592666" cy="567267"/>
          </a:xfrm>
          <a:prstGeom prst="rect">
            <a:avLst/>
          </a:prstGeom>
          <a:solidFill>
            <a:srgbClr val="00867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-728132" y="4512732"/>
            <a:ext cx="592666" cy="567267"/>
          </a:xfrm>
          <a:prstGeom prst="rect">
            <a:avLst/>
          </a:prstGeom>
          <a:solidFill>
            <a:srgbClr val="64223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-728132" y="5266265"/>
            <a:ext cx="592666" cy="567267"/>
          </a:xfrm>
          <a:prstGeom prst="rect">
            <a:avLst/>
          </a:prstGeom>
          <a:solidFill>
            <a:srgbClr val="DB550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-677334" y="2992966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192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9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55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-677334" y="1820332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85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88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89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-677334" y="3759199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0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134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126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-677334" y="4496283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100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34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53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-677334" y="5251933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219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85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-677334" y="1048234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251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201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11</a:t>
            </a:r>
          </a:p>
        </p:txBody>
      </p:sp>
      <p:pic>
        <p:nvPicPr>
          <p:cNvPr id="17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57388" y="108106"/>
            <a:ext cx="1697425" cy="975453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ctrTitle" hasCustomPrompt="1"/>
          </p:nvPr>
        </p:nvSpPr>
        <p:spPr>
          <a:xfrm>
            <a:off x="498838" y="1364019"/>
            <a:ext cx="7772400" cy="61994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algn="l" defTabSz="914400" rtl="0" eaLnBrk="1" latinLnBrk="0" hangingPunct="1">
              <a:defRPr lang="en-US" sz="3800" b="1" kern="1200" dirty="0">
                <a:solidFill>
                  <a:srgbClr val="FCC917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ru-RU" dirty="0"/>
              <a:t>Название проекта </a:t>
            </a:r>
            <a:r>
              <a:rPr lang="en-US" dirty="0"/>
              <a:t>(Calibri bold 38)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8838" y="2159317"/>
            <a:ext cx="6858000" cy="5200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lang="en-US" sz="2800" kern="1200" dirty="0">
                <a:solidFill>
                  <a:srgbClr val="FCC917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Тема презентации</a:t>
            </a:r>
            <a:r>
              <a:rPr lang="en-US" dirty="0"/>
              <a:t> (Calibri 28)</a:t>
            </a:r>
          </a:p>
        </p:txBody>
      </p:sp>
      <p:sp>
        <p:nvSpPr>
          <p:cNvPr id="20" name="Content Placeholder 9"/>
          <p:cNvSpPr>
            <a:spLocks noGrp="1"/>
          </p:cNvSpPr>
          <p:nvPr>
            <p:ph sz="quarter" idx="10" hasCustomPrompt="1"/>
          </p:nvPr>
        </p:nvSpPr>
        <p:spPr>
          <a:xfrm>
            <a:off x="498838" y="6003925"/>
            <a:ext cx="1143000" cy="2825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FCC917"/>
                </a:solidFill>
              </a:defRPr>
            </a:lvl1pPr>
          </a:lstStyle>
          <a:p>
            <a:pPr lvl="0"/>
            <a:r>
              <a:rPr lang="ru-RU" dirty="0" err="1"/>
              <a:t>чч.мм.гггг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2133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394" y="96185"/>
            <a:ext cx="7886700" cy="441695"/>
          </a:xfrm>
        </p:spPr>
        <p:txBody>
          <a:bodyPr>
            <a:normAutofit/>
          </a:bodyPr>
          <a:lstStyle>
            <a:lvl1pPr>
              <a:defRPr sz="1800" b="1" baseline="0">
                <a:solidFill>
                  <a:schemeClr val="bg1"/>
                </a:solidFill>
                <a:latin typeface="Calibri Body"/>
              </a:defRPr>
            </a:lvl1pPr>
          </a:lstStyle>
          <a:p>
            <a:r>
              <a:rPr lang="ru-RU" dirty="0"/>
              <a:t>Наименование программы</a:t>
            </a:r>
            <a:r>
              <a:rPr lang="en-US" dirty="0"/>
              <a:t>/</a:t>
            </a:r>
            <a:r>
              <a:rPr lang="ru-RU" dirty="0"/>
              <a:t>Проекта</a:t>
            </a:r>
            <a:r>
              <a:rPr lang="en-US" dirty="0"/>
              <a:t>/</a:t>
            </a:r>
            <a:r>
              <a:rPr lang="ru-RU" dirty="0"/>
              <a:t> название презентации</a:t>
            </a:r>
            <a:endParaRPr lang="en-US" dirty="0"/>
          </a:p>
        </p:txBody>
      </p:sp>
      <p:sp>
        <p:nvSpPr>
          <p:cNvPr id="55" name="Content Placeholder 54"/>
          <p:cNvSpPr>
            <a:spLocks noGrp="1"/>
          </p:cNvSpPr>
          <p:nvPr>
            <p:ph sz="quarter" idx="13" hasCustomPrompt="1"/>
          </p:nvPr>
        </p:nvSpPr>
        <p:spPr>
          <a:xfrm>
            <a:off x="259394" y="1044992"/>
            <a:ext cx="8738281" cy="505936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Первый уровень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8" name="Content Placeholder 57"/>
          <p:cNvSpPr>
            <a:spLocks noGrp="1"/>
          </p:cNvSpPr>
          <p:nvPr>
            <p:ph sz="quarter" idx="14" hasCustomPrompt="1"/>
          </p:nvPr>
        </p:nvSpPr>
        <p:spPr>
          <a:xfrm>
            <a:off x="259394" y="537881"/>
            <a:ext cx="7927975" cy="410926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CC917"/>
                </a:solidFill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63" name="Slide Number Placeholder 62"/>
          <p:cNvSpPr>
            <a:spLocks noGrp="1"/>
          </p:cNvSpPr>
          <p:nvPr>
            <p:ph type="sldNum" sz="quarter" idx="17"/>
          </p:nvPr>
        </p:nvSpPr>
        <p:spPr>
          <a:xfrm>
            <a:off x="8562975" y="6343858"/>
            <a:ext cx="4347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608ABF02-B19E-48F4-8CD1-E615EFE72681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337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4949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30526" y="1636294"/>
            <a:ext cx="7940712" cy="665299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Инструктаж по функциональному направлению </a:t>
            </a:r>
            <a:r>
              <a:rPr lang="ru-RU" sz="4000" dirty="0" smtClean="0"/>
              <a:t>«ТОиР»</a:t>
            </a:r>
            <a:endParaRPr lang="en-US" sz="4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Рукописный ввод 2"/>
              <p14:cNvContentPartPr/>
              <p14:nvPr/>
            </p14:nvContentPartPr>
            <p14:xfrm>
              <a:off x="1055553" y="3599411"/>
              <a:ext cx="360" cy="16920"/>
            </p14:xfrm>
          </p:contentPart>
        </mc:Choice>
        <mc:Fallback xmlns="">
          <p:pic>
            <p:nvPicPr>
              <p:cNvPr id="3" name="Рукописный ввод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3673" y="3587531"/>
                <a:ext cx="24120" cy="4068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/>
          <p:cNvSpPr txBox="1"/>
          <p:nvPr/>
        </p:nvSpPr>
        <p:spPr>
          <a:xfrm>
            <a:off x="330527" y="2726829"/>
            <a:ext cx="83211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FCC917"/>
                </a:solidFill>
              </a:rPr>
              <a:t>7</a:t>
            </a:r>
            <a:r>
              <a:rPr lang="ru-RU" sz="2800" dirty="0" smtClean="0">
                <a:solidFill>
                  <a:srgbClr val="FCC917"/>
                </a:solidFill>
              </a:rPr>
              <a:t>4</a:t>
            </a:r>
            <a:r>
              <a:rPr lang="en-US" sz="2800" dirty="0" smtClean="0">
                <a:solidFill>
                  <a:srgbClr val="FCC917"/>
                </a:solidFill>
              </a:rPr>
              <a:t>_</a:t>
            </a:r>
            <a:r>
              <a:rPr lang="ru-RU" sz="2800" dirty="0" err="1" smtClean="0">
                <a:solidFill>
                  <a:srgbClr val="FCC917"/>
                </a:solidFill>
              </a:rPr>
              <a:t>ТОиР</a:t>
            </a:r>
            <a:r>
              <a:rPr lang="ru-RU" sz="2800" dirty="0" smtClean="0">
                <a:solidFill>
                  <a:srgbClr val="FCC917"/>
                </a:solidFill>
              </a:rPr>
              <a:t> «Формирование и потребление обменного фонда»</a:t>
            </a:r>
            <a:endParaRPr lang="ru-RU" sz="2800" dirty="0">
              <a:solidFill>
                <a:srgbClr val="FCC9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9653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7452D6-2931-4660-B72B-23BEE775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dirty="0" smtClean="0"/>
              <a:t>Внедрение пилота и </a:t>
            </a:r>
            <a:r>
              <a:rPr lang="ru-RU" sz="1600" dirty="0"/>
              <a:t>с</a:t>
            </a:r>
            <a:r>
              <a:rPr lang="ru-RU" sz="1600" dirty="0" smtClean="0"/>
              <a:t>табилизация</a:t>
            </a:r>
            <a:endParaRPr lang="ru-RU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BEA5EF0-EB5E-4271-800C-F8AFAECFA1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ABF02-B19E-48F4-8CD1-E615EFE72681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1EF22C0-3D4C-46D3-9147-98A942E14074}"/>
              </a:ext>
            </a:extLst>
          </p:cNvPr>
          <p:cNvSpPr txBox="1"/>
          <p:nvPr/>
        </p:nvSpPr>
        <p:spPr>
          <a:xfrm>
            <a:off x="1015836" y="1251469"/>
            <a:ext cx="32930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  <a:latin typeface="Calibri" panose="020F0502020204030204"/>
              </a:rPr>
              <a:t>Планирующий </a:t>
            </a: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(</a:t>
            </a:r>
            <a:r>
              <a:rPr lang="ru-RU" sz="1400" b="1" dirty="0" smtClean="0">
                <a:solidFill>
                  <a:prstClr val="black"/>
                </a:solidFill>
              </a:rPr>
              <a:t>МТР </a:t>
            </a:r>
            <a:r>
              <a:rPr lang="ru-RU" sz="1400" b="1" dirty="0" err="1" smtClean="0">
                <a:solidFill>
                  <a:prstClr val="black"/>
                </a:solidFill>
              </a:rPr>
              <a:t>Вернинское</a:t>
            </a:r>
            <a:r>
              <a:rPr lang="ru-RU" sz="1400" b="1" dirty="0">
                <a:solidFill>
                  <a:prstClr val="black"/>
                </a:solidFill>
              </a:rPr>
              <a:t>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8DF78CB0-8EFD-45BA-A2E3-EA62FA953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93" y="1027906"/>
            <a:ext cx="756443" cy="7564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03B924C-2E9B-49B1-86FF-0B5A577F2F13}"/>
              </a:ext>
            </a:extLst>
          </p:cNvPr>
          <p:cNvSpPr txBox="1"/>
          <p:nvPr/>
        </p:nvSpPr>
        <p:spPr>
          <a:xfrm>
            <a:off x="1626413" y="3390009"/>
            <a:ext cx="2071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defRPr/>
            </a:pPr>
            <a:r>
              <a:rPr lang="ru-RU" sz="1400" b="1" noProof="0" dirty="0" smtClean="0">
                <a:solidFill>
                  <a:prstClr val="black"/>
                </a:solidFill>
                <a:latin typeface="Calibri" panose="020F0502020204030204"/>
              </a:rPr>
              <a:t>Группа планирования</a:t>
            </a:r>
            <a:endParaRPr kumimoji="0" lang="ru-RU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2067285" y="4173822"/>
            <a:ext cx="98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Механики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21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3953314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xmlns="" id="{08327DC5-AA2B-464A-86E5-6C11A292CE6C}"/>
              </a:ext>
            </a:extLst>
          </p:cNvPr>
          <p:cNvCxnSpPr>
            <a:cxnSpLocks/>
            <a:stCxn id="9" idx="2"/>
            <a:endCxn id="63" idx="1"/>
          </p:cNvCxnSpPr>
          <p:nvPr/>
        </p:nvCxnSpPr>
        <p:spPr>
          <a:xfrm rot="16200000" flipH="1">
            <a:off x="-114176" y="2536139"/>
            <a:ext cx="1868954" cy="3653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xmlns="" id="{3A0F56DD-CF56-4F1A-ADC7-E0069D93ECD9}"/>
              </a:ext>
            </a:extLst>
          </p:cNvPr>
          <p:cNvCxnSpPr>
            <a:cxnSpLocks/>
            <a:stCxn id="9" idx="2"/>
            <a:endCxn id="61" idx="1"/>
          </p:cNvCxnSpPr>
          <p:nvPr/>
        </p:nvCxnSpPr>
        <p:spPr>
          <a:xfrm rot="16200000" flipH="1">
            <a:off x="381042" y="2040921"/>
            <a:ext cx="1114233" cy="6010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xmlns="" id="{EE5D4648-FA46-435D-8C88-B69916011E2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977230" y="4191663"/>
            <a:ext cx="969400" cy="418316"/>
          </a:xfrm>
          <a:prstGeom prst="bentConnector3">
            <a:avLst>
              <a:gd name="adj1" fmla="val 997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xmlns="" id="{3814E9AF-D996-4CA9-AB03-EAF3EEFC898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695051" y="4473842"/>
            <a:ext cx="1533758" cy="418316"/>
          </a:xfrm>
          <a:prstGeom prst="bentConnector3">
            <a:avLst>
              <a:gd name="adj1" fmla="val 1005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xmlns="" id="{70BCBBD2-7604-446B-9BF1-6D8F3937AD04}"/>
              </a:ext>
            </a:extLst>
          </p:cNvPr>
          <p:cNvCxnSpPr>
            <a:cxnSpLocks/>
            <a:stCxn id="63" idx="2"/>
            <a:endCxn id="21" idx="1"/>
          </p:cNvCxnSpPr>
          <p:nvPr/>
        </p:nvCxnSpPr>
        <p:spPr>
          <a:xfrm rot="16200000" flipH="1">
            <a:off x="1314569" y="3854324"/>
            <a:ext cx="352312" cy="47590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xmlns="" id="{72908958-8178-442F-A26C-EECF80B4022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/>
              <a:t>Организационная структура </a:t>
            </a:r>
            <a:r>
              <a:rPr lang="ru-RU" sz="2000" dirty="0" smtClean="0"/>
              <a:t>ТОиР</a:t>
            </a:r>
            <a:endParaRPr lang="ru-RU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CA66FEB1-6A64-42C0-B7D1-C69537B39736}"/>
              </a:ext>
            </a:extLst>
          </p:cNvPr>
          <p:cNvSpPr txBox="1"/>
          <p:nvPr/>
        </p:nvSpPr>
        <p:spPr>
          <a:xfrm>
            <a:off x="2034952" y="1959708"/>
            <a:ext cx="43849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расположения (</a:t>
            </a:r>
            <a:r>
              <a:rPr lang="ru-RU" sz="1400" b="1" noProof="0" dirty="0" smtClean="0">
                <a:solidFill>
                  <a:prstClr val="black"/>
                </a:solidFill>
              </a:rPr>
              <a:t>Г</a:t>
            </a:r>
            <a:r>
              <a:rPr lang="ru-RU" sz="1400" b="1" dirty="0" err="1" smtClean="0">
                <a:solidFill>
                  <a:prstClr val="black"/>
                </a:solidFill>
              </a:rPr>
              <a:t>орно</a:t>
            </a:r>
            <a:r>
              <a:rPr lang="ru-RU" sz="1400" b="1" dirty="0" smtClean="0">
                <a:solidFill>
                  <a:prstClr val="black"/>
                </a:solidFill>
              </a:rPr>
              <a:t>-транспортный комплекс)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7FE7E8F-72FB-4517-A496-46F4F257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97" y="1749012"/>
            <a:ext cx="756443" cy="756443"/>
          </a:xfrm>
          <a:prstGeom prst="rect">
            <a:avLst/>
          </a:prstGeom>
        </p:spPr>
      </p:pic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xmlns="" id="{0F914EFE-345F-4856-97FD-0ACEDE102A32}"/>
              </a:ext>
            </a:extLst>
          </p:cNvPr>
          <p:cNvCxnSpPr>
            <a:cxnSpLocks/>
            <a:stCxn id="9" idx="2"/>
          </p:cNvCxnSpPr>
          <p:nvPr/>
        </p:nvCxnSpPr>
        <p:spPr>
          <a:xfrm rot="16200000" flipH="1">
            <a:off x="766716" y="1655247"/>
            <a:ext cx="342884" cy="6010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32">
            <a:extLst>
              <a:ext uri="{FF2B5EF4-FFF2-40B4-BE49-F238E27FC236}">
                <a16:creationId xmlns:a16="http://schemas.microsoft.com/office/drawing/2014/main" xmlns="" id="{37FE7E8F-72FB-4517-A496-46F4F257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702" y="2520360"/>
            <a:ext cx="756443" cy="75644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CA66FEB1-6A64-42C0-B7D1-C69537B39736}"/>
              </a:ext>
            </a:extLst>
          </p:cNvPr>
          <p:cNvSpPr txBox="1"/>
          <p:nvPr/>
        </p:nvSpPr>
        <p:spPr>
          <a:xfrm>
            <a:off x="2035159" y="2731028"/>
            <a:ext cx="4360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расположения (</a:t>
            </a:r>
            <a:r>
              <a:rPr lang="ru-RU" sz="1400" b="1" dirty="0" err="1" smtClean="0">
                <a:solidFill>
                  <a:prstClr val="black"/>
                </a:solidFill>
                <a:latin typeface="Calibri" panose="020F0502020204030204"/>
              </a:rPr>
              <a:t>Золотоизвлекающая</a:t>
            </a:r>
            <a:r>
              <a:rPr lang="ru-RU" sz="1400" b="1" dirty="0" smtClean="0">
                <a:solidFill>
                  <a:prstClr val="black"/>
                </a:solidFill>
                <a:latin typeface="Calibri" panose="020F0502020204030204"/>
              </a:rPr>
              <a:t> фабрика)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3" name="Picture 1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988" y="3390485"/>
            <a:ext cx="499568" cy="525636"/>
          </a:xfrm>
          <a:prstGeom prst="rect">
            <a:avLst/>
          </a:prstGeom>
        </p:spPr>
      </p:pic>
      <p:pic>
        <p:nvPicPr>
          <p:cNvPr id="64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4596500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34156" y="5239686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2061548" y="4731632"/>
            <a:ext cx="1003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>
                <a:solidFill>
                  <a:prstClr val="black"/>
                </a:solidFill>
              </a:rPr>
              <a:t>Электрики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2061548" y="5361556"/>
            <a:ext cx="1662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Метрологи/</a:t>
            </a:r>
            <a:r>
              <a:rPr lang="ru-RU" sz="1400" b="1" dirty="0" err="1" smtClean="0">
                <a:solidFill>
                  <a:prstClr val="black"/>
                </a:solidFill>
              </a:rPr>
              <a:t>КИПиА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71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5895821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2056070" y="6017691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ЗИС</a:t>
            </a:r>
            <a:endParaRPr lang="ru-RU" sz="1400" b="1" dirty="0">
              <a:solidFill>
                <a:prstClr val="black"/>
              </a:solidFill>
            </a:endParaRPr>
          </a:p>
        </p:txBody>
      </p:sp>
      <p:cxnSp>
        <p:nvCxnSpPr>
          <p:cNvPr id="74" name="Connector: Elbow 28">
            <a:extLst>
              <a:ext uri="{FF2B5EF4-FFF2-40B4-BE49-F238E27FC236}">
                <a16:creationId xmlns:a16="http://schemas.microsoft.com/office/drawing/2014/main" xmlns="" id="{3814E9AF-D996-4CA9-AB03-EAF3EEFC898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335986" y="4832907"/>
            <a:ext cx="2298106" cy="464534"/>
          </a:xfrm>
          <a:prstGeom prst="bentConnector3">
            <a:avLst>
              <a:gd name="adj1" fmla="val 1002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0572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Завод расположения технических объектов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Заводы расположения ТОРО – </a:t>
            </a:r>
            <a:r>
              <a:rPr lang="ru-RU" dirty="0"/>
              <a:t>организационная единица в системе </a:t>
            </a:r>
            <a:r>
              <a:rPr lang="en-US" dirty="0"/>
              <a:t>S</a:t>
            </a:r>
            <a:r>
              <a:rPr lang="ru-RU" dirty="0"/>
              <a:t>/4</a:t>
            </a:r>
            <a:r>
              <a:rPr lang="en-US" dirty="0"/>
              <a:t>HANA</a:t>
            </a:r>
            <a:r>
              <a:rPr lang="ru-RU" dirty="0"/>
              <a:t>, на которой установлены и физически находятся технические объекты или объекты общего назначения (например, здания и сооружения) предприятия, подлежащие техническому обслуживанию и ремонту</a:t>
            </a:r>
            <a:r>
              <a:rPr lang="ru-RU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Заводы расположения ТОРО в рамках группы компания Полюс – это управляющие офисы, производственные заводы: ГТК,ЗИФ и другие, где есть оборудование или здания и сооружения, подлежащие техническому обслуживанию и ремонту.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DADD2EAE-83A2-480E-BC8C-22303421C3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404" y="1052205"/>
            <a:ext cx="1273592" cy="127359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xmlns="" id="{4FF47B6F-3A74-4140-BB8B-E295612714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815" y="2984031"/>
            <a:ext cx="1251887" cy="12518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xmlns="" id="{948FA8B2-F4D0-4001-AC9A-B1EB426BFE1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214" y="2999134"/>
            <a:ext cx="1236023" cy="1236023"/>
          </a:xfrm>
          <a:prstGeom prst="rect">
            <a:avLst/>
          </a:prstGeom>
        </p:spPr>
      </p:pic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xmlns="" id="{BB67AD97-282B-438C-ACF6-60B5280B028E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 rot="5400000">
            <a:off x="6148863" y="1817694"/>
            <a:ext cx="658234" cy="167444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xmlns="" id="{7CEDCB67-C6D0-40A6-8D3E-5428FC0FFE10}"/>
              </a:ext>
            </a:extLst>
          </p:cNvPr>
          <p:cNvCxnSpPr>
            <a:cxnSpLocks/>
            <a:stCxn id="22" idx="0"/>
            <a:endCxn id="20" idx="2"/>
          </p:cNvCxnSpPr>
          <p:nvPr/>
        </p:nvCxnSpPr>
        <p:spPr>
          <a:xfrm rot="5400000" flipH="1" flipV="1">
            <a:off x="6650545" y="2334479"/>
            <a:ext cx="673337" cy="65597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12B9D54C-5B61-470F-82C8-3EF411A66610}"/>
              </a:ext>
            </a:extLst>
          </p:cNvPr>
          <p:cNvSpPr txBox="1"/>
          <p:nvPr/>
        </p:nvSpPr>
        <p:spPr>
          <a:xfrm>
            <a:off x="5160526" y="4184915"/>
            <a:ext cx="1014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ЗИФ-1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B10C6155-1E34-4112-B75C-415D3606A7A7}"/>
              </a:ext>
            </a:extLst>
          </p:cNvPr>
          <p:cNvSpPr txBox="1"/>
          <p:nvPr/>
        </p:nvSpPr>
        <p:spPr>
          <a:xfrm>
            <a:off x="6086158" y="4195893"/>
            <a:ext cx="11367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ГТК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5C73BF0F-FF52-4B5F-B3C8-5B748BC9634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996" y="3180317"/>
            <a:ext cx="975250" cy="97525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156EE92B-9A10-4C22-AB81-55F21ACBE04B}"/>
              </a:ext>
            </a:extLst>
          </p:cNvPr>
          <p:cNvSpPr txBox="1"/>
          <p:nvPr/>
        </p:nvSpPr>
        <p:spPr>
          <a:xfrm>
            <a:off x="7786269" y="4168550"/>
            <a:ext cx="13067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Перевалочная база</a:t>
            </a:r>
          </a:p>
          <a:p>
            <a:pPr algn="ctr"/>
            <a:r>
              <a:rPr lang="ru-RU" sz="1400" dirty="0"/>
              <a:t>Лесосибирск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xmlns="" id="{80EB108F-8424-4885-8B36-CC496553939A}"/>
              </a:ext>
            </a:extLst>
          </p:cNvPr>
          <p:cNvCxnSpPr>
            <a:cxnSpLocks/>
            <a:stCxn id="20" idx="2"/>
            <a:endCxn id="33" idx="0"/>
          </p:cNvCxnSpPr>
          <p:nvPr/>
        </p:nvCxnSpPr>
        <p:spPr>
          <a:xfrm rot="16200000" flipH="1">
            <a:off x="7450150" y="2190846"/>
            <a:ext cx="854520" cy="1124421"/>
          </a:xfrm>
          <a:prstGeom prst="bentConnector3">
            <a:avLst>
              <a:gd name="adj1" fmla="val 3929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xmlns="" id="{2190950D-07E0-4696-A65A-BD4D7519F562}"/>
              </a:ext>
            </a:extLst>
          </p:cNvPr>
          <p:cNvSpPr txBox="1"/>
          <p:nvPr/>
        </p:nvSpPr>
        <p:spPr>
          <a:xfrm>
            <a:off x="6524030" y="1005459"/>
            <a:ext cx="1136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Полюс Красноярск</a:t>
            </a:r>
          </a:p>
        </p:txBody>
      </p:sp>
    </p:spTree>
    <p:extLst>
      <p:ext uri="{BB962C8B-B14F-4D97-AF65-F5344CB8AC3E}">
        <p14:creationId xmlns:p14="http://schemas.microsoft.com/office/powerpoint/2010/main" val="3927673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Завод планирования </a:t>
            </a:r>
            <a:r>
              <a:rPr lang="ru-RU" sz="2000" dirty="0" err="1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ТОиР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На заводе планирования </a:t>
            </a:r>
            <a:r>
              <a:rPr lang="ru-RU" dirty="0" err="1" smtClean="0"/>
              <a:t>ТОиР</a:t>
            </a:r>
            <a:r>
              <a:rPr lang="ru-RU" dirty="0" smtClean="0"/>
              <a:t> </a:t>
            </a:r>
            <a:r>
              <a:rPr lang="ru-RU" dirty="0"/>
              <a:t>ведутся все данные, необходимые для технического обслуживания и ремонта оборудования, например, локальные технологические </a:t>
            </a:r>
            <a:r>
              <a:rPr lang="ru-RU" dirty="0" smtClean="0"/>
              <a:t>карты (нормативы) </a:t>
            </a:r>
            <a:r>
              <a:rPr lang="ru-RU" dirty="0" err="1"/>
              <a:t>ТОиР</a:t>
            </a:r>
            <a:r>
              <a:rPr lang="ru-RU" dirty="0"/>
              <a:t>, и собираются затраты на </a:t>
            </a:r>
            <a:r>
              <a:rPr lang="ru-RU" dirty="0" err="1"/>
              <a:t>ТОиР</a:t>
            </a:r>
            <a:r>
              <a:rPr lang="ru-RU" dirty="0"/>
              <a:t>.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В рамках заводов планирования ТОРО осуществляется разделение полномочий между отдельными </a:t>
            </a:r>
            <a:r>
              <a:rPr lang="ru-RU" dirty="0" smtClean="0"/>
              <a:t>подразделениями, </a:t>
            </a:r>
            <a:r>
              <a:rPr lang="ru-RU" dirty="0"/>
              <a:t>которые выполняют планирование мероприятий </a:t>
            </a:r>
            <a:r>
              <a:rPr lang="ru-RU" dirty="0" err="1"/>
              <a:t>ТОиР</a:t>
            </a:r>
            <a:r>
              <a:rPr lang="ru-RU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pic>
        <p:nvPicPr>
          <p:cNvPr id="18" name="Picture 22">
            <a:extLst>
              <a:ext uri="{FF2B5EF4-FFF2-40B4-BE49-F238E27FC236}">
                <a16:creationId xmlns:a16="http://schemas.microsoft.com/office/drawing/2014/main" xmlns="" id="{81263A25-CC50-498C-916D-D93984ECAC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632" y="1128786"/>
            <a:ext cx="955171" cy="95517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40F468BA-E985-4924-9C60-8A872E4702FE}"/>
              </a:ext>
            </a:extLst>
          </p:cNvPr>
          <p:cNvSpPr txBox="1"/>
          <p:nvPr/>
        </p:nvSpPr>
        <p:spPr>
          <a:xfrm>
            <a:off x="5706435" y="2072686"/>
            <a:ext cx="19878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МТР Производственной площадки</a:t>
            </a:r>
          </a:p>
        </p:txBody>
      </p:sp>
      <p:pic>
        <p:nvPicPr>
          <p:cNvPr id="24" name="Picture 20">
            <a:extLst>
              <a:ext uri="{FF2B5EF4-FFF2-40B4-BE49-F238E27FC236}">
                <a16:creationId xmlns:a16="http://schemas.microsoft.com/office/drawing/2014/main" xmlns="" id="{4FF47B6F-3A74-4140-BB8B-E295612714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468" y="2676924"/>
            <a:ext cx="1381793" cy="138179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40F468BA-E985-4924-9C60-8A872E4702FE}"/>
              </a:ext>
            </a:extLst>
          </p:cNvPr>
          <p:cNvSpPr txBox="1"/>
          <p:nvPr/>
        </p:nvSpPr>
        <p:spPr>
          <a:xfrm>
            <a:off x="5757583" y="4009004"/>
            <a:ext cx="19878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Управляющий офис</a:t>
            </a:r>
            <a:endParaRPr lang="ru-RU" sz="1400" dirty="0"/>
          </a:p>
        </p:txBody>
      </p:sp>
      <p:pic>
        <p:nvPicPr>
          <p:cNvPr id="28" name="Picture 32">
            <a:extLst>
              <a:ext uri="{FF2B5EF4-FFF2-40B4-BE49-F238E27FC236}">
                <a16:creationId xmlns:a16="http://schemas.microsoft.com/office/drawing/2014/main" xmlns="" id="{5C73BF0F-FF52-4B5F-B3C8-5B748BC9634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632" y="4673611"/>
            <a:ext cx="975250" cy="97525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156EE92B-9A10-4C22-AB81-55F21ACBE04B}"/>
              </a:ext>
            </a:extLst>
          </p:cNvPr>
          <p:cNvSpPr txBox="1"/>
          <p:nvPr/>
        </p:nvSpPr>
        <p:spPr>
          <a:xfrm>
            <a:off x="6111382" y="5531512"/>
            <a:ext cx="1306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Перевалочная </a:t>
            </a:r>
            <a:r>
              <a:rPr lang="ru-RU" sz="1400" dirty="0" smtClean="0"/>
              <a:t>база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322789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Группа планирования </a:t>
            </a:r>
            <a:r>
              <a:rPr lang="ru-RU" sz="2000" dirty="0" err="1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ТОиР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Группа планирования ТОРО - это элемент организационной структуры в системе </a:t>
            </a:r>
            <a:r>
              <a:rPr lang="en-US" dirty="0"/>
              <a:t>S</a:t>
            </a:r>
            <a:r>
              <a:rPr lang="ru-RU" dirty="0"/>
              <a:t>/4</a:t>
            </a:r>
            <a:r>
              <a:rPr lang="en-US" dirty="0"/>
              <a:t>HANA</a:t>
            </a:r>
            <a:r>
              <a:rPr lang="ru-RU" dirty="0"/>
              <a:t>, который осуществляет планирование и организацию технического обслуживания и ремонта в рамках отдельного подразделения, службы, </a:t>
            </a:r>
            <a:r>
              <a:rPr lang="ru-RU" dirty="0" smtClean="0"/>
              <a:t>отдела.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Одному заводу планирования ТОРО может соответствовать несколько групп планирования ТОРО в соответствии с направлениями деятельности по планированию работ ТОРО. 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На уровне группа планирования ТОРО </a:t>
            </a:r>
            <a:r>
              <a:rPr lang="ru-RU" dirty="0" smtClean="0"/>
              <a:t>выполняется системное </a:t>
            </a:r>
            <a:r>
              <a:rPr lang="ru-RU" dirty="0"/>
              <a:t>разделение полномочий к объектам </a:t>
            </a:r>
            <a:r>
              <a:rPr lang="ru-RU" dirty="0" smtClean="0"/>
              <a:t>ТОРО (например заказы ТОРО)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6530791" y="1541458"/>
            <a:ext cx="98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Механики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11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1320950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1964136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7662" y="2607322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6525054" y="2099268"/>
            <a:ext cx="1003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>
                <a:solidFill>
                  <a:prstClr val="black"/>
                </a:solidFill>
              </a:rPr>
              <a:t>Электрики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6525054" y="2729192"/>
            <a:ext cx="1662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Метрологи/</a:t>
            </a:r>
            <a:r>
              <a:rPr lang="ru-RU" sz="1400" b="1" dirty="0" err="1" smtClean="0">
                <a:solidFill>
                  <a:prstClr val="black"/>
                </a:solidFill>
              </a:rPr>
              <a:t>КИПиА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17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3263457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6519576" y="3385327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ЗИС</a:t>
            </a:r>
            <a:endParaRPr lang="ru-RU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725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7452D6-2931-4660-B72B-23BEE775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dirty="0" smtClean="0"/>
              <a:t>Внедрение пилота и </a:t>
            </a:r>
            <a:r>
              <a:rPr lang="ru-RU" sz="1600" dirty="0"/>
              <a:t>с</a:t>
            </a:r>
            <a:r>
              <a:rPr lang="ru-RU" sz="1600" dirty="0" smtClean="0"/>
              <a:t>табилизация</a:t>
            </a:r>
            <a:endParaRPr lang="ru-RU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BEA5EF0-EB5E-4271-800C-F8AFAECFA1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ABF02-B19E-48F4-8CD1-E615EFE72681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xmlns="" id="{72908958-8178-442F-A26C-EECF80B4022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Производственный актив</a:t>
            </a:r>
            <a:endParaRPr lang="ru-RU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D6AF221D-D50C-4215-80A9-F450D2E058D4}"/>
              </a:ext>
            </a:extLst>
          </p:cNvPr>
          <p:cNvSpPr txBox="1"/>
          <p:nvPr/>
        </p:nvSpPr>
        <p:spPr>
          <a:xfrm>
            <a:off x="366281" y="1128786"/>
            <a:ext cx="834458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dirty="0" smtClean="0"/>
              <a:t>Производственные активы: </a:t>
            </a:r>
            <a:r>
              <a:rPr lang="ru-RU" dirty="0"/>
              <a:t>активы, используемые неоднократно или постоянно в течение длительного периода, необходимые для обеспечения основной и вспомогательной производственной деятельности компании. К </a:t>
            </a:r>
            <a:r>
              <a:rPr lang="ru-RU" dirty="0" smtClean="0"/>
              <a:t>производственным активам относят: основное производственное оборудование</a:t>
            </a:r>
            <a:r>
              <a:rPr lang="ru-RU" dirty="0"/>
              <a:t>, вспомогательное </a:t>
            </a:r>
            <a:r>
              <a:rPr lang="ru-RU" dirty="0" smtClean="0"/>
              <a:t>оборудование, здания и сооружения, автотранспортное оборудование, энергетическое оборудование и т.д.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В </a:t>
            </a:r>
            <a:r>
              <a:rPr lang="en-US" dirty="0" smtClean="0"/>
              <a:t>SAP S/4 HANA </a:t>
            </a:r>
            <a:r>
              <a:rPr lang="ru-RU" dirty="0" smtClean="0"/>
              <a:t>производственный актив отражён в различных представлениях:</a:t>
            </a:r>
          </a:p>
          <a:p>
            <a:r>
              <a:rPr lang="ru-RU" dirty="0"/>
              <a:t> </a:t>
            </a:r>
            <a:r>
              <a:rPr lang="ru-RU" dirty="0" smtClean="0"/>
              <a:t>    - производственном</a:t>
            </a:r>
          </a:p>
          <a:p>
            <a:r>
              <a:rPr lang="ru-RU" dirty="0"/>
              <a:t> </a:t>
            </a:r>
            <a:r>
              <a:rPr lang="ru-RU" dirty="0" smtClean="0"/>
              <a:t>    - финансовом (БУ/НУ)</a:t>
            </a:r>
          </a:p>
          <a:p>
            <a:r>
              <a:rPr lang="ru-RU" dirty="0"/>
              <a:t> </a:t>
            </a:r>
            <a:r>
              <a:rPr lang="ru-RU" dirty="0" smtClean="0"/>
              <a:t>    - организационном</a:t>
            </a:r>
          </a:p>
          <a:p>
            <a:r>
              <a:rPr lang="ru-RU" dirty="0"/>
              <a:t> </a:t>
            </a:r>
            <a:r>
              <a:rPr lang="ru-RU" dirty="0" smtClean="0"/>
              <a:t>    - </a:t>
            </a:r>
            <a:r>
              <a:rPr lang="ru-RU" dirty="0" err="1" smtClean="0"/>
              <a:t>ТОиР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Отражением в процессах </a:t>
            </a:r>
            <a:r>
              <a:rPr lang="ru-RU" dirty="0" err="1" smtClean="0"/>
              <a:t>ТОиР</a:t>
            </a:r>
            <a:r>
              <a:rPr lang="ru-RU" dirty="0" smtClean="0"/>
              <a:t> производственных активов является структура технических мест и единиц оборудования и зоны ответственности в рамках этой структуры.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6744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Единицы оборудования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Пятиугольник 7"/>
          <p:cNvSpPr/>
          <p:nvPr/>
        </p:nvSpPr>
        <p:spPr>
          <a:xfrm rot="5400000">
            <a:off x="1252674" y="227336"/>
            <a:ext cx="426611" cy="2757638"/>
          </a:xfrm>
          <a:prstGeom prst="homePlate">
            <a:avLst>
              <a:gd name="adj" fmla="val 31672"/>
            </a:avLst>
          </a:prstGeom>
          <a:solidFill>
            <a:srgbClr val="FFC000"/>
          </a:solidFill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vert="vert270" lIns="72000" tIns="72000" rIns="72000" bIns="72000" rtlCol="0" anchor="ctr"/>
          <a:lstStyle/>
          <a:p>
            <a:pPr marL="0" marR="0" lvl="0" indent="0" algn="ctr" defTabSz="104298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Единицы оборудования</a:t>
            </a:r>
            <a:endParaRPr lang="ru-RU" sz="20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87162" y="1819461"/>
            <a:ext cx="2757637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itchFamily="34" charset="0"/>
              <a:buChar char="•"/>
            </a:pPr>
            <a:r>
              <a:rPr lang="ru-RU" sz="1200" dirty="0" smtClean="0"/>
              <a:t>Объекты</a:t>
            </a:r>
            <a:r>
              <a:rPr lang="ru-RU" sz="1200" dirty="0"/>
              <a:t>, которые подлежат </a:t>
            </a:r>
            <a:r>
              <a:rPr lang="ru-RU" sz="1200" dirty="0" err="1"/>
              <a:t>ТОиР</a:t>
            </a:r>
            <a:r>
              <a:rPr lang="ru-RU" sz="1200" dirty="0"/>
              <a:t> в качестве самостоятельных единиц</a:t>
            </a:r>
            <a:r>
              <a:rPr lang="ru-RU" sz="1200" dirty="0" smtClean="0"/>
              <a:t>.</a:t>
            </a:r>
          </a:p>
          <a:p>
            <a:pPr lvl="0"/>
            <a:r>
              <a:rPr lang="ru-RU" sz="1200" dirty="0" smtClean="0"/>
              <a:t> </a:t>
            </a:r>
            <a:endParaRPr lang="ru-RU" sz="1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200" dirty="0" smtClean="0"/>
              <a:t>В структуре </a:t>
            </a:r>
            <a:r>
              <a:rPr lang="ru-RU" sz="1200" dirty="0"/>
              <a:t>о</a:t>
            </a:r>
            <a:r>
              <a:rPr lang="ru-RU" sz="1200" dirty="0" smtClean="0"/>
              <a:t>пределяет </a:t>
            </a:r>
            <a:r>
              <a:rPr lang="ru-RU" sz="1200" dirty="0"/>
              <a:t>иерархическое место объекта в связи со справочником технических мест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ru-RU" sz="1200" dirty="0"/>
              <a:t>Описывает технические характеристики объекта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ru-RU" sz="1200" dirty="0"/>
              <a:t>Содержит информацию о функциональном назначении оборудования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ru-RU" sz="1200" dirty="0"/>
              <a:t>Связаны со справочником основных средств</a:t>
            </a:r>
          </a:p>
          <a:p>
            <a:pPr marL="285750" lvl="1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ru-RU" sz="1200" dirty="0"/>
              <a:t>Связаны со структурой учета затрат</a:t>
            </a:r>
          </a:p>
          <a:p>
            <a:pPr marL="285750" lvl="0" indent="-285750"/>
            <a:endParaRPr lang="ru-RU" sz="1400" dirty="0"/>
          </a:p>
          <a:p>
            <a:pPr marL="0" lvl="1"/>
            <a:endParaRPr lang="ru-RU" sz="1400" dirty="0"/>
          </a:p>
        </p:txBody>
      </p:sp>
      <p:pic>
        <p:nvPicPr>
          <p:cNvPr id="113" name="Рисунок 1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446" y="3079915"/>
            <a:ext cx="6520105" cy="3535347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3083443" y="1054503"/>
            <a:ext cx="1671437" cy="338346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Техническое место</a:t>
            </a:r>
            <a:endParaRPr lang="ru-RU" sz="14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4213668" y="1537520"/>
            <a:ext cx="1704350" cy="418052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Единица оборудования</a:t>
            </a:r>
            <a:endParaRPr lang="ru-RU" sz="12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5918018" y="2658124"/>
            <a:ext cx="1620927" cy="304214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Тип конструкции</a:t>
            </a:r>
            <a:endParaRPr lang="ru-RU" sz="120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5918018" y="2077580"/>
            <a:ext cx="1620927" cy="338717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Основное средство</a:t>
            </a:r>
            <a:endParaRPr lang="ru-RU" sz="1200" dirty="0"/>
          </a:p>
        </p:txBody>
      </p:sp>
      <p:cxnSp>
        <p:nvCxnSpPr>
          <p:cNvPr id="5" name="Соединительная линия уступом 4"/>
          <p:cNvCxnSpPr>
            <a:stCxn id="2" idx="2"/>
            <a:endCxn id="10" idx="1"/>
          </p:cNvCxnSpPr>
          <p:nvPr/>
        </p:nvCxnSpPr>
        <p:spPr>
          <a:xfrm rot="16200000" flipH="1">
            <a:off x="3889567" y="1422444"/>
            <a:ext cx="353697" cy="294506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Соединительная линия уступом 6"/>
          <p:cNvCxnSpPr>
            <a:stCxn id="10" idx="2"/>
            <a:endCxn id="12" idx="1"/>
          </p:cNvCxnSpPr>
          <p:nvPr/>
        </p:nvCxnSpPr>
        <p:spPr>
          <a:xfrm rot="16200000" flipH="1">
            <a:off x="5346247" y="1675167"/>
            <a:ext cx="291367" cy="852175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Соединительная линия уступом 13"/>
          <p:cNvCxnSpPr>
            <a:endCxn id="11" idx="1"/>
          </p:cNvCxnSpPr>
          <p:nvPr/>
        </p:nvCxnSpPr>
        <p:spPr>
          <a:xfrm>
            <a:off x="5065843" y="2246938"/>
            <a:ext cx="852175" cy="563293"/>
          </a:xfrm>
          <a:prstGeom prst="bentConnector3">
            <a:avLst>
              <a:gd name="adj1" fmla="val 548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7093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 dirty="0" smtClean="0"/>
              <a:t>«Формирование и потребление обменного фонда»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2" name="Группа 11"/>
          <p:cNvGrpSpPr/>
          <p:nvPr/>
        </p:nvGrpSpPr>
        <p:grpSpPr>
          <a:xfrm>
            <a:off x="279633" y="3464932"/>
            <a:ext cx="1231074" cy="682828"/>
            <a:chOff x="103199" y="808239"/>
            <a:chExt cx="916520" cy="682828"/>
          </a:xfrm>
          <a:solidFill>
            <a:srgbClr val="FCC917"/>
          </a:solidFill>
        </p:grpSpPr>
        <p:sp>
          <p:nvSpPr>
            <p:cNvPr id="13" name="Скругленный прямоугольник 12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Скругленный прямоугольник 4"/>
            <p:cNvSpPr txBox="1"/>
            <p:nvPr/>
          </p:nvSpPr>
          <p:spPr>
            <a:xfrm>
              <a:off x="123198" y="828238"/>
              <a:ext cx="876522" cy="64283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Анализ состояния ОФ</a:t>
              </a:r>
              <a:endParaRPr lang="ru-RU" sz="1050" kern="1200" dirty="0"/>
            </a:p>
          </p:txBody>
        </p:sp>
      </p:grpSp>
      <p:grpSp>
        <p:nvGrpSpPr>
          <p:cNvPr id="18" name="Группа 17"/>
          <p:cNvGrpSpPr/>
          <p:nvPr/>
        </p:nvGrpSpPr>
        <p:grpSpPr>
          <a:xfrm>
            <a:off x="1893434" y="3464935"/>
            <a:ext cx="1256002" cy="682828"/>
            <a:chOff x="103199" y="808239"/>
            <a:chExt cx="916520" cy="682828"/>
          </a:xfrm>
        </p:grpSpPr>
        <p:sp>
          <p:nvSpPr>
            <p:cNvPr id="20" name="Скругленный прямоугольник 19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Поступление восстановленного узла ОФ на склад</a:t>
              </a:r>
              <a:endParaRPr lang="ru-RU" sz="1050" kern="1200" dirty="0"/>
            </a:p>
          </p:txBody>
        </p:sp>
      </p:grpSp>
      <p:sp>
        <p:nvSpPr>
          <p:cNvPr id="23" name="Прямая соединительная линия 4"/>
          <p:cNvSpPr txBox="1"/>
          <p:nvPr/>
        </p:nvSpPr>
        <p:spPr>
          <a:xfrm rot="59759">
            <a:off x="4499146" y="4784246"/>
            <a:ext cx="20315" cy="457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500" kern="1200"/>
          </a:p>
        </p:txBody>
      </p:sp>
      <p:sp>
        <p:nvSpPr>
          <p:cNvPr id="28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>
            <a:off x="191017" y="1101092"/>
            <a:ext cx="1382742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Прямая соединительная линия 29"/>
          <p:cNvCxnSpPr>
            <a:stCxn id="13" idx="3"/>
            <a:endCxn id="20" idx="1"/>
          </p:cNvCxnSpPr>
          <p:nvPr/>
        </p:nvCxnSpPr>
        <p:spPr>
          <a:xfrm>
            <a:off x="1510707" y="3806346"/>
            <a:ext cx="382727" cy="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>
            <a:off x="1779686" y="1101092"/>
            <a:ext cx="6916079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Инженер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1" name="Группа 40"/>
          <p:cNvGrpSpPr/>
          <p:nvPr/>
        </p:nvGrpSpPr>
        <p:grpSpPr>
          <a:xfrm>
            <a:off x="3250978" y="3268465"/>
            <a:ext cx="1256002" cy="1075764"/>
            <a:chOff x="103199" y="805920"/>
            <a:chExt cx="916520" cy="682828"/>
          </a:xfrm>
        </p:grpSpPr>
        <p:sp>
          <p:nvSpPr>
            <p:cNvPr id="46" name="Скругленный прямоугольник 45"/>
            <p:cNvSpPr/>
            <p:nvPr/>
          </p:nvSpPr>
          <p:spPr>
            <a:xfrm>
              <a:off x="103199" y="805920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7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Проверка документации по выполненной операции монтажа\демонтажа</a:t>
              </a:r>
              <a:endParaRPr lang="ru-RU" sz="1050" kern="1200" dirty="0"/>
            </a:p>
          </p:txBody>
        </p:sp>
      </p:grpSp>
      <p:grpSp>
        <p:nvGrpSpPr>
          <p:cNvPr id="48" name="Группа 47"/>
          <p:cNvGrpSpPr/>
          <p:nvPr/>
        </p:nvGrpSpPr>
        <p:grpSpPr>
          <a:xfrm>
            <a:off x="4615286" y="3464934"/>
            <a:ext cx="1256002" cy="682828"/>
            <a:chOff x="103199" y="808239"/>
            <a:chExt cx="916520" cy="682828"/>
          </a:xfrm>
        </p:grpSpPr>
        <p:sp>
          <p:nvSpPr>
            <p:cNvPr id="49" name="Скругленный прямоугольник 48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0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Поступление демонтированного материала на склад</a:t>
              </a:r>
              <a:endParaRPr lang="ru-RU" sz="1050" kern="1200" dirty="0"/>
            </a:p>
          </p:txBody>
        </p:sp>
      </p:grpSp>
      <p:grpSp>
        <p:nvGrpSpPr>
          <p:cNvPr id="51" name="Группа 50"/>
          <p:cNvGrpSpPr/>
          <p:nvPr/>
        </p:nvGrpSpPr>
        <p:grpSpPr>
          <a:xfrm>
            <a:off x="5972830" y="3464934"/>
            <a:ext cx="1256002" cy="682828"/>
            <a:chOff x="103199" y="808239"/>
            <a:chExt cx="916520" cy="682828"/>
          </a:xfrm>
        </p:grpSpPr>
        <p:sp>
          <p:nvSpPr>
            <p:cNvPr id="52" name="Скругленный прямоугольник 51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3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Проверка на наличие единицы оборудования</a:t>
              </a:r>
              <a:endParaRPr lang="ru-RU" sz="1050" kern="1200" dirty="0"/>
            </a:p>
          </p:txBody>
        </p:sp>
      </p:grpSp>
      <p:grpSp>
        <p:nvGrpSpPr>
          <p:cNvPr id="54" name="Группа 53"/>
          <p:cNvGrpSpPr/>
          <p:nvPr/>
        </p:nvGrpSpPr>
        <p:grpSpPr>
          <a:xfrm>
            <a:off x="7330374" y="3296807"/>
            <a:ext cx="1256002" cy="1019080"/>
            <a:chOff x="103199" y="808239"/>
            <a:chExt cx="916520" cy="682828"/>
          </a:xfrm>
        </p:grpSpPr>
        <p:sp>
          <p:nvSpPr>
            <p:cNvPr id="55" name="Скругленный прямоугольник 54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6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Проверка полноты данных для последующего выполнения операций монтажа / демонтажа в системе</a:t>
              </a:r>
              <a:endParaRPr lang="ru-RU" sz="1050" kern="1200" dirty="0"/>
            </a:p>
          </p:txBody>
        </p:sp>
      </p:grpSp>
      <p:cxnSp>
        <p:nvCxnSpPr>
          <p:cNvPr id="57" name="Прямая соединительная линия 56"/>
          <p:cNvCxnSpPr>
            <a:stCxn id="20" idx="3"/>
            <a:endCxn id="46" idx="1"/>
          </p:cNvCxnSpPr>
          <p:nvPr/>
        </p:nvCxnSpPr>
        <p:spPr>
          <a:xfrm flipV="1">
            <a:off x="3149436" y="3806347"/>
            <a:ext cx="101542" cy="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>
            <a:stCxn id="46" idx="3"/>
            <a:endCxn id="49" idx="1"/>
          </p:cNvCxnSpPr>
          <p:nvPr/>
        </p:nvCxnSpPr>
        <p:spPr>
          <a:xfrm>
            <a:off x="4506980" y="3806347"/>
            <a:ext cx="108306" cy="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>
            <a:stCxn id="49" idx="3"/>
            <a:endCxn id="52" idx="1"/>
          </p:cNvCxnSpPr>
          <p:nvPr/>
        </p:nvCxnSpPr>
        <p:spPr>
          <a:xfrm>
            <a:off x="5871288" y="3806348"/>
            <a:ext cx="10154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единительная линия 59"/>
          <p:cNvCxnSpPr>
            <a:stCxn id="52" idx="3"/>
            <a:endCxn id="55" idx="1"/>
          </p:cNvCxnSpPr>
          <p:nvPr/>
        </p:nvCxnSpPr>
        <p:spPr>
          <a:xfrm flipV="1">
            <a:off x="7228832" y="3806347"/>
            <a:ext cx="101542" cy="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>
            <a:endCxn id="14" idx="1"/>
          </p:cNvCxnSpPr>
          <p:nvPr/>
        </p:nvCxnSpPr>
        <p:spPr>
          <a:xfrm>
            <a:off x="0" y="3806346"/>
            <a:ext cx="306496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/>
          <p:cNvCxnSpPr>
            <a:stCxn id="55" idx="3"/>
          </p:cNvCxnSpPr>
          <p:nvPr/>
        </p:nvCxnSpPr>
        <p:spPr>
          <a:xfrm flipV="1">
            <a:off x="8586376" y="3806346"/>
            <a:ext cx="360400" cy="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83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 dirty="0" smtClean="0"/>
              <a:t>«Формирование и потребление обменного фонда»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1520117" y="3406221"/>
            <a:ext cx="1256002" cy="817728"/>
            <a:chOff x="103199" y="808239"/>
            <a:chExt cx="916520" cy="682828"/>
          </a:xfrm>
        </p:grpSpPr>
        <p:sp>
          <p:nvSpPr>
            <p:cNvPr id="20" name="Скругленный прямоугольник 19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  <a:ln>
              <a:solidFill>
                <a:srgbClr val="76717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Монтаж узла ОФ на технический объект с движением материала</a:t>
              </a:r>
              <a:endParaRPr lang="ru-RU" sz="1050" kern="1200" dirty="0"/>
            </a:p>
          </p:txBody>
        </p:sp>
      </p:grpSp>
      <p:sp>
        <p:nvSpPr>
          <p:cNvPr id="23" name="Прямая соединительная линия 4"/>
          <p:cNvSpPr txBox="1"/>
          <p:nvPr/>
        </p:nvSpPr>
        <p:spPr>
          <a:xfrm rot="59759">
            <a:off x="4499146" y="4784246"/>
            <a:ext cx="20315" cy="457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500" kern="1200"/>
          </a:p>
        </p:txBody>
      </p:sp>
      <p:sp>
        <p:nvSpPr>
          <p:cNvPr id="28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>
            <a:off x="82743" y="1101092"/>
            <a:ext cx="2750104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Прямая соединительная линия 29"/>
          <p:cNvCxnSpPr>
            <a:stCxn id="27" idx="3"/>
            <a:endCxn id="20" idx="1"/>
          </p:cNvCxnSpPr>
          <p:nvPr/>
        </p:nvCxnSpPr>
        <p:spPr>
          <a:xfrm flipV="1">
            <a:off x="1419399" y="3815085"/>
            <a:ext cx="100718" cy="480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>
            <a:off x="2930046" y="1101092"/>
            <a:ext cx="2968021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Инженер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1" name="Группа 40"/>
          <p:cNvGrpSpPr/>
          <p:nvPr/>
        </p:nvGrpSpPr>
        <p:grpSpPr>
          <a:xfrm>
            <a:off x="3015303" y="3277203"/>
            <a:ext cx="1410376" cy="1075764"/>
            <a:chOff x="103199" y="805920"/>
            <a:chExt cx="916520" cy="682828"/>
          </a:xfrm>
        </p:grpSpPr>
        <p:sp>
          <p:nvSpPr>
            <p:cNvPr id="46" name="Скругленный прямоугольник 45"/>
            <p:cNvSpPr/>
            <p:nvPr/>
          </p:nvSpPr>
          <p:spPr>
            <a:xfrm>
              <a:off x="103199" y="805920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7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Проверка наличия планов предупредительного ТОРО для узла</a:t>
              </a:r>
              <a:endParaRPr lang="ru-RU" sz="1050" kern="1200" dirty="0"/>
            </a:p>
          </p:txBody>
        </p:sp>
      </p:grpSp>
      <p:grpSp>
        <p:nvGrpSpPr>
          <p:cNvPr id="48" name="Группа 47"/>
          <p:cNvGrpSpPr/>
          <p:nvPr/>
        </p:nvGrpSpPr>
        <p:grpSpPr>
          <a:xfrm>
            <a:off x="4519857" y="3473672"/>
            <a:ext cx="1256002" cy="682828"/>
            <a:chOff x="103199" y="808239"/>
            <a:chExt cx="916520" cy="682828"/>
          </a:xfrm>
        </p:grpSpPr>
        <p:sp>
          <p:nvSpPr>
            <p:cNvPr id="49" name="Скругленный прямоугольник 48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0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Обновление данных по установленной ЕО</a:t>
              </a:r>
              <a:endParaRPr lang="ru-RU" sz="1050" kern="1200" dirty="0"/>
            </a:p>
          </p:txBody>
        </p:sp>
      </p:grpSp>
      <p:grpSp>
        <p:nvGrpSpPr>
          <p:cNvPr id="51" name="Группа 50"/>
          <p:cNvGrpSpPr/>
          <p:nvPr/>
        </p:nvGrpSpPr>
        <p:grpSpPr>
          <a:xfrm>
            <a:off x="6046911" y="3478476"/>
            <a:ext cx="1256002" cy="682828"/>
            <a:chOff x="103199" y="808239"/>
            <a:chExt cx="916520" cy="682828"/>
          </a:xfrm>
        </p:grpSpPr>
        <p:sp>
          <p:nvSpPr>
            <p:cNvPr id="52" name="Скругленный прямоугольник 51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3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Проверка заказов ТОРО для единицы оборудования</a:t>
              </a:r>
              <a:endParaRPr lang="ru-RU" sz="1050" kern="1200" dirty="0"/>
            </a:p>
          </p:txBody>
        </p:sp>
      </p:grpSp>
      <p:grpSp>
        <p:nvGrpSpPr>
          <p:cNvPr id="54" name="Группа 53"/>
          <p:cNvGrpSpPr/>
          <p:nvPr/>
        </p:nvGrpSpPr>
        <p:grpSpPr>
          <a:xfrm>
            <a:off x="7394689" y="3473673"/>
            <a:ext cx="1274182" cy="682828"/>
            <a:chOff x="103199" y="808239"/>
            <a:chExt cx="916520" cy="682828"/>
          </a:xfrm>
        </p:grpSpPr>
        <p:sp>
          <p:nvSpPr>
            <p:cNvPr id="55" name="Скругленный прямоугольник 54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6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Закрытие плановых заказов ТОРО</a:t>
              </a:r>
              <a:endParaRPr lang="ru-RU" sz="1050" kern="1200" dirty="0"/>
            </a:p>
          </p:txBody>
        </p:sp>
      </p:grpSp>
      <p:sp>
        <p:nvSpPr>
          <p:cNvPr id="25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>
            <a:off x="5989843" y="1101092"/>
            <a:ext cx="2750104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6" name="Группа 25"/>
          <p:cNvGrpSpPr/>
          <p:nvPr/>
        </p:nvGrpSpPr>
        <p:grpSpPr>
          <a:xfrm>
            <a:off x="163397" y="3478476"/>
            <a:ext cx="1256002" cy="682828"/>
            <a:chOff x="103199" y="808239"/>
            <a:chExt cx="916520" cy="682828"/>
          </a:xfrm>
        </p:grpSpPr>
        <p:sp>
          <p:nvSpPr>
            <p:cNvPr id="27" name="Скругленный прямоугольник 26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9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  <a:ln>
              <a:solidFill>
                <a:srgbClr val="76717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Демонтаж и перемещение узла ОФ на склад цеха</a:t>
              </a:r>
              <a:endParaRPr lang="ru-RU" sz="1050" kern="1200" dirty="0"/>
            </a:p>
          </p:txBody>
        </p:sp>
      </p:grpSp>
      <p:cxnSp>
        <p:nvCxnSpPr>
          <p:cNvPr id="31" name="Прямая соединительная линия 30"/>
          <p:cNvCxnSpPr>
            <a:stCxn id="20" idx="3"/>
            <a:endCxn id="46" idx="1"/>
          </p:cNvCxnSpPr>
          <p:nvPr/>
        </p:nvCxnSpPr>
        <p:spPr>
          <a:xfrm>
            <a:off x="2776119" y="3815085"/>
            <a:ext cx="23918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46" idx="3"/>
            <a:endCxn id="49" idx="1"/>
          </p:cNvCxnSpPr>
          <p:nvPr/>
        </p:nvCxnSpPr>
        <p:spPr>
          <a:xfrm>
            <a:off x="4425679" y="3815085"/>
            <a:ext cx="94178" cy="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>
            <a:stCxn id="49" idx="3"/>
            <a:endCxn id="52" idx="1"/>
          </p:cNvCxnSpPr>
          <p:nvPr/>
        </p:nvCxnSpPr>
        <p:spPr>
          <a:xfrm>
            <a:off x="5775859" y="3815086"/>
            <a:ext cx="271052" cy="480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>
            <a:stCxn id="52" idx="3"/>
            <a:endCxn id="55" idx="1"/>
          </p:cNvCxnSpPr>
          <p:nvPr/>
        </p:nvCxnSpPr>
        <p:spPr>
          <a:xfrm flipV="1">
            <a:off x="7302913" y="3815087"/>
            <a:ext cx="91776" cy="480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55" idx="3"/>
          </p:cNvCxnSpPr>
          <p:nvPr/>
        </p:nvCxnSpPr>
        <p:spPr>
          <a:xfrm flipV="1">
            <a:off x="8668871" y="3815085"/>
            <a:ext cx="412376" cy="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/>
          <p:cNvCxnSpPr>
            <a:stCxn id="27" idx="1"/>
          </p:cNvCxnSpPr>
          <p:nvPr/>
        </p:nvCxnSpPr>
        <p:spPr>
          <a:xfrm flipH="1" flipV="1">
            <a:off x="0" y="3818965"/>
            <a:ext cx="163397" cy="92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1902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«Анализ состояния ОФ»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60470" y="20171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Анализ состояния ОФ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52733" y="30972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97547" y="2439093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Сформирован отчет, позволяющий выполнить анализ состояния узлов ОФ</a:t>
            </a: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210461" y="30775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688026" y="2421673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Завод</a:t>
            </a:r>
            <a:br>
              <a:rPr lang="ru-RU" sz="1100" dirty="0" smtClean="0">
                <a:solidFill>
                  <a:srgbClr val="595959"/>
                </a:solidFill>
              </a:rPr>
            </a:br>
            <a:r>
              <a:rPr lang="ru-RU" sz="1100" dirty="0" smtClean="0">
                <a:solidFill>
                  <a:srgbClr val="595959"/>
                </a:solidFill>
              </a:rPr>
              <a:t>Материал</a:t>
            </a:r>
            <a:br>
              <a:rPr lang="ru-RU" sz="1100" dirty="0" smtClean="0">
                <a:solidFill>
                  <a:srgbClr val="595959"/>
                </a:solidFill>
              </a:rPr>
            </a:br>
            <a:r>
              <a:rPr lang="ru-RU" sz="1100" dirty="0" smtClean="0">
                <a:solidFill>
                  <a:srgbClr val="595959"/>
                </a:solidFill>
              </a:rPr>
              <a:t>Период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4484" y="4660564"/>
            <a:ext cx="840402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Дальнейшими шагами по результатам анализа состояния ОФ могут быть:</a:t>
            </a:r>
          </a:p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1) При недостаточном запасе исправных узлов ОФ:</a:t>
            </a:r>
          </a:p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- Изменение плановых сроков в Заказах ТОРО на демонтаж/монтаж, либо в заказах на восстановление;</a:t>
            </a:r>
          </a:p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- Создание Заказов ТОРО на восстановление (при наличии неисправных узлов);</a:t>
            </a:r>
          </a:p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- Продажа узлов ОВ для восстановления;</a:t>
            </a:r>
          </a:p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- Создание Заявки на закупку оборудования ОФ.</a:t>
            </a:r>
          </a:p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2) При избыточном запасе:</a:t>
            </a:r>
          </a:p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- Консервация узлов ОФ.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На основании отчёта "Анализ состояния ОФ" Планировщик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контролирует прогноз доступного запаса ОФ на складах подразделения с учетом потребности в позициях ОФ и запланированных поступлений на склад (новых, либо восстановленных узлов ОФ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).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181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388935"/>
            <a:ext cx="7927975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«Поступление восстановленного узла ОФ на </a:t>
            </a:r>
            <a:r>
              <a:rPr lang="ru-RU" sz="1600" dirty="0" smtClean="0"/>
              <a:t>склад»</a:t>
            </a:r>
            <a:endParaRPr lang="ru-RU" sz="1600" dirty="0"/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Поступление восстановленного узла ОФ на склад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00488" y="3225283"/>
            <a:ext cx="182939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Создан документ движения материала - Поступление восстановленного узла ОФ на склад</a:t>
            </a: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258217" y="3374863"/>
            <a:ext cx="18293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Наряд-задание на восстановление</a:t>
            </a:r>
          </a:p>
          <a:p>
            <a:r>
              <a:rPr lang="ru-RU" sz="1100" dirty="0">
                <a:solidFill>
                  <a:srgbClr val="595959"/>
                </a:solidFill>
              </a:rPr>
              <a:t>Акт выполненных работ по восстановлению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По результатам проведения работ по восстановлению узлов ОФ, инженер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выполняет поступление восстановленного узла ОФ на склад с использованием стандартной транзакции «MIGO» - Движение материала. Необходимым требованием для выполнения этого шага является наличие номера заказа ТОРО на восстановление.</a:t>
            </a:r>
          </a:p>
        </p:txBody>
      </p:sp>
    </p:spTree>
    <p:extLst>
      <p:ext uri="{BB962C8B-B14F-4D97-AF65-F5344CB8AC3E}">
        <p14:creationId xmlns:p14="http://schemas.microsoft.com/office/powerpoint/2010/main" val="417889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395854"/>
            <a:ext cx="7927975" cy="410926"/>
          </a:xfrm>
        </p:spPr>
        <p:txBody>
          <a:bodyPr/>
          <a:lstStyle/>
          <a:p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«Проверка документации по выполненной операции монтажа\демонтажа»</a:t>
            </a:r>
          </a:p>
          <a:p>
            <a:pPr lvl="0"/>
            <a:endParaRPr lang="ru-RU" sz="1600" dirty="0"/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115872" y="2370686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Проверка документации по выполненной операции монтажа\демонтажа</a:t>
              </a:r>
              <a:endParaRPr lang="ru-RU" sz="16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608135" y="3450770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>
            <a:off x="1265863" y="343107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64484" y="5859427"/>
            <a:ext cx="840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400" dirty="0" smtClean="0">
                <a:solidFill>
                  <a:srgbClr val="595959"/>
                </a:solidFill>
              </a:rPr>
              <a:t>Дальнейшими </a:t>
            </a:r>
            <a:r>
              <a:rPr lang="ru-RU" sz="1400" dirty="0">
                <a:solidFill>
                  <a:srgbClr val="595959"/>
                </a:solidFill>
              </a:rPr>
              <a:t>шагами по результату проверки могут быть «40 - Поступление демон-тированного материала на склад» или «50 – Проверка на наличие единицы оборудования».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3495" y="2438629"/>
            <a:ext cx="182939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Наряд-задание на монтаж/демонтаж</a:t>
            </a:r>
          </a:p>
          <a:p>
            <a:r>
              <a:rPr lang="ru-RU" sz="1100" dirty="0">
                <a:solidFill>
                  <a:srgbClr val="595959"/>
                </a:solidFill>
              </a:rPr>
              <a:t>Акт о выполненном монтаже/демонтаже</a:t>
            </a:r>
          </a:p>
          <a:p>
            <a:r>
              <a:rPr lang="ru-RU" sz="1100" dirty="0">
                <a:solidFill>
                  <a:srgbClr val="595959"/>
                </a:solidFill>
              </a:rPr>
              <a:t>Дефектная ведомость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6223" y="2777184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Выполнен анализ операций монтажа\демонтажа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4484" y="1017065"/>
            <a:ext cx="840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400" dirty="0">
                <a:solidFill>
                  <a:srgbClr val="595959"/>
                </a:solidFill>
              </a:rPr>
              <a:t>Инженер </a:t>
            </a:r>
            <a:r>
              <a:rPr lang="ru-RU" sz="1400" dirty="0" err="1">
                <a:solidFill>
                  <a:srgbClr val="595959"/>
                </a:solidFill>
              </a:rPr>
              <a:t>ТОиР</a:t>
            </a:r>
            <a:r>
              <a:rPr lang="ru-RU" sz="1400" dirty="0">
                <a:solidFill>
                  <a:srgbClr val="595959"/>
                </a:solidFill>
              </a:rPr>
              <a:t>, при помощи стандартных транзакций анализирует объекты и документы системы, отражающие факт выполнения монтажа/демонтажа узла ОФ и поступления материалов на склад</a:t>
            </a:r>
            <a:r>
              <a:rPr lang="ru-RU" sz="1400" dirty="0" smtClean="0">
                <a:solidFill>
                  <a:srgbClr val="595959"/>
                </a:solidFill>
              </a:rPr>
              <a:t>.</a:t>
            </a:r>
            <a:endParaRPr lang="ru-RU" sz="1400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6367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41541" y="494827"/>
            <a:ext cx="7927975" cy="410926"/>
          </a:xfrm>
        </p:spPr>
        <p:txBody>
          <a:bodyPr/>
          <a:lstStyle/>
          <a:p>
            <a:pPr lvl="0"/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800" dirty="0"/>
              <a:t>«Поступление демонтированного материала на склад»</a:t>
            </a:r>
          </a:p>
          <a:p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Поступление демонтированного материала на склад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79875" y="3083918"/>
            <a:ext cx="182939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Создан документ движения материала - Поступление демонтированного материала без серийного номера на склад</a:t>
            </a: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33582" y="3282136"/>
            <a:ext cx="18293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Наряд-задание на монтаж/демонтаж</a:t>
            </a:r>
          </a:p>
          <a:p>
            <a:r>
              <a:rPr lang="ru-RU" sz="1100" dirty="0">
                <a:solidFill>
                  <a:srgbClr val="595959"/>
                </a:solidFill>
              </a:rPr>
              <a:t>Акт о выполненном монтаже/демонтаже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Инженер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анализирует состояние узла (ОФ), по результатам анализа формирует акт оценки. В зависимости от состояния ОФ в акте оценки осуществляет оприходование узла на склад с указанием «Вида оценки» (как исправного или неисправного). </a:t>
            </a:r>
          </a:p>
        </p:txBody>
      </p:sp>
    </p:spTree>
    <p:extLst>
      <p:ext uri="{BB962C8B-B14F-4D97-AF65-F5344CB8AC3E}">
        <p14:creationId xmlns:p14="http://schemas.microsoft.com/office/powerpoint/2010/main" val="1289262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41541" y="494827"/>
            <a:ext cx="7927975" cy="410926"/>
          </a:xfrm>
        </p:spPr>
        <p:txBody>
          <a:bodyPr/>
          <a:lstStyle/>
          <a:p>
            <a:pPr lvl="0"/>
            <a:r>
              <a:rPr lang="ru-RU" sz="20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2000" dirty="0"/>
              <a:t>«Проверка на наличие единицы оборудования»</a:t>
            </a: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Проверка на наличие единицы оборудования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00488" y="3549171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Выполнен анализ наличия ЕО </a:t>
            </a: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83567" y="3262438"/>
            <a:ext cx="18293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Наряд-задание на монтаж/демонтаж</a:t>
            </a:r>
          </a:p>
          <a:p>
            <a:r>
              <a:rPr lang="ru-RU" sz="1100" dirty="0">
                <a:solidFill>
                  <a:srgbClr val="595959"/>
                </a:solidFill>
              </a:rPr>
              <a:t>Акт о выполненном монтаже/демонтаже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484" y="5529681"/>
            <a:ext cx="84040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Дальнейшими шагами по результату проверки могут быть «60 - Проверка на необходимость создания ОС» (выполняется вне системы), «70 - Формирование пакета документов для создания карточки ВНА»(выполняется вне системы) или «80 – Проверка полноты данных для последующего выполнения операций монтажа / демонтажа в системе».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Данный шаг выполняется после того как Инженер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, в процессе проверки документов, отражающих факт выполнения монтажа/демонтажа узла ОФ,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идентифи-цировал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узел ОФ как единицу оборудования.</a:t>
            </a:r>
          </a:p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Инженер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проводит анализ на наличие в системе соответствующих объектов ЕО (монтируемой и демонтируемой ЕО). В случае отсутствия соответствующих ЕО, Инженер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формирует заявку корректировки локальных данных НСИ ТОРО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3208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30933"/>
            <a:ext cx="7927975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«Проверка полноты данных для последующего выполнения операций монтажа / демонтажа в системе»</a:t>
            </a: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Проверка полноты данных для последующего выполнения операций монтажа / демонтажа в системе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46452" y="3140242"/>
            <a:ext cx="182939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Выполнена проверка полноты данных для последующего выполнения операций монтажа\демонтажа</a:t>
            </a: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77162" y="3210617"/>
            <a:ext cx="18293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Наряд-задание на монтаж/демонтаж</a:t>
            </a:r>
          </a:p>
          <a:p>
            <a:r>
              <a:rPr lang="ru-RU" sz="1100" dirty="0">
                <a:solidFill>
                  <a:srgbClr val="595959"/>
                </a:solidFill>
              </a:rPr>
              <a:t>Акт о выполненном монтаже/демонтаже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По результатам анализа наличия ЕО/формирования ЕО в системе, Инженер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проверяет полноту данных в системе для ЕО (обязательное заполнение материала, серийного номера ЕО и технического места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монтажа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). В случае отсутствия данных показателей необходимо инициировать процедуру заполнения полей ЕО путем создания заявки на изменение объекта НСИ. </a:t>
            </a:r>
          </a:p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Если данных ЕО достаточно для выполнения операции монтажа/демонтажа, то Инженер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направляет документы Планировщику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для отражения операций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в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системе.</a:t>
            </a:r>
          </a:p>
        </p:txBody>
      </p:sp>
    </p:spTree>
    <p:extLst>
      <p:ext uri="{BB962C8B-B14F-4D97-AF65-F5344CB8AC3E}">
        <p14:creationId xmlns:p14="http://schemas.microsoft.com/office/powerpoint/2010/main" val="2337568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41541" y="494827"/>
            <a:ext cx="7927975" cy="410926"/>
          </a:xfrm>
        </p:spPr>
        <p:txBody>
          <a:bodyPr/>
          <a:lstStyle/>
          <a:p>
            <a:pPr lvl="0"/>
            <a:r>
              <a:rPr lang="ru-RU" sz="20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2000" dirty="0"/>
              <a:t>«Демонтаж и перемещение узла ОФ на склад цеха»</a:t>
            </a: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Демонтаж и перемещение узла ОФ на склад цеха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00488" y="3549171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Выполнен демонтаж ЕО и перемещение узла ОФ на склад</a:t>
            </a: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77162" y="3328499"/>
            <a:ext cx="18293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Акт о выполненном монтаже/демонтаже</a:t>
            </a:r>
          </a:p>
          <a:p>
            <a:r>
              <a:rPr lang="ru-RU" sz="1100" dirty="0">
                <a:solidFill>
                  <a:srgbClr val="595959"/>
                </a:solidFill>
              </a:rPr>
              <a:t>Акт оценки технического состояния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1541" y="5540112"/>
            <a:ext cx="84040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При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выполнении демонтажа узла ОФ, по которому в системе создана отдельная карточка ОС, будет выполнено обнуление ссылки на вышестоящую карточку ОС (разработка FI48) в рамках шага "130 – Изменение карточки ОС". Данный шаг производится автоматически.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Планировщик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выполняет демонтаж и перемещение узла в ОФ на основании «Акта о выполненном монтаже/демонтаже». Для выполнения шага, Планировщик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получает информацию от Инженера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в виде акта, в котором указан объект, который был демонтирован, исполнитель, выполнивший операцию демонтажа, подразделение и склад, на который перемещен узел. Используя информацию из акта демонтажа, Планировщик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выполняет демонтаж узла ОФ с движением материала на склад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109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41541" y="494827"/>
            <a:ext cx="7927975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«Монтаж узла ОФ на технический объект с движением материала»</a:t>
            </a: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2791529" y="1958120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Монтаж узла ОФ на технический объект с движением материала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283792" y="30382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358441" y="2423373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Проведен анализ введённых показаний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941520" y="3018506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91535" y="2156338"/>
            <a:ext cx="18293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Акт о выполненном монтаже/демонтаже</a:t>
            </a:r>
          </a:p>
          <a:p>
            <a:r>
              <a:rPr lang="ru-RU" sz="1100" dirty="0">
                <a:solidFill>
                  <a:srgbClr val="595959"/>
                </a:solidFill>
              </a:rPr>
              <a:t>Акт оценки технического состояния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484" y="4656285"/>
            <a:ext cx="840402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Дальнейшим шагом по результатам монтажа узла ОФ является шаг «110 - Контрольная проверка измеряемых параметров или наработки» (выполняется вне системы). В рамках данного шага Инженер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на основе данных смонтированной ЕО выполняет сбор и фиксацию текущих значений контролируемых показателей с целью последующего контроля показателей в системе.</a:t>
            </a:r>
          </a:p>
          <a:p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При выполнении монтажа узла ОФ, по которому в системе создана отдельная карточка ОС, будет выполнено заполнение ссылки в z-поле (групповой номер) номера ОС вышестоящего объекта (разработка FI48) в рамках шага "130 – Изменение карточки ОС". Данный шаг производится автоматически.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На основание полученных данных (Акт о выполненном монтаже/демонтаже с указа-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нием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единицы оборудования с статусом «НАСК» - На складе) Планировщик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выполняет монтаж узла ОФ (единиц оборудования) на технический объект с движением материала (списание материала со склада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).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237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30933"/>
            <a:ext cx="7927975" cy="410926"/>
          </a:xfrm>
        </p:spPr>
        <p:txBody>
          <a:bodyPr/>
          <a:lstStyle/>
          <a:p>
            <a:pPr lvl="0"/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шага </a:t>
            </a:r>
            <a:r>
              <a:rPr lang="ru-RU" sz="1800" dirty="0" smtClean="0"/>
              <a:t>«Проверка наличия планов предупредительного ТОРО для узла»</a:t>
            </a: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Проверка наличия планов предупредительного ТОРО для узла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83927" y="3249088"/>
            <a:ext cx="18293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Выполнен анализ наличия планов предупредительного ТОРО для демонтированной ЕО</a:t>
            </a: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93873" y="3633809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Единицы оборудования для демонтажа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После отражения демонтажа позиции ОФ в системе, Инженер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проводит проверку наличия активных (не удаленных) планов предупредительного ТОРО на позиции ОФ со статусом «НАСК».</a:t>
            </a:r>
          </a:p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В случае наличия в системе активных планов предупредительного ТОРО на позицию ОФ со статусом «НАСК», Инженер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инициирует блокировку планов предупредительного ТОРО путем формирования заявки на корректировку Плана ТОРО.</a:t>
            </a:r>
          </a:p>
        </p:txBody>
      </p:sp>
    </p:spTree>
    <p:extLst>
      <p:ext uri="{BB962C8B-B14F-4D97-AF65-F5344CB8AC3E}">
        <p14:creationId xmlns:p14="http://schemas.microsoft.com/office/powerpoint/2010/main" val="3896108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41541" y="494827"/>
            <a:ext cx="7927975" cy="410926"/>
          </a:xfrm>
        </p:spPr>
        <p:txBody>
          <a:bodyPr/>
          <a:lstStyle/>
          <a:p>
            <a:pPr lvl="0"/>
            <a:r>
              <a:rPr lang="ru-RU" sz="20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2000" dirty="0"/>
              <a:t>«Обновление данных по установленной ЕО»</a:t>
            </a: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Обновление данных по установленной ЕО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00488" y="3549171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Выполнен анализ данных установленной ЕО, требующих изменения</a:t>
            </a: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93873" y="3633809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Единицы оборудования для монтажа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Инженер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при поступлении документов по результатам установки оборудования выполняет проверку актуальности основных данных ЕО и необходимости по созданию планов предупредительного ТОРО или запуску существующих в системе. При необходимости изменений Инженер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инициирует изменение данных НСИ.</a:t>
            </a:r>
          </a:p>
        </p:txBody>
      </p:sp>
    </p:spTree>
    <p:extLst>
      <p:ext uri="{BB962C8B-B14F-4D97-AF65-F5344CB8AC3E}">
        <p14:creationId xmlns:p14="http://schemas.microsoft.com/office/powerpoint/2010/main" val="1459485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41541" y="494827"/>
            <a:ext cx="7927975" cy="410926"/>
          </a:xfrm>
        </p:spPr>
        <p:txBody>
          <a:bodyPr/>
          <a:lstStyle/>
          <a:p>
            <a:pPr lvl="0"/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800" dirty="0"/>
              <a:t>«Проверка заказов ТОРО для единицы оборудования»</a:t>
            </a: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Проверка заказов ТОРО для единицы оборудования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00488" y="3549171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Выполнен анализ данных активных Заказов ТОРО к демонтированной ЕО</a:t>
            </a: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93873" y="3633809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Единицы оборудования для монтажа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Планировщик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проверяет демонтаж единицы оборудования и проверяет наличие в системе активных (незакрытых) заказов ТОРО на демонтированную единицу оборудования. При выявлении Заказов ТОРО Планировщик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проверяет необходимость их блокировки по составу работ. В случае необходимости инициирует их блокировку переходя к шагу «160 – Закрытие плановых заказов ТОРО» </a:t>
            </a:r>
          </a:p>
        </p:txBody>
      </p:sp>
    </p:spTree>
    <p:extLst>
      <p:ext uri="{BB962C8B-B14F-4D97-AF65-F5344CB8AC3E}">
        <p14:creationId xmlns:p14="http://schemas.microsoft.com/office/powerpoint/2010/main" val="1179611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41541" y="494827"/>
            <a:ext cx="7927975" cy="410926"/>
          </a:xfrm>
        </p:spPr>
        <p:txBody>
          <a:bodyPr/>
          <a:lstStyle/>
          <a:p>
            <a:pPr lvl="0"/>
            <a:r>
              <a:rPr lang="ru-RU" sz="20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2000" dirty="0"/>
              <a:t>«Закрытие плановых заказов ТОРО»</a:t>
            </a: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Закрытие плановых заказов ТОРО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00488" y="3549171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Выполнена процедура установки статуса МТКУ для Заказа ТОРО</a:t>
            </a: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93873" y="3633809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Единицы оборудования для монтажа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Если для демонтированной единицы оборудования есть активные (не закрытые) за-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казы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ТОРО, которые необходимо блокировать, то Планировщик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выполняет процедуру блокировки заказа ТОРО путем установки статуса «МТКУ» - Метка удаления.</a:t>
            </a:r>
          </a:p>
        </p:txBody>
      </p:sp>
    </p:spTree>
    <p:extLst>
      <p:ext uri="{BB962C8B-B14F-4D97-AF65-F5344CB8AC3E}">
        <p14:creationId xmlns:p14="http://schemas.microsoft.com/office/powerpoint/2010/main" val="3937846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Обучающие видеоролики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904214"/>
              </p:ext>
            </p:extLst>
          </p:nvPr>
        </p:nvGraphicFramePr>
        <p:xfrm>
          <a:off x="195386" y="1248586"/>
          <a:ext cx="8802310" cy="47497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007128"/>
                <a:gridCol w="2305375"/>
                <a:gridCol w="2489807"/>
              </a:tblGrid>
              <a:tr h="544355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Название</a:t>
                      </a:r>
                      <a:r>
                        <a:rPr lang="ru-RU" sz="1200" baseline="0" dirty="0" smtClean="0"/>
                        <a:t> функции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Режим обучения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Режим упражнения для Инициатора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65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Анализ состояния ОФ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Поступление восстановленного узла ОФ на склад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31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Проверка документации по выполненной операции монтажа\демонтажа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31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Поступление демонтированного материала на склад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977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Проверка на наличие единицы оборудования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977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Проверка полноты данных для последующего выполнения операций монтажа / демонтажа в системе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Демонтаж и перемещение узла ОФ на склад цеха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Монтаж узла ОФ на технический объект с движением материала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5836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Проверка наличия планов предупредительного ТОРО для узла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5836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Обновление данных по установленной ЕО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7906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Проверка заказов ТОРО для единицы оборудования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7906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Закрытие плановых заказов ТОРО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60466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179881" y="386806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Ключевые транзакции</a:t>
            </a:r>
            <a:r>
              <a:rPr lang="en-US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«Регистрация технических параметров эксплуатации оборудования»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2AD28F94-C432-4660-9220-FF53A770B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315455"/>
              </p:ext>
            </p:extLst>
          </p:nvPr>
        </p:nvGraphicFramePr>
        <p:xfrm>
          <a:off x="98388" y="1010372"/>
          <a:ext cx="8628574" cy="54864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8628574">
                  <a:extLst>
                    <a:ext uri="{9D8B030D-6E8A-4147-A177-3AD203B41FA5}">
                      <a16:colId xmlns="" xmlns:a16="http://schemas.microsoft.com/office/drawing/2014/main" val="3700845562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 </a:t>
                      </a: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Анализ состояния ОФ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ZPM_OF</a:t>
                      </a:r>
                      <a:r>
                        <a:rPr kumimoji="0" lang="ru-RU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– Отчет о состоянии ОФ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81564329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2. Поступление восстановленного узла ОФ на склад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MIGO – </a:t>
                      </a:r>
                      <a:r>
                        <a:rPr kumimoji="0" lang="ru-RU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Движение материала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3. Проверка документации по выполненной операции монтажа\демонтажа</a:t>
                      </a:r>
                      <a:endParaRPr kumimoji="0" lang="en-US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IH01 – </a:t>
                      </a:r>
                      <a:r>
                        <a:rPr kumimoji="0" lang="ru-RU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Представление структуры </a:t>
                      </a:r>
                      <a:r>
                        <a:rPr kumimoji="0" lang="ru-RU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ТехМеста</a:t>
                      </a:r>
                      <a:endParaRPr kumimoji="0" lang="ru-RU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</a:tr>
              <a:tr h="3022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4. Проверка документации по выполненной операции монтажа\демонтажа</a:t>
                      </a:r>
                      <a:endParaRPr kumimoji="0" lang="en-US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IH04 – </a:t>
                      </a:r>
                      <a:r>
                        <a:rPr kumimoji="0" lang="ru-RU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Представление структуры Единицы оборудования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5. Проверка документации по выполненной операции монтажа\демонтажа</a:t>
                      </a:r>
                      <a:endParaRPr kumimoji="0" lang="en-US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IQ09 – </a:t>
                      </a:r>
                      <a:r>
                        <a:rPr kumimoji="0" lang="ru-RU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Просмотреть серийный номер материала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2789538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6. Проверка документации по выполненной операции монтажа\демонтажа</a:t>
                      </a:r>
                      <a:endParaRPr kumimoji="0" lang="en-US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MB51 – </a:t>
                      </a:r>
                      <a:r>
                        <a:rPr kumimoji="0" lang="ru-RU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Список документов материала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7. Проверка на наличие единицы оборудования</a:t>
                      </a:r>
                      <a:endParaRPr kumimoji="0" lang="en-US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IH08 – </a:t>
                      </a:r>
                      <a:r>
                        <a:rPr kumimoji="0" lang="ru-RU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Просмотреть</a:t>
                      </a:r>
                      <a:r>
                        <a:rPr kumimoji="0" 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ru-RU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список единиц оборудования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8. Демонтаж и перемещение узла ОФ на склад цеха</a:t>
                      </a:r>
                      <a:endParaRPr kumimoji="0" lang="en-US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IE4N – </a:t>
                      </a:r>
                      <a:r>
                        <a:rPr kumimoji="0" lang="ru-RU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Монтаж/Демонтаж единиц оборудования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9. Проверка наличия планов предупредительного ТОРО для узла</a:t>
                      </a:r>
                      <a:endParaRPr kumimoji="0" lang="en-US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IE03 – </a:t>
                      </a:r>
                      <a:r>
                        <a:rPr kumimoji="0" lang="ru-RU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Просмотр единицы оборудования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10. Проверка наличия планов предупредительного ТОРО для узла</a:t>
                      </a:r>
                      <a:endParaRPr kumimoji="0" lang="en-US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IP18 – </a:t>
                      </a:r>
                      <a:r>
                        <a:rPr kumimoji="0" lang="ru-RU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Просмотр позиции планов предупредительного ТОРО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11. Проверка заказов ТОРО для единицы оборудования</a:t>
                      </a:r>
                      <a:endParaRPr kumimoji="0" lang="en-US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IW39 – </a:t>
                      </a:r>
                      <a:r>
                        <a:rPr kumimoji="0" lang="ru-RU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Просмотр заказов ТОРО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12. Закрытие плановых заказов ТОРО</a:t>
                      </a:r>
                      <a:endParaRPr kumimoji="0" lang="en-US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IW38 – </a:t>
                      </a:r>
                      <a:r>
                        <a:rPr kumimoji="0" lang="ru-RU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Изменение заказов ТОРО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5308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9903329750A3B44499F5D2E787C86944" ma:contentTypeVersion="0" ma:contentTypeDescription="Создание документа." ma:contentTypeScope="" ma:versionID="bb8435fbffccf5a4c924888fb1f4e1b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76d57dbf9a77af284536b0872d26941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38B5284-4F25-453C-8235-20B9D019EA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974C5F2-EB3C-42DA-802D-F2BCA964531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8D3441-DF26-4C7E-9641-F6E293897DF1}">
  <ds:schemaRefs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108239</TotalTime>
  <Words>2689</Words>
  <Application>Microsoft Office PowerPoint</Application>
  <PresentationFormat>Экран (4:3)</PresentationFormat>
  <Paragraphs>276</Paragraphs>
  <Slides>23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Body</vt:lpstr>
      <vt:lpstr>Calibri Light</vt:lpstr>
      <vt:lpstr>Verdana</vt:lpstr>
      <vt:lpstr>Wingdings</vt:lpstr>
      <vt:lpstr>Тема Office</vt:lpstr>
      <vt:lpstr>Инструктаж по функциональному направлению «ТОиР»</vt:lpstr>
      <vt:lpstr>Внедрение пилота и стабилизация</vt:lpstr>
      <vt:lpstr>Презентация PowerPoint</vt:lpstr>
      <vt:lpstr>Презентация PowerPoint</vt:lpstr>
      <vt:lpstr>Презентация PowerPoint</vt:lpstr>
      <vt:lpstr>Внедрение пилота и стабилизация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Tis</dc:creator>
  <cp:lastModifiedBy>Пронин Никита Сергеевич (Подрядчик. ООО БерингПойнт)</cp:lastModifiedBy>
  <cp:revision>4407</cp:revision>
  <cp:lastPrinted>2018-04-09T09:22:20Z</cp:lastPrinted>
  <dcterms:created xsi:type="dcterms:W3CDTF">2015-07-14T13:53:28Z</dcterms:created>
  <dcterms:modified xsi:type="dcterms:W3CDTF">2019-10-21T06:38:29Z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0x0101009903329750A3B44499F5D2E787C86944</vt:lpwstr>
  </property>
</Properties>
</file>