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81" r:id="rId12"/>
    <p:sldId id="1682" r:id="rId13"/>
    <p:sldId id="1699" r:id="rId14"/>
    <p:sldId id="1700" r:id="rId15"/>
    <p:sldId id="1668" r:id="rId16"/>
    <p:sldId id="1690" r:id="rId17"/>
    <p:sldId id="1672" r:id="rId18"/>
    <p:sldId id="1691" r:id="rId19"/>
    <p:sldId id="1693" r:id="rId20"/>
    <p:sldId id="1694" r:id="rId21"/>
    <p:sldId id="1695" r:id="rId22"/>
    <p:sldId id="1703" r:id="rId23"/>
    <p:sldId id="1696" r:id="rId24"/>
    <p:sldId id="1697" r:id="rId25"/>
    <p:sldId id="1698" r:id="rId26"/>
    <p:sldId id="1701" r:id="rId27"/>
    <p:sldId id="1702" r:id="rId28"/>
    <p:sldId id="1674" r:id="rId29"/>
    <p:sldId id="1679" r:id="rId30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B8B8B8"/>
    <a:srgbClr val="FCC917"/>
    <a:srgbClr val="FBC90B"/>
    <a:srgbClr val="FFD966"/>
    <a:srgbClr val="FFF7E0"/>
    <a:srgbClr val="FAC90B"/>
    <a:srgbClr val="F6CC0C"/>
    <a:srgbClr val="19938A"/>
    <a:srgbClr val="C00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115" d="100"/>
          <a:sy n="115" d="100"/>
        </p:scale>
        <p:origin x="1116" y="102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26.11.2019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26.11.2019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ru-RU" sz="2800" dirty="0" smtClean="0">
                <a:solidFill>
                  <a:srgbClr val="FCC917"/>
                </a:solidFill>
              </a:rPr>
              <a:t>66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</a:t>
            </a:r>
            <a:r>
              <a:rPr lang="ru-RU" sz="2800" dirty="0">
                <a:solidFill>
                  <a:srgbClr val="FCC917"/>
                </a:solidFill>
              </a:rPr>
              <a:t>«Выполнение и фактический учет ТОРО»</a:t>
            </a: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405946"/>
            <a:ext cx="8551596" cy="45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Заказ ТОРО. Виды заказов </a:t>
            </a:r>
            <a:r>
              <a:rPr lang="ru-RU" dirty="0" smtClean="0"/>
              <a:t>ТОРО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9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Управление внеплановыми воздействиями </a:t>
            </a:r>
            <a:r>
              <a:rPr lang="ru-RU" sz="1800" dirty="0" err="1"/>
              <a:t>ТОиР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66053" y="1101092"/>
            <a:ext cx="322826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339982" y="3390845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8" name="TextBox 47"/>
          <p:cNvSpPr txBox="1"/>
          <p:nvPr/>
        </p:nvSpPr>
        <p:spPr>
          <a:xfrm>
            <a:off x="339981" y="3472693"/>
            <a:ext cx="150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Проверка наличия опасных работ и формирование запроса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1986212" y="2247261"/>
            <a:ext cx="1436913" cy="1291952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1" name="TextBox 50"/>
          <p:cNvSpPr txBox="1"/>
          <p:nvPr/>
        </p:nvSpPr>
        <p:spPr>
          <a:xfrm>
            <a:off x="1949901" y="2321342"/>
            <a:ext cx="1473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Ежесменное планирование работ, выдача заданий на мобильные устройства</a:t>
            </a:r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5369251" y="3453214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3662148" y="3260722"/>
            <a:ext cx="1444828" cy="1361429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7089411" y="3453214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TextBox 57"/>
          <p:cNvSpPr txBox="1"/>
          <p:nvPr/>
        </p:nvSpPr>
        <p:spPr>
          <a:xfrm>
            <a:off x="3733914" y="3341271"/>
            <a:ext cx="1301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Отражение времени, фактически затраченного на мероприятия </a:t>
            </a:r>
            <a:r>
              <a:rPr lang="ru-RU" sz="1200" dirty="0" err="1">
                <a:solidFill>
                  <a:schemeClr val="bg1"/>
                </a:solidFill>
              </a:rPr>
              <a:t>ТОиР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39631" y="3618271"/>
            <a:ext cx="1361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Подтверждение выполненных работ в системе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49268" y="3589045"/>
            <a:ext cx="138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Приёмка оборудования эксплуатацией</a:t>
            </a:r>
          </a:p>
        </p:txBody>
      </p:sp>
      <p:cxnSp>
        <p:nvCxnSpPr>
          <p:cNvPr id="64" name="Соединительная линия уступом 63"/>
          <p:cNvCxnSpPr>
            <a:stCxn id="29" idx="3"/>
            <a:endCxn id="54" idx="1"/>
          </p:cNvCxnSpPr>
          <p:nvPr/>
        </p:nvCxnSpPr>
        <p:spPr>
          <a:xfrm flipV="1">
            <a:off x="1842541" y="2893237"/>
            <a:ext cx="143671" cy="985831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585706" y="1101092"/>
            <a:ext cx="162876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учету трудозатрат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305867" y="1101092"/>
            <a:ext cx="160716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979309" y="1125188"/>
            <a:ext cx="1772805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 </a:t>
            </a:r>
          </a:p>
        </p:txBody>
      </p:sp>
      <p:cxnSp>
        <p:nvCxnSpPr>
          <p:cNvPr id="13" name="Соединительная линия уступом 12"/>
          <p:cNvCxnSpPr>
            <a:stCxn id="51" idx="3"/>
            <a:endCxn id="56" idx="1"/>
          </p:cNvCxnSpPr>
          <p:nvPr/>
        </p:nvCxnSpPr>
        <p:spPr>
          <a:xfrm>
            <a:off x="3423127" y="2921507"/>
            <a:ext cx="239021" cy="1019930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56" idx="3"/>
            <a:endCxn id="55" idx="1"/>
          </p:cNvCxnSpPr>
          <p:nvPr/>
        </p:nvCxnSpPr>
        <p:spPr>
          <a:xfrm>
            <a:off x="5106976" y="3941437"/>
            <a:ext cx="26227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5" idx="3"/>
            <a:endCxn id="57" idx="1"/>
          </p:cNvCxnSpPr>
          <p:nvPr/>
        </p:nvCxnSpPr>
        <p:spPr>
          <a:xfrm>
            <a:off x="6871810" y="3941437"/>
            <a:ext cx="21760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8591970" y="3941437"/>
            <a:ext cx="55203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/>
              <a:t>«Ведение сообщений </a:t>
            </a:r>
            <a:r>
              <a:rPr lang="ru-RU" sz="1800" dirty="0" smtClean="0"/>
              <a:t>ТОРО.</a:t>
            </a:r>
            <a:r>
              <a:rPr lang="ru-RU" sz="1800" dirty="0"/>
              <a:t> Консервация/</a:t>
            </a:r>
            <a:r>
              <a:rPr lang="ru-RU" sz="1800" dirty="0" err="1"/>
              <a:t>Расконсервация</a:t>
            </a:r>
            <a:r>
              <a:rPr lang="ru-RU" sz="1800" dirty="0"/>
              <a:t> ПА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91887" y="1101092"/>
            <a:ext cx="199721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МОЛ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528672" y="1101092"/>
            <a:ext cx="6060157" cy="275245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по надежности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547787" y="336790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528673" y="4005797"/>
            <a:ext cx="6060156" cy="285220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075039" y="2044746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Скругленный прямоугольник 12"/>
          <p:cNvSpPr/>
          <p:nvPr/>
        </p:nvSpPr>
        <p:spPr>
          <a:xfrm>
            <a:off x="6075039" y="4830139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640950" y="3479448"/>
            <a:ext cx="153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Подтверждение фактического количества израсходованных МТР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7010" y="2377518"/>
            <a:ext cx="153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и закрытие сообщений ТОРО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463" y="5067038"/>
            <a:ext cx="1520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Техническое закрытие мероприятий </a:t>
            </a:r>
            <a:r>
              <a:rPr lang="ru-RU" sz="1200" dirty="0" err="1">
                <a:solidFill>
                  <a:schemeClr val="bg1"/>
                </a:solidFill>
              </a:rPr>
              <a:t>ТОиР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3309656" y="2044746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8" name="TextBox 37"/>
          <p:cNvSpPr txBox="1"/>
          <p:nvPr/>
        </p:nvSpPr>
        <p:spPr>
          <a:xfrm>
            <a:off x="3403720" y="2192852"/>
            <a:ext cx="1534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Ввод причины отказа и вида дефекта в сообщение</a:t>
            </a:r>
          </a:p>
        </p:txBody>
      </p:sp>
      <p:cxnSp>
        <p:nvCxnSpPr>
          <p:cNvPr id="3" name="Прямая соединительная линия 2"/>
          <p:cNvCxnSpPr>
            <a:stCxn id="39" idx="1"/>
          </p:cNvCxnSpPr>
          <p:nvPr/>
        </p:nvCxnSpPr>
        <p:spPr>
          <a:xfrm flipH="1">
            <a:off x="16329" y="3931506"/>
            <a:ext cx="53145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3309656" y="4830139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TextBox 26"/>
          <p:cNvSpPr txBox="1"/>
          <p:nvPr/>
        </p:nvSpPr>
        <p:spPr>
          <a:xfrm>
            <a:off x="3431457" y="4978246"/>
            <a:ext cx="1520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Ввод фактических сроков и закрытие плановых сообщений</a:t>
            </a:r>
          </a:p>
        </p:txBody>
      </p:sp>
      <p:cxnSp>
        <p:nvCxnSpPr>
          <p:cNvPr id="7" name="Соединительная линия уступом 6"/>
          <p:cNvCxnSpPr>
            <a:stCxn id="39" idx="3"/>
            <a:endCxn id="31" idx="1"/>
          </p:cNvCxnSpPr>
          <p:nvPr/>
        </p:nvCxnSpPr>
        <p:spPr>
          <a:xfrm flipV="1">
            <a:off x="2270814" y="2608352"/>
            <a:ext cx="1038842" cy="1323154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Соединительная линия уступом 9"/>
          <p:cNvCxnSpPr>
            <a:stCxn id="39" idx="3"/>
            <a:endCxn id="26" idx="1"/>
          </p:cNvCxnSpPr>
          <p:nvPr/>
        </p:nvCxnSpPr>
        <p:spPr>
          <a:xfrm>
            <a:off x="2270814" y="3931506"/>
            <a:ext cx="1038842" cy="1462239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31" idx="3"/>
            <a:endCxn id="12" idx="1"/>
          </p:cNvCxnSpPr>
          <p:nvPr/>
        </p:nvCxnSpPr>
        <p:spPr>
          <a:xfrm>
            <a:off x="5032683" y="2608352"/>
            <a:ext cx="104235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26" idx="3"/>
            <a:endCxn id="13" idx="1"/>
          </p:cNvCxnSpPr>
          <p:nvPr/>
        </p:nvCxnSpPr>
        <p:spPr>
          <a:xfrm>
            <a:off x="5032683" y="5393745"/>
            <a:ext cx="104235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59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наличия опасных работ и формирование </a:t>
            </a:r>
            <a:r>
              <a:rPr lang="ru-RU" sz="1600" dirty="0" smtClean="0"/>
              <a:t>запроса»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75281" y="4962380"/>
            <a:ext cx="1829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1040" y="3392471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УТВН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38099" y="3188179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Проанализированы и проставлены все признаки «Опасные работы»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проверяет перечень операций и при необходимости устанавливает операциям заказа признак «Опасные работы», если работы опасные, но признак не был присвоен ранее. Если хотя бы в одной запланированной для выполнения операции заказа ТОРО присутствует признак «Опасные работы», то необходимо распечатать и согласовать наряд-допуск. 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«Ежесменное планирование работ, выдача заданий на мобильные устройства»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3299224" y="3276373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сообщений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Прямая со стрелкой 17"/>
          <p:cNvCxnSpPr/>
          <p:nvPr/>
        </p:nvCxnSpPr>
        <p:spPr>
          <a:xfrm>
            <a:off x="898228" y="4450529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74439" y="2974984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5795538" y="4447912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44096" y="5528215"/>
            <a:ext cx="180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0371" y="3868760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ТОРО для дальнейшего подтверждения работ</a:t>
            </a:r>
            <a:endParaRPr lang="ru-RU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5795538" y="395464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Печатная форма наряд-заданий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484" y="1028776"/>
            <a:ext cx="86509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проверяет состав операций </a:t>
            </a:r>
            <a:r>
              <a:rPr lang="ru-RU" sz="1400" dirty="0" smtClean="0"/>
              <a:t>и </a:t>
            </a:r>
            <a:r>
              <a:rPr lang="ru-RU" sz="1400" dirty="0"/>
              <a:t>наличие нарядов-допусков на опасные работы – согласованный печатный документ. </a:t>
            </a:r>
            <a:endParaRPr lang="ru-RU" sz="1400" dirty="0" smtClean="0"/>
          </a:p>
          <a:p>
            <a:r>
              <a:rPr lang="ru-RU" sz="1400" dirty="0"/>
              <a:t>В случае отсутствия замечаний выдает ежесменные задания на работы исполнителям, при этом:</a:t>
            </a:r>
          </a:p>
          <a:p>
            <a:r>
              <a:rPr lang="ru-RU" sz="1400" dirty="0" smtClean="0"/>
              <a:t>-</a:t>
            </a:r>
            <a:r>
              <a:rPr lang="ru-RU" sz="1400" dirty="0"/>
              <a:t>Д</a:t>
            </a:r>
            <a:r>
              <a:rPr lang="ru-RU" sz="1400" dirty="0" smtClean="0"/>
              <a:t>анные </a:t>
            </a:r>
            <a:r>
              <a:rPr lang="ru-RU" sz="1400" dirty="0"/>
              <a:t>в задании по работам и МТР формируются автоматически на основе данных Заказа ТОРО и не доступны для ручной </a:t>
            </a:r>
            <a:r>
              <a:rPr lang="ru-RU" sz="1400" dirty="0" smtClean="0"/>
              <a:t>корректировки;</a:t>
            </a:r>
          </a:p>
          <a:p>
            <a:r>
              <a:rPr lang="ru-RU" sz="1400" dirty="0" smtClean="0"/>
              <a:t>-</a:t>
            </a:r>
            <a:r>
              <a:rPr lang="ru-RU" sz="1400" dirty="0"/>
              <a:t>П</a:t>
            </a:r>
            <a:r>
              <a:rPr lang="ru-RU" sz="1400" dirty="0" smtClean="0"/>
              <a:t>ечатаются </a:t>
            </a:r>
            <a:r>
              <a:rPr lang="ru-RU" sz="1400" dirty="0"/>
              <a:t>все наряды-задания на </a:t>
            </a:r>
            <a:r>
              <a:rPr lang="ru-RU" sz="1400" dirty="0" smtClean="0"/>
              <a:t>день/сутки;</a:t>
            </a:r>
          </a:p>
          <a:p>
            <a:r>
              <a:rPr lang="ru-RU" sz="1400" dirty="0" smtClean="0"/>
              <a:t>-</a:t>
            </a:r>
            <a:r>
              <a:rPr lang="ru-RU" sz="1400" dirty="0"/>
              <a:t>Д</a:t>
            </a:r>
            <a:r>
              <a:rPr lang="ru-RU" sz="1400" dirty="0" smtClean="0"/>
              <a:t>олжны </a:t>
            </a:r>
            <a:r>
              <a:rPr lang="ru-RU" sz="1400" dirty="0"/>
              <a:t>быть распределены все работы/заказы на текущий </a:t>
            </a:r>
            <a:r>
              <a:rPr lang="ru-RU" sz="1400" dirty="0" smtClean="0"/>
              <a:t>день.</a:t>
            </a:r>
          </a:p>
          <a:p>
            <a:r>
              <a:rPr lang="ru-RU" sz="1400" dirty="0"/>
              <a:t>Если исполнители работ известны заранее, то 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распечатывает наряды-задания накануне начала работ.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305130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«Отражение времени, фактически затраченного на мероприятия </a:t>
            </a:r>
            <a:r>
              <a:rPr lang="ru-RU" sz="1600" dirty="0" err="1"/>
              <a:t>ТОиР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Специалист по учету трудозатрат </a:t>
            </a:r>
            <a:r>
              <a:rPr lang="ru-RU" sz="1400" dirty="0" err="1"/>
              <a:t>ТОиР</a:t>
            </a:r>
            <a:r>
              <a:rPr lang="ru-RU" sz="1400" dirty="0"/>
              <a:t> БЕ ГОК фиксирует фактически затраченное время на выполнение мероприятий </a:t>
            </a:r>
            <a:r>
              <a:rPr lang="ru-RU" sz="1400" dirty="0" err="1"/>
              <a:t>ТОиР</a:t>
            </a:r>
            <a:r>
              <a:rPr lang="ru-RU" sz="1400" dirty="0"/>
              <a:t> в соответствии с плановыми данными заказа ТОРО.</a:t>
            </a:r>
          </a:p>
          <a:p>
            <a:r>
              <a:rPr lang="ru-RU" sz="1400" dirty="0"/>
              <a:t>При вводе Подтверждений ТОРО необходимо внести причину отклонения при превышении плановой продолжительности работ. Если причина отклонения не введена, то подтверждение ТОРО не сохраняется, выдается сообщение об ошибке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После выполнения подтверждения к Заказу ТОРО автоматически присваивается системный статус ЧПДТ </a:t>
            </a:r>
            <a:r>
              <a:rPr lang="ru-RU" sz="1400" dirty="0" smtClean="0"/>
              <a:t>– «частично подтверждено» </a:t>
            </a:r>
            <a:r>
              <a:rPr lang="ru-RU" sz="1400" dirty="0"/>
              <a:t>или ПДТВ </a:t>
            </a:r>
            <a:r>
              <a:rPr lang="ru-RU" sz="1400" dirty="0" smtClean="0"/>
              <a:t>– «подтверждено» </a:t>
            </a:r>
            <a:r>
              <a:rPr lang="ru-RU" sz="1400" dirty="0"/>
              <a:t>(при подтверждении всех операций заказа), после установки которого устанавливается запрет дополнительного ввода подтверждений</a:t>
            </a: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3156566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4330722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855177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4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0789" y="3798499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mtClean="0"/>
              <a:t>Заказ который необходимо подтвердить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302193" y="5402835"/>
            <a:ext cx="2575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учету трудозатрат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38099" y="3798499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со статусом ПДТВ или ЧПДТ</a:t>
            </a:r>
            <a:endParaRPr lang="ru-RU" sz="12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5811081" y="4330722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42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«Подтверждение выполненных работ в системе»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Если планируется оформление одного акта выполненных работ на несколько заказов ТОРО, то отметка в акте выполненных работ ставится после окончания всех указанных в акте мероприятий. Заказу ТОРО присваивает статус ПРНТ – </a:t>
            </a:r>
            <a:r>
              <a:rPr lang="ru-RU" sz="1400" dirty="0" smtClean="0"/>
              <a:t>«работы приняты».</a:t>
            </a:r>
            <a:endParaRPr lang="en-US" sz="1400" dirty="0" smtClean="0"/>
          </a:p>
          <a:p>
            <a:r>
              <a:rPr lang="ru-RU" sz="1400" dirty="0"/>
              <a:t>Если работы выполнены частично, то возможно изменение заказа с уточнением работ на оперативном (месячном) или недельно-суточном горизонте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40789" y="3251450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Подтвержденные заказы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38099" y="3251450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со статусами ПРНТ</a:t>
            </a:r>
            <a:endParaRPr lang="ru-RU" sz="12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675281" y="4962380"/>
            <a:ext cx="1829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72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«Прием оборудования в эксплуатацию»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результатам приёмки оборудования </a:t>
            </a:r>
            <a:r>
              <a:rPr lang="ru-RU" sz="1400" dirty="0" smtClean="0"/>
              <a:t>эксплуатацией </a:t>
            </a:r>
            <a:r>
              <a:rPr lang="ru-RU" sz="1400" dirty="0"/>
              <a:t>проставляется статус ПРЭК на заказе ТОРО, который обеспечивает фиксацию данных по времени окончания простоя оборудования</a:t>
            </a:r>
            <a:r>
              <a:rPr lang="ru-RU" sz="1400" dirty="0" smtClean="0"/>
              <a:t>.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40789" y="334378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ПРНТ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65117" y="3343782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ПРЭК </a:t>
            </a:r>
            <a:endParaRPr lang="ru-RU" sz="12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588588" y="4962380"/>
            <a:ext cx="2002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ПТО </a:t>
            </a:r>
          </a:p>
        </p:txBody>
      </p:sp>
    </p:spTree>
    <p:extLst>
      <p:ext uri="{BB962C8B-B14F-4D97-AF65-F5344CB8AC3E}">
        <p14:creationId xmlns:p14="http://schemas.microsoft.com/office/powerpoint/2010/main" val="392327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«Изменение статуса </a:t>
            </a:r>
            <a:r>
              <a:rPr lang="ru-RU" sz="1600" dirty="0" smtClean="0"/>
              <a:t>заказа»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Для заказов, работы по которым не приняты, возможно повторное планирование работ на оперативном или недельно-суточном горизонте. Для повторного планирования заказа ТОРО 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оповещает Главного специалиста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о необходимости установить статус </a:t>
            </a:r>
            <a:r>
              <a:rPr lang="ru-RU" sz="1400" dirty="0"/>
              <a:t>ПЛАН – «Планируется</a:t>
            </a:r>
            <a:r>
              <a:rPr lang="ru-RU" sz="1400" dirty="0" smtClean="0"/>
              <a:t>», после чего в заказе снимает пользовательский статус УТВН </a:t>
            </a:r>
            <a:r>
              <a:rPr lang="ru-RU" sz="1400" dirty="0"/>
              <a:t>- Утвержден в недельном плане-графике и устанавливает </a:t>
            </a:r>
            <a:r>
              <a:rPr lang="ru-RU" sz="1400" dirty="0" smtClean="0"/>
              <a:t>статус НПРН </a:t>
            </a:r>
            <a:r>
              <a:rPr lang="ru-RU" sz="1400" dirty="0"/>
              <a:t>– «Работы не приняты» в </a:t>
            </a:r>
            <a:r>
              <a:rPr lang="ru-RU" sz="1400" dirty="0" smtClean="0"/>
              <a:t>системе.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40789" y="334378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ПЛАН УТВН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65117" y="3343782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НПРН </a:t>
            </a:r>
            <a:endParaRPr lang="ru-RU" sz="12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3675281" y="4962380"/>
            <a:ext cx="1829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75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«Подтверждение фактического количества израсходованных </a:t>
            </a:r>
            <a:r>
              <a:rPr lang="ru-RU" sz="1600" dirty="0" smtClean="0"/>
              <a:t>МТР»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основании данных наряда-задания МОЛ </a:t>
            </a:r>
            <a:r>
              <a:rPr lang="ru-RU" sz="1400" dirty="0" err="1"/>
              <a:t>ТОиР</a:t>
            </a:r>
            <a:r>
              <a:rPr lang="ru-RU" sz="1400" dirty="0"/>
              <a:t> БЕ ГОК вводит фактическое количество израсходованных </a:t>
            </a:r>
            <a:r>
              <a:rPr lang="ru-RU" sz="1400" dirty="0" smtClean="0"/>
              <a:t>МТР. Движение </a:t>
            </a:r>
            <a:r>
              <a:rPr lang="ru-RU" sz="1400" dirty="0"/>
              <a:t>материала, вид движения </a:t>
            </a:r>
            <a:r>
              <a:rPr lang="ru-RU" sz="1400" dirty="0" smtClean="0"/>
              <a:t>261 – «Отпуск </a:t>
            </a:r>
            <a:r>
              <a:rPr lang="ru-RU" sz="1400" dirty="0"/>
              <a:t>материала для </a:t>
            </a:r>
            <a:r>
              <a:rPr lang="ru-RU" sz="1400" dirty="0" smtClean="0"/>
              <a:t>заказа». </a:t>
            </a:r>
            <a:r>
              <a:rPr lang="ru-RU" sz="1400" dirty="0"/>
              <a:t>Ввод материалов осуществляется автоматически при выборе выполняемой операции «Отпуск материала», ссылочного документа «Заказ» и номера заказа, на основании которого был сформирован наряд-задание.</a:t>
            </a:r>
          </a:p>
          <a:p>
            <a:r>
              <a:rPr lang="ru-RU" sz="1400" dirty="0"/>
              <a:t>Выходным документом шага является Документ материала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0789" y="334378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для подтверждения фактического количества МТР</a:t>
            </a:r>
            <a:endParaRPr lang="ru-RU" sz="1200" dirty="0"/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65117" y="3343782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Проведен документ </a:t>
            </a:r>
            <a:r>
              <a:rPr lang="ru-RU" sz="1200" dirty="0" smtClean="0"/>
              <a:t>списания материалов</a:t>
            </a:r>
            <a:endParaRPr lang="ru-RU" sz="1200" dirty="0"/>
          </a:p>
        </p:txBody>
      </p:sp>
      <p:grpSp>
        <p:nvGrpSpPr>
          <p:cNvPr id="23" name="Группа 22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24" name="Скругленный прямоугольник 2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Движение материала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217000" y="2409149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MIGO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3902794" y="4962381"/>
            <a:ext cx="136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МОЛ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2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причины отказа и вида дефекта в сообщение 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по надежности БЕ ГОК анализирует перечень сообщений ТОРО. Если мероприятия </a:t>
            </a:r>
            <a:r>
              <a:rPr lang="ru-RU" sz="1400" dirty="0" err="1"/>
              <a:t>ТОиР</a:t>
            </a:r>
            <a:r>
              <a:rPr lang="ru-RU" sz="1400" dirty="0"/>
              <a:t> выполнялись в рамках устранения неисправности, то на основании данных наряда-задания вводит причины отказа и виды дефектов в сообщения </a:t>
            </a:r>
            <a:r>
              <a:rPr lang="ru-RU" sz="1400" dirty="0" smtClean="0"/>
              <a:t>ТОРО.</a:t>
            </a:r>
            <a:endParaRPr lang="ru-RU" sz="140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</a:t>
              </a:r>
              <a:r>
                <a:rPr lang="ru-RU" sz="1600" dirty="0" smtClean="0">
                  <a:solidFill>
                    <a:schemeClr val="bg1"/>
                  </a:solidFill>
                </a:rPr>
                <a:t>сообщений </a:t>
              </a:r>
              <a:r>
                <a:rPr lang="ru-RU" sz="1600" dirty="0">
                  <a:solidFill>
                    <a:schemeClr val="bg1"/>
                  </a:solidFill>
                </a:rPr>
                <a:t>ТОРО</a:t>
              </a: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2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0789" y="3356162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вида А2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185367" y="4952967"/>
            <a:ext cx="280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по надежности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5838099" y="3860780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2135" y="3263830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Причины отказа и виды дефектов введены</a:t>
            </a:r>
          </a:p>
        </p:txBody>
      </p:sp>
    </p:spTree>
    <p:extLst>
      <p:ext uri="{BB962C8B-B14F-4D97-AF65-F5344CB8AC3E}">
        <p14:creationId xmlns:p14="http://schemas.microsoft.com/office/powerpoint/2010/main" val="94375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фактических сроков и закрытие плановых сообщений»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формирует перечень сообщений ТОРО в </a:t>
            </a:r>
            <a:r>
              <a:rPr lang="ru-RU" sz="1400" dirty="0" smtClean="0"/>
              <a:t>системе. </a:t>
            </a:r>
            <a:r>
              <a:rPr lang="ru-RU" sz="1400" dirty="0"/>
              <a:t>Если фактические сроки выполнения мероприятий по сообщениям заполнены, то выполняет закрытие сообщений ТОРО (системный статус сообщений СОЗА - Сообщение закрыто). Фактические сроки выполнения мероприятий могут заполняться как непосредственно в сообщениях ТОРО, так и заполняться автоматически на основании данных </a:t>
            </a:r>
            <a:r>
              <a:rPr lang="en-US" sz="1400" dirty="0"/>
              <a:t>MES</a:t>
            </a:r>
            <a:r>
              <a:rPr lang="ru-RU" sz="1400" dirty="0" smtClean="0"/>
              <a:t>-системы.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</a:t>
              </a:r>
              <a:r>
                <a:rPr lang="ru-RU" sz="1600" dirty="0" smtClean="0">
                  <a:solidFill>
                    <a:schemeClr val="bg1"/>
                  </a:solidFill>
                </a:rPr>
                <a:t>сообщений </a:t>
              </a:r>
              <a:r>
                <a:rPr lang="ru-RU" sz="1600" dirty="0">
                  <a:solidFill>
                    <a:schemeClr val="bg1"/>
                  </a:solidFill>
                </a:rPr>
                <a:t>ТОРО</a:t>
              </a:r>
            </a:p>
          </p:txBody>
        </p:sp>
      </p:grpSp>
      <p:cxnSp>
        <p:nvCxnSpPr>
          <p:cNvPr id="18" name="Прямая со стрелкой 1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2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940789" y="320519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вида А1</a:t>
            </a:r>
            <a:endParaRPr lang="ru-RU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3431261" y="4962380"/>
            <a:ext cx="231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838099" y="3860780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65117" y="2928201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Сообщения ТОРО, для которых введены сроки фактического   выполнения работ закрыты. Установлен статус СОЗА </a:t>
            </a:r>
          </a:p>
        </p:txBody>
      </p:sp>
    </p:spTree>
    <p:extLst>
      <p:ext uri="{BB962C8B-B14F-4D97-AF65-F5344CB8AC3E}">
        <p14:creationId xmlns:p14="http://schemas.microsoft.com/office/powerpoint/2010/main" val="180404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и закрытие сообщений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по надежности БЕ ГОК запускает </a:t>
            </a:r>
            <a:r>
              <a:rPr lang="ru-RU" sz="1400" dirty="0" smtClean="0"/>
              <a:t>отчет. </a:t>
            </a:r>
            <a:r>
              <a:rPr lang="ru-RU" sz="1400" dirty="0"/>
              <a:t>В отчете выбирает сообщения ТОРО вида </a:t>
            </a:r>
            <a:r>
              <a:rPr lang="en-US" sz="1400" dirty="0"/>
              <a:t>A</a:t>
            </a:r>
            <a:r>
              <a:rPr lang="ru-RU" sz="1400" dirty="0"/>
              <a:t>2 – </a:t>
            </a:r>
            <a:r>
              <a:rPr lang="ru-RU" sz="1400" dirty="0" smtClean="0"/>
              <a:t>«Сообщение </a:t>
            </a:r>
            <a:r>
              <a:rPr lang="ru-RU" sz="1400" dirty="0"/>
              <a:t>о </a:t>
            </a:r>
            <a:r>
              <a:rPr lang="ru-RU" sz="1400" dirty="0" smtClean="0"/>
              <a:t>неисправности», </a:t>
            </a:r>
            <a:r>
              <a:rPr lang="ru-RU" sz="1400" dirty="0"/>
              <a:t>анализирует информацию о дефектах и их видах, причинах отказа, сроках простоя, а также корректность и закрытие запланированных мероприятий. </a:t>
            </a:r>
            <a:endParaRPr lang="ru-RU" sz="1400" dirty="0" smtClean="0"/>
          </a:p>
          <a:p>
            <a:r>
              <a:rPr lang="ru-RU" sz="1400" dirty="0"/>
              <a:t>В случае отсутствия замечаний закрывает Сообщение ТОРО (системный статус СОЗА - Сообщение закрыто). При закрытии Сообщения ТОРО автоматически отправляется соответствующее уведомление на электронную почту инициатора Сообщения ТОРО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В системе настроен автоматический запрет закрытия сообщений ТОРО в случае наличия в Сообщении незакрытого мероприятия, отсутствии указания данных по дефекту, причины останова. При попытке закрытия подобного сообщения отображается информационное окно с предупреждением о невозможности выполнения функции закрытия</a:t>
            </a:r>
            <a:r>
              <a:rPr lang="ru-RU" sz="1400" dirty="0" smtClean="0"/>
              <a:t>.</a:t>
            </a:r>
          </a:p>
          <a:p>
            <a:endParaRPr lang="ru-RU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185367" y="6048379"/>
            <a:ext cx="280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по надежности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5838099" y="4956192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2135" y="444093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со статусом СОЗА</a:t>
            </a:r>
            <a:endParaRPr lang="ru-RU" sz="12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41785" y="3796299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</a:t>
              </a:r>
              <a:r>
                <a:rPr lang="ru-RU" sz="1600" dirty="0" smtClean="0">
                  <a:solidFill>
                    <a:schemeClr val="bg1"/>
                  </a:solidFill>
                </a:rPr>
                <a:t>сообщений </a:t>
              </a:r>
              <a:r>
                <a:rPr lang="ru-RU" sz="1600" dirty="0">
                  <a:solidFill>
                    <a:schemeClr val="bg1"/>
                  </a:solidFill>
                </a:rPr>
                <a:t>ТОРО</a:t>
              </a:r>
            </a:p>
          </p:txBody>
        </p:sp>
      </p:grpSp>
      <p:cxnSp>
        <p:nvCxnSpPr>
          <p:cNvPr id="18" name="Прямая со стрелкой 17"/>
          <p:cNvCxnSpPr/>
          <p:nvPr/>
        </p:nvCxnSpPr>
        <p:spPr>
          <a:xfrm>
            <a:off x="940789" y="4970455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17000" y="3494910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2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940789" y="4441923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вида А2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0603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«Техническое закрытие мероприятий </a:t>
            </a:r>
            <a:r>
              <a:rPr lang="ru-RU" sz="1600" dirty="0" err="1"/>
              <a:t>ТОиР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выполнения всех запланированных в рамках заказа работ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при поступлении документов/уведомления о выполнении работ </a:t>
            </a:r>
            <a:r>
              <a:rPr lang="ru-RU" sz="1400" dirty="0" smtClean="0"/>
              <a:t>проверяет заказы на </a:t>
            </a:r>
            <a:r>
              <a:rPr lang="ru-RU" sz="1400" dirty="0"/>
              <a:t>корректность, полноту, соответствие </a:t>
            </a:r>
            <a:r>
              <a:rPr lang="ru-RU" sz="1400" dirty="0" smtClean="0"/>
              <a:t>выполнения, </a:t>
            </a:r>
            <a:r>
              <a:rPr lang="ru-RU" sz="1400" dirty="0"/>
              <a:t>учет в </a:t>
            </a:r>
            <a:r>
              <a:rPr lang="ru-RU" sz="1400" dirty="0" smtClean="0"/>
              <a:t>системе, </a:t>
            </a:r>
            <a:r>
              <a:rPr lang="ru-RU" sz="1400" dirty="0"/>
              <a:t>формирование требуемой </a:t>
            </a:r>
            <a:r>
              <a:rPr lang="ru-RU" sz="1400" dirty="0" smtClean="0"/>
              <a:t>отчетности, </a:t>
            </a:r>
            <a:r>
              <a:rPr lang="ru-RU" sz="1400" dirty="0"/>
              <a:t>отсутствие неучтенных/невозвращенных </a:t>
            </a:r>
            <a:r>
              <a:rPr lang="ru-RU" sz="1400" dirty="0" smtClean="0"/>
              <a:t>материалов, </a:t>
            </a:r>
            <a:r>
              <a:rPr lang="ru-RU" sz="1400" dirty="0"/>
              <a:t>отсутствие непринятых </a:t>
            </a:r>
            <a:r>
              <a:rPr lang="ru-RU" sz="1400" dirty="0" smtClean="0"/>
              <a:t>работ. </a:t>
            </a:r>
          </a:p>
          <a:p>
            <a:r>
              <a:rPr lang="ru-RU" sz="1400" dirty="0"/>
              <a:t>При отсутствии замечаний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производит техническое закрытие заказа ТОРО с установкой системного статуса ТЗКР - Технически закрыто в </a:t>
            </a:r>
            <a:r>
              <a:rPr lang="ru-RU" sz="1400" dirty="0" smtClean="0"/>
              <a:t>системе.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</a:t>
              </a:r>
              <a:r>
                <a:rPr lang="ru-RU" sz="1600" dirty="0" smtClean="0">
                  <a:solidFill>
                    <a:schemeClr val="bg1"/>
                  </a:solidFill>
                </a:rPr>
                <a:t>заказов </a:t>
              </a:r>
              <a:r>
                <a:rPr lang="ru-RU" sz="1600" dirty="0">
                  <a:solidFill>
                    <a:schemeClr val="bg1"/>
                  </a:solidFill>
                </a:rPr>
                <a:t>ТОРО</a:t>
              </a:r>
            </a:p>
          </p:txBody>
        </p:sp>
      </p:grpSp>
      <p:cxnSp>
        <p:nvCxnSpPr>
          <p:cNvPr id="18" name="Прямая со стрелкой 1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940789" y="320519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вида </a:t>
            </a:r>
            <a:r>
              <a:rPr lang="en-US" sz="1200" dirty="0" smtClean="0"/>
              <a:t>APP1</a:t>
            </a:r>
            <a:endParaRPr lang="ru-RU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3431261" y="4962380"/>
            <a:ext cx="231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838099" y="3860780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65117" y="3205198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со статусами ТЗКР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95489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791102"/>
              </p:ext>
            </p:extLst>
          </p:nvPr>
        </p:nvGraphicFramePr>
        <p:xfrm>
          <a:off x="195386" y="1248586"/>
          <a:ext cx="8802310" cy="44031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82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7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наличия опасных работ и формирование запроса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Ежесменное планирование работ, выдача заданий на мобильные устройства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Отражение времени, фактически затраченного на мероприятия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28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Подтверждение выполненных работ в системе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22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Прием оборудования в эксплуатацию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6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Изменение статуса заказа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Подтверждение фактического количества израсходованных МТР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Ввод причины отказа и вида дефекта в сообщение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и закрытие сообщений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Техническое закрытие мероприятий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28948"/>
              </p:ext>
            </p:extLst>
          </p:nvPr>
        </p:nvGraphicFramePr>
        <p:xfrm>
          <a:off x="277682" y="1745478"/>
          <a:ext cx="8628574" cy="236061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сообщений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 – Анализ и ведение сообщений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43292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Создание заказа на основе сообщения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MIGO–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Заказ ТОРО для сообщения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89538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Подтверждение по списку операций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IW48–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Подтверждение по списку операций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Анализ и ведение заказов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113435</TotalTime>
  <Words>2369</Words>
  <Application>Microsoft Office PowerPoint</Application>
  <PresentationFormat>Экран (4:3)</PresentationFormat>
  <Paragraphs>265</Paragraphs>
  <Slides>26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kononovav</cp:lastModifiedBy>
  <cp:revision>4467</cp:revision>
  <cp:lastPrinted>2018-04-09T09:22:20Z</cp:lastPrinted>
  <dcterms:created xsi:type="dcterms:W3CDTF">2015-07-14T13:53:28Z</dcterms:created>
  <dcterms:modified xsi:type="dcterms:W3CDTF">2019-11-26T02:25:37Z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