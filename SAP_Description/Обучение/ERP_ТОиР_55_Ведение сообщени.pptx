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6"/>
  </p:notesMasterIdLst>
  <p:handoutMasterIdLst>
    <p:handoutMasterId r:id="rId47"/>
  </p:handoutMasterIdLst>
  <p:sldIdLst>
    <p:sldId id="1389" r:id="rId5"/>
    <p:sldId id="1580" r:id="rId6"/>
    <p:sldId id="1581" r:id="rId7"/>
    <p:sldId id="1582" r:id="rId8"/>
    <p:sldId id="1583" r:id="rId9"/>
    <p:sldId id="1584" r:id="rId10"/>
    <p:sldId id="1665" r:id="rId11"/>
    <p:sldId id="1667" r:id="rId12"/>
    <p:sldId id="1681" r:id="rId13"/>
    <p:sldId id="1682" r:id="rId14"/>
    <p:sldId id="1668" r:id="rId15"/>
    <p:sldId id="1690" r:id="rId16"/>
    <p:sldId id="1672" r:id="rId17"/>
    <p:sldId id="1684" r:id="rId18"/>
    <p:sldId id="1685" r:id="rId19"/>
    <p:sldId id="1687" r:id="rId20"/>
    <p:sldId id="1688" r:id="rId21"/>
    <p:sldId id="1689" r:id="rId22"/>
    <p:sldId id="1691" r:id="rId23"/>
    <p:sldId id="1692" r:id="rId24"/>
    <p:sldId id="1711" r:id="rId25"/>
    <p:sldId id="1694" r:id="rId26"/>
    <p:sldId id="1700" r:id="rId27"/>
    <p:sldId id="1701" r:id="rId28"/>
    <p:sldId id="1695" r:id="rId29"/>
    <p:sldId id="1697" r:id="rId30"/>
    <p:sldId id="1698" r:id="rId31"/>
    <p:sldId id="1699" r:id="rId32"/>
    <p:sldId id="1702" r:id="rId33"/>
    <p:sldId id="1703" r:id="rId34"/>
    <p:sldId id="1704" r:id="rId35"/>
    <p:sldId id="1705" r:id="rId36"/>
    <p:sldId id="1706" r:id="rId37"/>
    <p:sldId id="1707" r:id="rId38"/>
    <p:sldId id="1708" r:id="rId39"/>
    <p:sldId id="1709" r:id="rId40"/>
    <p:sldId id="1710" r:id="rId41"/>
    <p:sldId id="1712" r:id="rId42"/>
    <p:sldId id="1674" r:id="rId43"/>
    <p:sldId id="1683" r:id="rId44"/>
    <p:sldId id="1679" r:id="rId45"/>
  </p:sldIdLst>
  <p:sldSz cx="9144000" cy="6858000" type="screen4x3"/>
  <p:notesSz cx="6735763" cy="98663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20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3" pos="5465" userDrawn="1">
          <p15:clr>
            <a:srgbClr val="A4A3A4"/>
          </p15:clr>
        </p15:guide>
        <p15:guide id="4" pos="3061" userDrawn="1">
          <p15:clr>
            <a:srgbClr val="A4A3A4"/>
          </p15:clr>
        </p15:guide>
        <p15:guide id="5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Чайка Ирина Николаевна" initials="ЧИН" lastIdx="1" clrIdx="0">
    <p:extLst>
      <p:ext uri="{19B8F6BF-5375-455C-9EA6-DF929625EA0E}">
        <p15:presenceInfo xmlns:p15="http://schemas.microsoft.com/office/powerpoint/2012/main" userId="S-1-5-21-4125628198-1674668921-3204586943-91972" providerId="AD"/>
      </p:ext>
    </p:extLst>
  </p:cmAuthor>
  <p:cmAuthor id="2" name="Nesterov, Ivan" initials="NI" lastIdx="1" clrIdx="1">
    <p:extLst>
      <p:ext uri="{19B8F6BF-5375-455C-9EA6-DF929625EA0E}">
        <p15:presenceInfo xmlns:p15="http://schemas.microsoft.com/office/powerpoint/2012/main" userId="S-1-5-21-74642-3284969411-2123768488-1208332" providerId="AD"/>
      </p:ext>
    </p:extLst>
  </p:cmAuthor>
  <p:cmAuthor id="3" name="Корнева Елена Александровна" initials="КЕА" lastIdx="2" clrIdx="2">
    <p:extLst>
      <p:ext uri="{19B8F6BF-5375-455C-9EA6-DF929625EA0E}">
        <p15:presenceInfo xmlns:p15="http://schemas.microsoft.com/office/powerpoint/2012/main" userId="S-1-5-21-4125628198-1674668921-3204586943-102375" providerId="AD"/>
      </p:ext>
    </p:extLst>
  </p:cmAuthor>
  <p:cmAuthor id="4" name="Александр" initials="А" lastIdx="1" clrIdx="3">
    <p:extLst>
      <p:ext uri="{19B8F6BF-5375-455C-9EA6-DF929625EA0E}">
        <p15:presenceInfo xmlns:p15="http://schemas.microsoft.com/office/powerpoint/2012/main" userId="Александ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C90B"/>
    <a:srgbClr val="FCC917"/>
    <a:srgbClr val="FFD966"/>
    <a:srgbClr val="FFF7E0"/>
    <a:srgbClr val="FAC90B"/>
    <a:srgbClr val="F6CC0C"/>
    <a:srgbClr val="19938A"/>
    <a:srgbClr val="C00937"/>
    <a:srgbClr val="B8B8B8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473" autoAdjust="0"/>
    <p:restoredTop sz="87093" autoAdjust="0"/>
  </p:normalViewPr>
  <p:slideViewPr>
    <p:cSldViewPr snapToGrid="0" showGuides="1">
      <p:cViewPr varScale="1">
        <p:scale>
          <a:sx n="115" d="100"/>
          <a:sy n="115" d="100"/>
        </p:scale>
        <p:origin x="1116" y="102"/>
      </p:cViewPr>
      <p:guideLst>
        <p:guide orient="horz" pos="4020"/>
        <p:guide pos="295"/>
        <p:guide pos="5465"/>
        <p:guide pos="3061"/>
        <p:guide pos="2877"/>
      </p:guideLst>
    </p:cSldViewPr>
  </p:slideViewPr>
  <p:outlineViewPr>
    <p:cViewPr>
      <p:scale>
        <a:sx n="33" d="100"/>
        <a:sy n="33" d="100"/>
      </p:scale>
      <p:origin x="0" y="-12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4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16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commentAuthors" Target="commentAuthors.xml"/><Relationship Id="rId8" Type="http://schemas.openxmlformats.org/officeDocument/2006/relationships/slide" Target="slides/slide4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8B3E6-7D14-4828-917E-251E799EB6D3}" type="datetimeFigureOut">
              <a:rPr lang="ru-RU" smtClean="0"/>
              <a:t>13.11.2019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25A57-54F6-47CC-8C31-8285844BAA9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81644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26178" units="1/cm"/>
          <inkml:channelProperty channel="Y" name="resolution" value="50.23256" units="1/cm"/>
          <inkml:channelProperty channel="T" name="resolution" value="1" units="1/dev"/>
        </inkml:channelProperties>
      </inkml:inkSource>
      <inkml:timestamp xml:id="ts0" timeString="2019-05-07T15:43:07.43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0650547-FCE6-4C9F-924D-FDAD7C07A1D4}" emma:medium="tactile" emma:mode="ink">
          <msink:context xmlns:msink="http://schemas.microsoft.com/ink/2010/main" type="writingRegion" rotatedBoundingBox="2932,9998 2947,9998 2947,10044 2932,10044"/>
        </emma:interpretation>
      </emma:emma>
    </inkml:annotationXML>
    <inkml:traceGroup>
      <inkml:annotationXML>
        <emma:emma xmlns:emma="http://www.w3.org/2003/04/emma" version="1.0">
          <emma:interpretation id="{4D413BF5-E76C-41CB-8FBE-6F59FA865CB4}" emma:medium="tactile" emma:mode="ink">
            <msink:context xmlns:msink="http://schemas.microsoft.com/ink/2010/main" type="paragraph" rotatedBoundingBox="2932,9998 2947,9998 2947,10044 2932,1004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912B46F-84C0-4E15-8744-C86480B7AB20}" emma:medium="tactile" emma:mode="ink">
              <msink:context xmlns:msink="http://schemas.microsoft.com/ink/2010/main" type="line" rotatedBoundingBox="2932,9998 2947,9998 2947,10044 2932,10044"/>
            </emma:interpretation>
          </emma:emma>
        </inkml:annotationXML>
        <inkml:traceGroup>
          <inkml:annotationXML>
            <emma:emma xmlns:emma="http://www.w3.org/2003/04/emma" version="1.0">
              <emma:interpretation id="{1F809A82-46CF-449C-9753-033BEF717237}" emma:medium="tactile" emma:mode="ink">
                <msink:context xmlns:msink="http://schemas.microsoft.com/ink/2010/main" type="inkWord" rotatedBoundingBox="2932,9998 2947,9998 2947,10044 2932,10044"/>
              </emma:interpretation>
              <emma:one-of disjunction-type="recognition" id="oneOf0">
                <emma:interpretation id="interp0" emma:lang="" emma:confidence="0">
                  <emma:literal>'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1</emma:literal>
                </emma:interpretation>
                <emma:interpretation id="interp3" emma:lang="" emma:confidence="0">
                  <emma:literal>/</emma:literal>
                </emma:interpretation>
                <emma:interpretation id="interp4" emma:lang="" emma:confidence="0">
                  <emma:literal>,</emma:literal>
                </emma:interpretation>
              </emma:one-of>
            </emma:emma>
          </inkml:annotationXML>
          <inkml:trace contextRef="#ctx0" brushRef="#br0">0 46 0,'0'-46'0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5BFBE-1AB8-064D-92FF-01DC96DD8794}" type="datetimeFigureOut">
              <a:rPr lang="ru-RU" smtClean="0"/>
              <a:t>13.11.2019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/>
              <a:t>j</a:t>
            </a:r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7C119-28D5-5342-8FDF-728EEBCB3E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819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РАСПОЛОЖЕНИЯ </a:t>
            </a:r>
            <a:r>
              <a:rPr lang="ru-RU" sz="1200" b="1" kern="1200" cap="all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ТЕХНических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Объектов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расположения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ремонту. Если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производится на самом заводе расположения технических объектов, то завод расположения технических объектов является одновременно и заводом, планирующим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расположения предполагается создать для всех управляющих офисов, производственных заводов: ГТК,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золотоизвлекательных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 и других заводов, где есть оборудование или здания и сооружения, подлежащие техническому обслуживанию и ремонту.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Производственных и месторождений вспомогательного производства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 – для зданий, сооружений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не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аффинажных заводов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портов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заводов Полюс-Проекта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3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расположения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3122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планируются потребности в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также планируется потребность в МТР и ведется учет остатков МТР. На заводе ведутся все данные, необходимые для технического обслуживания и ремонта оборудования, например, локальные технологические карты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собираются затраты на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присваивается одному логистическому заводу.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планирования ТОРО предполагается создать для всех логистических заводов для МТР 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разрезов), перевалочных баз, управляющих офисов, и других заводов, где осуществляется планирование потребности в мероприятиях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заводов планирования ТОРО осуществляется разделение полномочий между отдельными предприятиями, которые выполняют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один к одному соответствуют логистическим заводам и создаются для 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Заводов МТР (производственных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разрезов));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 пропуская аффинажные заводы XXXA. Сначала кодируются производственные заводы в последовательности: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золотоизвлекательные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фабрики, рудоуправления. После производственных кодируются остальные заводы: заводы МТР  (кроме основного), управляющие офисы и филиалы, и перевалочные базы.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планирования ТОРО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294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- это элемент организационной структуры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осуществляет планирование и организацию технического обслуживания и ремонта в рамках отдельного подразделения, службы, отдела, направления завода планирования ТОРО.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производства Группы компаний Полюс на заводах будут созданы группы планирования ТОРО в соответствии с направлениями деятельности служб и отделов, выполняющих планирование работ ТОРО, таких как: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Электрики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Метрологи/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КИПиА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ЗИС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На уровне группа планирования ТОРО выполняется разделение полномочий к объектам заказов ТОРО, к отчетности для более детального разграничения прав доступа в рамках подразделений и служб, выполняющих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Группы планирования ТОРО кодируются длиной от 1 до 3 символов: XXX.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завода планирования ТОРО будут созданы группы планирования с трехсимвольными номерами: «100», «200» и т.д. 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на каждому заводе планирования ТОРО будут кодироваться следующим образом: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628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Единицы оборудования (ЕО) – отдельные объекты, которые подлежат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качестве самостоятельных единиц. ЕО отражает данные и характеристики конкретного объекта, эксплуатируемого на предприятии, для которого является необходимым отслеживание жизненного цикла, включающего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приобретение;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ввод в эксплуатацию;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выполнение обслуживания и ремонта;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перемещение на склад/в обменный фонд;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перемещение между местами установки;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продление срока эксплуатации;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вывод из эксплуатации;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консервация;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утилизация.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3480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77161" y="586295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FCC917"/>
                </a:solidFill>
                <a:latin typeface="+mn-lt"/>
                <a:cs typeface="Calibri" panose="020F0502020204030204" pitchFamily="34" charset="0"/>
              </a:rPr>
              <a:t>Повестка</a:t>
            </a:r>
            <a:endParaRPr lang="en-US" sz="2400" dirty="0">
              <a:solidFill>
                <a:srgbClr val="FCC917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27766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2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Calibri" pitchFamily="34" charset="0"/>
                <a:cs typeface="Arial" pitchFamily="34" charset="0"/>
              </a:rPr>
              <a:pPr/>
              <a:t>‹#›</a:t>
            </a:fld>
            <a:endParaRPr lang="ru-RU" sz="1600" b="0" dirty="0"/>
          </a:p>
        </p:txBody>
      </p:sp>
    </p:spTree>
    <p:extLst>
      <p:ext uri="{BB962C8B-B14F-4D97-AF65-F5344CB8AC3E}">
        <p14:creationId xmlns:p14="http://schemas.microsoft.com/office/powerpoint/2010/main" val="281210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25664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1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13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+mn-lt"/>
                <a:cs typeface="Arial" pitchFamily="34" charset="0"/>
              </a:rPr>
              <a:pPr/>
              <a:t>‹#›</a:t>
            </a:fld>
            <a:endParaRPr lang="ru-RU" sz="16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394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Вертикальный заголовок и текст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>
          <a:xfrm>
            <a:off x="-728132" y="1066799"/>
            <a:ext cx="592666" cy="567267"/>
          </a:xfrm>
          <a:prstGeom prst="rect">
            <a:avLst/>
          </a:prstGeom>
          <a:solidFill>
            <a:srgbClr val="FBC90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-728132" y="1820332"/>
            <a:ext cx="592666" cy="567267"/>
          </a:xfrm>
          <a:prstGeom prst="rect">
            <a:avLst/>
          </a:prstGeom>
          <a:solidFill>
            <a:srgbClr val="55585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-728132" y="3005666"/>
            <a:ext cx="592666" cy="567267"/>
          </a:xfrm>
          <a:prstGeom prst="rect">
            <a:avLst/>
          </a:prstGeom>
          <a:solidFill>
            <a:srgbClr val="C0093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-728132" y="3759199"/>
            <a:ext cx="592666" cy="567267"/>
          </a:xfrm>
          <a:prstGeom prst="rect">
            <a:avLst/>
          </a:prstGeom>
          <a:solidFill>
            <a:srgbClr val="00867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-728132" y="4512732"/>
            <a:ext cx="592666" cy="567267"/>
          </a:xfrm>
          <a:prstGeom prst="rect">
            <a:avLst/>
          </a:prstGeom>
          <a:solidFill>
            <a:srgbClr val="64223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-728132" y="5266265"/>
            <a:ext cx="592666" cy="567267"/>
          </a:xfrm>
          <a:prstGeom prst="rect">
            <a:avLst/>
          </a:prstGeom>
          <a:solidFill>
            <a:srgbClr val="DB550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-677334" y="2992966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192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55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-677334" y="1820332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88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89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-677334" y="3759199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126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-677334" y="449628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100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53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-677334" y="525193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219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-677334" y="1048234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251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201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11</a:t>
            </a:r>
          </a:p>
        </p:txBody>
      </p:sp>
      <p:pic>
        <p:nvPicPr>
          <p:cNvPr id="17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7388" y="108106"/>
            <a:ext cx="1697425" cy="975453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>
          <a:xfrm>
            <a:off x="498838" y="1364019"/>
            <a:ext cx="7772400" cy="61994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algn="l" defTabSz="914400" rtl="0" eaLnBrk="1" latinLnBrk="0" hangingPunct="1">
              <a:defRPr lang="en-US" sz="3800" b="1" kern="1200" dirty="0">
                <a:solidFill>
                  <a:srgbClr val="FCC917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Название проекта </a:t>
            </a:r>
            <a:r>
              <a:rPr lang="en-US" dirty="0"/>
              <a:t>(Calibri bold 38)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8838" y="2159317"/>
            <a:ext cx="6858000" cy="520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lang="en-US" sz="2800" kern="1200" dirty="0">
                <a:solidFill>
                  <a:srgbClr val="FCC91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Тема презентации</a:t>
            </a:r>
            <a:r>
              <a:rPr lang="en-US" dirty="0"/>
              <a:t> (Calibri 28)</a:t>
            </a:r>
          </a:p>
        </p:txBody>
      </p:sp>
      <p:sp>
        <p:nvSpPr>
          <p:cNvPr id="20" name="Content Placeholder 9"/>
          <p:cNvSpPr>
            <a:spLocks noGrp="1"/>
          </p:cNvSpPr>
          <p:nvPr>
            <p:ph sz="quarter" idx="10" hasCustomPrompt="1"/>
          </p:nvPr>
        </p:nvSpPr>
        <p:spPr>
          <a:xfrm>
            <a:off x="498838" y="6003925"/>
            <a:ext cx="1143000" cy="282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 err="1"/>
              <a:t>чч.мм.гггг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213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394" y="96185"/>
            <a:ext cx="7886700" cy="441695"/>
          </a:xfrm>
        </p:spPr>
        <p:txBody>
          <a:bodyPr>
            <a:normAutofit/>
          </a:bodyPr>
          <a:lstStyle>
            <a:lvl1pPr>
              <a:defRPr sz="1800" b="1" baseline="0">
                <a:solidFill>
                  <a:schemeClr val="bg1"/>
                </a:solidFill>
                <a:latin typeface="Calibri Body"/>
              </a:defRPr>
            </a:lvl1pPr>
          </a:lstStyle>
          <a:p>
            <a:r>
              <a:rPr lang="ru-RU" dirty="0"/>
              <a:t>Наименование программы</a:t>
            </a:r>
            <a:r>
              <a:rPr lang="en-US" dirty="0"/>
              <a:t>/</a:t>
            </a:r>
            <a:r>
              <a:rPr lang="ru-RU" dirty="0"/>
              <a:t>Проекта</a:t>
            </a:r>
            <a:r>
              <a:rPr lang="en-US" dirty="0"/>
              <a:t>/</a:t>
            </a:r>
            <a:r>
              <a:rPr lang="ru-RU" dirty="0"/>
              <a:t> название презентации</a:t>
            </a:r>
            <a:endParaRPr lang="en-US" dirty="0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8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63" name="Slide Number Placeholder 62"/>
          <p:cNvSpPr>
            <a:spLocks noGrp="1"/>
          </p:cNvSpPr>
          <p:nvPr>
            <p:ph type="sldNum" sz="quarter" idx="17"/>
          </p:nvPr>
        </p:nvSpPr>
        <p:spPr>
          <a:xfrm>
            <a:off x="8562975" y="6343858"/>
            <a:ext cx="4347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08ABF02-B19E-48F4-8CD1-E615EFE72681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3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94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30526" y="1636294"/>
            <a:ext cx="7940712" cy="665299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Инструктаж по функциональному направлению </a:t>
            </a:r>
            <a:r>
              <a:rPr lang="ru-RU" sz="4000" dirty="0" smtClean="0"/>
              <a:t>«ТОиР»</a:t>
            </a:r>
            <a:endParaRPr lang="en-US" sz="4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Рукописный ввод 2"/>
              <p14:cNvContentPartPr/>
              <p14:nvPr/>
            </p14:nvContentPartPr>
            <p14:xfrm>
              <a:off x="1055553" y="3599411"/>
              <a:ext cx="360" cy="16920"/>
            </p14:xfrm>
          </p:contentPart>
        </mc:Choice>
        <mc:Fallback xmlns="">
          <p:pic>
            <p:nvPicPr>
              <p:cNvPr id="3" name="Рукописный ввод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3673" y="3587531"/>
                <a:ext cx="24120" cy="406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/>
          <p:cNvSpPr txBox="1"/>
          <p:nvPr/>
        </p:nvSpPr>
        <p:spPr>
          <a:xfrm>
            <a:off x="330527" y="2726829"/>
            <a:ext cx="8321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FCC917"/>
                </a:solidFill>
              </a:rPr>
              <a:t>55</a:t>
            </a:r>
            <a:r>
              <a:rPr lang="en-US" sz="2800" dirty="0" smtClean="0">
                <a:solidFill>
                  <a:srgbClr val="FCC917"/>
                </a:solidFill>
              </a:rPr>
              <a:t>_</a:t>
            </a:r>
            <a:r>
              <a:rPr lang="ru-RU" sz="2800" dirty="0" err="1" smtClean="0">
                <a:solidFill>
                  <a:srgbClr val="FCC917"/>
                </a:solidFill>
              </a:rPr>
              <a:t>ТОиР</a:t>
            </a:r>
            <a:r>
              <a:rPr lang="ru-RU" sz="2800" dirty="0" smtClean="0">
                <a:solidFill>
                  <a:srgbClr val="FCC917"/>
                </a:solidFill>
              </a:rPr>
              <a:t> </a:t>
            </a:r>
            <a:r>
              <a:rPr lang="ru-RU" sz="2800" dirty="0">
                <a:solidFill>
                  <a:srgbClr val="FCC917"/>
                </a:solidFill>
              </a:rPr>
              <a:t>«Ведение сообщений ТОРО»</a:t>
            </a:r>
          </a:p>
        </p:txBody>
      </p:sp>
    </p:spTree>
    <p:extLst>
      <p:ext uri="{BB962C8B-B14F-4D97-AF65-F5344CB8AC3E}">
        <p14:creationId xmlns:p14="http://schemas.microsoft.com/office/powerpoint/2010/main" val="306965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EF22C0-3D4C-46D3-9147-98A942E14074}"/>
              </a:ext>
            </a:extLst>
          </p:cNvPr>
          <p:cNvSpPr txBox="1"/>
          <p:nvPr/>
        </p:nvSpPr>
        <p:spPr>
          <a:xfrm>
            <a:off x="1015836" y="1251469"/>
            <a:ext cx="3293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Планирующий </a:t>
            </a: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(</a:t>
            </a:r>
            <a:r>
              <a:rPr lang="ru-RU" sz="1400" b="1" dirty="0" smtClean="0">
                <a:solidFill>
                  <a:prstClr val="black"/>
                </a:solidFill>
              </a:rPr>
              <a:t>МТР </a:t>
            </a:r>
            <a:r>
              <a:rPr lang="ru-RU" sz="1400" b="1" dirty="0" err="1" smtClean="0">
                <a:solidFill>
                  <a:prstClr val="black"/>
                </a:solidFill>
              </a:rPr>
              <a:t>Вернинское</a:t>
            </a:r>
            <a:r>
              <a:rPr lang="ru-RU" sz="1400" b="1" dirty="0">
                <a:solidFill>
                  <a:prstClr val="black"/>
                </a:solidFill>
              </a:rPr>
              <a:t>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F78CB0-8EFD-45BA-A2E3-EA62FA95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93" y="1027906"/>
            <a:ext cx="756443" cy="7564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3B924C-2E9B-49B1-86FF-0B5A577F2F13}"/>
              </a:ext>
            </a:extLst>
          </p:cNvPr>
          <p:cNvSpPr txBox="1"/>
          <p:nvPr/>
        </p:nvSpPr>
        <p:spPr>
          <a:xfrm>
            <a:off x="1626413" y="3390009"/>
            <a:ext cx="2071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ru-RU" sz="1400" b="1" noProof="0" dirty="0" smtClean="0">
                <a:solidFill>
                  <a:prstClr val="black"/>
                </a:solidFill>
                <a:latin typeface="Calibri" panose="020F0502020204030204"/>
              </a:rPr>
              <a:t>Группа планирования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7285" y="4173822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21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3953314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08327DC5-AA2B-464A-86E5-6C11A292CE6C}"/>
              </a:ext>
            </a:extLst>
          </p:cNvPr>
          <p:cNvCxnSpPr>
            <a:cxnSpLocks/>
            <a:stCxn id="9" idx="2"/>
            <a:endCxn id="63" idx="1"/>
          </p:cNvCxnSpPr>
          <p:nvPr/>
        </p:nvCxnSpPr>
        <p:spPr>
          <a:xfrm rot="16200000" flipH="1">
            <a:off x="-114176" y="2536139"/>
            <a:ext cx="1868954" cy="3653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3A0F56DD-CF56-4F1A-ADC7-E0069D93ECD9}"/>
              </a:ext>
            </a:extLst>
          </p:cNvPr>
          <p:cNvCxnSpPr>
            <a:cxnSpLocks/>
            <a:stCxn id="9" idx="2"/>
            <a:endCxn id="61" idx="1"/>
          </p:cNvCxnSpPr>
          <p:nvPr/>
        </p:nvCxnSpPr>
        <p:spPr>
          <a:xfrm rot="16200000" flipH="1">
            <a:off x="381042" y="2040921"/>
            <a:ext cx="1114233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EE5D4648-FA46-435D-8C88-B69916011E2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977230" y="4191663"/>
            <a:ext cx="969400" cy="418316"/>
          </a:xfrm>
          <a:prstGeom prst="bentConnector3">
            <a:avLst>
              <a:gd name="adj1" fmla="val 997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695051" y="4473842"/>
            <a:ext cx="1533758" cy="418316"/>
          </a:xfrm>
          <a:prstGeom prst="bentConnector3">
            <a:avLst>
              <a:gd name="adj1" fmla="val 100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70BCBBD2-7604-446B-9BF1-6D8F3937AD04}"/>
              </a:ext>
            </a:extLst>
          </p:cNvPr>
          <p:cNvCxnSpPr>
            <a:cxnSpLocks/>
            <a:stCxn id="63" idx="2"/>
            <a:endCxn id="21" idx="1"/>
          </p:cNvCxnSpPr>
          <p:nvPr/>
        </p:nvCxnSpPr>
        <p:spPr>
          <a:xfrm rot="16200000" flipH="1">
            <a:off x="1314569" y="3854324"/>
            <a:ext cx="352312" cy="4759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/>
              <a:t>Организационная структура </a:t>
            </a:r>
            <a:r>
              <a:rPr lang="ru-RU" sz="2000" dirty="0" smtClean="0"/>
              <a:t>ТОиР</a:t>
            </a:r>
            <a:endParaRPr lang="ru-RU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66FEB1-6A64-42C0-B7D1-C69537B39736}"/>
              </a:ext>
            </a:extLst>
          </p:cNvPr>
          <p:cNvSpPr txBox="1"/>
          <p:nvPr/>
        </p:nvSpPr>
        <p:spPr>
          <a:xfrm>
            <a:off x="2034952" y="1959708"/>
            <a:ext cx="4384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noProof="0" dirty="0" smtClean="0">
                <a:solidFill>
                  <a:prstClr val="black"/>
                </a:solidFill>
              </a:rPr>
              <a:t>Г</a:t>
            </a:r>
            <a:r>
              <a:rPr lang="ru-RU" sz="1400" b="1" dirty="0" err="1" smtClean="0">
                <a:solidFill>
                  <a:prstClr val="black"/>
                </a:solidFill>
              </a:rPr>
              <a:t>орно</a:t>
            </a:r>
            <a:r>
              <a:rPr lang="ru-RU" sz="1400" b="1" dirty="0" smtClean="0">
                <a:solidFill>
                  <a:prstClr val="black"/>
                </a:solidFill>
              </a:rPr>
              <a:t>-транспортный комплекс)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97" y="1749012"/>
            <a:ext cx="756443" cy="756443"/>
          </a:xfrm>
          <a:prstGeom prst="rect">
            <a:avLst/>
          </a:prstGeom>
        </p:spPr>
      </p:pic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0F914EFE-345F-4856-97FD-0ACEDE102A32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766716" y="1655247"/>
            <a:ext cx="342884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32">
            <a:extLst>
              <a:ext uri="{FF2B5EF4-FFF2-40B4-BE49-F238E27FC236}">
                <a16:creationId xmlns:a16="http://schemas.microsoft.com/office/drawing/2014/main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02" y="2520360"/>
            <a:ext cx="756443" cy="75644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CA66FEB1-6A64-42C0-B7D1-C69537B39736}"/>
              </a:ext>
            </a:extLst>
          </p:cNvPr>
          <p:cNvSpPr txBox="1"/>
          <p:nvPr/>
        </p:nvSpPr>
        <p:spPr>
          <a:xfrm>
            <a:off x="2035159" y="2731028"/>
            <a:ext cx="4360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dirty="0" err="1" smtClean="0">
                <a:solidFill>
                  <a:prstClr val="black"/>
                </a:solidFill>
                <a:latin typeface="Calibri" panose="020F0502020204030204"/>
              </a:rPr>
              <a:t>Золотоизвлекающая</a:t>
            </a: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 фабрика)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3" name="Picture 1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88" y="3390485"/>
            <a:ext cx="499568" cy="525636"/>
          </a:xfrm>
          <a:prstGeom prst="rect">
            <a:avLst/>
          </a:prstGeom>
        </p:spPr>
      </p:pic>
      <p:pic>
        <p:nvPicPr>
          <p:cNvPr id="64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459650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4156" y="523968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1548" y="4731632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1548" y="5361556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71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5895821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56070" y="6017691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  <p:cxnSp>
        <p:nvCxnSpPr>
          <p:cNvPr id="74" name="Connector: Elbow 28">
            <a:extLst>
              <a:ext uri="{FF2B5EF4-FFF2-40B4-BE49-F238E27FC236}">
                <a16:creationId xmlns:a16="http://schemas.microsoft.com/office/drawing/2014/main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335986" y="4832907"/>
            <a:ext cx="2298106" cy="464534"/>
          </a:xfrm>
          <a:prstGeom prst="bentConnector3">
            <a:avLst>
              <a:gd name="adj1" fmla="val 1002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57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расположения технических объектов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– </a:t>
            </a:r>
            <a:r>
              <a:rPr lang="ru-RU" dirty="0"/>
              <a:t>организационная единица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в рамках группы компания Полюс – это управляющие офисы, производственные заводы: ГТК,ЗИФ и другие, где есть оборудование или здания и сооружения, подлежащие техническому обслуживанию и ремонту.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ADD2EAE-83A2-480E-BC8C-22303421C3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404" y="1052205"/>
            <a:ext cx="1273592" cy="12735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815" y="2984031"/>
            <a:ext cx="1251887" cy="12518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48FA8B2-F4D0-4001-AC9A-B1EB426BFE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214" y="2999134"/>
            <a:ext cx="1236023" cy="1236023"/>
          </a:xfrm>
          <a:prstGeom prst="rect">
            <a:avLst/>
          </a:prstGeom>
        </p:spPr>
      </p:pic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BB67AD97-282B-438C-ACF6-60B5280B028E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rot="5400000">
            <a:off x="6148863" y="1817694"/>
            <a:ext cx="658234" cy="167444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7CEDCB67-C6D0-40A6-8D3E-5428FC0FFE10}"/>
              </a:ext>
            </a:extLst>
          </p:cNvPr>
          <p:cNvCxnSpPr>
            <a:cxnSpLocks/>
            <a:stCxn id="22" idx="0"/>
            <a:endCxn id="20" idx="2"/>
          </p:cNvCxnSpPr>
          <p:nvPr/>
        </p:nvCxnSpPr>
        <p:spPr>
          <a:xfrm rot="5400000" flipH="1" flipV="1">
            <a:off x="6650545" y="2334479"/>
            <a:ext cx="673337" cy="65597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2B9D54C-5B61-470F-82C8-3EF411A66610}"/>
              </a:ext>
            </a:extLst>
          </p:cNvPr>
          <p:cNvSpPr txBox="1"/>
          <p:nvPr/>
        </p:nvSpPr>
        <p:spPr>
          <a:xfrm>
            <a:off x="5160526" y="4184915"/>
            <a:ext cx="1014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ЗИФ-1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0C6155-1E34-4112-B75C-415D3606A7A7}"/>
              </a:ext>
            </a:extLst>
          </p:cNvPr>
          <p:cNvSpPr txBox="1"/>
          <p:nvPr/>
        </p:nvSpPr>
        <p:spPr>
          <a:xfrm>
            <a:off x="6086158" y="4195893"/>
            <a:ext cx="1136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ГТК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996" y="3180317"/>
            <a:ext cx="975250" cy="97525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56EE92B-9A10-4C22-AB81-55F21ACBE04B}"/>
              </a:ext>
            </a:extLst>
          </p:cNvPr>
          <p:cNvSpPr txBox="1"/>
          <p:nvPr/>
        </p:nvSpPr>
        <p:spPr>
          <a:xfrm>
            <a:off x="7786269" y="4168550"/>
            <a:ext cx="13067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база</a:t>
            </a:r>
          </a:p>
          <a:p>
            <a:pPr algn="ctr"/>
            <a:r>
              <a:rPr lang="ru-RU" sz="1400" dirty="0"/>
              <a:t>Лесосибирск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80EB108F-8424-4885-8B36-CC496553939A}"/>
              </a:ext>
            </a:extLst>
          </p:cNvPr>
          <p:cNvCxnSpPr>
            <a:cxnSpLocks/>
            <a:stCxn id="20" idx="2"/>
            <a:endCxn id="33" idx="0"/>
          </p:cNvCxnSpPr>
          <p:nvPr/>
        </p:nvCxnSpPr>
        <p:spPr>
          <a:xfrm rot="16200000" flipH="1">
            <a:off x="7450150" y="2190846"/>
            <a:ext cx="854520" cy="1124421"/>
          </a:xfrm>
          <a:prstGeom prst="bentConnector3">
            <a:avLst>
              <a:gd name="adj1" fmla="val 3929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190950D-07E0-4696-A65A-BD4D7519F562}"/>
              </a:ext>
            </a:extLst>
          </p:cNvPr>
          <p:cNvSpPr txBox="1"/>
          <p:nvPr/>
        </p:nvSpPr>
        <p:spPr>
          <a:xfrm>
            <a:off x="6524030" y="1005459"/>
            <a:ext cx="1136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Полюс Красноярск</a:t>
            </a:r>
          </a:p>
        </p:txBody>
      </p:sp>
    </p:spTree>
    <p:extLst>
      <p:ext uri="{BB962C8B-B14F-4D97-AF65-F5344CB8AC3E}">
        <p14:creationId xmlns:p14="http://schemas.microsoft.com/office/powerpoint/2010/main" val="392767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На заводе планирования </a:t>
            </a:r>
            <a:r>
              <a:rPr lang="ru-RU" dirty="0" err="1" smtClean="0"/>
              <a:t>ТОиР</a:t>
            </a:r>
            <a:r>
              <a:rPr lang="ru-RU" dirty="0" smtClean="0"/>
              <a:t> </a:t>
            </a:r>
            <a:r>
              <a:rPr lang="ru-RU" dirty="0"/>
              <a:t>ведутся все данные, необходимые для технического обслуживания и ремонта оборудования, например, локальные технологические </a:t>
            </a:r>
            <a:r>
              <a:rPr lang="ru-RU" dirty="0" smtClean="0"/>
              <a:t>карты (нормативы) </a:t>
            </a:r>
            <a:r>
              <a:rPr lang="ru-RU" dirty="0" err="1"/>
              <a:t>ТОиР</a:t>
            </a:r>
            <a:r>
              <a:rPr lang="ru-RU" dirty="0"/>
              <a:t>, и собираются затраты на </a:t>
            </a:r>
            <a:r>
              <a:rPr lang="ru-RU" dirty="0" err="1"/>
              <a:t>ТОиР</a:t>
            </a:r>
            <a:r>
              <a:rPr lang="ru-RU" dirty="0"/>
              <a:t>.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В рамках заводов планирования ТОРО осуществляется разделение полномочий между отдельными </a:t>
            </a:r>
            <a:r>
              <a:rPr lang="ru-RU" dirty="0" smtClean="0"/>
              <a:t>подразделениями, </a:t>
            </a:r>
            <a:r>
              <a:rPr lang="ru-RU" dirty="0"/>
              <a:t>которые выполняют планирование мероприятий </a:t>
            </a:r>
            <a:r>
              <a:rPr lang="ru-RU" dirty="0" err="1"/>
              <a:t>ТОиР</a:t>
            </a:r>
            <a:r>
              <a:rPr lang="ru-RU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18" name="Picture 22">
            <a:extLst>
              <a:ext uri="{FF2B5EF4-FFF2-40B4-BE49-F238E27FC236}">
                <a16:creationId xmlns:a16="http://schemas.microsoft.com/office/drawing/2014/main" id="{81263A25-CC50-498C-916D-D93984ECAC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1128786"/>
            <a:ext cx="955171" cy="9551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0F468BA-E985-4924-9C60-8A872E4702FE}"/>
              </a:ext>
            </a:extLst>
          </p:cNvPr>
          <p:cNvSpPr txBox="1"/>
          <p:nvPr/>
        </p:nvSpPr>
        <p:spPr>
          <a:xfrm>
            <a:off x="5706435" y="2072686"/>
            <a:ext cx="1987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МТР Производственной площадки</a:t>
            </a:r>
          </a:p>
        </p:txBody>
      </p:sp>
      <p:pic>
        <p:nvPicPr>
          <p:cNvPr id="24" name="Picture 20">
            <a:extLst>
              <a:ext uri="{FF2B5EF4-FFF2-40B4-BE49-F238E27FC236}">
                <a16:creationId xmlns:a16="http://schemas.microsoft.com/office/drawing/2014/main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468" y="2676924"/>
            <a:ext cx="1381793" cy="138179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0F468BA-E985-4924-9C60-8A872E4702FE}"/>
              </a:ext>
            </a:extLst>
          </p:cNvPr>
          <p:cNvSpPr txBox="1"/>
          <p:nvPr/>
        </p:nvSpPr>
        <p:spPr>
          <a:xfrm>
            <a:off x="5757583" y="4009004"/>
            <a:ext cx="1987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Управляющий офис</a:t>
            </a:r>
            <a:endParaRPr lang="ru-RU" sz="1400" dirty="0"/>
          </a:p>
        </p:txBody>
      </p:sp>
      <p:pic>
        <p:nvPicPr>
          <p:cNvPr id="28" name="Picture 32">
            <a:extLst>
              <a:ext uri="{FF2B5EF4-FFF2-40B4-BE49-F238E27FC236}">
                <a16:creationId xmlns:a16="http://schemas.microsoft.com/office/drawing/2014/main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4673611"/>
            <a:ext cx="975250" cy="9752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56EE92B-9A10-4C22-AB81-55F21ACBE04B}"/>
              </a:ext>
            </a:extLst>
          </p:cNvPr>
          <p:cNvSpPr txBox="1"/>
          <p:nvPr/>
        </p:nvSpPr>
        <p:spPr>
          <a:xfrm>
            <a:off x="6111382" y="5531512"/>
            <a:ext cx="1306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</a:t>
            </a:r>
            <a:r>
              <a:rPr lang="ru-RU" sz="1400" dirty="0" smtClean="0"/>
              <a:t>база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32278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Группа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Группа планирования ТОРО - это элемент организационной структуры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который осуществляет планирование и организацию технического обслуживания и ремонта в рамках отдельного подразделения, службы, </a:t>
            </a:r>
            <a:r>
              <a:rPr lang="ru-RU" dirty="0" smtClean="0"/>
              <a:t>отдела.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На уровне группа планирования ТОРО </a:t>
            </a:r>
            <a:r>
              <a:rPr lang="ru-RU" dirty="0" smtClean="0"/>
              <a:t>выполняется системное </a:t>
            </a:r>
            <a:r>
              <a:rPr lang="ru-RU" dirty="0"/>
              <a:t>разделение полномочий к объектам </a:t>
            </a:r>
            <a:r>
              <a:rPr lang="ru-RU" dirty="0" smtClean="0"/>
              <a:t>ТОРО (например заказы ТОРО)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30791" y="1541458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1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32095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96413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7662" y="2607322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25054" y="2099268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25054" y="2729192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7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3263457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19576" y="338532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72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Производственный актив</a:t>
            </a:r>
            <a:endParaRPr lang="ru-RU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1" y="1128786"/>
            <a:ext cx="834458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dirty="0" smtClean="0"/>
              <a:t>Производственные активы: </a:t>
            </a:r>
            <a:r>
              <a:rPr lang="ru-RU" dirty="0"/>
              <a:t>активы, используемые неоднократно или постоянно в течение длительного периода, необходимые для обеспечения основной и вспомогательной производственной деятельности компании. К </a:t>
            </a:r>
            <a:r>
              <a:rPr lang="ru-RU" dirty="0" smtClean="0"/>
              <a:t>производственным активам относят: основное производственное оборудование</a:t>
            </a:r>
            <a:r>
              <a:rPr lang="ru-RU" dirty="0"/>
              <a:t>, вспомогательное </a:t>
            </a:r>
            <a:r>
              <a:rPr lang="ru-RU" dirty="0" smtClean="0"/>
              <a:t>оборудование, здания и сооружения, автотранспортное оборудование, энергетическое оборудование и т.д.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В </a:t>
            </a:r>
            <a:r>
              <a:rPr lang="en-US" dirty="0" smtClean="0"/>
              <a:t>SAP S/4 HANA </a:t>
            </a:r>
            <a:r>
              <a:rPr lang="ru-RU" dirty="0" smtClean="0"/>
              <a:t>производственный актив отражён в различных представлениях:</a:t>
            </a:r>
          </a:p>
          <a:p>
            <a:r>
              <a:rPr lang="ru-RU" dirty="0"/>
              <a:t> </a:t>
            </a:r>
            <a:r>
              <a:rPr lang="ru-RU" dirty="0" smtClean="0"/>
              <a:t>    - производственном</a:t>
            </a:r>
          </a:p>
          <a:p>
            <a:r>
              <a:rPr lang="ru-RU" dirty="0"/>
              <a:t> </a:t>
            </a:r>
            <a:r>
              <a:rPr lang="ru-RU" dirty="0" smtClean="0"/>
              <a:t>    - финансовом (БУ/НУ)</a:t>
            </a:r>
          </a:p>
          <a:p>
            <a:r>
              <a:rPr lang="ru-RU" dirty="0"/>
              <a:t> </a:t>
            </a:r>
            <a:r>
              <a:rPr lang="ru-RU" dirty="0" smtClean="0"/>
              <a:t>    - организационном</a:t>
            </a:r>
          </a:p>
          <a:p>
            <a:r>
              <a:rPr lang="ru-RU" dirty="0"/>
              <a:t> </a:t>
            </a:r>
            <a:r>
              <a:rPr lang="ru-RU" dirty="0" smtClean="0"/>
              <a:t>    - </a:t>
            </a:r>
            <a:r>
              <a:rPr lang="ru-RU" dirty="0" err="1" smtClean="0"/>
              <a:t>ТОиР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Отражением в процессах </a:t>
            </a:r>
            <a:r>
              <a:rPr lang="ru-RU" dirty="0" err="1" smtClean="0"/>
              <a:t>ТОиР</a:t>
            </a:r>
            <a:r>
              <a:rPr lang="ru-RU" dirty="0" smtClean="0"/>
              <a:t> производственных активов является структура технических мест и единиц оборудования и зоны ответственности в рамках этой структуры.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674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Единицы оборудования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Пятиугольник 7"/>
          <p:cNvSpPr/>
          <p:nvPr/>
        </p:nvSpPr>
        <p:spPr>
          <a:xfrm rot="5400000">
            <a:off x="1252674" y="227336"/>
            <a:ext cx="426611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Единицы оборудования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87162" y="1819461"/>
            <a:ext cx="275763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lang="ru-RU" sz="1200" dirty="0" smtClean="0"/>
              <a:t>Объекты</a:t>
            </a:r>
            <a:r>
              <a:rPr lang="ru-RU" sz="1200" dirty="0"/>
              <a:t>, которые подлежат </a:t>
            </a:r>
            <a:r>
              <a:rPr lang="ru-RU" sz="1200" dirty="0" err="1"/>
              <a:t>ТОиР</a:t>
            </a:r>
            <a:r>
              <a:rPr lang="ru-RU" sz="1200" dirty="0"/>
              <a:t> в качестве самостоятельных единиц</a:t>
            </a:r>
            <a:r>
              <a:rPr lang="ru-RU" sz="1200" dirty="0" smtClean="0"/>
              <a:t>.</a:t>
            </a:r>
          </a:p>
          <a:p>
            <a:pPr lvl="0"/>
            <a:r>
              <a:rPr lang="ru-RU" sz="1200" dirty="0" smtClean="0"/>
              <a:t> </a:t>
            </a:r>
            <a:endParaRPr lang="ru-RU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200" dirty="0" smtClean="0"/>
              <a:t>В структуре </a:t>
            </a:r>
            <a:r>
              <a:rPr lang="ru-RU" sz="1200" dirty="0"/>
              <a:t>о</a:t>
            </a:r>
            <a:r>
              <a:rPr lang="ru-RU" sz="1200" dirty="0" smtClean="0"/>
              <a:t>пределяет </a:t>
            </a:r>
            <a:r>
              <a:rPr lang="ru-RU" sz="1200" dirty="0"/>
              <a:t>иерархическое место объекта в связи со справочником технических мест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/>
              <a:t>Описывает технические характеристики объекта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/>
              <a:t>Содержит информацию о функциональном назначении оборудования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Связаны со справочником основных средств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Связаны со структурой учета затрат</a:t>
            </a:r>
          </a:p>
          <a:p>
            <a:pPr marL="285750" lvl="0" indent="-285750"/>
            <a:endParaRPr lang="ru-RU" sz="1400" dirty="0"/>
          </a:p>
          <a:p>
            <a:pPr marL="0" lvl="1"/>
            <a:endParaRPr lang="ru-RU" sz="1400" dirty="0"/>
          </a:p>
        </p:txBody>
      </p:sp>
      <p:pic>
        <p:nvPicPr>
          <p:cNvPr id="113" name="Рисунок 1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446" y="3079915"/>
            <a:ext cx="6520105" cy="3535347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3083443" y="1054503"/>
            <a:ext cx="1671437" cy="33834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Техническое место</a:t>
            </a:r>
            <a:endParaRPr lang="ru-RU" sz="14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213668" y="1537520"/>
            <a:ext cx="1704350" cy="418052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Единица оборудования</a:t>
            </a:r>
            <a:endParaRPr lang="ru-RU" sz="12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918018" y="2658124"/>
            <a:ext cx="1620927" cy="30421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Тип конструкции</a:t>
            </a:r>
            <a:endParaRPr lang="ru-RU" sz="12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5918018" y="2077580"/>
            <a:ext cx="1620927" cy="33871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Основное средство</a:t>
            </a:r>
            <a:endParaRPr lang="ru-RU" sz="1200" dirty="0"/>
          </a:p>
        </p:txBody>
      </p:sp>
      <p:cxnSp>
        <p:nvCxnSpPr>
          <p:cNvPr id="5" name="Соединительная линия уступом 4"/>
          <p:cNvCxnSpPr>
            <a:stCxn id="2" idx="2"/>
            <a:endCxn id="10" idx="1"/>
          </p:cNvCxnSpPr>
          <p:nvPr/>
        </p:nvCxnSpPr>
        <p:spPr>
          <a:xfrm rot="16200000" flipH="1">
            <a:off x="3889567" y="1422444"/>
            <a:ext cx="353697" cy="29450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Соединительная линия уступом 6"/>
          <p:cNvCxnSpPr>
            <a:stCxn id="10" idx="2"/>
            <a:endCxn id="12" idx="1"/>
          </p:cNvCxnSpPr>
          <p:nvPr/>
        </p:nvCxnSpPr>
        <p:spPr>
          <a:xfrm rot="16200000" flipH="1">
            <a:off x="5346247" y="1675167"/>
            <a:ext cx="291367" cy="852175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Соединительная линия уступом 13"/>
          <p:cNvCxnSpPr>
            <a:endCxn id="11" idx="1"/>
          </p:cNvCxnSpPr>
          <p:nvPr/>
        </p:nvCxnSpPr>
        <p:spPr>
          <a:xfrm>
            <a:off x="5065843" y="2246938"/>
            <a:ext cx="852175" cy="563293"/>
          </a:xfrm>
          <a:prstGeom prst="bentConnector3">
            <a:avLst>
              <a:gd name="adj1" fmla="val 548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093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Точки измерений</a:t>
            </a:r>
            <a:endParaRPr lang="ru-RU" dirty="0"/>
          </a:p>
        </p:txBody>
      </p:sp>
      <p:sp>
        <p:nvSpPr>
          <p:cNvPr id="4" name="Пятиугольник 3"/>
          <p:cNvSpPr/>
          <p:nvPr/>
        </p:nvSpPr>
        <p:spPr>
          <a:xfrm rot="5400000">
            <a:off x="1281458" y="116665"/>
            <a:ext cx="554483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Точки измерений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79880" y="1772726"/>
            <a:ext cx="293751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О</a:t>
            </a:r>
            <a:r>
              <a:rPr lang="ru-RU" sz="1200" dirty="0" smtClean="0"/>
              <a:t>бъекты </a:t>
            </a:r>
            <a:r>
              <a:rPr lang="ru-RU" sz="1200" dirty="0"/>
              <a:t>в системе </a:t>
            </a:r>
            <a:r>
              <a:rPr lang="en-US" sz="1200" dirty="0"/>
              <a:t>SAP S</a:t>
            </a:r>
            <a:r>
              <a:rPr lang="ru-RU" sz="1200" dirty="0"/>
              <a:t>/4</a:t>
            </a:r>
            <a:r>
              <a:rPr lang="en-US" sz="1200" dirty="0"/>
              <a:t>HANA</a:t>
            </a:r>
            <a:r>
              <a:rPr lang="ru-RU" sz="1200" dirty="0"/>
              <a:t>, используемые для регистрации параметров, меняющихся во времени и характеризующих техническое состояние объекта ТОРО (технического места или единицы оборудования).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Измеряемый параметр может являться как </a:t>
            </a:r>
            <a:r>
              <a:rPr lang="ru-RU" sz="1200" dirty="0" smtClean="0"/>
              <a:t>количественной величиной </a:t>
            </a:r>
            <a:r>
              <a:rPr lang="ru-RU" sz="1200" dirty="0"/>
              <a:t>(наработка, температура и пр.), так и </a:t>
            </a:r>
            <a:r>
              <a:rPr lang="ru-RU" sz="1200" dirty="0" smtClean="0"/>
              <a:t>качественной </a:t>
            </a:r>
            <a:r>
              <a:rPr lang="ru-RU" sz="1200" dirty="0"/>
              <a:t>величиной (список предопределенных символьных значений, логический тип – да/нет).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dirty="0" smtClean="0"/>
              <a:t> Точка измерения присваивается конкретному объекту структуры (техническом месту или единице оборудования.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dirty="0" smtClean="0"/>
              <a:t>Точки измерения могут фиксировать показания с других точек измерения, </a:t>
            </a:r>
            <a:r>
              <a:rPr lang="ru-RU" sz="1200" dirty="0" err="1" smtClean="0"/>
              <a:t>т.о</a:t>
            </a:r>
            <a:r>
              <a:rPr lang="ru-RU" sz="1200" dirty="0" smtClean="0"/>
              <a:t>. осуществляется передача показаний в системе от вышестоящего узла к нижестоящему (например от самосвала к двигателю).</a:t>
            </a:r>
          </a:p>
          <a:p>
            <a:pPr lvl="0"/>
            <a:endParaRPr lang="ru-RU" sz="1200" dirty="0" smtClean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103" y="3532601"/>
            <a:ext cx="5946309" cy="2836394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3228700" y="1253362"/>
            <a:ext cx="1671437" cy="31312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Техническое место</a:t>
            </a:r>
            <a:endParaRPr lang="ru-RU" sz="14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4430193" y="1819967"/>
            <a:ext cx="1719116" cy="35548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Единица оборудования</a:t>
            </a:r>
            <a:endParaRPr lang="ru-RU" sz="12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5289751" y="2530938"/>
            <a:ext cx="1719116" cy="35548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Точка измерений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7327811" y="2525410"/>
            <a:ext cx="1719116" cy="35548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Документы измерений</a:t>
            </a:r>
          </a:p>
        </p:txBody>
      </p:sp>
      <p:cxnSp>
        <p:nvCxnSpPr>
          <p:cNvPr id="16" name="Соединительная линия уступом 15"/>
          <p:cNvCxnSpPr>
            <a:endCxn id="11" idx="1"/>
          </p:cNvCxnSpPr>
          <p:nvPr/>
        </p:nvCxnSpPr>
        <p:spPr>
          <a:xfrm rot="16200000" flipH="1">
            <a:off x="4039365" y="1606883"/>
            <a:ext cx="407786" cy="37387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Соединительная линия уступом 18"/>
          <p:cNvCxnSpPr/>
          <p:nvPr/>
        </p:nvCxnSpPr>
        <p:spPr>
          <a:xfrm rot="16200000" flipH="1">
            <a:off x="4786381" y="2318261"/>
            <a:ext cx="617126" cy="389614"/>
          </a:xfrm>
          <a:prstGeom prst="bentConnector3">
            <a:avLst>
              <a:gd name="adj1" fmla="val 100249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Соединительная линия уступом 27"/>
          <p:cNvCxnSpPr>
            <a:endCxn id="13" idx="1"/>
          </p:cNvCxnSpPr>
          <p:nvPr/>
        </p:nvCxnSpPr>
        <p:spPr>
          <a:xfrm flipV="1">
            <a:off x="7008867" y="2703154"/>
            <a:ext cx="318944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9523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Сообщение ТОРО</a:t>
            </a:r>
            <a:endParaRPr lang="ru-RU" sz="20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1" y="1643832"/>
            <a:ext cx="8725213" cy="324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50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Сообщение ТОРО. Виды сообщений ТОРО</a:t>
            </a:r>
            <a:endParaRPr lang="ru-RU" sz="20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1" y="1284402"/>
            <a:ext cx="8734738" cy="405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47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/>
              <a:t>«Ведение сообщений </a:t>
            </a:r>
            <a:r>
              <a:rPr lang="ru-RU" sz="1800" dirty="0" smtClean="0"/>
              <a:t>ТОРО.</a:t>
            </a:r>
            <a:r>
              <a:rPr lang="ru-RU" sz="1800" dirty="0"/>
              <a:t> Консервация/</a:t>
            </a:r>
            <a:r>
              <a:rPr lang="ru-RU" sz="1800" dirty="0" err="1"/>
              <a:t>Расконсервация</a:t>
            </a:r>
            <a:r>
              <a:rPr lang="ru-RU" sz="1800" dirty="0"/>
              <a:t> ПА</a:t>
            </a:r>
            <a:r>
              <a:rPr lang="ru-RU" sz="1800" dirty="0" smtClean="0"/>
              <a:t>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4499146" y="478424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4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887880" y="1101092"/>
            <a:ext cx="2688077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Специалист ПТО</a:t>
            </a:r>
          </a:p>
        </p:txBody>
      </p:sp>
      <p:sp>
        <p:nvSpPr>
          <p:cNvPr id="25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4266110" y="1101092"/>
            <a:ext cx="3563439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Скругленный прямоугольник 28"/>
          <p:cNvSpPr/>
          <p:nvPr/>
        </p:nvSpPr>
        <p:spPr>
          <a:xfrm>
            <a:off x="1370404" y="1809587"/>
            <a:ext cx="1723027" cy="112721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9" name="Скругленный прямоугольник 38"/>
          <p:cNvSpPr/>
          <p:nvPr/>
        </p:nvSpPr>
        <p:spPr>
          <a:xfrm>
            <a:off x="1370403" y="4680694"/>
            <a:ext cx="1723027" cy="112721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0" name="Скругленный прямоугольник 39"/>
          <p:cNvSpPr/>
          <p:nvPr/>
        </p:nvSpPr>
        <p:spPr>
          <a:xfrm>
            <a:off x="5119007" y="2857500"/>
            <a:ext cx="1903000" cy="1232807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3" name="Соединительная линия уступом 2"/>
          <p:cNvCxnSpPr>
            <a:stCxn id="29" idx="3"/>
            <a:endCxn id="40" idx="1"/>
          </p:cNvCxnSpPr>
          <p:nvPr/>
        </p:nvCxnSpPr>
        <p:spPr>
          <a:xfrm>
            <a:off x="3093431" y="2373193"/>
            <a:ext cx="2025576" cy="1100711"/>
          </a:xfrm>
          <a:prstGeom prst="bentConnector3">
            <a:avLst>
              <a:gd name="adj1" fmla="val 41348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" name="Соединительная линия уступом 5"/>
          <p:cNvCxnSpPr>
            <a:stCxn id="39" idx="3"/>
          </p:cNvCxnSpPr>
          <p:nvPr/>
        </p:nvCxnSpPr>
        <p:spPr>
          <a:xfrm flipV="1">
            <a:off x="3093430" y="3473904"/>
            <a:ext cx="835633" cy="1770396"/>
          </a:xfrm>
          <a:prstGeom prst="bentConnector2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446425" y="5013466"/>
            <a:ext cx="1567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Создание заявки на консервацию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46425" y="2142359"/>
            <a:ext cx="1567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Создание заявки на </a:t>
            </a:r>
            <a:r>
              <a:rPr lang="ru-RU" sz="1200" dirty="0" err="1">
                <a:solidFill>
                  <a:schemeClr val="bg1"/>
                </a:solidFill>
              </a:rPr>
              <a:t>расконсервацию</a:t>
            </a:r>
            <a:endParaRPr lang="ru-RU" sz="1200" dirty="0">
              <a:solidFill>
                <a:schemeClr val="bg1"/>
              </a:solidFill>
            </a:endParaRPr>
          </a:p>
        </p:txBody>
      </p:sp>
      <p:cxnSp>
        <p:nvCxnSpPr>
          <p:cNvPr id="52" name="Прямая соединительная линия 51"/>
          <p:cNvCxnSpPr>
            <a:stCxn id="40" idx="3"/>
          </p:cNvCxnSpPr>
          <p:nvPr/>
        </p:nvCxnSpPr>
        <p:spPr>
          <a:xfrm>
            <a:off x="7022007" y="3473904"/>
            <a:ext cx="2121993" cy="26501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186315" y="3071655"/>
            <a:ext cx="17230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Проверка готовности оборудования к консервации/</a:t>
            </a:r>
            <a:r>
              <a:rPr lang="ru-RU" sz="1200" dirty="0" err="1">
                <a:solidFill>
                  <a:schemeClr val="bg1"/>
                </a:solidFill>
              </a:rPr>
              <a:t>расконсервации</a:t>
            </a:r>
            <a:endParaRPr lang="ru-RU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8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/>
              <a:t>«Ведение сообщений </a:t>
            </a:r>
            <a:r>
              <a:rPr lang="ru-RU" sz="1800" dirty="0" smtClean="0"/>
              <a:t>ТОРО.</a:t>
            </a:r>
            <a:r>
              <a:rPr lang="ru-RU" sz="1800" dirty="0"/>
              <a:t> Консервация/</a:t>
            </a:r>
            <a:r>
              <a:rPr lang="ru-RU" sz="1800" dirty="0" err="1"/>
              <a:t>Расконсервация</a:t>
            </a:r>
            <a:r>
              <a:rPr lang="ru-RU" sz="1800" dirty="0"/>
              <a:t> ПА</a:t>
            </a:r>
            <a:r>
              <a:rPr lang="ru-RU" sz="1800" dirty="0" smtClean="0"/>
              <a:t>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4499146" y="478424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4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642202" y="1101092"/>
            <a:ext cx="2508463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3370385" y="1101092"/>
            <a:ext cx="2559233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Координатор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9" name="Скругленный прямоугольник 38"/>
          <p:cNvSpPr/>
          <p:nvPr/>
        </p:nvSpPr>
        <p:spPr>
          <a:xfrm>
            <a:off x="1034919" y="3415940"/>
            <a:ext cx="1723027" cy="112721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1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6149338" y="1101091"/>
            <a:ext cx="2559233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3788488" y="3415940"/>
            <a:ext cx="1723027" cy="112721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Скругленный прямоугольник 12"/>
          <p:cNvSpPr/>
          <p:nvPr/>
        </p:nvSpPr>
        <p:spPr>
          <a:xfrm>
            <a:off x="6567440" y="3415940"/>
            <a:ext cx="1723027" cy="112721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9" name="Прямая соединительная линия 8"/>
          <p:cNvCxnSpPr>
            <a:stCxn id="39" idx="1"/>
          </p:cNvCxnSpPr>
          <p:nvPr/>
        </p:nvCxnSpPr>
        <p:spPr>
          <a:xfrm flipH="1" flipV="1">
            <a:off x="0" y="3976007"/>
            <a:ext cx="1034919" cy="353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>
            <a:stCxn id="39" idx="3"/>
            <a:endCxn id="12" idx="1"/>
          </p:cNvCxnSpPr>
          <p:nvPr/>
        </p:nvCxnSpPr>
        <p:spPr>
          <a:xfrm>
            <a:off x="2757946" y="3979546"/>
            <a:ext cx="103054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12" idx="3"/>
            <a:endCxn id="13" idx="1"/>
          </p:cNvCxnSpPr>
          <p:nvPr/>
        </p:nvCxnSpPr>
        <p:spPr>
          <a:xfrm>
            <a:off x="5511515" y="3979546"/>
            <a:ext cx="105592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28082" y="3745174"/>
            <a:ext cx="1536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 smtClean="0">
                <a:solidFill>
                  <a:schemeClr val="bg1"/>
                </a:solidFill>
              </a:rPr>
              <a:t>Со</a:t>
            </a:r>
            <a:r>
              <a:rPr lang="ru-RU" sz="1200" dirty="0">
                <a:solidFill>
                  <a:schemeClr val="bg1"/>
                </a:solidFill>
              </a:rPr>
              <a:t>здание заявки на ремонт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1652" y="3560507"/>
            <a:ext cx="15348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Согласование заявки на консервацию/</a:t>
            </a:r>
            <a:r>
              <a:rPr lang="ru-RU" sz="1200" dirty="0" err="1">
                <a:solidFill>
                  <a:schemeClr val="bg1"/>
                </a:solidFill>
              </a:rPr>
              <a:t>расконсервацию</a:t>
            </a:r>
            <a:r>
              <a:rPr lang="ru-RU" sz="1200" dirty="0">
                <a:solidFill>
                  <a:schemeClr val="bg1"/>
                </a:solidFill>
              </a:rPr>
              <a:t>/ремонт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3850" y="3652839"/>
            <a:ext cx="1520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Анализ НСИ и данных БУ на предмет изменений</a:t>
            </a:r>
          </a:p>
        </p:txBody>
      </p:sp>
    </p:spTree>
    <p:extLst>
      <p:ext uri="{BB962C8B-B14F-4D97-AF65-F5344CB8AC3E}">
        <p14:creationId xmlns:p14="http://schemas.microsoft.com/office/powerpoint/2010/main" val="419059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«Создание заявки на </a:t>
            </a:r>
            <a:r>
              <a:rPr lang="ru-RU" sz="1600" dirty="0" err="1"/>
              <a:t>расконсервацию</a:t>
            </a:r>
            <a:r>
              <a:rPr lang="ru-RU" sz="1600" dirty="0"/>
              <a:t>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4484" y="1039295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На вход </a:t>
            </a:r>
            <a:r>
              <a:rPr lang="ru-RU" sz="1400" dirty="0"/>
              <a:t>в процесс поступают сформированные в смежном процессе «УП-03.03.04.01 Выбор оптимального сценария</a:t>
            </a:r>
            <a:r>
              <a:rPr lang="ru-RU" sz="1400" dirty="0" smtClean="0"/>
              <a:t>». </a:t>
            </a:r>
            <a:r>
              <a:rPr lang="ru-RU" sz="1400" dirty="0"/>
              <a:t>Данные поступают на бумажном </a:t>
            </a:r>
            <a:r>
              <a:rPr lang="ru-RU" sz="1400" dirty="0" smtClean="0"/>
              <a:t>носителе. </a:t>
            </a:r>
          </a:p>
          <a:p>
            <a:r>
              <a:rPr lang="ru-RU" sz="1400" dirty="0"/>
              <a:t>Сообщение ТОРО создаётся с видом «</a:t>
            </a:r>
            <a:r>
              <a:rPr lang="en-US" sz="1400" dirty="0"/>
              <a:t>A</a:t>
            </a:r>
            <a:r>
              <a:rPr lang="ru-RU" sz="1400" dirty="0"/>
              <a:t>5 - Заявка на </a:t>
            </a:r>
            <a:r>
              <a:rPr lang="ru-RU" sz="1400" dirty="0" err="1"/>
              <a:t>расконсервацию</a:t>
            </a:r>
            <a:r>
              <a:rPr lang="ru-RU" sz="1400" dirty="0" smtClean="0"/>
              <a:t>».</a:t>
            </a:r>
          </a:p>
          <a:p>
            <a:r>
              <a:rPr lang="ru-RU" sz="1400" dirty="0"/>
              <a:t>Сообщение </a:t>
            </a:r>
            <a:r>
              <a:rPr lang="ru-RU" sz="1400" dirty="0" smtClean="0"/>
              <a:t>ТОРО </a:t>
            </a:r>
            <a:r>
              <a:rPr lang="ru-RU" sz="1400" dirty="0"/>
              <a:t>сохраняется</a:t>
            </a:r>
            <a:r>
              <a:rPr lang="ru-RU" sz="1400" dirty="0" smtClean="0"/>
              <a:t> </a:t>
            </a:r>
            <a:r>
              <a:rPr lang="ru-RU" sz="1400" dirty="0"/>
              <a:t>с системным статусом «СООТ – сообщение открыто</a:t>
            </a:r>
            <a:r>
              <a:rPr lang="ru-RU" sz="1400" dirty="0" smtClean="0"/>
              <a:t>» и пользовательским статусом </a:t>
            </a:r>
            <a:r>
              <a:rPr lang="ru-RU" sz="1400" dirty="0"/>
              <a:t>«ЗПРТ – запрет на создание заказа</a:t>
            </a:r>
            <a:r>
              <a:rPr lang="ru-RU" sz="1400" dirty="0" smtClean="0"/>
              <a:t>».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kern="1200" dirty="0" smtClean="0">
                  <a:solidFill>
                    <a:schemeClr val="bg1"/>
                  </a:solidFill>
                </a:rPr>
                <a:t>Создание сообщения ТОРО 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IW21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940789" y="2705933"/>
            <a:ext cx="2346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П</a:t>
            </a:r>
            <a:r>
              <a:rPr lang="ru-RU" sz="1200" dirty="0" smtClean="0"/>
              <a:t>еречни </a:t>
            </a:r>
            <a:r>
              <a:rPr lang="ru-RU" sz="1200" dirty="0"/>
              <a:t>объектов, подлежащих </a:t>
            </a:r>
            <a:r>
              <a:rPr lang="ru-RU" sz="1200" dirty="0" err="1"/>
              <a:t>расконсервации</a:t>
            </a:r>
            <a:r>
              <a:rPr lang="ru-RU" sz="1200" dirty="0"/>
              <a:t> и уведомление о </a:t>
            </a:r>
            <a:r>
              <a:rPr lang="ru-RU" sz="1200" dirty="0" err="1"/>
              <a:t>расконсервации</a:t>
            </a:r>
            <a:r>
              <a:rPr lang="ru-RU" sz="1200" dirty="0"/>
              <a:t> производственного оборудования в виде бумажных документов</a:t>
            </a:r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892135" y="2974451"/>
            <a:ext cx="2346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Сообщение ожидает проверки готовности оборудования к </a:t>
            </a:r>
            <a:r>
              <a:rPr lang="ru-RU" sz="1200" dirty="0" err="1" smtClean="0"/>
              <a:t>расконсервации</a:t>
            </a:r>
            <a:endParaRPr lang="ru-RU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3584102" y="4962380"/>
            <a:ext cx="20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Специалист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ПТО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18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«Создание заявки на консервацию»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4484" y="1039295"/>
            <a:ext cx="86509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На вход в процесс поступают сформированные в смежных процессах «УП-03.03.04.01 Выбор оптимального сценария» и «ПП-07.05.03-</a:t>
            </a:r>
            <a:r>
              <a:rPr lang="en-US" sz="1400" dirty="0"/>
              <a:t>ERP </a:t>
            </a:r>
            <a:r>
              <a:rPr lang="ru-RU" sz="1400" dirty="0"/>
              <a:t>Формирование и потребление обменного фонда</a:t>
            </a:r>
            <a:r>
              <a:rPr lang="ru-RU" sz="1400" dirty="0" smtClean="0"/>
              <a:t>». </a:t>
            </a:r>
            <a:r>
              <a:rPr lang="ru-RU" sz="1400" dirty="0"/>
              <a:t>Данные поступают на бумажном </a:t>
            </a:r>
            <a:r>
              <a:rPr lang="ru-RU" sz="1400" dirty="0" smtClean="0"/>
              <a:t>носителе. </a:t>
            </a:r>
          </a:p>
          <a:p>
            <a:r>
              <a:rPr lang="ru-RU" sz="1400" dirty="0"/>
              <a:t>Сообщение ТОРО создаётся с видом «</a:t>
            </a:r>
            <a:r>
              <a:rPr lang="en-US" sz="1400" dirty="0"/>
              <a:t>A</a:t>
            </a:r>
            <a:r>
              <a:rPr lang="ru-RU" sz="1400" dirty="0"/>
              <a:t>4 - Заявка на консервацию»</a:t>
            </a:r>
            <a:r>
              <a:rPr lang="ru-RU" sz="1400" dirty="0" smtClean="0"/>
              <a:t>.</a:t>
            </a:r>
          </a:p>
          <a:p>
            <a:r>
              <a:rPr lang="ru-RU" sz="1400" dirty="0"/>
              <a:t>Сообщение </a:t>
            </a:r>
            <a:r>
              <a:rPr lang="ru-RU" sz="1400" dirty="0" smtClean="0"/>
              <a:t>ТОРО </a:t>
            </a:r>
            <a:r>
              <a:rPr lang="ru-RU" sz="1400" dirty="0"/>
              <a:t>сохраняется</a:t>
            </a:r>
            <a:r>
              <a:rPr lang="ru-RU" sz="1400" dirty="0" smtClean="0"/>
              <a:t> </a:t>
            </a:r>
            <a:r>
              <a:rPr lang="ru-RU" sz="1400" dirty="0"/>
              <a:t>с системным статусом «СООТ – сообщение открыто</a:t>
            </a:r>
            <a:r>
              <a:rPr lang="ru-RU" sz="1400" dirty="0" smtClean="0"/>
              <a:t>» и пользовательским статусом </a:t>
            </a:r>
            <a:r>
              <a:rPr lang="ru-RU" sz="1400" dirty="0"/>
              <a:t>«ЗПРТ – запрет на создание заказа</a:t>
            </a:r>
            <a:r>
              <a:rPr lang="ru-RU" sz="1400" dirty="0" smtClean="0"/>
              <a:t>».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0789" y="2967503"/>
            <a:ext cx="23367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П</a:t>
            </a:r>
            <a:r>
              <a:rPr lang="ru-RU" sz="1200" dirty="0" smtClean="0"/>
              <a:t>еречни </a:t>
            </a:r>
            <a:r>
              <a:rPr lang="ru-RU" sz="1200" dirty="0"/>
              <a:t>объектов, подлежащих консервации и уведомление о консервации производственного оборудования</a:t>
            </a:r>
          </a:p>
        </p:txBody>
      </p:sp>
      <p:grpSp>
        <p:nvGrpSpPr>
          <p:cNvPr id="9" name="Группа 8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0" name="Скругленный прямоугольник 9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kern="1200" dirty="0" smtClean="0">
                  <a:solidFill>
                    <a:schemeClr val="bg1"/>
                  </a:solidFill>
                </a:rPr>
                <a:t>Создание сообщения ТОРО 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IW21</a:t>
            </a:r>
            <a:endParaRPr lang="ru-RU" dirty="0"/>
          </a:p>
        </p:txBody>
      </p:sp>
      <p:cxnSp>
        <p:nvCxnSpPr>
          <p:cNvPr id="13" name="Прямая со стрелкой 12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92135" y="3059835"/>
            <a:ext cx="2346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Сообщение ожидает проверки готовности оборудования к консервации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102" y="4962380"/>
            <a:ext cx="20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Специалист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ПТО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818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«Проверка готовности оборудования к консервации/</a:t>
            </a:r>
            <a:r>
              <a:rPr lang="ru-RU" sz="1600" dirty="0" err="1"/>
              <a:t>расконсервации</a:t>
            </a:r>
            <a:r>
              <a:rPr lang="ru-RU" sz="1600" dirty="0"/>
              <a:t>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Анализ и ведение сообщений ТОРО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IW2</a:t>
            </a:r>
            <a:r>
              <a:rPr lang="en-US" dirty="0"/>
              <a:t>9</a:t>
            </a:r>
            <a:endParaRPr lang="ru-RU" dirty="0"/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40789" y="3257063"/>
            <a:ext cx="2336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Созданные в системе заявки на консервацию/</a:t>
            </a:r>
            <a:r>
              <a:rPr lang="ru-RU" sz="1200" dirty="0" err="1" smtClean="0"/>
              <a:t>расконсервацию</a:t>
            </a:r>
            <a:endParaRPr lang="ru-RU" sz="1200" dirty="0"/>
          </a:p>
        </p:txBody>
      </p:sp>
      <p:sp>
        <p:nvSpPr>
          <p:cNvPr id="2" name="TextBox 1"/>
          <p:cNvSpPr txBox="1"/>
          <p:nvPr/>
        </p:nvSpPr>
        <p:spPr>
          <a:xfrm>
            <a:off x="3435512" y="4962381"/>
            <a:ext cx="2308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65117" y="3257062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Сообщение передано в дальнейшую обработку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</a:t>
            </a:r>
            <a:r>
              <a:rPr lang="ru-RU" sz="1400" dirty="0" err="1" smtClean="0"/>
              <a:t>ТОиР</a:t>
            </a:r>
            <a:r>
              <a:rPr lang="ru-RU" sz="1400" dirty="0" smtClean="0"/>
              <a:t> просматривает </a:t>
            </a:r>
            <a:r>
              <a:rPr lang="ru-RU" sz="1400" dirty="0"/>
              <a:t>перечень заявок на консервацию/</a:t>
            </a:r>
            <a:r>
              <a:rPr lang="ru-RU" sz="1400" dirty="0" err="1"/>
              <a:t>расконсервацию</a:t>
            </a:r>
            <a:r>
              <a:rPr lang="ru-RU" sz="1400" dirty="0"/>
              <a:t> в </a:t>
            </a:r>
            <a:r>
              <a:rPr lang="ru-RU" sz="1400" dirty="0" smtClean="0"/>
              <a:t>системе,</a:t>
            </a:r>
            <a:r>
              <a:rPr lang="ru-RU" sz="1400" dirty="0"/>
              <a:t> анализирует состояние указанного в заявках оборудования и его готовность к консервации/</a:t>
            </a:r>
            <a:r>
              <a:rPr lang="ru-RU" sz="1400" dirty="0" err="1"/>
              <a:t>расконсервации</a:t>
            </a:r>
            <a:r>
              <a:rPr lang="ru-RU" sz="1400" dirty="0"/>
              <a:t>, на основе сообщении о дефектах на указанное </a:t>
            </a:r>
            <a:r>
              <a:rPr lang="ru-RU" sz="1400" dirty="0" smtClean="0"/>
              <a:t>оборудование.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285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«Создание заявки на ремонт»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kern="1200" dirty="0" smtClean="0">
                  <a:solidFill>
                    <a:schemeClr val="bg1"/>
                  </a:solidFill>
                </a:rPr>
                <a:t>Создание сообщения ТОРО 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7" name="Прямая со стрелкой 6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58808" y="4962381"/>
            <a:ext cx="1662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Инженер </a:t>
            </a:r>
            <a:r>
              <a:rPr lang="ru-RU" dirty="0" err="1"/>
              <a:t>ТОиР</a:t>
            </a:r>
            <a:r>
              <a:rPr lang="ru-RU" dirty="0"/>
              <a:t>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IW2</a:t>
            </a:r>
            <a:r>
              <a:rPr lang="ru-RU" dirty="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0789" y="3257063"/>
            <a:ext cx="2336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О</a:t>
            </a:r>
            <a:r>
              <a:rPr lang="ru-RU" sz="1200" dirty="0" smtClean="0"/>
              <a:t>бнаруженные </a:t>
            </a:r>
            <a:r>
              <a:rPr lang="ru-RU" sz="1200" dirty="0"/>
              <a:t>неисправности оборудования в результате осмотра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5117" y="3257062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Сообщение передано в дальнейшую обработку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Сообщение </a:t>
            </a:r>
            <a:r>
              <a:rPr lang="ru-RU" sz="1400" dirty="0" smtClean="0"/>
              <a:t>ТОРО создается видом </a:t>
            </a:r>
            <a:r>
              <a:rPr lang="ru-RU" sz="1400" dirty="0"/>
              <a:t>«</a:t>
            </a:r>
            <a:r>
              <a:rPr lang="en-US" sz="1400" dirty="0"/>
              <a:t>A</a:t>
            </a:r>
            <a:r>
              <a:rPr lang="ru-RU" sz="1400" dirty="0"/>
              <a:t>2 – Сообщение о дефекте</a:t>
            </a:r>
            <a:r>
              <a:rPr lang="ru-RU" sz="1400" dirty="0" smtClean="0"/>
              <a:t>».</a:t>
            </a:r>
          </a:p>
          <a:p>
            <a:r>
              <a:rPr lang="ru-RU" sz="1400" dirty="0"/>
              <a:t>Сообщение ТОРО сохраняется с системным статусом «СООТ – сообщение открыто» и пользовательским статусом «ЗПРТ – запрет на создание заказа</a:t>
            </a:r>
            <a:r>
              <a:rPr lang="ru-RU" sz="1400" dirty="0" smtClean="0"/>
              <a:t>».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009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«Согласование заявки на консервацию/</a:t>
            </a:r>
            <a:r>
              <a:rPr lang="ru-RU" sz="1600" dirty="0" err="1"/>
              <a:t>расконсервацию</a:t>
            </a:r>
            <a:r>
              <a:rPr lang="ru-RU" sz="1600" dirty="0"/>
              <a:t>/ремонт»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Анализ и ведение сообщений ТОРО</a:t>
              </a:r>
            </a:p>
          </p:txBody>
        </p:sp>
      </p:grpSp>
      <p:cxnSp>
        <p:nvCxnSpPr>
          <p:cNvPr id="7" name="Прямая со стрелкой 6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>
            <a:off x="5838099" y="3257063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40789" y="3257063"/>
            <a:ext cx="2336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Созданные </a:t>
            </a:r>
            <a:r>
              <a:rPr lang="ru-RU" sz="1200" dirty="0"/>
              <a:t>заявки на консервацию/</a:t>
            </a:r>
            <a:r>
              <a:rPr lang="ru-RU" sz="1200" dirty="0" err="1"/>
              <a:t>расконсервацию</a:t>
            </a:r>
            <a:r>
              <a:rPr lang="ru-RU" sz="1200" dirty="0"/>
              <a:t>/ремонт в системе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5117" y="2882118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Передача сообщения в работу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484" y="1039295"/>
            <a:ext cx="86509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Если требуется выполнение работ по заявкам на консервацию/</a:t>
            </a:r>
            <a:r>
              <a:rPr lang="ru-RU" sz="1400" dirty="0" err="1"/>
              <a:t>расконсервацию</a:t>
            </a:r>
            <a:r>
              <a:rPr lang="ru-RU" sz="1400" dirty="0"/>
              <a:t>/ремонт, то сообщения ТОРО передаются в </a:t>
            </a:r>
            <a:r>
              <a:rPr lang="ru-RU" sz="1400" dirty="0" smtClean="0"/>
              <a:t>работу: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С</a:t>
            </a:r>
            <a:r>
              <a:rPr lang="ru-RU" sz="1400" dirty="0" smtClean="0"/>
              <a:t>нимается </a:t>
            </a:r>
            <a:r>
              <a:rPr lang="ru-RU" sz="1400" dirty="0"/>
              <a:t>пользовательский статус «ЗПРТ – запрет на создание заказа</a:t>
            </a:r>
            <a:r>
              <a:rPr lang="ru-RU" sz="1400" dirty="0" smtClean="0"/>
              <a:t>»;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Сообщение ТОРО сохраняется с системным </a:t>
            </a:r>
            <a:r>
              <a:rPr lang="ru-RU" sz="1400" dirty="0" smtClean="0"/>
              <a:t>статусом </a:t>
            </a:r>
            <a:r>
              <a:rPr lang="ru-RU" sz="1400" dirty="0"/>
              <a:t>«СОРА – Сообщение в работе</a:t>
            </a:r>
            <a:r>
              <a:rPr lang="ru-RU" sz="1400" dirty="0" smtClean="0"/>
              <a:t>».</a:t>
            </a:r>
          </a:p>
          <a:p>
            <a:r>
              <a:rPr lang="ru-RU" sz="1400" dirty="0"/>
              <a:t>Если выполнение работ по заявкам не требуются, то сообщения ТОРО закрываются Координатором </a:t>
            </a:r>
            <a:r>
              <a:rPr lang="ru-RU" sz="1400" dirty="0" err="1" smtClean="0"/>
              <a:t>ТОиР</a:t>
            </a:r>
            <a:r>
              <a:rPr lang="ru-RU" sz="1400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Системный статус сообщений ТОРО изменяется на «СОЗА – Сообщение закрыто</a:t>
            </a:r>
            <a:r>
              <a:rPr lang="ru-RU" sz="1400" dirty="0" smtClean="0"/>
              <a:t>».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IW2</a:t>
            </a:r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3577314" y="4962381"/>
            <a:ext cx="2025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Координатор </a:t>
            </a:r>
            <a:r>
              <a:rPr lang="ru-RU" dirty="0" err="1"/>
              <a:t>ТОиР</a:t>
            </a:r>
            <a:r>
              <a:rPr lang="ru-RU" dirty="0"/>
              <a:t>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Прямая со стрелкой 13"/>
          <p:cNvCxnSpPr/>
          <p:nvPr/>
        </p:nvCxnSpPr>
        <p:spPr>
          <a:xfrm>
            <a:off x="5838099" y="4422923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65117" y="4027114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Закрытие сообщения</a:t>
            </a:r>
          </a:p>
        </p:txBody>
      </p:sp>
    </p:spTree>
    <p:extLst>
      <p:ext uri="{BB962C8B-B14F-4D97-AF65-F5344CB8AC3E}">
        <p14:creationId xmlns:p14="http://schemas.microsoft.com/office/powerpoint/2010/main" val="155487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«Анализ НСИ и данных БУ на предмет изменений»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Просмотр информации </a:t>
            </a:r>
            <a:r>
              <a:rPr lang="ru-RU" sz="1400" dirty="0"/>
              <a:t>по оборудованию, на которое были сформированы заявки на консервацию и </a:t>
            </a:r>
            <a:r>
              <a:rPr lang="ru-RU" sz="1400" dirty="0" err="1"/>
              <a:t>расконсервацию</a:t>
            </a:r>
            <a:r>
              <a:rPr lang="ru-RU" sz="1400" dirty="0"/>
              <a:t> за период.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cxnSp>
        <p:nvCxnSpPr>
          <p:cNvPr id="6" name="Прямая со стрелкой 5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Группа 6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8" name="Скругленный прямоугольник 7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Анализ и ведение ЕО</a:t>
              </a:r>
              <a:r>
                <a:rPr lang="ru-RU" sz="1600" kern="1200" dirty="0" smtClean="0">
                  <a:solidFill>
                    <a:schemeClr val="bg1"/>
                  </a:solidFill>
                </a:rPr>
                <a:t> 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0" name="Прямая со стрелкой 9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40789" y="3257063"/>
            <a:ext cx="2336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ЕО с заявками на </a:t>
            </a:r>
            <a:r>
              <a:rPr lang="ru-RU" sz="1200" dirty="0"/>
              <a:t>консервацию и </a:t>
            </a:r>
            <a:r>
              <a:rPr lang="ru-RU" sz="1200" dirty="0" err="1"/>
              <a:t>расконсервацию</a:t>
            </a:r>
            <a:r>
              <a:rPr lang="ru-RU" sz="1200" dirty="0" smtClean="0"/>
              <a:t> </a:t>
            </a:r>
            <a:endParaRPr lang="ru-RU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5892135" y="2778481"/>
            <a:ext cx="2346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На основе отчёта об оборудовании, связанного с заявками </a:t>
            </a:r>
            <a:r>
              <a:rPr lang="ru-RU" sz="1200" dirty="0" smtClean="0"/>
              <a:t>консервации/</a:t>
            </a:r>
            <a:r>
              <a:rPr lang="ru-RU" sz="1200" dirty="0" err="1" smtClean="0"/>
              <a:t>расконсервации</a:t>
            </a:r>
            <a:r>
              <a:rPr lang="ru-RU" sz="1200" dirty="0" smtClean="0"/>
              <a:t> формируются </a:t>
            </a:r>
            <a:r>
              <a:rPr lang="ru-RU" sz="1200" dirty="0"/>
              <a:t>заявки на изменения НСИ</a:t>
            </a:r>
            <a:endParaRPr lang="ru-RU" sz="1200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4217000" y="2409149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IH08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3435512" y="4962381"/>
            <a:ext cx="2308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346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/>
              <a:t>«Ведение сообщений </a:t>
            </a:r>
            <a:r>
              <a:rPr lang="ru-RU" sz="1800" dirty="0" smtClean="0"/>
              <a:t>ТОРО.</a:t>
            </a:r>
            <a:r>
              <a:rPr lang="ru-RU" sz="1800" dirty="0"/>
              <a:t> Вывод производственных активов из эксплуатации (списание ОС и утилизация)</a:t>
            </a:r>
            <a:r>
              <a:rPr lang="ru-RU" sz="1800" dirty="0" smtClean="0"/>
              <a:t>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4499146" y="478424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4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887880" y="1101092"/>
            <a:ext cx="3035649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5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4776107" y="1101092"/>
            <a:ext cx="3053442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Скругленный прямоугольник 38"/>
          <p:cNvSpPr/>
          <p:nvPr/>
        </p:nvSpPr>
        <p:spPr>
          <a:xfrm>
            <a:off x="1544190" y="2963096"/>
            <a:ext cx="1723027" cy="112721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0" name="Скругленный прямоугольник 39"/>
          <p:cNvSpPr/>
          <p:nvPr/>
        </p:nvSpPr>
        <p:spPr>
          <a:xfrm>
            <a:off x="5441314" y="2963096"/>
            <a:ext cx="1723027" cy="112721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" name="TextBox 1"/>
          <p:cNvSpPr txBox="1"/>
          <p:nvPr/>
        </p:nvSpPr>
        <p:spPr>
          <a:xfrm>
            <a:off x="1621932" y="3243070"/>
            <a:ext cx="1567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Создание заявки на демонтаж ПА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10891" y="3150736"/>
            <a:ext cx="1583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Анализ НСИ, данных БУ на предмет изменений</a:t>
            </a:r>
          </a:p>
        </p:txBody>
      </p:sp>
      <p:cxnSp>
        <p:nvCxnSpPr>
          <p:cNvPr id="9" name="Прямая соединительная линия 8"/>
          <p:cNvCxnSpPr>
            <a:stCxn id="39" idx="3"/>
            <a:endCxn id="40" idx="1"/>
          </p:cNvCxnSpPr>
          <p:nvPr/>
        </p:nvCxnSpPr>
        <p:spPr>
          <a:xfrm>
            <a:off x="3267217" y="3526702"/>
            <a:ext cx="2174097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571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шага </a:t>
            </a:r>
            <a:r>
              <a:rPr lang="ru-RU" sz="1600" dirty="0"/>
              <a:t>«Создание заявки на демонтаж ПА»</a:t>
            </a:r>
            <a:endParaRPr lang="ru-RU" sz="1600" dirty="0" smtClean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Сообщение ТОРО создаётся с видом «</a:t>
            </a:r>
            <a:r>
              <a:rPr lang="en-US" sz="1400" dirty="0"/>
              <a:t>A</a:t>
            </a:r>
            <a:r>
              <a:rPr lang="ru-RU" sz="1400" dirty="0"/>
              <a:t>7 – Заявка на демонтаж</a:t>
            </a:r>
            <a:r>
              <a:rPr lang="ru-RU" sz="1400" dirty="0" smtClean="0"/>
              <a:t>».</a:t>
            </a:r>
            <a:endParaRPr lang="ru-RU" sz="1400" dirty="0"/>
          </a:p>
          <a:p>
            <a:r>
              <a:rPr lang="ru-RU" sz="1400" dirty="0"/>
              <a:t>Сообщение ТОРО сохраняется с системным статусом «СОРА – сообщение в работе»</a:t>
            </a:r>
            <a:r>
              <a:rPr lang="ru-RU" sz="1400" dirty="0" smtClean="0"/>
              <a:t>.</a:t>
            </a:r>
          </a:p>
          <a:p>
            <a:r>
              <a:rPr lang="ru-RU" sz="1400" dirty="0"/>
              <a:t>Снимается пользовательский статус «ЗПРТ – запрет на создание заказа</a:t>
            </a:r>
            <a:r>
              <a:rPr lang="ru-RU" sz="1400" dirty="0" smtClean="0"/>
              <a:t>».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grpSp>
        <p:nvGrpSpPr>
          <p:cNvPr id="5" name="Группа 4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6" name="Скругленный прямоугольник 5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kern="1200" dirty="0" smtClean="0">
                  <a:solidFill>
                    <a:schemeClr val="bg1"/>
                  </a:solidFill>
                </a:rPr>
                <a:t>Создание сообщения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8" name="Прямая со стрелкой 7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40789" y="3443375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Приказ </a:t>
            </a:r>
            <a:r>
              <a:rPr lang="ru-RU" sz="1200" dirty="0"/>
              <a:t>на списание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5117" y="3212542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П</a:t>
            </a:r>
            <a:r>
              <a:rPr lang="ru-RU" sz="1200" dirty="0" smtClean="0"/>
              <a:t>ередача в смежный процесс </a:t>
            </a:r>
            <a:r>
              <a:rPr lang="ru-RU" sz="1200" dirty="0"/>
              <a:t>для дальнейшего анализа</a:t>
            </a:r>
            <a:endParaRPr lang="ru-RU" sz="1200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3758808" y="4962381"/>
            <a:ext cx="1662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Инженер </a:t>
            </a:r>
            <a:r>
              <a:rPr lang="ru-RU" dirty="0" err="1"/>
              <a:t>ТОиР</a:t>
            </a:r>
            <a:r>
              <a:rPr lang="ru-RU" dirty="0"/>
              <a:t>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IW2</a:t>
            </a:r>
            <a:r>
              <a:rPr lang="ru-R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1538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«Анализ НСИ и данных БУ на предмет изменений»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Просмотр информации </a:t>
            </a:r>
            <a:r>
              <a:rPr lang="ru-RU" sz="1400" dirty="0"/>
              <a:t>по оборудованию, на которое были сформированы заявки на </a:t>
            </a:r>
            <a:r>
              <a:rPr lang="ru-RU" sz="1400" dirty="0" smtClean="0"/>
              <a:t>монтаж/демонтаж </a:t>
            </a:r>
            <a:r>
              <a:rPr lang="ru-RU" sz="1400" dirty="0"/>
              <a:t>за период.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cxnSp>
        <p:nvCxnSpPr>
          <p:cNvPr id="6" name="Прямая со стрелкой 5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Группа 6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8" name="Скругленный прямоугольник 7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Анализ и ведение ЕО</a:t>
              </a:r>
              <a:r>
                <a:rPr lang="ru-RU" sz="1600" kern="1200" dirty="0" smtClean="0">
                  <a:solidFill>
                    <a:schemeClr val="bg1"/>
                  </a:solidFill>
                </a:rPr>
                <a:t> 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0" name="Прямая со стрелкой 9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40789" y="3257063"/>
            <a:ext cx="2336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ЕО с заявками на монтаж и демонтаж</a:t>
            </a:r>
            <a:endParaRPr lang="ru-RU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5892135" y="2778481"/>
            <a:ext cx="2346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На основе отчёта об оборудовании, связанного с заявками </a:t>
            </a:r>
            <a:r>
              <a:rPr lang="ru-RU" sz="1200" dirty="0" smtClean="0"/>
              <a:t>монтаж/демонтаж формируются </a:t>
            </a:r>
            <a:r>
              <a:rPr lang="ru-RU" sz="1200" dirty="0"/>
              <a:t>заявки на изменения НСИ</a:t>
            </a:r>
            <a:endParaRPr lang="ru-RU" sz="1200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4217000" y="2409149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IH08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3435512" y="4962381"/>
            <a:ext cx="2308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417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/>
              <a:t>«Ведение сообщений </a:t>
            </a:r>
            <a:r>
              <a:rPr lang="ru-RU" sz="1800" dirty="0" smtClean="0"/>
              <a:t>ТОРО</a:t>
            </a:r>
            <a:r>
              <a:rPr lang="ru-RU" sz="1800" dirty="0"/>
              <a:t> </a:t>
            </a:r>
            <a:r>
              <a:rPr lang="ru-RU" sz="1800" dirty="0" smtClean="0"/>
              <a:t>по внеплановым воздействиям</a:t>
            </a:r>
            <a:r>
              <a:rPr lang="ru-RU" sz="1800" dirty="0" smtClean="0"/>
              <a:t>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4499146" y="478424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4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626623" y="1101092"/>
            <a:ext cx="2573777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Инициатор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3515615" y="1121901"/>
            <a:ext cx="2477707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Обходчик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Оператор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9" name="Скругленный прямоугольник 38"/>
          <p:cNvSpPr/>
          <p:nvPr/>
        </p:nvSpPr>
        <p:spPr>
          <a:xfrm>
            <a:off x="1051997" y="2012355"/>
            <a:ext cx="1723027" cy="112721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0" name="Скругленный прямоугольник 39"/>
          <p:cNvSpPr/>
          <p:nvPr/>
        </p:nvSpPr>
        <p:spPr>
          <a:xfrm>
            <a:off x="1020383" y="3601231"/>
            <a:ext cx="1723027" cy="112721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" name="TextBox 1"/>
          <p:cNvSpPr txBox="1"/>
          <p:nvPr/>
        </p:nvSpPr>
        <p:spPr>
          <a:xfrm>
            <a:off x="1129739" y="2345127"/>
            <a:ext cx="1567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Создание заявки на внеплановые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960" y="3934003"/>
            <a:ext cx="1583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Регистрация дефекта или останова</a:t>
            </a: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3872824" y="2806792"/>
            <a:ext cx="1723027" cy="112721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4" name="TextBox 13"/>
          <p:cNvSpPr txBox="1"/>
          <p:nvPr/>
        </p:nvSpPr>
        <p:spPr>
          <a:xfrm>
            <a:off x="3962532" y="3139566"/>
            <a:ext cx="1583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Регистрация дефекта или останова</a:t>
            </a:r>
          </a:p>
        </p:txBody>
      </p:sp>
      <p:sp>
        <p:nvSpPr>
          <p:cNvPr id="15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6268281" y="1101092"/>
            <a:ext cx="2477707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Специалист по диагностике </a:t>
            </a:r>
          </a:p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Специалист ПТО</a:t>
            </a:r>
          </a:p>
        </p:txBody>
      </p:sp>
      <p:sp>
        <p:nvSpPr>
          <p:cNvPr id="35" name="Скругленный прямоугольник 34"/>
          <p:cNvSpPr/>
          <p:nvPr/>
        </p:nvSpPr>
        <p:spPr>
          <a:xfrm>
            <a:off x="6645620" y="4395668"/>
            <a:ext cx="1723027" cy="112721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3" name="TextBox 32"/>
          <p:cNvSpPr txBox="1"/>
          <p:nvPr/>
        </p:nvSpPr>
        <p:spPr>
          <a:xfrm>
            <a:off x="6727716" y="4636107"/>
            <a:ext cx="1558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Создание сообщения с низким приоритетом</a:t>
            </a:r>
          </a:p>
        </p:txBody>
      </p:sp>
      <p:cxnSp>
        <p:nvCxnSpPr>
          <p:cNvPr id="36" name="Соединительная линия уступом 35"/>
          <p:cNvCxnSpPr>
            <a:stCxn id="39" idx="3"/>
          </p:cNvCxnSpPr>
          <p:nvPr/>
        </p:nvCxnSpPr>
        <p:spPr>
          <a:xfrm>
            <a:off x="2775024" y="2575961"/>
            <a:ext cx="6368976" cy="1168725"/>
          </a:xfrm>
          <a:prstGeom prst="bentConnector3">
            <a:avLst>
              <a:gd name="adj1" fmla="val 96018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12" idx="3"/>
          </p:cNvCxnSpPr>
          <p:nvPr/>
        </p:nvCxnSpPr>
        <p:spPr>
          <a:xfrm flipV="1">
            <a:off x="5595851" y="3370397"/>
            <a:ext cx="3295600" cy="1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3" name="Соединительная линия уступом 42"/>
          <p:cNvCxnSpPr>
            <a:stCxn id="40" idx="3"/>
          </p:cNvCxnSpPr>
          <p:nvPr/>
        </p:nvCxnSpPr>
        <p:spPr>
          <a:xfrm flipV="1">
            <a:off x="2743410" y="3744686"/>
            <a:ext cx="6148041" cy="420151"/>
          </a:xfrm>
          <a:prstGeom prst="bentConnector3">
            <a:avLst>
              <a:gd name="adj1" fmla="val 99963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2" name="Соединительная линия уступом 51"/>
          <p:cNvCxnSpPr>
            <a:endCxn id="35" idx="3"/>
          </p:cNvCxnSpPr>
          <p:nvPr/>
        </p:nvCxnSpPr>
        <p:spPr>
          <a:xfrm rot="5400000">
            <a:off x="8232830" y="4300652"/>
            <a:ext cx="794439" cy="522804"/>
          </a:xfrm>
          <a:prstGeom prst="bentConnector2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035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процесса </a:t>
            </a:r>
            <a:r>
              <a:rPr lang="ru-RU" sz="1800" dirty="0"/>
              <a:t>«Ведение сообщений ТОРО по внеплановым воздействиям»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4499146" y="478424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4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626623" y="1101092"/>
            <a:ext cx="5370317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Координатор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Скругленный прямоугольник 38"/>
          <p:cNvSpPr/>
          <p:nvPr/>
        </p:nvSpPr>
        <p:spPr>
          <a:xfrm>
            <a:off x="941288" y="2028120"/>
            <a:ext cx="1944444" cy="1353660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Скругленный прямоугольник 11"/>
          <p:cNvSpPr/>
          <p:nvPr/>
        </p:nvSpPr>
        <p:spPr>
          <a:xfrm>
            <a:off x="3547635" y="3381780"/>
            <a:ext cx="1944444" cy="1353660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5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6268281" y="1101092"/>
            <a:ext cx="2477707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Инициатор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6534912" y="4735440"/>
            <a:ext cx="1944444" cy="1353660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1050107" y="2104785"/>
            <a:ext cx="17268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Рассмотрение и корректировка сообщения ответственным за эксплуатацию оборудования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2127" y="3658277"/>
            <a:ext cx="1775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Возврат сообщения на доработку или закрытие</a:t>
            </a:r>
          </a:p>
        </p:txBody>
      </p:sp>
      <p:cxnSp>
        <p:nvCxnSpPr>
          <p:cNvPr id="17" name="Соединительная линия уступом 16"/>
          <p:cNvCxnSpPr>
            <a:stCxn id="39" idx="3"/>
            <a:endCxn id="12" idx="1"/>
          </p:cNvCxnSpPr>
          <p:nvPr/>
        </p:nvCxnSpPr>
        <p:spPr>
          <a:xfrm>
            <a:off x="2885732" y="2704950"/>
            <a:ext cx="661903" cy="1353660"/>
          </a:xfrm>
          <a:prstGeom prst="bentConnector3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" name="Соединительная линия уступом 19"/>
          <p:cNvCxnSpPr>
            <a:stCxn id="12" idx="3"/>
            <a:endCxn id="16" idx="1"/>
          </p:cNvCxnSpPr>
          <p:nvPr/>
        </p:nvCxnSpPr>
        <p:spPr>
          <a:xfrm>
            <a:off x="5492079" y="4058610"/>
            <a:ext cx="1042833" cy="1353660"/>
          </a:xfrm>
          <a:prstGeom prst="bentConnector3">
            <a:avLst>
              <a:gd name="adj1" fmla="val 6023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39" idx="1"/>
          </p:cNvCxnSpPr>
          <p:nvPr/>
        </p:nvCxnSpPr>
        <p:spPr>
          <a:xfrm flipH="1" flipV="1">
            <a:off x="0" y="2704949"/>
            <a:ext cx="941288" cy="1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Соединительная линия уступом 28"/>
          <p:cNvCxnSpPr>
            <a:stCxn id="16" idx="2"/>
            <a:endCxn id="39" idx="1"/>
          </p:cNvCxnSpPr>
          <p:nvPr/>
        </p:nvCxnSpPr>
        <p:spPr>
          <a:xfrm rot="5400000" flipH="1">
            <a:off x="2532136" y="1114102"/>
            <a:ext cx="3384150" cy="6565846"/>
          </a:xfrm>
          <a:prstGeom prst="bentConnector4">
            <a:avLst>
              <a:gd name="adj1" fmla="val -6755"/>
              <a:gd name="adj2" fmla="val 107428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707034" y="5181437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Доработка сообщения</a:t>
            </a:r>
          </a:p>
        </p:txBody>
      </p:sp>
      <p:cxnSp>
        <p:nvCxnSpPr>
          <p:cNvPr id="37" name="Прямая соединительная линия 36"/>
          <p:cNvCxnSpPr>
            <a:stCxn id="39" idx="3"/>
          </p:cNvCxnSpPr>
          <p:nvPr/>
        </p:nvCxnSpPr>
        <p:spPr>
          <a:xfrm flipV="1">
            <a:off x="2885732" y="2704949"/>
            <a:ext cx="6258268" cy="1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12" idx="3"/>
          </p:cNvCxnSpPr>
          <p:nvPr/>
        </p:nvCxnSpPr>
        <p:spPr>
          <a:xfrm>
            <a:off x="5492079" y="4058610"/>
            <a:ext cx="3651921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6960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процесса </a:t>
            </a:r>
            <a:r>
              <a:rPr lang="ru-RU" sz="1800" dirty="0"/>
              <a:t>«Ведение сообщений ТОРО по внеплановым воздействиям»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4499146" y="478424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4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138255" y="1101092"/>
            <a:ext cx="1953753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Инициатор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2237242" y="1101092"/>
            <a:ext cx="1971044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Инженер по надежности</a:t>
            </a:r>
          </a:p>
        </p:txBody>
      </p:sp>
      <p:sp>
        <p:nvSpPr>
          <p:cNvPr id="39" name="Скругленный прямоугольник 38"/>
          <p:cNvSpPr/>
          <p:nvPr/>
        </p:nvSpPr>
        <p:spPr>
          <a:xfrm>
            <a:off x="2361249" y="4952546"/>
            <a:ext cx="1723027" cy="112721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0" name="Скругленный прямоугольник 39"/>
          <p:cNvSpPr/>
          <p:nvPr/>
        </p:nvSpPr>
        <p:spPr>
          <a:xfrm>
            <a:off x="223749" y="3825335"/>
            <a:ext cx="1723027" cy="112721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Скругленный прямоугольник 11"/>
          <p:cNvSpPr/>
          <p:nvPr/>
        </p:nvSpPr>
        <p:spPr>
          <a:xfrm>
            <a:off x="4498750" y="1563952"/>
            <a:ext cx="1723027" cy="112721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5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4353520" y="1101092"/>
            <a:ext cx="1972406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Координатор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Скругленный прямоугольник 34"/>
          <p:cNvSpPr/>
          <p:nvPr/>
        </p:nvSpPr>
        <p:spPr>
          <a:xfrm>
            <a:off x="2361250" y="2698124"/>
            <a:ext cx="1723027" cy="112721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368982" y="4065773"/>
            <a:ext cx="143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Предварительное закрытие сообщения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0306" y="5285318"/>
            <a:ext cx="1613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Закрытие сообщения ТОРО</a:t>
            </a:r>
          </a:p>
        </p:txBody>
      </p:sp>
      <p:cxnSp>
        <p:nvCxnSpPr>
          <p:cNvPr id="10" name="Соединительная линия уступом 9"/>
          <p:cNvCxnSpPr>
            <a:stCxn id="40" idx="3"/>
            <a:endCxn id="39" idx="1"/>
          </p:cNvCxnSpPr>
          <p:nvPr/>
        </p:nvCxnSpPr>
        <p:spPr>
          <a:xfrm>
            <a:off x="1946776" y="4388941"/>
            <a:ext cx="414473" cy="112721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415532" y="3023937"/>
            <a:ext cx="1614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Передача сообщения в работу</a:t>
            </a:r>
          </a:p>
        </p:txBody>
      </p:sp>
      <p:cxnSp>
        <p:nvCxnSpPr>
          <p:cNvPr id="17" name="Соединительная линия уступом 16"/>
          <p:cNvCxnSpPr>
            <a:stCxn id="40" idx="3"/>
            <a:endCxn id="35" idx="1"/>
          </p:cNvCxnSpPr>
          <p:nvPr/>
        </p:nvCxnSpPr>
        <p:spPr>
          <a:xfrm flipV="1">
            <a:off x="1946776" y="3261730"/>
            <a:ext cx="414474" cy="112721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1593" y="1804391"/>
            <a:ext cx="1577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Подтверждение сообщения и передача в работу</a:t>
            </a:r>
          </a:p>
        </p:txBody>
      </p:sp>
      <p:cxnSp>
        <p:nvCxnSpPr>
          <p:cNvPr id="37" name="Прямая соединительная линия 36"/>
          <p:cNvCxnSpPr>
            <a:stCxn id="40" idx="1"/>
          </p:cNvCxnSpPr>
          <p:nvPr/>
        </p:nvCxnSpPr>
        <p:spPr>
          <a:xfrm flipH="1" flipV="1">
            <a:off x="0" y="4388938"/>
            <a:ext cx="223749" cy="3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12" idx="1"/>
          </p:cNvCxnSpPr>
          <p:nvPr/>
        </p:nvCxnSpPr>
        <p:spPr>
          <a:xfrm flipH="1">
            <a:off x="0" y="2127558"/>
            <a:ext cx="449875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9" name="Скругленный прямоугольник 311">
            <a:extLst>
              <a:ext uri="{FF2B5EF4-FFF2-40B4-BE49-F238E27FC236}">
                <a16:creationId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6471156" y="1101092"/>
            <a:ext cx="1972406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Специалист по диагностике </a:t>
            </a:r>
          </a:p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Специалист ПТО</a:t>
            </a:r>
          </a:p>
        </p:txBody>
      </p:sp>
      <p:sp>
        <p:nvSpPr>
          <p:cNvPr id="50" name="Скругленный прямоугольник 49"/>
          <p:cNvSpPr/>
          <p:nvPr/>
        </p:nvSpPr>
        <p:spPr>
          <a:xfrm>
            <a:off x="6595845" y="3415940"/>
            <a:ext cx="1723027" cy="112721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8" name="TextBox 47"/>
          <p:cNvSpPr txBox="1"/>
          <p:nvPr/>
        </p:nvSpPr>
        <p:spPr>
          <a:xfrm>
            <a:off x="6709334" y="3557941"/>
            <a:ext cx="1496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Создание сообщения с высоким приоритетом</a:t>
            </a:r>
          </a:p>
        </p:txBody>
      </p:sp>
    </p:spTree>
    <p:extLst>
      <p:ext uri="{BB962C8B-B14F-4D97-AF65-F5344CB8AC3E}">
        <p14:creationId xmlns:p14="http://schemas.microsoft.com/office/powerpoint/2010/main" val="3373563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«Создание заявки на внеплановые </a:t>
            </a:r>
            <a:r>
              <a:rPr lang="ru-RU" sz="1600" dirty="0" smtClean="0"/>
              <a:t>работы</a:t>
            </a:r>
            <a:r>
              <a:rPr lang="en-US" sz="1600" dirty="0" smtClean="0"/>
              <a:t>, </a:t>
            </a:r>
            <a:r>
              <a:rPr lang="ru-RU" sz="1600" dirty="0" smtClean="0"/>
              <a:t>регистрация </a:t>
            </a:r>
            <a:r>
              <a:rPr lang="ru-RU" sz="1600" dirty="0"/>
              <a:t>дефекта или </a:t>
            </a:r>
            <a:r>
              <a:rPr lang="ru-RU" sz="1600" dirty="0" smtClean="0"/>
              <a:t>останова</a:t>
            </a:r>
            <a:r>
              <a:rPr lang="en-US" sz="1600" dirty="0" smtClean="0"/>
              <a:t> </a:t>
            </a:r>
            <a:r>
              <a:rPr lang="ru-RU" sz="1600" dirty="0" smtClean="0"/>
              <a:t>и создание </a:t>
            </a:r>
            <a:r>
              <a:rPr lang="ru-RU" sz="1600" dirty="0"/>
              <a:t>сообщения с низким приоритетом</a:t>
            </a:r>
            <a:r>
              <a:rPr lang="ru-RU" sz="1600" dirty="0" smtClean="0"/>
              <a:t>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kern="1200" dirty="0" smtClean="0">
                  <a:solidFill>
                    <a:schemeClr val="bg1"/>
                  </a:solidFill>
                </a:rPr>
                <a:t>Создание сообщения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7" name="Прямая со стрелкой 6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40789" y="2854767"/>
            <a:ext cx="23367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И</a:t>
            </a:r>
            <a:r>
              <a:rPr lang="ru-RU" sz="1200" dirty="0" smtClean="0"/>
              <a:t>нформация </a:t>
            </a:r>
            <a:r>
              <a:rPr lang="ru-RU" sz="1200" dirty="0"/>
              <a:t>о дефекте, которая вносится при помощи каталога кодов </a:t>
            </a:r>
            <a:r>
              <a:rPr lang="ru-RU" sz="1200" dirty="0" smtClean="0"/>
              <a:t>ТОРО</a:t>
            </a:r>
            <a:r>
              <a:rPr lang="en-US" sz="1200" dirty="0" smtClean="0"/>
              <a:t> </a:t>
            </a:r>
            <a:r>
              <a:rPr lang="ru-RU" sz="1200" dirty="0" smtClean="0"/>
              <a:t>и потребность </a:t>
            </a:r>
            <a:r>
              <a:rPr lang="ru-RU" sz="1200" dirty="0"/>
              <a:t>выполнить работы, не предусмотренные планом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5117" y="3131765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Передача сообщения на рассмотрение и корректировку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0123" y="4946582"/>
            <a:ext cx="29196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Инициатор </a:t>
            </a:r>
            <a:r>
              <a:rPr lang="ru-RU" dirty="0" err="1" smtClean="0"/>
              <a:t>ТОиР</a:t>
            </a:r>
            <a:endParaRPr lang="en-US" dirty="0"/>
          </a:p>
          <a:p>
            <a:pPr algn="ctr"/>
            <a:r>
              <a:rPr lang="ru-RU" dirty="0" smtClean="0">
                <a:cs typeface="Arial" panose="020B0604020202020204" pitchFamily="34" charset="0"/>
              </a:rPr>
              <a:t>Инженер </a:t>
            </a:r>
            <a:r>
              <a:rPr lang="ru-RU" dirty="0" err="1">
                <a:cs typeface="Arial" panose="020B0604020202020204" pitchFamily="34" charset="0"/>
              </a:rPr>
              <a:t>ТОиР</a:t>
            </a:r>
            <a:r>
              <a:rPr lang="ru-RU" dirty="0">
                <a:cs typeface="Arial" panose="020B0604020202020204" pitchFamily="34" charset="0"/>
              </a:rPr>
              <a:t> </a:t>
            </a:r>
            <a:endParaRPr lang="ru-RU" dirty="0" smtClean="0">
              <a:cs typeface="Arial" panose="020B0604020202020204" pitchFamily="34" charset="0"/>
            </a:endParaRPr>
          </a:p>
          <a:p>
            <a:pPr algn="ctr"/>
            <a:r>
              <a:rPr lang="ru-RU" dirty="0" smtClean="0">
                <a:cs typeface="Arial" panose="020B0604020202020204" pitchFamily="34" charset="0"/>
              </a:rPr>
              <a:t>Обходчик </a:t>
            </a:r>
            <a:r>
              <a:rPr lang="ru-RU" dirty="0" err="1">
                <a:cs typeface="Arial" panose="020B0604020202020204" pitchFamily="34" charset="0"/>
              </a:rPr>
              <a:t>ТОиР</a:t>
            </a:r>
            <a:r>
              <a:rPr lang="ru-RU" dirty="0">
                <a:cs typeface="Arial" panose="020B0604020202020204" pitchFamily="34" charset="0"/>
              </a:rPr>
              <a:t> </a:t>
            </a:r>
            <a:endParaRPr lang="ru-RU" dirty="0" smtClean="0">
              <a:cs typeface="Arial" panose="020B0604020202020204" pitchFamily="34" charset="0"/>
            </a:endParaRPr>
          </a:p>
          <a:p>
            <a:pPr algn="ctr"/>
            <a:r>
              <a:rPr lang="ru-RU" dirty="0" smtClean="0">
                <a:cs typeface="Arial" panose="020B0604020202020204" pitchFamily="34" charset="0"/>
              </a:rPr>
              <a:t>Оператор </a:t>
            </a:r>
            <a:r>
              <a:rPr lang="ru-RU" dirty="0" err="1" smtClean="0">
                <a:cs typeface="Arial" panose="020B0604020202020204" pitchFamily="34" charset="0"/>
              </a:rPr>
              <a:t>ТОиР</a:t>
            </a:r>
            <a:endParaRPr lang="ru-RU" dirty="0" smtClean="0">
              <a:cs typeface="Arial" panose="020B0604020202020204" pitchFamily="34" charset="0"/>
            </a:endParaRPr>
          </a:p>
          <a:p>
            <a:pPr algn="ctr"/>
            <a:r>
              <a:rPr lang="ru-RU" dirty="0">
                <a:cs typeface="Arial" panose="020B0604020202020204" pitchFamily="34" charset="0"/>
              </a:rPr>
              <a:t>Специалист по диагностике </a:t>
            </a:r>
          </a:p>
          <a:p>
            <a:pPr algn="ctr"/>
            <a:r>
              <a:rPr lang="ru-RU" dirty="0">
                <a:cs typeface="Arial" panose="020B0604020202020204" pitchFamily="34" charset="0"/>
              </a:rPr>
              <a:t>Специалист ПТО </a:t>
            </a:r>
            <a:r>
              <a:rPr lang="ru-RU" dirty="0" smtClean="0"/>
              <a:t> </a:t>
            </a:r>
            <a:endParaRPr lang="ru-RU" dirty="0"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IW2</a:t>
            </a:r>
            <a:r>
              <a:rPr lang="ru-RU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484" y="1039295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Сообщение ТОРО создается видом «</a:t>
            </a:r>
            <a:r>
              <a:rPr lang="en-US" sz="1400" dirty="0"/>
              <a:t>A</a:t>
            </a:r>
            <a:r>
              <a:rPr lang="ru-RU" sz="1400" dirty="0"/>
              <a:t>2 – Сообщение о дефекте</a:t>
            </a:r>
            <a:r>
              <a:rPr lang="ru-RU" sz="1400" dirty="0" smtClean="0"/>
              <a:t>».</a:t>
            </a:r>
            <a:endParaRPr lang="en-US" sz="1400" dirty="0" smtClean="0"/>
          </a:p>
          <a:p>
            <a:r>
              <a:rPr lang="ru-RU" sz="1400" dirty="0"/>
              <a:t>Сообщение ТОРО сохраняется с системным статусом «СООТ – сообщение открыто» и пользовательским статусом «ЗПРТ – запрет на создание заказа</a:t>
            </a:r>
            <a:r>
              <a:rPr lang="ru-RU" sz="1400" dirty="0" smtClean="0"/>
              <a:t>».</a:t>
            </a:r>
            <a:endParaRPr lang="ru-RU" sz="1400" dirty="0"/>
          </a:p>
          <a:p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636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«Рассмотрение и корректировка сообщения ответственным за эксплуатацию оборудования»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Анализ и ведение сообщений ТОРО</a:t>
              </a:r>
            </a:p>
          </p:txBody>
        </p:sp>
      </p:grpSp>
      <p:cxnSp>
        <p:nvCxnSpPr>
          <p:cNvPr id="7" name="Прямая со стрелкой 6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>
            <a:off x="5838099" y="340876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72933" y="3177931"/>
            <a:ext cx="2336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Сообщения о </a:t>
            </a:r>
            <a:r>
              <a:rPr lang="ru-RU" sz="1200" dirty="0" smtClean="0"/>
              <a:t>неисправности, дефекте</a:t>
            </a:r>
            <a:r>
              <a:rPr lang="ru-RU" sz="1200" dirty="0"/>
              <a:t>, </a:t>
            </a:r>
            <a:r>
              <a:rPr lang="ru-RU" sz="1200" dirty="0" smtClean="0"/>
              <a:t>останове</a:t>
            </a:r>
            <a:endParaRPr lang="ru-RU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5892135" y="2851154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Отправка сообщений на доработку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3167" y="4962380"/>
            <a:ext cx="2049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Координатор </a:t>
            </a:r>
            <a:r>
              <a:rPr lang="ru-RU" dirty="0" err="1"/>
              <a:t>ТОиР</a:t>
            </a:r>
            <a:r>
              <a:rPr lang="ru-RU" dirty="0"/>
              <a:t> </a:t>
            </a:r>
            <a:endParaRPr lang="ru-RU" dirty="0"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IW2</a:t>
            </a:r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264484" y="1039295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Координатор </a:t>
            </a:r>
            <a:r>
              <a:rPr lang="ru-RU" sz="1400" dirty="0" err="1"/>
              <a:t>ТОиР</a:t>
            </a:r>
            <a:r>
              <a:rPr lang="ru-RU" sz="1400" dirty="0"/>
              <a:t> анализирует открытые Сообщения ТОРО на корректность и полноту данных о неисправности (при необходимости вносит дополнения), на соответствие фактическим данным / обоснованию, а также проверяет на соответствие текущим открытым Сообщениям ТОРО и переданным в работу, на отсутствие дублирования (наличие аналогичного Сообщений ТОРО по одному объекту</a:t>
            </a:r>
            <a:r>
              <a:rPr lang="ru-RU" sz="1400" dirty="0" smtClean="0"/>
              <a:t>).</a:t>
            </a:r>
          </a:p>
        </p:txBody>
      </p:sp>
      <p:cxnSp>
        <p:nvCxnSpPr>
          <p:cNvPr id="14" name="Прямая со стрелкой 13"/>
          <p:cNvCxnSpPr/>
          <p:nvPr/>
        </p:nvCxnSpPr>
        <p:spPr>
          <a:xfrm>
            <a:off x="5838099" y="450953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92135" y="4093300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Отправка сообщений в работу</a:t>
            </a:r>
          </a:p>
        </p:txBody>
      </p:sp>
    </p:spTree>
    <p:extLst>
      <p:ext uri="{BB962C8B-B14F-4D97-AF65-F5344CB8AC3E}">
        <p14:creationId xmlns:p14="http://schemas.microsoft.com/office/powerpoint/2010/main" val="2581536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«Возврат сообщения на доработку или закрытие»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Анализ </a:t>
              </a:r>
              <a:r>
                <a:rPr lang="ru-RU" sz="1600" dirty="0" smtClean="0">
                  <a:solidFill>
                    <a:schemeClr val="bg1"/>
                  </a:solidFill>
                </a:rPr>
                <a:t>и ведение сообщений </a:t>
              </a:r>
              <a:r>
                <a:rPr lang="ru-RU" sz="1600" dirty="0">
                  <a:solidFill>
                    <a:schemeClr val="bg1"/>
                  </a:solidFill>
                </a:rPr>
                <a:t>ТОРО</a:t>
              </a:r>
            </a:p>
          </p:txBody>
        </p:sp>
      </p:grpSp>
      <p:cxnSp>
        <p:nvCxnSpPr>
          <p:cNvPr id="7" name="Прямая со стрелкой 6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>
            <a:off x="5838099" y="3304686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72932" y="2993265"/>
            <a:ext cx="23367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Сообщение для которого выявлены </a:t>
            </a:r>
            <a:r>
              <a:rPr lang="ru-RU" sz="1200" dirty="0"/>
              <a:t>замечания, недостаточности информации или неактуальности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38099" y="2843021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Сообщение </a:t>
            </a:r>
            <a:r>
              <a:rPr lang="ru-RU" sz="1200" dirty="0" smtClean="0"/>
              <a:t>попадает </a:t>
            </a:r>
            <a:r>
              <a:rPr lang="ru-RU" sz="1200" dirty="0"/>
              <a:t>на доработку </a:t>
            </a:r>
            <a:endParaRPr lang="ru-RU" sz="12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3520629" y="4962381"/>
            <a:ext cx="2074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Координатор </a:t>
            </a:r>
            <a:r>
              <a:rPr lang="ru-RU" dirty="0" err="1"/>
              <a:t>ТОиР</a:t>
            </a:r>
            <a:r>
              <a:rPr lang="ru-RU" dirty="0"/>
              <a:t> </a:t>
            </a:r>
            <a:endParaRPr lang="ru-RU" dirty="0"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IW2</a:t>
            </a:r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264484" y="1039295"/>
            <a:ext cx="8650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Координатор </a:t>
            </a:r>
            <a:r>
              <a:rPr lang="ru-RU" sz="1400" dirty="0" err="1"/>
              <a:t>ТОиР</a:t>
            </a:r>
            <a:r>
              <a:rPr lang="ru-RU" sz="1400" dirty="0"/>
              <a:t> БЕ ГОК изменяет статус Сообщения ТОРО на статус ТРПО – «Требует пояснение</a:t>
            </a:r>
            <a:r>
              <a:rPr lang="ru-RU" sz="1400" dirty="0" smtClean="0"/>
              <a:t>».</a:t>
            </a:r>
          </a:p>
        </p:txBody>
      </p:sp>
      <p:cxnSp>
        <p:nvCxnSpPr>
          <p:cNvPr id="14" name="Прямая со стрелкой 13"/>
          <p:cNvCxnSpPr/>
          <p:nvPr/>
        </p:nvCxnSpPr>
        <p:spPr>
          <a:xfrm>
            <a:off x="5838099" y="4394346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65117" y="3932680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Сообщение </a:t>
            </a:r>
            <a:r>
              <a:rPr lang="ru-RU" sz="1200" dirty="0" smtClean="0"/>
              <a:t>попадает </a:t>
            </a:r>
            <a:r>
              <a:rPr lang="ru-RU" sz="1200" dirty="0"/>
              <a:t>на предварительное закрытие</a:t>
            </a:r>
            <a:r>
              <a:rPr lang="ru-RU" sz="12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3727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«Доработка сообщения»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Изменение сообщения </a:t>
              </a:r>
              <a:r>
                <a:rPr lang="ru-RU" sz="1600" dirty="0">
                  <a:solidFill>
                    <a:schemeClr val="bg1"/>
                  </a:solidFill>
                </a:rPr>
                <a:t>ТОРО</a:t>
              </a:r>
            </a:p>
          </p:txBody>
        </p:sp>
      </p:grpSp>
      <p:cxnSp>
        <p:nvCxnSpPr>
          <p:cNvPr id="7" name="Прямая со стрелкой 6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>
            <a:off x="5838099" y="3844728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72932" y="2993265"/>
            <a:ext cx="23367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Сообщение для которого выявлены </a:t>
            </a:r>
            <a:r>
              <a:rPr lang="ru-RU" sz="1200" dirty="0"/>
              <a:t>замечания, недостаточности информации или неактуальности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4063" y="3302926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Сообщение возвращается </a:t>
            </a:r>
            <a:r>
              <a:rPr lang="ru-RU" sz="1200" dirty="0"/>
              <a:t>на рассмотрение и корректировку</a:t>
            </a:r>
            <a:endParaRPr lang="ru-RU" sz="12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3552773" y="4962380"/>
            <a:ext cx="20743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Инициатор </a:t>
            </a:r>
            <a:r>
              <a:rPr lang="ru-RU" dirty="0" err="1"/>
              <a:t>ТОиР</a:t>
            </a:r>
            <a:endParaRPr lang="en-US" dirty="0"/>
          </a:p>
          <a:p>
            <a:pPr algn="ctr"/>
            <a:r>
              <a:rPr lang="ru-RU" dirty="0">
                <a:cs typeface="Arial" panose="020B0604020202020204" pitchFamily="34" charset="0"/>
              </a:rPr>
              <a:t>Инженер </a:t>
            </a:r>
            <a:r>
              <a:rPr lang="ru-RU" dirty="0" err="1">
                <a:cs typeface="Arial" panose="020B0604020202020204" pitchFamily="34" charset="0"/>
              </a:rPr>
              <a:t>ТОиР</a:t>
            </a:r>
            <a:r>
              <a:rPr lang="ru-RU" dirty="0"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ru-RU" dirty="0">
                <a:cs typeface="Arial" panose="020B0604020202020204" pitchFamily="34" charset="0"/>
              </a:rPr>
              <a:t>Обходчик </a:t>
            </a:r>
            <a:r>
              <a:rPr lang="ru-RU" dirty="0" err="1">
                <a:cs typeface="Arial" panose="020B0604020202020204" pitchFamily="34" charset="0"/>
              </a:rPr>
              <a:t>ТОиР</a:t>
            </a:r>
            <a:r>
              <a:rPr lang="ru-RU" dirty="0"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ru-RU" dirty="0">
                <a:cs typeface="Arial" panose="020B0604020202020204" pitchFamily="34" charset="0"/>
              </a:rPr>
              <a:t>Оператор </a:t>
            </a:r>
            <a:r>
              <a:rPr lang="ru-RU" dirty="0" err="1">
                <a:cs typeface="Arial" panose="020B0604020202020204" pitchFamily="34" charset="0"/>
              </a:rPr>
              <a:t>ТОиР</a:t>
            </a:r>
            <a:endParaRPr lang="ru-RU" dirty="0"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IW2</a:t>
            </a:r>
            <a:r>
              <a:rPr lang="ru-RU" dirty="0"/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Доработка сообщения выполняется пользователем, создавшим </a:t>
            </a:r>
            <a:r>
              <a:rPr lang="ru-RU" sz="1400" dirty="0" smtClean="0"/>
              <a:t>сообщение. </a:t>
            </a:r>
            <a:r>
              <a:rPr lang="ru-RU" sz="1400" dirty="0"/>
              <a:t>С сообщения ТОРО снимается статус ТРПО – «Требует пояснения</a:t>
            </a:r>
            <a:r>
              <a:rPr lang="ru-RU" sz="1400" dirty="0" smtClean="0"/>
              <a:t>».</a:t>
            </a:r>
          </a:p>
        </p:txBody>
      </p:sp>
    </p:spTree>
    <p:extLst>
      <p:ext uri="{BB962C8B-B14F-4D97-AF65-F5344CB8AC3E}">
        <p14:creationId xmlns:p14="http://schemas.microsoft.com/office/powerpoint/2010/main" val="3051480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«Предварительное закрытие сообщения»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Анализ и ведение сообщений ТОРО</a:t>
              </a:r>
            </a:p>
          </p:txBody>
        </p:sp>
      </p:grpSp>
      <p:cxnSp>
        <p:nvCxnSpPr>
          <p:cNvPr id="7" name="Прямая со стрелкой 6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>
            <a:off x="5838099" y="3844728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72932" y="3302925"/>
            <a:ext cx="2336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Сообщения ТОРО со статусом СООТ, </a:t>
            </a:r>
            <a:r>
              <a:rPr lang="ru-RU" sz="1200" dirty="0" smtClean="0"/>
              <a:t>ТРПО или </a:t>
            </a:r>
            <a:r>
              <a:rPr lang="ru-RU" sz="1200" dirty="0"/>
              <a:t>СОРА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2556" y="2854767"/>
            <a:ext cx="2346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Сообщение </a:t>
            </a:r>
            <a:r>
              <a:rPr lang="ru-RU" sz="1200" dirty="0"/>
              <a:t>передаётся Инженеру по </a:t>
            </a:r>
            <a:r>
              <a:rPr lang="ru-RU" sz="1200" dirty="0" smtClean="0"/>
              <a:t>надежности </a:t>
            </a:r>
            <a:r>
              <a:rPr lang="ru-RU" sz="1200" dirty="0"/>
              <a:t>для принятия решения о закрытии или передаче сообщения в работу</a:t>
            </a:r>
            <a:endParaRPr lang="ru-RU" sz="12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3552773" y="4962380"/>
            <a:ext cx="20743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Инициатор </a:t>
            </a:r>
            <a:r>
              <a:rPr lang="ru-RU" dirty="0" err="1"/>
              <a:t>ТОиР</a:t>
            </a:r>
            <a:endParaRPr lang="en-US" dirty="0"/>
          </a:p>
          <a:p>
            <a:pPr algn="ctr"/>
            <a:r>
              <a:rPr lang="ru-RU" dirty="0">
                <a:cs typeface="Arial" panose="020B0604020202020204" pitchFamily="34" charset="0"/>
              </a:rPr>
              <a:t>Инженер </a:t>
            </a:r>
            <a:r>
              <a:rPr lang="ru-RU" dirty="0" err="1">
                <a:cs typeface="Arial" panose="020B0604020202020204" pitchFamily="34" charset="0"/>
              </a:rPr>
              <a:t>ТОиР</a:t>
            </a:r>
            <a:r>
              <a:rPr lang="ru-RU" dirty="0"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ru-RU" dirty="0">
                <a:cs typeface="Arial" panose="020B0604020202020204" pitchFamily="34" charset="0"/>
              </a:rPr>
              <a:t>Обходчик </a:t>
            </a:r>
            <a:r>
              <a:rPr lang="ru-RU" dirty="0" err="1">
                <a:cs typeface="Arial" panose="020B0604020202020204" pitchFamily="34" charset="0"/>
              </a:rPr>
              <a:t>ТОиР</a:t>
            </a:r>
            <a:r>
              <a:rPr lang="ru-RU" dirty="0"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ru-RU" dirty="0">
                <a:cs typeface="Arial" panose="020B0604020202020204" pitchFamily="34" charset="0"/>
              </a:rPr>
              <a:t>Оператор </a:t>
            </a:r>
            <a:r>
              <a:rPr lang="ru-RU" dirty="0" err="1">
                <a:cs typeface="Arial" panose="020B0604020202020204" pitchFamily="34" charset="0"/>
              </a:rPr>
              <a:t>ТОиР</a:t>
            </a:r>
            <a:endParaRPr lang="ru-RU" dirty="0"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IW2</a:t>
            </a:r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264484" y="1039295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На вход в шаг подаются Сообщения ТОРО со статусом СООТ, ТРПО - «Открыто», «Требует пояснения» из шага «Возврат сообщения на доработку или закрытие», а также Сообщения ТОРО со статусом СОРА – «В работе» из бизнес-процесса ПП-07.03.03.02-ERP «Управление внеплановыми воздействиями </a:t>
            </a:r>
            <a:r>
              <a:rPr lang="ru-RU" sz="1400" dirty="0" err="1"/>
              <a:t>ТОиР</a:t>
            </a:r>
            <a:r>
              <a:rPr lang="ru-RU" sz="1400" dirty="0" smtClean="0"/>
              <a:t>».</a:t>
            </a:r>
          </a:p>
          <a:p>
            <a:r>
              <a:rPr lang="ru-RU" sz="1400" dirty="0"/>
              <a:t>Сообщению ТОРО присваивается статус ПЗКР – «Предварительное закрытие</a:t>
            </a:r>
            <a:r>
              <a:rPr lang="ru-RU" sz="1400" dirty="0" smtClean="0"/>
              <a:t>».</a:t>
            </a:r>
          </a:p>
        </p:txBody>
      </p:sp>
    </p:spTree>
    <p:extLst>
      <p:ext uri="{BB962C8B-B14F-4D97-AF65-F5344CB8AC3E}">
        <p14:creationId xmlns:p14="http://schemas.microsoft.com/office/powerpoint/2010/main" val="2075342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«Передача сообщения в работу»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Анализ и ведение сообщений ТОРО</a:t>
              </a:r>
            </a:p>
          </p:txBody>
        </p:sp>
      </p:grpSp>
      <p:cxnSp>
        <p:nvCxnSpPr>
          <p:cNvPr id="7" name="Прямая со стрелкой 6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>
            <a:off x="5838099" y="3844728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72932" y="3302925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Сообщение со </a:t>
            </a:r>
            <a:r>
              <a:rPr lang="ru-RU" sz="1200" dirty="0"/>
              <a:t>статусом ПЗКР</a:t>
            </a:r>
            <a:r>
              <a:rPr lang="ru-RU" sz="1200" dirty="0" smtClean="0"/>
              <a:t>  </a:t>
            </a:r>
            <a:endParaRPr lang="ru-RU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5822556" y="2953468"/>
            <a:ext cx="2346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Сообщение </a:t>
            </a:r>
            <a:r>
              <a:rPr lang="ru-RU" sz="1200" dirty="0"/>
              <a:t>передается в процесс ПП-07.03.03.02-ERP «Управление внеплановыми воздействиями </a:t>
            </a:r>
            <a:r>
              <a:rPr lang="ru-RU" sz="1200" dirty="0" err="1"/>
              <a:t>ТОиР</a:t>
            </a:r>
            <a:r>
              <a:rPr lang="ru-RU" sz="1200" dirty="0"/>
              <a:t>»</a:t>
            </a:r>
            <a:endParaRPr lang="ru-RU" sz="12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3255704" y="4962380"/>
            <a:ext cx="2604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Инженер </a:t>
            </a:r>
            <a:r>
              <a:rPr lang="ru-RU" dirty="0"/>
              <a:t>по надежности</a:t>
            </a:r>
            <a:endParaRPr lang="ru-RU" dirty="0"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IW2</a:t>
            </a:r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264484" y="1039295"/>
            <a:ext cx="8650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Сообщению </a:t>
            </a:r>
            <a:r>
              <a:rPr lang="ru-RU" sz="1400" dirty="0"/>
              <a:t>ТОРО присваивается статус СОРА – «В работе</a:t>
            </a:r>
            <a:r>
              <a:rPr lang="ru-RU" sz="1400" dirty="0" smtClean="0"/>
              <a:t>»</a:t>
            </a:r>
            <a:r>
              <a:rPr lang="en-US" sz="1400" dirty="0" smtClean="0"/>
              <a:t>, </a:t>
            </a:r>
            <a:r>
              <a:rPr lang="ru-RU" sz="1400" dirty="0" smtClean="0"/>
              <a:t>если сообщение в статусе </a:t>
            </a:r>
            <a:r>
              <a:rPr lang="ru-RU" sz="1400" dirty="0"/>
              <a:t>СООТ - «Открыто</a:t>
            </a:r>
            <a:r>
              <a:rPr lang="ru-RU" sz="1400" dirty="0" smtClean="0"/>
              <a:t>».</a:t>
            </a:r>
          </a:p>
        </p:txBody>
      </p:sp>
    </p:spTree>
    <p:extLst>
      <p:ext uri="{BB962C8B-B14F-4D97-AF65-F5344CB8AC3E}">
        <p14:creationId xmlns:p14="http://schemas.microsoft.com/office/powerpoint/2010/main" val="280776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«Закрытие сообщения ТОРО»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Анализ и ведение сообщений ТОРО</a:t>
              </a:r>
            </a:p>
          </p:txBody>
        </p:sp>
      </p:grpSp>
      <p:cxnSp>
        <p:nvCxnSpPr>
          <p:cNvPr id="7" name="Прямая со стрелкой 6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72932" y="3302925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Сообщение со </a:t>
            </a:r>
            <a:r>
              <a:rPr lang="ru-RU" sz="1200" dirty="0"/>
              <a:t>статусом ПЗКР</a:t>
            </a:r>
            <a:r>
              <a:rPr lang="ru-RU" sz="1200" dirty="0" smtClean="0"/>
              <a:t>  </a:t>
            </a:r>
            <a:endParaRPr lang="ru-RU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3255704" y="4962380"/>
            <a:ext cx="2604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Инженер </a:t>
            </a:r>
            <a:r>
              <a:rPr lang="ru-RU" dirty="0"/>
              <a:t>по надежности</a:t>
            </a:r>
            <a:endParaRPr lang="ru-RU" dirty="0"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IW2</a:t>
            </a:r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264484" y="1039295"/>
            <a:ext cx="8650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Сообщению </a:t>
            </a:r>
            <a:r>
              <a:rPr lang="ru-RU" sz="1400" dirty="0"/>
              <a:t>ТОРО присваивается статус </a:t>
            </a:r>
            <a:r>
              <a:rPr lang="ru-RU" sz="1400" dirty="0" smtClean="0"/>
              <a:t>СОЗА – «</a:t>
            </a:r>
            <a:r>
              <a:rPr lang="ru-RU" sz="1400" dirty="0"/>
              <a:t>Сообщение закрыто</a:t>
            </a:r>
            <a:r>
              <a:rPr lang="ru-RU" sz="1400" dirty="0" smtClean="0"/>
              <a:t>».</a:t>
            </a:r>
          </a:p>
        </p:txBody>
      </p:sp>
    </p:spTree>
    <p:extLst>
      <p:ext uri="{BB962C8B-B14F-4D97-AF65-F5344CB8AC3E}">
        <p14:creationId xmlns:p14="http://schemas.microsoft.com/office/powerpoint/2010/main" val="3433893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«Подтверждение сообщения и передача в работу»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Анализ и ведение сообщений ТОРО</a:t>
              </a:r>
            </a:p>
          </p:txBody>
        </p:sp>
      </p:grpSp>
      <p:cxnSp>
        <p:nvCxnSpPr>
          <p:cNvPr id="7" name="Прямая со стрелкой 6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>
            <a:off x="5838099" y="3844728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72932" y="3302925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Сообщение со </a:t>
            </a:r>
            <a:r>
              <a:rPr lang="ru-RU" sz="1200" dirty="0"/>
              <a:t>статусом </a:t>
            </a:r>
            <a:r>
              <a:rPr lang="ru-RU" sz="1200" dirty="0" smtClean="0"/>
              <a:t>СООТ  </a:t>
            </a:r>
            <a:endParaRPr lang="ru-RU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5822556" y="2953468"/>
            <a:ext cx="2346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Сообщение </a:t>
            </a:r>
            <a:r>
              <a:rPr lang="ru-RU" sz="1200" dirty="0"/>
              <a:t>передается в процесс ПП-07.03.03.02-ERP «Управление внеплановыми воздействиями </a:t>
            </a:r>
            <a:r>
              <a:rPr lang="ru-RU" sz="1200" dirty="0" err="1"/>
              <a:t>ТОиР</a:t>
            </a:r>
            <a:r>
              <a:rPr lang="ru-RU" sz="1200" dirty="0"/>
              <a:t>»</a:t>
            </a:r>
            <a:endParaRPr lang="ru-RU" sz="12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3255704" y="4962380"/>
            <a:ext cx="2604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Координатор </a:t>
            </a:r>
            <a:r>
              <a:rPr lang="ru-RU" dirty="0" err="1"/>
              <a:t>ТОиР</a:t>
            </a:r>
            <a:r>
              <a:rPr lang="ru-RU" dirty="0"/>
              <a:t> </a:t>
            </a:r>
            <a:endParaRPr lang="ru-RU" dirty="0"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IW2</a:t>
            </a:r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264484" y="1039295"/>
            <a:ext cx="8650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Статус </a:t>
            </a:r>
            <a:r>
              <a:rPr lang="ru-RU" sz="1400" dirty="0" smtClean="0"/>
              <a:t>сообщения </a:t>
            </a:r>
            <a:r>
              <a:rPr lang="ru-RU" sz="1400" dirty="0"/>
              <a:t>ТОРО изменяется с СООТ - «Открыто», на СОРА – «В работе</a:t>
            </a:r>
            <a:r>
              <a:rPr lang="ru-RU" sz="1400" dirty="0" smtClean="0"/>
              <a:t>».</a:t>
            </a:r>
          </a:p>
        </p:txBody>
      </p:sp>
    </p:spTree>
    <p:extLst>
      <p:ext uri="{BB962C8B-B14F-4D97-AF65-F5344CB8AC3E}">
        <p14:creationId xmlns:p14="http://schemas.microsoft.com/office/powerpoint/2010/main" val="2654747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«Создание сообщения с высоким приоритетом»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Создаётся сообщение ТОРО вида с видом </a:t>
            </a:r>
            <a:r>
              <a:rPr lang="en-US" sz="1400" dirty="0"/>
              <a:t>AA </a:t>
            </a:r>
            <a:r>
              <a:rPr lang="ru-RU" sz="1400" dirty="0"/>
              <a:t>– «Аварийный дефект</a:t>
            </a:r>
            <a:r>
              <a:rPr lang="ru-RU" sz="1400" dirty="0" smtClean="0"/>
              <a:t>». </a:t>
            </a:r>
          </a:p>
          <a:p>
            <a:r>
              <a:rPr lang="ru-RU" sz="1400" dirty="0" smtClean="0"/>
              <a:t>Сообщение </a:t>
            </a:r>
            <a:r>
              <a:rPr lang="ru-RU" sz="1400" dirty="0"/>
              <a:t>ТОРО сохраняется с системным статусом «СОРА – сообщение в работе»</a:t>
            </a:r>
            <a:r>
              <a:rPr lang="ru-RU" sz="1400" dirty="0" smtClean="0"/>
              <a:t>.</a:t>
            </a:r>
          </a:p>
          <a:p>
            <a:r>
              <a:rPr lang="ru-RU" sz="1400" dirty="0"/>
              <a:t>Снимается пользовательский статус «ЗПРТ – запрет на создание заказа</a:t>
            </a:r>
            <a:r>
              <a:rPr lang="ru-RU" sz="1400" dirty="0" smtClean="0"/>
              <a:t>».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grpSp>
        <p:nvGrpSpPr>
          <p:cNvPr id="5" name="Группа 4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6" name="Скругленный прямоугольник 5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kern="1200" dirty="0" smtClean="0">
                  <a:solidFill>
                    <a:schemeClr val="bg1"/>
                  </a:solidFill>
                </a:rPr>
                <a:t>Создание сообщения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8" name="Прямая со стрелкой 7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40789" y="3443375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Выявлен критичный дефект</a:t>
            </a:r>
            <a:endParaRPr lang="ru-RU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5865117" y="2999723"/>
            <a:ext cx="2346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Сообщение передается в процесс ПП-07.03.03.02-ERP «Управление внеплановыми воздействиями </a:t>
            </a:r>
            <a:r>
              <a:rPr lang="ru-RU" sz="1200" dirty="0" err="1"/>
              <a:t>ТОиР</a:t>
            </a:r>
            <a:r>
              <a:rPr lang="ru-RU" sz="1200" dirty="0"/>
              <a:t>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6769" y="4950902"/>
            <a:ext cx="2882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Специалист по </a:t>
            </a:r>
            <a:r>
              <a:rPr lang="ru-RU" dirty="0" smtClean="0"/>
              <a:t>диагностике</a:t>
            </a:r>
          </a:p>
          <a:p>
            <a:pPr algn="ctr"/>
            <a:r>
              <a:rPr lang="ru-RU" dirty="0">
                <a:cs typeface="Arial" panose="020B0604020202020204" pitchFamily="34" charset="0"/>
              </a:rPr>
              <a:t>Специалист ПТО </a:t>
            </a:r>
            <a:r>
              <a:rPr lang="ru-RU" dirty="0"/>
              <a:t> </a:t>
            </a:r>
            <a:endParaRPr lang="ru-RU" dirty="0">
              <a:cs typeface="Arial" panose="020B0604020202020204" pitchFamily="34" charset="0"/>
            </a:endParaRPr>
          </a:p>
          <a:p>
            <a:pPr algn="ctr"/>
            <a:r>
              <a:rPr lang="ru-RU" dirty="0" smtClean="0"/>
              <a:t>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IW2</a:t>
            </a:r>
            <a:r>
              <a:rPr lang="ru-R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92550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«Анализ сообщений ТОРО в соответствии с приоритетом»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Анализ и ведение сообщений ТОРО</a:t>
              </a:r>
            </a:p>
          </p:txBody>
        </p:sp>
      </p:grpSp>
      <p:cxnSp>
        <p:nvCxnSpPr>
          <p:cNvPr id="7" name="Прямая со стрелкой 6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>
            <a:off x="5838099" y="3844728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72932" y="3302925"/>
            <a:ext cx="2336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Сообщения </a:t>
            </a:r>
            <a:r>
              <a:rPr lang="ru-RU" sz="1200" dirty="0"/>
              <a:t>на внеплановые работы со статусом СОРА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9891" y="3392471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Решение по выполнению работ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7848" y="4992368"/>
            <a:ext cx="2604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Планировщик </a:t>
            </a:r>
            <a:r>
              <a:rPr lang="ru-RU" dirty="0" err="1"/>
              <a:t>ТОиР</a:t>
            </a:r>
            <a:endParaRPr lang="ru-RU" dirty="0"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IW2</a:t>
            </a:r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264484" y="1039295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анализирует список сообщений ТОРО на внеплановые работы в </a:t>
            </a:r>
            <a:r>
              <a:rPr lang="ru-RU" sz="1400" dirty="0" smtClean="0"/>
              <a:t>системе с </a:t>
            </a:r>
            <a:r>
              <a:rPr lang="ru-RU" sz="1400" dirty="0"/>
              <a:t>учетом приоритета сообщений ТОРО и принимает </a:t>
            </a:r>
            <a:r>
              <a:rPr lang="ru-RU" sz="1400" dirty="0" smtClean="0"/>
              <a:t>решение: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В</a:t>
            </a:r>
            <a:r>
              <a:rPr lang="ru-RU" sz="1400" dirty="0" smtClean="0"/>
              <a:t>ключить </a:t>
            </a:r>
            <a:r>
              <a:rPr lang="ru-RU" sz="1400" dirty="0"/>
              <a:t>работы в ранее </a:t>
            </a:r>
            <a:r>
              <a:rPr lang="ru-RU" sz="1400" dirty="0" smtClean="0"/>
              <a:t>запланированный ремонт;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С</a:t>
            </a:r>
            <a:r>
              <a:rPr lang="ru-RU" sz="1400" dirty="0" smtClean="0"/>
              <a:t>формировать </a:t>
            </a:r>
            <a:r>
              <a:rPr lang="ru-RU" sz="1400" dirty="0"/>
              <a:t>новый заказ </a:t>
            </a:r>
            <a:r>
              <a:rPr lang="ru-RU" sz="1400" dirty="0" smtClean="0"/>
              <a:t>ТОРО;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О</a:t>
            </a:r>
            <a:r>
              <a:rPr lang="ru-RU" sz="1400" dirty="0" smtClean="0"/>
              <a:t>тказаться </a:t>
            </a:r>
            <a:r>
              <a:rPr lang="ru-RU" sz="1400" dirty="0"/>
              <a:t>от планирования дополнительных работ.</a:t>
            </a:r>
            <a:endParaRPr lang="ru-RU" sz="1400" dirty="0" smtClean="0"/>
          </a:p>
        </p:txBody>
      </p:sp>
    </p:spTree>
    <p:extLst>
      <p:ext uri="{BB962C8B-B14F-4D97-AF65-F5344CB8AC3E}">
        <p14:creationId xmlns:p14="http://schemas.microsoft.com/office/powerpoint/2010/main" val="1073303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«Ввод причины отказа и вида дефекта в сообщение»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Анализ и ведение сообщений ТОРО</a:t>
              </a:r>
            </a:p>
          </p:txBody>
        </p:sp>
      </p:grpSp>
      <p:cxnSp>
        <p:nvCxnSpPr>
          <p:cNvPr id="7" name="Прямая со стрелкой 6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>
            <a:off x="5838099" y="3844728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72932" y="3302925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Сообщения вида </a:t>
            </a:r>
            <a:r>
              <a:rPr lang="en-US" sz="1200" dirty="0" smtClean="0"/>
              <a:t>A2</a:t>
            </a:r>
            <a:endParaRPr lang="ru-RU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5838099" y="3210591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Передача сообщений для анализа или закрытия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7848" y="4962380"/>
            <a:ext cx="2604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Инженер по надежности </a:t>
            </a:r>
            <a:endParaRPr lang="ru-RU" dirty="0"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IW2</a:t>
            </a:r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Инженер по надежности БЕ ГОК анализирует перечень сообщений ТОРО. Если мероприятия </a:t>
            </a:r>
            <a:r>
              <a:rPr lang="ru-RU" sz="1400" dirty="0" err="1"/>
              <a:t>ТОиР</a:t>
            </a:r>
            <a:r>
              <a:rPr lang="ru-RU" sz="1400" dirty="0"/>
              <a:t> выполнялись в рамках устранения неисправности, то на основании данных наряда-задания вводит причины отказа и виды дефектов в сообщения </a:t>
            </a:r>
            <a:r>
              <a:rPr lang="ru-RU" sz="1400" dirty="0" smtClean="0"/>
              <a:t>ТОРО.</a:t>
            </a:r>
          </a:p>
        </p:txBody>
      </p:sp>
    </p:spTree>
    <p:extLst>
      <p:ext uri="{BB962C8B-B14F-4D97-AF65-F5344CB8AC3E}">
        <p14:creationId xmlns:p14="http://schemas.microsoft.com/office/powerpoint/2010/main" val="371445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«Ввод фактических сроков и закрытие плановых сообщений»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Анализ и ведение сообщений ТОРО</a:t>
              </a:r>
            </a:p>
          </p:txBody>
        </p:sp>
      </p:grpSp>
      <p:cxnSp>
        <p:nvCxnSpPr>
          <p:cNvPr id="7" name="Прямая со стрелкой 6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72932" y="3302925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Сообщения вида </a:t>
            </a:r>
            <a:r>
              <a:rPr lang="en-US" sz="1200" dirty="0" smtClean="0"/>
              <a:t>A2</a:t>
            </a:r>
            <a:endParaRPr lang="ru-RU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3287848" y="4962380"/>
            <a:ext cx="2604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Планировщик </a:t>
            </a:r>
            <a:r>
              <a:rPr lang="ru-RU" dirty="0" err="1"/>
              <a:t>ТОиР</a:t>
            </a:r>
            <a:r>
              <a:rPr lang="ru-RU" dirty="0"/>
              <a:t> </a:t>
            </a:r>
            <a:endParaRPr lang="ru-RU" dirty="0"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IW2</a:t>
            </a:r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Если фактические сроки выполнения мероприятий по сообщениям заполнены, то выполняет закрытие сообщений </a:t>
            </a:r>
            <a:r>
              <a:rPr lang="ru-RU" sz="1400" dirty="0" smtClean="0"/>
              <a:t>ТОРО.</a:t>
            </a:r>
          </a:p>
          <a:p>
            <a:r>
              <a:rPr lang="ru-RU" sz="1400" dirty="0" smtClean="0"/>
              <a:t>Системный </a:t>
            </a:r>
            <a:r>
              <a:rPr lang="ru-RU" sz="1400" dirty="0"/>
              <a:t>статус сообщений </a:t>
            </a:r>
            <a:r>
              <a:rPr lang="ru-RU" sz="1400" dirty="0" smtClean="0"/>
              <a:t>«СОЗА </a:t>
            </a:r>
            <a:r>
              <a:rPr lang="ru-RU" sz="1400" dirty="0"/>
              <a:t>- Сообщение </a:t>
            </a:r>
            <a:r>
              <a:rPr lang="ru-RU" sz="1400" dirty="0" smtClean="0"/>
              <a:t>закрыто».</a:t>
            </a:r>
          </a:p>
        </p:txBody>
      </p:sp>
    </p:spTree>
    <p:extLst>
      <p:ext uri="{BB962C8B-B14F-4D97-AF65-F5344CB8AC3E}">
        <p14:creationId xmlns:p14="http://schemas.microsoft.com/office/powerpoint/2010/main" val="2449069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«Принятие решения об останове оборудования, устранении аварии и оформлении наряд-задания»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4484" y="1039295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Инженер </a:t>
            </a:r>
            <a:r>
              <a:rPr lang="ru-RU" sz="1400" dirty="0" err="1"/>
              <a:t>ТОиР</a:t>
            </a:r>
            <a:r>
              <a:rPr lang="ru-RU" sz="1400" dirty="0"/>
              <a:t> проводит анализ необходимости срочного ремонта. По итогам анализа принимает решение о сроках проведения </a:t>
            </a:r>
            <a:r>
              <a:rPr lang="ru-RU" sz="1400" dirty="0" smtClean="0"/>
              <a:t>ремонта в </a:t>
            </a:r>
            <a:r>
              <a:rPr lang="ru-RU" sz="1400" dirty="0"/>
              <a:t>случае возможности устранения дефекта позднее, инициирует создание сообщения ТОРО с видом «</a:t>
            </a:r>
            <a:r>
              <a:rPr lang="en-US" sz="1400" dirty="0"/>
              <a:t>A</a:t>
            </a:r>
            <a:r>
              <a:rPr lang="ru-RU" sz="1400" dirty="0"/>
              <a:t>2 – Сообщение о неисправности» и признаком «Останов» на основе бумажного документа «Дефектная ведомость</a:t>
            </a:r>
            <a:r>
              <a:rPr lang="ru-RU" sz="1400" dirty="0" smtClean="0"/>
              <a:t>».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grpSp>
        <p:nvGrpSpPr>
          <p:cNvPr id="5" name="Группа 4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6" name="Скругленный прямоугольник 5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kern="1200" dirty="0" smtClean="0">
                  <a:solidFill>
                    <a:schemeClr val="bg1"/>
                  </a:solidFill>
                </a:rPr>
                <a:t>Создание сообщения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8" name="Прямая со стрелкой 7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78058" y="3369055"/>
            <a:ext cx="2336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Решение о устранении дефекта позднее</a:t>
            </a:r>
            <a:endParaRPr lang="ru-RU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3731122" y="4962380"/>
            <a:ext cx="1653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Инженер </a:t>
            </a:r>
            <a:r>
              <a:rPr lang="ru-RU" dirty="0" err="1"/>
              <a:t>ТОиР</a:t>
            </a:r>
            <a:r>
              <a:rPr lang="ru-RU" dirty="0"/>
              <a:t>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IW2</a:t>
            </a:r>
            <a:r>
              <a:rPr lang="ru-R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52464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 smtClean="0"/>
              <a:t>«</a:t>
            </a:r>
            <a:r>
              <a:rPr lang="ru-RU" sz="1600" dirty="0"/>
              <a:t>Анализ НСИ, данных БУ на предмет изменений</a:t>
            </a:r>
            <a:r>
              <a:rPr lang="ru-RU" sz="1600" dirty="0" smtClean="0"/>
              <a:t>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</a:t>
            </a:r>
            <a:r>
              <a:rPr lang="en-US" sz="1400" dirty="0" smtClean="0"/>
              <a:t> </a:t>
            </a:r>
            <a:r>
              <a:rPr lang="ru-RU" sz="1400" dirty="0" smtClean="0"/>
              <a:t>анализирует отчёт о состоянии оборудования, на основе связанных с оборудованием заявок консервации/</a:t>
            </a:r>
            <a:r>
              <a:rPr lang="ru-RU" sz="1400" dirty="0" err="1" smtClean="0"/>
              <a:t>расконсервации</a:t>
            </a:r>
            <a:r>
              <a:rPr lang="ru-RU" sz="1400" dirty="0" smtClean="0"/>
              <a:t>/монтажа/демонтажа.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grpSp>
        <p:nvGrpSpPr>
          <p:cNvPr id="5" name="Группа 4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6" name="Скругленный прямоугольник 5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kern="1200" dirty="0" smtClean="0">
                  <a:solidFill>
                    <a:schemeClr val="bg1"/>
                  </a:solidFill>
                </a:rPr>
                <a:t>Создание сообщения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8" name="Прямая со стрелкой 7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40789" y="3238426"/>
            <a:ext cx="23367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Оборудование с заявками </a:t>
            </a:r>
            <a:r>
              <a:rPr lang="ru-RU" sz="1200" dirty="0"/>
              <a:t>консервации/</a:t>
            </a:r>
            <a:r>
              <a:rPr lang="ru-RU" sz="1200" dirty="0" err="1"/>
              <a:t>расконсервации</a:t>
            </a:r>
            <a:r>
              <a:rPr lang="ru-RU" sz="1200" dirty="0"/>
              <a:t>/монтажа/демонтажа</a:t>
            </a:r>
            <a:r>
              <a:rPr lang="ru-RU" sz="1200" dirty="0" smtClean="0"/>
              <a:t> </a:t>
            </a:r>
            <a:endParaRPr lang="en-US" sz="1200" dirty="0" smtClean="0"/>
          </a:p>
          <a:p>
            <a:endParaRPr lang="ru-RU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3567794" y="4962380"/>
            <a:ext cx="2139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Планировщик </a:t>
            </a:r>
            <a:r>
              <a:rPr lang="ru-RU" dirty="0" err="1"/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17000" y="2409149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IH08</a:t>
            </a:r>
            <a:endParaRPr lang="ru-RU" dirty="0"/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5838099" y="3844728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838099" y="3292781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Формирование </a:t>
            </a:r>
            <a:r>
              <a:rPr lang="ru-RU" sz="1200" dirty="0"/>
              <a:t>заявки на изменения</a:t>
            </a:r>
            <a:endParaRPr lang="ru-RU" sz="1200" dirty="0" smtClean="0"/>
          </a:p>
        </p:txBody>
      </p:sp>
    </p:spTree>
    <p:extLst>
      <p:ext uri="{BB962C8B-B14F-4D97-AF65-F5344CB8AC3E}">
        <p14:creationId xmlns:p14="http://schemas.microsoft.com/office/powerpoint/2010/main" val="1819546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Обучающие видеоролики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474351"/>
              </p:ext>
            </p:extLst>
          </p:nvPr>
        </p:nvGraphicFramePr>
        <p:xfrm>
          <a:off x="195386" y="1248586"/>
          <a:ext cx="8802310" cy="514405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07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9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821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Название</a:t>
                      </a:r>
                      <a:r>
                        <a:rPr lang="ru-RU" sz="1200" baseline="0" dirty="0" smtClean="0"/>
                        <a:t> функции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обучения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упражнения для Инициатора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70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Создание заявки на внеплановые работы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7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Регистрация дефекта или останова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Регистрация дефекта и останова в системе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336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Рассмотрение и корректировка сообщения ответственным за эксплуатацию оборудования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227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Создание сообщения с низким приоритетом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652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Создание сообщения с высоким приоритетом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651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Возврат сообщения на доработку или закрытие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651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Доработка сообщения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6358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Предварительное закрытие сообщения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0076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Передача сообщения в работу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4499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Подтверждение сообщения и передача в работу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793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Закрытие сообщения ТОРО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45980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Анализ сообщений ТОРО в соответствии с приоритетом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046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Обучающие видеоролики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437836"/>
              </p:ext>
            </p:extLst>
          </p:nvPr>
        </p:nvGraphicFramePr>
        <p:xfrm>
          <a:off x="195386" y="1248586"/>
          <a:ext cx="8802310" cy="519101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07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9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7788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Название</a:t>
                      </a:r>
                      <a:r>
                        <a:rPr lang="ru-RU" sz="1200" baseline="0" dirty="0" smtClean="0"/>
                        <a:t> функции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обучения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упражнения для Инициатора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Ввод причины отказа и вида дефекта в сообщение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Ввод фактических сроков и закрытие плановых сообщений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Принятие решения об останове оборудования, устранении аварии и оформлении наряд-задания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762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Создание заявки на </a:t>
                      </a:r>
                      <a:r>
                        <a:rPr lang="ru-RU" sz="1200" dirty="0" err="1" smtClean="0">
                          <a:solidFill>
                            <a:srgbClr val="595959"/>
                          </a:solidFill>
                        </a:rPr>
                        <a:t>расконсервацию</a:t>
                      </a:r>
                      <a:endParaRPr lang="ru-RU" sz="1200" dirty="0" smtClean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557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Создание заявки на консервацию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38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Проверка готовности оборудования к консервации/</a:t>
                      </a:r>
                      <a:r>
                        <a:rPr lang="ru-RU" sz="1200" dirty="0" err="1" smtClean="0">
                          <a:solidFill>
                            <a:srgbClr val="595959"/>
                          </a:solidFill>
                        </a:rPr>
                        <a:t>расконсервации</a:t>
                      </a:r>
                      <a:endParaRPr lang="ru-RU" sz="1200" dirty="0" smtClean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393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Формирование заявки на осмотр оборудования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5557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Создание заявки на ремонт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4538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Согласование заявки на консервацию/</a:t>
                      </a:r>
                      <a:r>
                        <a:rPr lang="ru-RU" sz="1200" dirty="0" err="1" smtClean="0">
                          <a:solidFill>
                            <a:srgbClr val="595959"/>
                          </a:solidFill>
                        </a:rPr>
                        <a:t>расконсервацию</a:t>
                      </a: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/ремонт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381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Анализ НСИ и данных БУ на предмет изменений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4405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Создание заявки на демонтаж ПА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4549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Анализ НСИ, данных БУ на предмет изменений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8762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179881" y="386806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Ключевые транзакции</a:t>
            </a:r>
            <a:r>
              <a:rPr lang="en-US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«</a:t>
            </a:r>
            <a:r>
              <a:rPr lang="ru-RU" sz="1800" dirty="0"/>
              <a:t>Анализ технического состояния производственных активов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D28F94-C432-4660-9220-FF53A770B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755801"/>
              </p:ext>
            </p:extLst>
          </p:nvPr>
        </p:nvGraphicFramePr>
        <p:xfrm>
          <a:off x="277682" y="1745478"/>
          <a:ext cx="8628574" cy="3183573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8628574">
                  <a:extLst>
                    <a:ext uri="{9D8B030D-6E8A-4147-A177-3AD203B41FA5}">
                      <a16:colId xmlns:a16="http://schemas.microsoft.com/office/drawing/2014/main" val="3700845562"/>
                    </a:ext>
                  </a:extLst>
                </a:gridCol>
              </a:tblGrid>
              <a:tr h="581343">
                <a:tc>
                  <a:txBody>
                    <a:bodyPr/>
                    <a:lstStyle/>
                    <a:p>
                      <a:pPr algn="l"/>
                      <a:r>
                        <a:rPr kumimoji="0" lang="ru-RU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Создание сообщений и заявок</a:t>
                      </a:r>
                      <a:endParaRPr lang="ru-RU" sz="1600" dirty="0" smtClean="0">
                        <a:solidFill>
                          <a:srgbClr val="59595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IW21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 Создание сообщения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643292"/>
                  </a:ext>
                </a:extLst>
              </a:tr>
              <a:tr h="5959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 Изменение сообщений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IW22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Изменение сообщения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895380"/>
                  </a:ext>
                </a:extLst>
              </a:tr>
              <a:tr h="6041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 Анализ и ведение сообщений </a:t>
                      </a:r>
                      <a:endParaRPr kumimoji="0" lang="en-US" sz="16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IW28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Изменение сообщений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 Анализ единиц оборудования</a:t>
                      </a:r>
                      <a:endParaRPr kumimoji="0" lang="en-US" sz="16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IH08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Анализ единиц оборудования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 Мобильное ТОРО</a:t>
                      </a:r>
                      <a:endParaRPr kumimoji="0" lang="en-US" sz="16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Создание сообщений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Изменение сообщений</a:t>
                      </a:r>
                      <a:endParaRPr kumimoji="0" lang="en-US" sz="16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9246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903329750A3B44499F5D2E787C86944" ma:contentTypeVersion="0" ma:contentTypeDescription="Создание документа." ma:contentTypeScope="" ma:versionID="bb8435fbffccf5a4c924888fb1f4e1b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6d57dbf9a77af284536b0872d26941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74C5F2-EB3C-42DA-802D-F2BCA964531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8D3441-DF26-4C7E-9641-F6E293897DF1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38B5284-4F25-453C-8235-20B9D019EA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111630</TotalTime>
  <Words>3122</Words>
  <Application>Microsoft Office PowerPoint</Application>
  <PresentationFormat>Экран (4:3)</PresentationFormat>
  <Paragraphs>422</Paragraphs>
  <Slides>41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48" baseType="lpstr">
      <vt:lpstr>Arial</vt:lpstr>
      <vt:lpstr>Calibri</vt:lpstr>
      <vt:lpstr>Calibri Body</vt:lpstr>
      <vt:lpstr>Calibri Light</vt:lpstr>
      <vt:lpstr>Verdana</vt:lpstr>
      <vt:lpstr>Wingdings</vt:lpstr>
      <vt:lpstr>Тема Office</vt:lpstr>
      <vt:lpstr>Инструктаж по функциональному направлению «ТОиР»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Tis</dc:creator>
  <cp:lastModifiedBy>kononovav</cp:lastModifiedBy>
  <cp:revision>4435</cp:revision>
  <cp:lastPrinted>2018-04-09T09:22:20Z</cp:lastPrinted>
  <dcterms:created xsi:type="dcterms:W3CDTF">2015-07-14T13:53:28Z</dcterms:created>
  <dcterms:modified xsi:type="dcterms:W3CDTF">2019-11-13T11:28:37Z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0x0101009903329750A3B44499F5D2E787C86944</vt:lpwstr>
  </property>
</Properties>
</file>