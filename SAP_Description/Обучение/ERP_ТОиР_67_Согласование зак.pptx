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handoutMasterIdLst>
    <p:handoutMasterId r:id="rId41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78" r:id="rId11"/>
    <p:sldId id="1679" r:id="rId12"/>
    <p:sldId id="1680" r:id="rId13"/>
    <p:sldId id="1681" r:id="rId14"/>
    <p:sldId id="1675" r:id="rId15"/>
    <p:sldId id="1676" r:id="rId16"/>
    <p:sldId id="1668" r:id="rId17"/>
    <p:sldId id="1685" r:id="rId18"/>
    <p:sldId id="1686" r:id="rId19"/>
    <p:sldId id="1672" r:id="rId20"/>
    <p:sldId id="1671" r:id="rId21"/>
    <p:sldId id="1670" r:id="rId22"/>
    <p:sldId id="1687" r:id="rId23"/>
    <p:sldId id="1688" r:id="rId24"/>
    <p:sldId id="1689" r:id="rId25"/>
    <p:sldId id="1690" r:id="rId26"/>
    <p:sldId id="1692" r:id="rId27"/>
    <p:sldId id="1693" r:id="rId28"/>
    <p:sldId id="1694" r:id="rId29"/>
    <p:sldId id="1695" r:id="rId30"/>
    <p:sldId id="1697" r:id="rId31"/>
    <p:sldId id="1698" r:id="rId32"/>
    <p:sldId id="1699" r:id="rId33"/>
    <p:sldId id="1700" r:id="rId34"/>
    <p:sldId id="1701" r:id="rId35"/>
    <p:sldId id="1674" r:id="rId36"/>
    <p:sldId id="1684" r:id="rId37"/>
    <p:sldId id="1691" r:id="rId38"/>
    <p:sldId id="1673" r:id="rId39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90B"/>
    <a:srgbClr val="FCC917"/>
    <a:srgbClr val="FFD966"/>
    <a:srgbClr val="FFF7E0"/>
    <a:srgbClr val="FAC90B"/>
    <a:srgbClr val="F6CC0C"/>
    <a:srgbClr val="19938A"/>
    <a:srgbClr val="C00937"/>
    <a:srgbClr val="B8B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60" d="100"/>
          <a:sy n="160" d="100"/>
        </p:scale>
        <p:origin x="1668" y="126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17.12.2019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17.12.2019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help.sap.com/saphelp_470/helpdata/ru/3c/abb1d2413911d1893d0000e8323c4f/content.htm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help.sap.com/saphelp_470/helpdata/ru/3c/abaf12413911d1893d0000e8323c4f/content.ht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Техническое место (ТМ) – это информационный объект, предназначенный для описания относительно постоянного во времени места установки технического объекта или группировки технических объектов по функциональному, технологическому или организационному принципу.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Техническому месту может соответствовать атрибут проектно-конструкторской или технологической документации, такой как: Номер установки, Технологическая позиция, Позиция установки, Канал измерения, Диспетчерское наименование.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Важной особенностью ТМ является функция отражения монтажа/демонтажа единицы оборудования на ТМ, что позволяет сохранять в системе историю перемещений ЕО между ТМ.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ТМ имеет уникальный код, позволяющий однозначно идентифицировать позицию установки ЕО.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320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584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Стратегии предупредительного ТОРО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Стратегия предупредительного ТОРО в системе определяет правила выполнения планируемых мероприятий ТОРО: последовательность и периодичность выполнения работ, состав операций, цикл работ, временные границы допустимого начала и окончания мероприятия.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Централизованный норматив (инструкция ТОРО на модель) имеет одну стратегию ТОРО, но в зависимости от условий эксплуатации и требований завода изготовителя необходимо иметь соответствующий выбор стратегий обслуживания оборудования с учетом разных условий эксплуатации для ЕО, входящих в одну модель (централизованная ТК).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Допускается формирование индивидуальных стратегий ТОРО для ЕО из типовой стратегии на модель, используя «Коэффициент изменения цикла плана» и «Коэффициент изменения цикла позиции плана». Возможны следующие варианты формирования стратегий: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Введение в инструкцию ТОРО дополнительного перечня счетчиков группы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 отдельных нормативов (инструкций ТОРО) с учетом стратегий в рамках одной модели;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Обеспечение оборудования индивидуальной стратегий за счет формирования дополнительных моделей (одна модель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инструкций ТОРО без жесткой связи «Оборудование-Модель-Норматив» (один норматив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учета условий эксплуатации используется локальный норматив на ЕО (ТК ЕО).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стратегии предупредительного ТОРО двух видов – «по календарю» и «по наработке». В первом случае работы выполняются через установленные промежутки календарного времени между ремонтами, единицей измерения периодичности устанавливаются годы, месяцы, недели или дни, во втором случае – через установленные значения наработки оборудования (по достижении определенных фактических значений счетчиков наработки), единицей измерения наработки могут являться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мото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-часы, километры пробега, пуски и т.п.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пакетов мероприятий предупредительного ТОРО в системе ведётся вручную и содержит 2 символа. Если вид работ является «номерным», т.е. содержит порядковый номер (ТО-1, ТО-2), то при кодировке пакета работ необходимо использовать первую букву вида работ и номер работ по порядку.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5097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устанавливают связь между стратегиями предупредительного ТОРО, технологическими картами и техническими объектами.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 два типа плана предупредительного ТОРО: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заказах ТОРО;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сообщениях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требуется выполнить простое предупредительное ТОРО, для которого достаточен один цикл предупредительного ТОРО, можно работать с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планами отдельного цикла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План отдельного цикла является наиболее простым видом плана ТОРО. Для создания такого плана и точно определяется один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цикл предупредительного ТОРО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основе работ или времени, в котором указывается интервал, в течение которого план ТОРО должен быть выполнен. Такой план может применяться, например, для периодических испытаний или проверок работоспособности технических объектов.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может создаваться индивидуально для каждого объекта обслуживания или сразу для группы объектов, если они обслуживаются одновременно по одной технологической карте.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состоит из двух составляющих: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455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CC917"/>
                </a:solidFill>
              </a:rPr>
              <a:t>67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«Согласование заказов ТОРО»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Технические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43" y="970056"/>
            <a:ext cx="7126313" cy="4918967"/>
          </a:xfrm>
          <a:prstGeom prst="rect">
            <a:avLst/>
          </a:prstGeom>
        </p:spPr>
      </p:pic>
      <p:sp>
        <p:nvSpPr>
          <p:cNvPr id="24" name="Пятиугольник 23"/>
          <p:cNvSpPr/>
          <p:nvPr/>
        </p:nvSpPr>
        <p:spPr>
          <a:xfrm rot="5400000">
            <a:off x="1176555" y="303456"/>
            <a:ext cx="426611" cy="2605397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Технические</a:t>
            </a: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87162" y="1819461"/>
            <a:ext cx="2605397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Структурированный список </a:t>
            </a:r>
            <a:r>
              <a:rPr lang="ru-RU" sz="1200" dirty="0" smtClean="0"/>
              <a:t>объектов, описывающий </a:t>
            </a:r>
            <a:r>
              <a:rPr lang="ru-RU" sz="1200" dirty="0"/>
              <a:t>производственные активы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Структурируются </a:t>
            </a:r>
            <a:r>
              <a:rPr lang="ru-RU" sz="1200" dirty="0"/>
              <a:t>на основе </a:t>
            </a:r>
            <a:r>
              <a:rPr lang="ru-RU" sz="1200" dirty="0" smtClean="0"/>
              <a:t>критериев: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относящихся </a:t>
            </a:r>
            <a:r>
              <a:rPr lang="ru-RU" sz="1200" dirty="0"/>
              <a:t>к </a:t>
            </a:r>
            <a:r>
              <a:rPr lang="ru-RU" sz="1200" dirty="0" smtClean="0"/>
              <a:t>процессу;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пространственных;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функциональных</a:t>
            </a:r>
            <a:endParaRPr lang="ru-RU" sz="1200" dirty="0" smtClean="0"/>
          </a:p>
          <a:p>
            <a:pPr lvl="0"/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видах оборудования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принадлежности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степени важности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ответственных лицах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Связаны </a:t>
            </a:r>
            <a:r>
              <a:rPr lang="ru-RU" sz="1200" dirty="0"/>
              <a:t>со структурой учета затрат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252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82" y="3406379"/>
            <a:ext cx="6147169" cy="3333133"/>
          </a:xfrm>
          <a:prstGeom prst="rect">
            <a:avLst/>
          </a:prstGeom>
        </p:spPr>
      </p:pic>
      <p:pic>
        <p:nvPicPr>
          <p:cNvPr id="115" name="Рисунок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084" y="1111744"/>
            <a:ext cx="2937432" cy="21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6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Стратегия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371397" y="-180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Стратегия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47985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Стратегия предупредительного ТОРО в системе </a:t>
            </a:r>
            <a:r>
              <a:rPr lang="en-US" sz="1000" dirty="0" smtClean="0"/>
              <a:t>SAP S/4 HANA </a:t>
            </a:r>
            <a:r>
              <a:rPr lang="ru-RU" sz="1000" dirty="0" smtClean="0"/>
              <a:t>определяет </a:t>
            </a:r>
            <a:r>
              <a:rPr lang="ru-RU" sz="1000" dirty="0"/>
              <a:t>структуру ремонтного цикла объекта - правила выполнения планируемых мероприятий ТОРО: последовательность и периодичность выполнения работ, цикл работ, временные границы допустимого начала и окончания </a:t>
            </a:r>
            <a:r>
              <a:rPr lang="ru-RU" sz="1000" dirty="0" smtClean="0"/>
              <a:t>мероприятия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Определены стратегии </a:t>
            </a:r>
            <a:r>
              <a:rPr lang="ru-RU" sz="1000" dirty="0"/>
              <a:t>предупредительного ТОРО двух видов – «по календарю» и «по наработке</a:t>
            </a:r>
            <a:r>
              <a:rPr lang="ru-RU" sz="1000" dirty="0" smtClean="0"/>
              <a:t>».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</a:p>
          <a:p>
            <a:endParaRPr lang="ru-RU" sz="1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27" y="1152521"/>
            <a:ext cx="2403332" cy="31686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80" y="5242237"/>
            <a:ext cx="8644806" cy="802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824" y="4800542"/>
            <a:ext cx="3490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Линейка обслуживания в рамках стратегии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8424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Планы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245997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Планы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8" y="1771927"/>
            <a:ext cx="552138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endParaRPr lang="ru-RU" sz="12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Предусматривается два </a:t>
            </a:r>
            <a:r>
              <a:rPr lang="ru-RU" sz="1200" dirty="0"/>
              <a:t>типа плана предупредительного ТОРО: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заказах ТОРО;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сообщениях ТОРО.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 предупредительного ТОРО состоит из двух составляющих: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pPr fontAlgn="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637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" y="1405946"/>
            <a:ext cx="8756781" cy="460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0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5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/>
              <a:t>«Согласование заказов ТОРО </a:t>
            </a:r>
            <a:r>
              <a:rPr lang="ru-RU" sz="1800" dirty="0" smtClean="0"/>
              <a:t>при </a:t>
            </a:r>
            <a:r>
              <a:rPr lang="ru-RU" sz="1800" dirty="0"/>
              <a:t>годовом планировании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95960" y="3214058"/>
            <a:ext cx="969365" cy="753581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Формирование предварительного графика ППР на год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3079437" y="4820105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38" name="Скругленный прямоугольник 4"/>
          <p:cNvSpPr txBox="1"/>
          <p:nvPr/>
        </p:nvSpPr>
        <p:spPr>
          <a:xfrm>
            <a:off x="7413103" y="3146113"/>
            <a:ext cx="1290604" cy="89618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lvl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050" dirty="0"/>
              <a:t>Техническое закрытие заказов на диагностику</a:t>
            </a:r>
            <a:endParaRPr lang="ru-RU" sz="1050" kern="1200" dirty="0" smtClean="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6264" y="1089185"/>
            <a:ext cx="206378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Прямая соединительная линия 29"/>
          <p:cNvCxnSpPr>
            <a:endCxn id="13" idx="1"/>
          </p:cNvCxnSpPr>
          <p:nvPr/>
        </p:nvCxnSpPr>
        <p:spPr>
          <a:xfrm flipV="1">
            <a:off x="-396815" y="3590849"/>
            <a:ext cx="492775" cy="27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687315" y="1089185"/>
            <a:ext cx="11942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030022" y="1089185"/>
            <a:ext cx="119803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368839" y="1089185"/>
            <a:ext cx="233486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256044" y="1089185"/>
            <a:ext cx="125290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1171323" y="321405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СГПЛ</a:t>
              </a:r>
              <a:endParaRPr lang="ru-RU" sz="1050" kern="1200" dirty="0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2406299" y="3214058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3" name="Скругленный прямоугольник 5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ССПЛ</a:t>
              </a:r>
              <a:endParaRPr lang="ru-RU" sz="1050" kern="1200" dirty="0"/>
            </a:p>
          </p:txBody>
        </p:sp>
      </p:grpSp>
      <p:cxnSp>
        <p:nvCxnSpPr>
          <p:cNvPr id="55" name="Прямая соединительная линия 54"/>
          <p:cNvCxnSpPr>
            <a:stCxn id="13" idx="3"/>
            <a:endCxn id="45" idx="1"/>
          </p:cNvCxnSpPr>
          <p:nvPr/>
        </p:nvCxnSpPr>
        <p:spPr>
          <a:xfrm>
            <a:off x="1065325" y="3590849"/>
            <a:ext cx="105998" cy="19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5" idx="3"/>
            <a:endCxn id="54" idx="1"/>
          </p:cNvCxnSpPr>
          <p:nvPr/>
        </p:nvCxnSpPr>
        <p:spPr>
          <a:xfrm flipV="1">
            <a:off x="2123715" y="3592753"/>
            <a:ext cx="30336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3835130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8" name="Скругленный прямоугольник 5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СГГС</a:t>
              </a:r>
              <a:endParaRPr lang="ru-RU" sz="1050" kern="1200" dirty="0"/>
            </a:p>
          </p:txBody>
        </p:sp>
      </p:grpSp>
      <p:cxnSp>
        <p:nvCxnSpPr>
          <p:cNvPr id="60" name="Прямая соединительная линия 59"/>
          <p:cNvCxnSpPr>
            <a:stCxn id="53" idx="3"/>
            <a:endCxn id="58" idx="1"/>
          </p:cNvCxnSpPr>
          <p:nvPr/>
        </p:nvCxnSpPr>
        <p:spPr>
          <a:xfrm flipV="1">
            <a:off x="3358691" y="3588944"/>
            <a:ext cx="476439" cy="3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Группа 60"/>
          <p:cNvGrpSpPr/>
          <p:nvPr/>
        </p:nvGrpSpPr>
        <p:grpSpPr>
          <a:xfrm>
            <a:off x="5149619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2" name="Скругленный прямоугольник 6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ПТОГ</a:t>
              </a:r>
              <a:endParaRPr lang="ru-RU" sz="1050" kern="1200" dirty="0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6460711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5" name="Скругленный прямоугольник 6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ГИП</a:t>
              </a:r>
              <a:endParaRPr lang="ru-RU" sz="1050" kern="1200" dirty="0"/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7557917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8" name="Скругленный прямоугольник 6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УТВГ</a:t>
              </a:r>
              <a:endParaRPr lang="ru-RU" sz="1050" kern="1200" dirty="0"/>
            </a:p>
          </p:txBody>
        </p:sp>
      </p:grpSp>
      <p:cxnSp>
        <p:nvCxnSpPr>
          <p:cNvPr id="70" name="Прямая соединительная линия 69"/>
          <p:cNvCxnSpPr>
            <a:stCxn id="58" idx="3"/>
            <a:endCxn id="62" idx="1"/>
          </p:cNvCxnSpPr>
          <p:nvPr/>
        </p:nvCxnSpPr>
        <p:spPr>
          <a:xfrm>
            <a:off x="4787522" y="3588944"/>
            <a:ext cx="3620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62" idx="3"/>
            <a:endCxn id="66" idx="1"/>
          </p:cNvCxnSpPr>
          <p:nvPr/>
        </p:nvCxnSpPr>
        <p:spPr>
          <a:xfrm>
            <a:off x="6102011" y="3588944"/>
            <a:ext cx="37948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38" idx="1"/>
            <a:endCxn id="68" idx="1"/>
          </p:cNvCxnSpPr>
          <p:nvPr/>
        </p:nvCxnSpPr>
        <p:spPr>
          <a:xfrm flipV="1">
            <a:off x="7413103" y="3588944"/>
            <a:ext cx="144814" cy="5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8510309" y="3588944"/>
            <a:ext cx="3341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/>
              <a:t>«Согласование заказов ТОРО </a:t>
            </a:r>
            <a:r>
              <a:rPr lang="ru-RU" sz="1800" dirty="0" smtClean="0"/>
              <a:t>при оперативном(месячном) планировании воздействии на ПА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3079437" y="4820105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38" name="Скругленный прямоугольник 4"/>
          <p:cNvSpPr txBox="1"/>
          <p:nvPr/>
        </p:nvSpPr>
        <p:spPr>
          <a:xfrm>
            <a:off x="6903423" y="3146113"/>
            <a:ext cx="1290604" cy="89618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lvl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050" dirty="0"/>
              <a:t>Техническое закрытие заказов на диагностику</a:t>
            </a:r>
            <a:endParaRPr lang="ru-RU" sz="1050" kern="1200" dirty="0" smtClean="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6264" y="1089185"/>
            <a:ext cx="206378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687315" y="1089185"/>
            <a:ext cx="11942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030022" y="1089185"/>
            <a:ext cx="119803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368839" y="1089185"/>
            <a:ext cx="233486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256044" y="1089185"/>
            <a:ext cx="125290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678850" y="321405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СГПЛ</a:t>
              </a:r>
              <a:endParaRPr lang="ru-RU" sz="1050" kern="1200" dirty="0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2406299" y="3214058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3" name="Скругленный прямоугольник 5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ССПЛ</a:t>
              </a:r>
              <a:endParaRPr lang="ru-RU" sz="1050" kern="1200" dirty="0"/>
            </a:p>
          </p:txBody>
        </p:sp>
      </p:grpSp>
      <p:cxnSp>
        <p:nvCxnSpPr>
          <p:cNvPr id="55" name="Прямая соединительная линия 54"/>
          <p:cNvCxnSpPr>
            <a:endCxn id="45" idx="1"/>
          </p:cNvCxnSpPr>
          <p:nvPr/>
        </p:nvCxnSpPr>
        <p:spPr>
          <a:xfrm>
            <a:off x="266052" y="3588944"/>
            <a:ext cx="412798" cy="38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5" idx="3"/>
            <a:endCxn id="54" idx="1"/>
          </p:cNvCxnSpPr>
          <p:nvPr/>
        </p:nvCxnSpPr>
        <p:spPr>
          <a:xfrm flipV="1">
            <a:off x="1631242" y="3592753"/>
            <a:ext cx="795839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3835130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8" name="Скругленный прямоугольник 5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СГГС</a:t>
              </a:r>
              <a:endParaRPr lang="ru-RU" sz="1050" kern="1200" dirty="0"/>
            </a:p>
          </p:txBody>
        </p:sp>
      </p:grpSp>
      <p:cxnSp>
        <p:nvCxnSpPr>
          <p:cNvPr id="60" name="Прямая соединительная линия 59"/>
          <p:cNvCxnSpPr>
            <a:stCxn id="53" idx="3"/>
            <a:endCxn id="58" idx="1"/>
          </p:cNvCxnSpPr>
          <p:nvPr/>
        </p:nvCxnSpPr>
        <p:spPr>
          <a:xfrm flipV="1">
            <a:off x="3358691" y="3588944"/>
            <a:ext cx="476439" cy="3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Группа 60"/>
          <p:cNvGrpSpPr/>
          <p:nvPr/>
        </p:nvGrpSpPr>
        <p:grpSpPr>
          <a:xfrm>
            <a:off x="5149619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2" name="Скругленный прямоугольник 6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ПТОМ</a:t>
              </a:r>
              <a:endParaRPr lang="ru-RU" sz="1050" kern="1200" dirty="0"/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7048237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8" name="Скругленный прямоугольник 6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УТВМ</a:t>
              </a:r>
              <a:endParaRPr lang="ru-RU" sz="1050" kern="1200" dirty="0"/>
            </a:p>
          </p:txBody>
        </p:sp>
      </p:grpSp>
      <p:cxnSp>
        <p:nvCxnSpPr>
          <p:cNvPr id="70" name="Прямая соединительная линия 69"/>
          <p:cNvCxnSpPr>
            <a:stCxn id="58" idx="3"/>
            <a:endCxn id="62" idx="1"/>
          </p:cNvCxnSpPr>
          <p:nvPr/>
        </p:nvCxnSpPr>
        <p:spPr>
          <a:xfrm>
            <a:off x="4787522" y="3588944"/>
            <a:ext cx="3620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62" idx="3"/>
            <a:endCxn id="68" idx="1"/>
          </p:cNvCxnSpPr>
          <p:nvPr/>
        </p:nvCxnSpPr>
        <p:spPr>
          <a:xfrm>
            <a:off x="6102011" y="3588944"/>
            <a:ext cx="94622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8000629" y="3588944"/>
            <a:ext cx="3341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66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/>
              <a:t>«Согласование заказов ТОРО </a:t>
            </a:r>
            <a:r>
              <a:rPr lang="ru-RU" sz="1800" dirty="0" smtClean="0"/>
              <a:t>при недельно-суточном </a:t>
            </a:r>
            <a:r>
              <a:rPr lang="ru-RU" sz="1800" dirty="0"/>
              <a:t>планировании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3079437" y="4820105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6264" y="2665506"/>
            <a:ext cx="2063782" cy="158376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42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450131" y="2643323"/>
            <a:ext cx="1599658" cy="158376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368839" y="2665506"/>
            <a:ext cx="2334868" cy="158376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43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409991" y="2665506"/>
            <a:ext cx="1703481" cy="158376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641959" y="321405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СГПЛ</a:t>
              </a:r>
              <a:endParaRPr lang="ru-RU" sz="1050" kern="1200" dirty="0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2690763" y="3214058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3" name="Скругленный прямоугольник 5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ССПЛ</a:t>
              </a:r>
              <a:endParaRPr lang="ru-RU" sz="1050" kern="1200" dirty="0"/>
            </a:p>
          </p:txBody>
        </p:sp>
      </p:grpSp>
      <p:cxnSp>
        <p:nvCxnSpPr>
          <p:cNvPr id="55" name="Прямая соединительная линия 54"/>
          <p:cNvCxnSpPr>
            <a:endCxn id="45" idx="1"/>
          </p:cNvCxnSpPr>
          <p:nvPr/>
        </p:nvCxnSpPr>
        <p:spPr>
          <a:xfrm>
            <a:off x="266052" y="3592754"/>
            <a:ext cx="37590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5" idx="3"/>
            <a:endCxn id="54" idx="1"/>
          </p:cNvCxnSpPr>
          <p:nvPr/>
        </p:nvCxnSpPr>
        <p:spPr>
          <a:xfrm flipV="1">
            <a:off x="1594351" y="3592753"/>
            <a:ext cx="1117194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4722606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58" name="Скругленный прямоугольник 5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СГГС</a:t>
              </a:r>
              <a:endParaRPr lang="ru-RU" sz="1050" kern="1200" dirty="0"/>
            </a:p>
          </p:txBody>
        </p:sp>
      </p:grpSp>
      <p:cxnSp>
        <p:nvCxnSpPr>
          <p:cNvPr id="60" name="Прямая соединительная линия 59"/>
          <p:cNvCxnSpPr>
            <a:stCxn id="53" idx="3"/>
            <a:endCxn id="58" idx="1"/>
          </p:cNvCxnSpPr>
          <p:nvPr/>
        </p:nvCxnSpPr>
        <p:spPr>
          <a:xfrm flipV="1">
            <a:off x="3643155" y="3588944"/>
            <a:ext cx="1079451" cy="3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Группа 66"/>
          <p:cNvGrpSpPr/>
          <p:nvPr/>
        </p:nvGrpSpPr>
        <p:grpSpPr>
          <a:xfrm>
            <a:off x="7098084" y="3210249"/>
            <a:ext cx="952392" cy="75739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68" name="Скругленный прямоугольник 6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УТВ</a:t>
              </a:r>
              <a:r>
                <a:rPr lang="ru-RU" sz="1050" dirty="0"/>
                <a:t>Н</a:t>
              </a:r>
              <a:endParaRPr lang="ru-RU" sz="1050" kern="1200" dirty="0"/>
            </a:p>
          </p:txBody>
        </p:sp>
      </p:grpSp>
      <p:cxnSp>
        <p:nvCxnSpPr>
          <p:cNvPr id="71" name="Прямая соединительная линия 70"/>
          <p:cNvCxnSpPr>
            <a:stCxn id="58" idx="3"/>
            <a:endCxn id="68" idx="1"/>
          </p:cNvCxnSpPr>
          <p:nvPr/>
        </p:nvCxnSpPr>
        <p:spPr>
          <a:xfrm>
            <a:off x="5674998" y="3588944"/>
            <a:ext cx="142308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8050476" y="3588944"/>
            <a:ext cx="3341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61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предварительного графика ППР на год»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предварительного графика ППР на год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6" y="333509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Проведен анализ предварительного графика ППР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64547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Год планирования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Техническое место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формирует в виде отчета (примечание: заказы еще не создаются) предварительный график ППР на основе данных планов и заказов ТОРО.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</a:t>
            </a:r>
            <a:r>
              <a:rPr lang="ru-RU" sz="1600" dirty="0" smtClean="0"/>
              <a:t>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проверки и балансировки всех ресурсов на заказах, выполненных в предшествующих шагах,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устанавливает на заказах ТОРО статус «СГПЛ - Отправлен на согласование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ГОК» (при этом статус «ПЛАН» снимается), печатает из системы план-график, подписывает его, и затем передает Старшему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 на </a:t>
            </a:r>
            <a:r>
              <a:rPr lang="ru-RU" sz="1400" dirty="0" smtClean="0"/>
              <a:t>согласование.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согласовывает план-график воздействий на ПА и устанавливает для заказов ТОРО статус «ССПЛ - </a:t>
            </a:r>
            <a:r>
              <a:rPr lang="ru-RU" sz="1400" dirty="0" smtClean="0"/>
              <a:t>Согласовано </a:t>
            </a:r>
            <a:r>
              <a:rPr lang="ru-RU" sz="1400" dirty="0"/>
              <a:t>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ГОК», после чего заказы блокируются для изменения/ корректировок.</a:t>
            </a:r>
          </a:p>
        </p:txBody>
      </p:sp>
    </p:spTree>
    <p:extLst>
      <p:ext uri="{BB962C8B-B14F-4D97-AF65-F5344CB8AC3E}">
        <p14:creationId xmlns:p14="http://schemas.microsoft.com/office/powerpoint/2010/main" val="237636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годовом </a:t>
            </a:r>
            <a:r>
              <a:rPr lang="ru-RU" sz="1600" dirty="0" smtClean="0"/>
              <a:t>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при </a:t>
            </a:r>
            <a:r>
              <a:rPr lang="ru-RU" sz="1400" dirty="0"/>
              <a:t>получении план-графика воздействий на ПА, согласованного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ГОК, проверяет на корректность, при наличии замечаний формирует лист замечаний и передает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 на </a:t>
            </a:r>
            <a:r>
              <a:rPr lang="ru-RU" sz="1400" dirty="0" smtClean="0"/>
              <a:t>корректировку, в </a:t>
            </a:r>
            <a:r>
              <a:rPr lang="ru-RU" sz="1400" dirty="0"/>
              <a:t>случае отсутствия замечаний согласовывает план-график мероприятий </a:t>
            </a:r>
            <a:r>
              <a:rPr lang="ru-RU" sz="1400" dirty="0" err="1"/>
              <a:t>ТОиР</a:t>
            </a:r>
            <a:r>
              <a:rPr lang="ru-RU" sz="1400" dirty="0"/>
              <a:t> путем подписания на бумаге и простановки статуса «СГГС - согласовано главным специалистом» на заказах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103251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ПТОГ Специалистом ПТО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ПТОГ Специалистом ПТО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«ПТОГ»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проверяет план-график воздействий на ПА по заказам ТОРО на все производственное оборудование на соответствие производственной программе и задачам производства и, при выявлении замечаний, формирует лист замечаний, пересылает Главному специалисту </a:t>
            </a:r>
            <a:r>
              <a:rPr lang="ru-RU" sz="1400" dirty="0" err="1"/>
              <a:t>ТОиР</a:t>
            </a:r>
            <a:r>
              <a:rPr lang="ru-RU" sz="1400" dirty="0"/>
              <a:t> БЕ ГОК и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040" y="5142741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При </a:t>
            </a:r>
            <a:r>
              <a:rPr lang="ru-RU" sz="1400" dirty="0"/>
              <a:t>отсутствии замечаний 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производит массовое согласование заказов ТОРО на производственное оборудование, влияющее на производственную деятельность и устанавливает пользовательский статус без порядкового номера «ПТОГ – Согласование ПТО». </a:t>
            </a:r>
          </a:p>
        </p:txBody>
      </p:sp>
    </p:spTree>
    <p:extLst>
      <p:ext uri="{BB962C8B-B14F-4D97-AF65-F5344CB8AC3E}">
        <p14:creationId xmlns:p14="http://schemas.microsoft.com/office/powerpoint/2010/main" val="102920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ГИП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ГИП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«ГИП»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Получив на предыдущем шаге процесса согласование плана-графика воздействий на ПА от Главного инженера </a:t>
            </a:r>
            <a:r>
              <a:rPr lang="ru-RU" sz="1400" dirty="0" smtClean="0"/>
              <a:t>БЕ, </a:t>
            </a:r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устанавливает на заказах ТОРО статус «ГИП - согласован главным инженером».</a:t>
            </a:r>
          </a:p>
        </p:txBody>
      </p:sp>
    </p:spTree>
    <p:extLst>
      <p:ext uri="{BB962C8B-B14F-4D97-AF65-F5344CB8AC3E}">
        <p14:creationId xmlns:p14="http://schemas.microsoft.com/office/powerpoint/2010/main" val="188969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УТВГ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УТВГ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«УТВГ»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устанавливает </a:t>
            </a:r>
            <a:r>
              <a:rPr lang="ru-RU" sz="1400" dirty="0"/>
              <a:t>на заказах ТОРО статус «УТВГ - утвержден в программе ремонтов, включен в годовой план», а при выявлении замечаний инициирует соответствующие корректировки (сроков, объемов работ). Данный статус будет оставаться установленным на протяжении всего жизненного цикла заказа ТОРО. По статусу УТВГ в стандартных и нестандартных отчетах можно будет выбрать заказы, которые были утверждены в годовой программе воздействий на ПА.</a:t>
            </a:r>
          </a:p>
        </p:txBody>
      </p:sp>
    </p:spTree>
    <p:extLst>
      <p:ext uri="{BB962C8B-B14F-4D97-AF65-F5344CB8AC3E}">
        <p14:creationId xmlns:p14="http://schemas.microsoft.com/office/powerpoint/2010/main" val="259572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оперативном(месячном) 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ТОИР БЕ ГОК устанавливает на заказах ТОРО статус «СГПЛ – согласовано планировщиком», и извещает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 БЕ ГОК о необходимости согласования плана-графика воздействий на ПА на следующий месяц.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72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оперативном(месячном)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согласовывает месячный план-график воздействий на ПА и устанавливает соответствующий статус Заказа ТОРО («ССПЛ - </a:t>
            </a:r>
            <a:r>
              <a:rPr lang="ru-RU" sz="1400" dirty="0" err="1"/>
              <a:t>Cогласовано</a:t>
            </a:r>
            <a:r>
              <a:rPr lang="ru-RU" sz="1400" dirty="0"/>
              <a:t>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»), после чего Заказы ТОРО блокируются для изменения/корректировок. </a:t>
            </a:r>
          </a:p>
        </p:txBody>
      </p:sp>
    </p:spTree>
    <p:extLst>
      <p:ext uri="{BB962C8B-B14F-4D97-AF65-F5344CB8AC3E}">
        <p14:creationId xmlns:p14="http://schemas.microsoft.com/office/powerpoint/2010/main" val="147984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</a:t>
            </a:r>
            <a:r>
              <a:rPr lang="ru-RU" sz="1600" dirty="0" smtClean="0"/>
              <a:t>оперативном(месячном) 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согласует план-график воздействий на ПА, путем установки статуса «СГГС - согласовано главным специалистом». В случае наличия замечаний, устанавливает на заказах статус «КОРР – заказ требует корректировки». При этом происходит автоматическое сбрасывание статуса на «План - планируется»</a:t>
            </a:r>
          </a:p>
        </p:txBody>
      </p:sp>
    </p:spTree>
    <p:extLst>
      <p:ext uri="{BB962C8B-B14F-4D97-AF65-F5344CB8AC3E}">
        <p14:creationId xmlns:p14="http://schemas.microsoft.com/office/powerpoint/2010/main" val="132972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</a:t>
            </a:r>
            <a:r>
              <a:rPr lang="ru-RU" sz="1600" dirty="0" smtClean="0"/>
              <a:t>ПТОМ </a:t>
            </a:r>
            <a:r>
              <a:rPr lang="ru-RU" sz="1600" dirty="0"/>
              <a:t>Специалистом ПТО на </a:t>
            </a:r>
            <a:r>
              <a:rPr lang="ru-RU" sz="1600" dirty="0" smtClean="0"/>
              <a:t>оперативном(месячном)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</a:t>
              </a:r>
              <a:r>
                <a:rPr lang="ru-RU" sz="1600" dirty="0" smtClean="0"/>
                <a:t>ПТОМ </a:t>
              </a:r>
              <a:r>
                <a:rPr lang="ru-RU" sz="1600" dirty="0"/>
                <a:t>Специалистом ПТО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«ПТОМ»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утверждения плана-графика Главным специалистом </a:t>
            </a:r>
            <a:r>
              <a:rPr lang="ru-RU" sz="1400" dirty="0" err="1"/>
              <a:t>ТОиР</a:t>
            </a:r>
            <a:r>
              <a:rPr lang="ru-RU" sz="1400" dirty="0"/>
              <a:t> БЕ ГОК  специалист ПТО БЕ ГОК анализирует план-график воздействий на ПА на соответствие целевым КТГ, и при наличии замечаний фиксирует их в виде листа замечаний. Затем направляет по электронной почте лист замечаний предыдущим участникам согласования и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, который проводит соответствующие необходимые корректировки </a:t>
            </a:r>
            <a:r>
              <a:rPr lang="ru-RU" sz="1400" dirty="0" smtClean="0"/>
              <a:t>заказов, </a:t>
            </a:r>
            <a:r>
              <a:rPr lang="ru-RU" sz="1400" dirty="0"/>
              <a:t>после чего план-график проходит повторное согласование и утверждение.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040" y="5142741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При </a:t>
            </a:r>
            <a:r>
              <a:rPr lang="ru-RU" sz="1400" dirty="0"/>
              <a:t>отсутствии замечаний 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производит массовое согласование заказов ТОРО на производственное оборудование, влияющее на производственную деятельность и устанавливает пользовательский статус без порядкового номера «ПТОГ – Согласование ПТО». </a:t>
            </a:r>
          </a:p>
        </p:txBody>
      </p:sp>
    </p:spTree>
    <p:extLst>
      <p:ext uri="{BB962C8B-B14F-4D97-AF65-F5344CB8AC3E}">
        <p14:creationId xmlns:p14="http://schemas.microsoft.com/office/powerpoint/2010/main" val="311935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</a:t>
            </a:r>
            <a:r>
              <a:rPr lang="ru-RU" sz="1600" dirty="0" smtClean="0"/>
              <a:t>УТВМ </a:t>
            </a:r>
            <a:r>
              <a:rPr lang="ru-RU" sz="1600" dirty="0"/>
              <a:t>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оперативном(месячном) горизонте</a:t>
            </a:r>
            <a:r>
              <a:rPr lang="ru-RU" sz="1600" dirty="0"/>
              <a:t>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</a:t>
              </a:r>
              <a:r>
                <a:rPr lang="ru-RU" sz="1600" dirty="0" smtClean="0"/>
                <a:t>УТВМ </a:t>
              </a:r>
              <a:r>
                <a:rPr lang="ru-RU" sz="1600" dirty="0"/>
                <a:t>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оперативном(месячном)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«УТВМ»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устанавливает </a:t>
            </a:r>
            <a:r>
              <a:rPr lang="ru-RU" sz="1400" dirty="0"/>
              <a:t>на заказах ТОРО статус «</a:t>
            </a:r>
            <a:r>
              <a:rPr lang="ru-RU" sz="1400" dirty="0" smtClean="0"/>
              <a:t>УТВМ </a:t>
            </a:r>
            <a:r>
              <a:rPr lang="ru-RU" sz="1400" dirty="0"/>
              <a:t>- </a:t>
            </a:r>
            <a:r>
              <a:rPr lang="ru-RU" sz="1400" dirty="0" smtClean="0"/>
              <a:t>утвержден </a:t>
            </a:r>
            <a:r>
              <a:rPr lang="ru-RU" sz="1400" dirty="0"/>
              <a:t>в </a:t>
            </a:r>
            <a:r>
              <a:rPr lang="ru-RU" sz="1400" dirty="0" smtClean="0"/>
              <a:t>месячном плане», </a:t>
            </a:r>
            <a:r>
              <a:rPr lang="ru-RU" sz="1400" dirty="0"/>
              <a:t>а при выявлении замечаний инициирует соответствующие корректировки (сроков, объемов работ). </a:t>
            </a:r>
          </a:p>
        </p:txBody>
      </p:sp>
    </p:spTree>
    <p:extLst>
      <p:ext uri="{BB962C8B-B14F-4D97-AF65-F5344CB8AC3E}">
        <p14:creationId xmlns:p14="http://schemas.microsoft.com/office/powerpoint/2010/main" val="83854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горизонте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ТОИР БЕ ГОК устанавливает на заказах ТОРО статус «СГПЛ – согласовано планировщиком», и извещает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 БЕ ГОК о необходимости согласования плана-графика воздействий на ПА </a:t>
            </a:r>
            <a:r>
              <a:rPr lang="ru-RU" sz="1400" dirty="0" smtClean="0"/>
              <a:t>на неделю.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6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согласовывает недельный </a:t>
            </a:r>
            <a:r>
              <a:rPr lang="ru-RU" sz="1400" dirty="0"/>
              <a:t>план-график воздействий на ПА и устанавливает соответствующий статус Заказа ТОРО («ССПЛ - </a:t>
            </a:r>
            <a:r>
              <a:rPr lang="ru-RU" sz="1400" dirty="0" err="1"/>
              <a:t>Cогласовано</a:t>
            </a:r>
            <a:r>
              <a:rPr lang="ru-RU" sz="1400" dirty="0"/>
              <a:t>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»), после чего Заказы ТОРО блокируются для изменения/корректировок. </a:t>
            </a:r>
          </a:p>
        </p:txBody>
      </p:sp>
    </p:spTree>
    <p:extLst>
      <p:ext uri="{BB962C8B-B14F-4D97-AF65-F5344CB8AC3E}">
        <p14:creationId xmlns:p14="http://schemas.microsoft.com/office/powerpoint/2010/main" val="210736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</a:t>
            </a:r>
            <a:r>
              <a:rPr lang="ru-RU" sz="1600" dirty="0" smtClean="0"/>
              <a:t>недельно-суточном 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</a:t>
              </a:r>
              <a:r>
                <a:rPr lang="ru-RU" sz="1600" dirty="0" smtClean="0"/>
                <a:t>недельно-суточном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согласует план-график воздействий на ПА, путем установки статуса «СГГС - согласовано главным специалистом». В случае наличия замечаний, устанавливает на заказах статус «КОРР – заказ требует корректировки». При этом происходит автоматическое сбрасывание статуса на «План - планируется»</a:t>
            </a:r>
          </a:p>
        </p:txBody>
      </p:sp>
    </p:spTree>
    <p:extLst>
      <p:ext uri="{BB962C8B-B14F-4D97-AF65-F5344CB8AC3E}">
        <p14:creationId xmlns:p14="http://schemas.microsoft.com/office/powerpoint/2010/main" val="597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</a:t>
            </a:r>
            <a:r>
              <a:rPr lang="ru-RU" sz="1600" dirty="0" smtClean="0"/>
              <a:t>УТВН </a:t>
            </a:r>
            <a:r>
              <a:rPr lang="ru-RU" sz="1600" dirty="0"/>
              <a:t>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горизонте</a:t>
            </a:r>
            <a:r>
              <a:rPr lang="ru-RU" sz="1600" dirty="0"/>
              <a:t>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</a:t>
              </a:r>
              <a:r>
                <a:rPr lang="ru-RU" sz="1600" dirty="0" smtClean="0"/>
                <a:t>УТВН </a:t>
              </a:r>
              <a:r>
                <a:rPr lang="ru-RU" sz="1600" dirty="0"/>
                <a:t>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«УТВН»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устанавливает </a:t>
            </a:r>
            <a:r>
              <a:rPr lang="ru-RU" sz="1400" dirty="0"/>
              <a:t>на заказах ТОРО статус «</a:t>
            </a:r>
            <a:r>
              <a:rPr lang="ru-RU" sz="1400" dirty="0" smtClean="0"/>
              <a:t>УТВН </a:t>
            </a:r>
            <a:r>
              <a:rPr lang="ru-RU" sz="1400" dirty="0"/>
              <a:t>- утвержден </a:t>
            </a:r>
            <a:r>
              <a:rPr lang="ru-RU" sz="1400" dirty="0" smtClean="0"/>
              <a:t>в недельном плане», </a:t>
            </a:r>
            <a:r>
              <a:rPr lang="ru-RU" sz="1400" dirty="0"/>
              <a:t>а при выявлении замечаний инициирует соответствующие корректировки (сроков, объемов работ). </a:t>
            </a:r>
          </a:p>
        </p:txBody>
      </p:sp>
    </p:spTree>
    <p:extLst>
      <p:ext uri="{BB962C8B-B14F-4D97-AF65-F5344CB8AC3E}">
        <p14:creationId xmlns:p14="http://schemas.microsoft.com/office/powerpoint/2010/main" val="140829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437075"/>
              </p:ext>
            </p:extLst>
          </p:nvPr>
        </p:nvGraphicFramePr>
        <p:xfrm>
          <a:off x="195386" y="1248586"/>
          <a:ext cx="8802310" cy="49281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81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предварительного графика ППР на год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8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СГПЛ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1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ССПЛ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7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СГГС Главным специалистом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9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ПТОГ Специалистом ПТО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691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ГИП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57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УТВГ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годовом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2857"/>
              </p:ext>
            </p:extLst>
          </p:nvPr>
        </p:nvGraphicFramePr>
        <p:xfrm>
          <a:off x="195386" y="1248586"/>
          <a:ext cx="8802310" cy="371381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81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СГПЛ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 на месячном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8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ССПЛ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 на месячном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7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СГГС Главным специалистом на месячном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3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ПТОМ Специалистом ПТО на месячном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82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УТВГ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месячном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796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32304"/>
              </p:ext>
            </p:extLst>
          </p:nvPr>
        </p:nvGraphicFramePr>
        <p:xfrm>
          <a:off x="195386" y="1248586"/>
          <a:ext cx="8802310" cy="39611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81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СГПЛ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 на недельном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0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ССПЛ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 на недельном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1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СГГС Главным специалистом на недельном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91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Установка статуса УТВН Старшим планировщиком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ТОиР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 на недельном-суточном горизонте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319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«Выполнение и регистрация результатов диагностики ПА»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283101"/>
              </p:ext>
            </p:extLst>
          </p:nvPr>
        </p:nvGraphicFramePr>
        <p:xfrm>
          <a:off x="277682" y="1745478"/>
          <a:ext cx="8628574" cy="60453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val="3700845562"/>
                    </a:ext>
                  </a:extLst>
                </a:gridCol>
              </a:tblGrid>
              <a:tr h="60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АРМ Планировщика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43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110021</TotalTime>
  <Words>3752</Words>
  <Application>Microsoft Office PowerPoint</Application>
  <PresentationFormat>Экран (4:3)</PresentationFormat>
  <Paragraphs>345</Paragraphs>
  <Slides>35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Миронова Наталья Владимировна</cp:lastModifiedBy>
  <cp:revision>4431</cp:revision>
  <cp:lastPrinted>2018-04-09T09:22:20Z</cp:lastPrinted>
  <dcterms:created xsi:type="dcterms:W3CDTF">2015-07-14T13:53:28Z</dcterms:created>
  <dcterms:modified xsi:type="dcterms:W3CDTF">2019-12-18T13:33:38Z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