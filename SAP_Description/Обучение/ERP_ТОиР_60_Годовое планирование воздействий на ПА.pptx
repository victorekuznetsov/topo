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3"/>
  </p:notesMasterIdLst>
  <p:handoutMasterIdLst>
    <p:handoutMasterId r:id="rId54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728" r:id="rId11"/>
    <p:sldId id="1729" r:id="rId12"/>
    <p:sldId id="1730" r:id="rId13"/>
    <p:sldId id="1681" r:id="rId14"/>
    <p:sldId id="1682" r:id="rId15"/>
    <p:sldId id="1668" r:id="rId16"/>
    <p:sldId id="1689" r:id="rId17"/>
    <p:sldId id="1690" r:id="rId18"/>
    <p:sldId id="1691" r:id="rId19"/>
    <p:sldId id="1692" r:id="rId20"/>
    <p:sldId id="1683" r:id="rId21"/>
    <p:sldId id="1731" r:id="rId22"/>
    <p:sldId id="1693" r:id="rId23"/>
    <p:sldId id="1694" r:id="rId24"/>
    <p:sldId id="1695" r:id="rId25"/>
    <p:sldId id="1696" r:id="rId26"/>
    <p:sldId id="1697" r:id="rId27"/>
    <p:sldId id="1698" r:id="rId28"/>
    <p:sldId id="1699" r:id="rId29"/>
    <p:sldId id="1684" r:id="rId30"/>
    <p:sldId id="1700" r:id="rId31"/>
    <p:sldId id="1702" r:id="rId32"/>
    <p:sldId id="1703" r:id="rId33"/>
    <p:sldId id="1685" r:id="rId34"/>
    <p:sldId id="1704" r:id="rId35"/>
    <p:sldId id="1705" r:id="rId36"/>
    <p:sldId id="1706" r:id="rId37"/>
    <p:sldId id="1708" r:id="rId38"/>
    <p:sldId id="1709" r:id="rId39"/>
    <p:sldId id="1687" r:id="rId40"/>
    <p:sldId id="1715" r:id="rId41"/>
    <p:sldId id="1717" r:id="rId42"/>
    <p:sldId id="1718" r:id="rId43"/>
    <p:sldId id="1688" r:id="rId44"/>
    <p:sldId id="1721" r:id="rId45"/>
    <p:sldId id="1722" r:id="rId46"/>
    <p:sldId id="1723" r:id="rId47"/>
    <p:sldId id="1724" r:id="rId48"/>
    <p:sldId id="1725" r:id="rId49"/>
    <p:sldId id="1726" r:id="rId50"/>
    <p:sldId id="1727" r:id="rId51"/>
    <p:sldId id="1673" r:id="rId52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171"/>
    <a:srgbClr val="C3C3C3"/>
    <a:srgbClr val="FFFFFF"/>
    <a:srgbClr val="FBC90B"/>
    <a:srgbClr val="FCC917"/>
    <a:srgbClr val="FFD966"/>
    <a:srgbClr val="FFF7E0"/>
    <a:srgbClr val="FAC90B"/>
    <a:srgbClr val="F6CC0C"/>
    <a:srgbClr val="1993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89" d="100"/>
          <a:sy n="89" d="100"/>
        </p:scale>
        <p:origin x="739" y="67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22.11.2019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22.11.2019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help.sap.com/saphelp_470/helpdata/ru/3c/abb1d2413911d1893d0000e8323c4f/content.htm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help.sap.com/saphelp_470/helpdata/ru/3c/abaf12413911d1893d0000e8323c4f/content.htm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предназначены для формирования годового плана работ по ремонту и обслуживанию технических объектов на основании ведущихся в системе стратегий и технологических карт.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описывают периодичность выполнения регламентных работ, объемы и виды работ, выполняемых на технических объектах, а также указывают необходимые ресурсы для проведения работ. 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Планы предупредительного ТОРО устанавливают связь между стратегиями предупредительного ТОРО, технологическими картами и техническими объектами.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Используются два типа плана предупредительного ТОРО: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на заказах ТОРО;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на сообщениях ТОРО.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требуется выполнить простое предупредительное ТОРО, для которого достаточен один цикл предупредительного ТОРО, можно работать с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планами отдельного цикла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План отдельного цикла является наиболее простым видом плана ТОРО. Для создания такого плана и точно определяется один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цикл предупредительного ТОРО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основе работ или времени, в котором указывается интервал, в течение которого план ТОРО должен быть выполнен. Такой план может применяться, например, для периодических испытаний или проверок работоспособности технических объектов.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может создаваться индивидуально для каждого объекта обслуживания или сразу для группы объектов, если они обслуживаются одновременно по одной технологической карте.</a:t>
            </a:r>
          </a:p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 предупредительного ТОРО состоит из двух составляющих: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Заголовок плана, определяющий общие данные для автоматического планирования (горизонт планирования, условия при которых работа будет запланирована, тип объекта отзыва и т.д.);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 или несколько позиций предупредительного ТОРО, которая определяет, какая технологическая карта и связанная с ней стратегия будет использоваться.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9774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6" y="2726829"/>
            <a:ext cx="8520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rgbClr val="FCC917"/>
                </a:solidFill>
              </a:rPr>
              <a:t>60</a:t>
            </a:r>
            <a:r>
              <a:rPr lang="en-US" sz="2800" dirty="0" smtClean="0">
                <a:solidFill>
                  <a:srgbClr val="FCC917"/>
                </a:solidFill>
              </a:rPr>
              <a:t>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«Годовое планирование воздействий на ПА»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="" xmlns:a16="http://schemas.microsoft.com/office/drawing/2014/main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="" xmlns:a16="http://schemas.microsoft.com/office/drawing/2014/main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=""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="" xmlns:a16="http://schemas.microsoft.com/office/drawing/2014/main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=""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="" xmlns:a16="http://schemas.microsoft.com/office/drawing/2014/main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=""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=""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="" xmlns:a16="http://schemas.microsoft.com/office/drawing/2014/main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="" xmlns:a16="http://schemas.microsoft.com/office/drawing/2014/main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="" xmlns:a16="http://schemas.microsoft.com/office/drawing/2014/main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=""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=""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=""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Планы ТОРО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2459971" y="-18452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Планы ТОРО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9818" y="1771927"/>
            <a:ext cx="5521381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 smtClean="0"/>
              <a:t>Планы предупредительного ТОРО предназначены для формирования годового плана работ по ремонту и обслуживанию технических объектов на основании ведущихся в системе стратегий и технологических карт.</a:t>
            </a:r>
          </a:p>
          <a:p>
            <a:pPr fontAlgn="t"/>
            <a:endParaRPr lang="ru-RU" sz="1200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/>
              <a:t>Планы предупредительного ТОРО описывают периодичность выполнения регламентных работ, объемы и виды работ, выполняемых на технических объектах, а также указывают необходимые ресурсы для проведения работ. </a:t>
            </a:r>
          </a:p>
          <a:p>
            <a:pPr fontAlgn="t"/>
            <a:endParaRPr lang="ru-RU" sz="12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 smtClean="0"/>
              <a:t>Предусматривается два </a:t>
            </a:r>
            <a:r>
              <a:rPr lang="ru-RU" sz="1200" dirty="0"/>
              <a:t>типа плана предупредительного ТОРО: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План предупредительного ТОРО на заказах ТОРО;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План предупредительного ТОРО на сообщениях ТОРО.</a:t>
            </a:r>
          </a:p>
          <a:p>
            <a:pPr fontAlgn="t"/>
            <a:endParaRPr lang="ru-RU" sz="1200" dirty="0" smtClean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ru-RU" sz="1200" dirty="0"/>
              <a:t>План предупредительного ТОРО состоит из двух составляющих: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Заголовок плана, определяющий общие данные для автоматического планирования (горизонт планирования, условия при которых работа будет запланирована, тип объекта отзыва и т.д.);</a:t>
            </a:r>
          </a:p>
          <a:p>
            <a:pPr marL="171450" lvl="0" indent="-171450" fontAlgn="t">
              <a:buFont typeface="Wingdings" panose="05000000000000000000" pitchFamily="2" charset="2"/>
              <a:buChar char="Ø"/>
            </a:pPr>
            <a:r>
              <a:rPr lang="ru-RU" sz="1200" dirty="0"/>
              <a:t>Одна или несколько позиций предупредительного ТОРО, которая определяет, какая технологическая карта и связанная с ней стратегия будет использоваться.</a:t>
            </a:r>
          </a:p>
          <a:p>
            <a:pPr fontAlgn="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583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</a:t>
            </a: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6" y="1405946"/>
            <a:ext cx="8756781" cy="460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ТОРО. Виды заказов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0" y="1266239"/>
            <a:ext cx="8570235" cy="48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8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643832"/>
            <a:ext cx="8725213" cy="32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0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ТОРО. Виды сообщений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284402"/>
            <a:ext cx="8734738" cy="4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7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«Актуализация планов ТОРО и формирование предварительного графика ППР»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cxnSp>
        <p:nvCxnSpPr>
          <p:cNvPr id="31" name="Прямая соединительная линия 30"/>
          <p:cNvCxnSpPr>
            <a:endCxn id="39" idx="1"/>
          </p:cNvCxnSpPr>
          <p:nvPr/>
        </p:nvCxnSpPr>
        <p:spPr>
          <a:xfrm>
            <a:off x="60385" y="3956265"/>
            <a:ext cx="316857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50125" y="1101092"/>
            <a:ext cx="862293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Группа 24"/>
          <p:cNvGrpSpPr/>
          <p:nvPr/>
        </p:nvGrpSpPr>
        <p:grpSpPr>
          <a:xfrm>
            <a:off x="2552803" y="3390181"/>
            <a:ext cx="1864490" cy="1132168"/>
            <a:chOff x="103199" y="808239"/>
            <a:chExt cx="916520" cy="682828"/>
          </a:xfrm>
        </p:grpSpPr>
        <p:sp>
          <p:nvSpPr>
            <p:cNvPr id="27" name="Скругленный прямоугольник 2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Календарное планирование планов ТОРО</a:t>
              </a:r>
              <a:endParaRPr lang="ru-RU" sz="1050" kern="1200" dirty="0"/>
            </a:p>
          </p:txBody>
        </p:sp>
      </p:grpSp>
      <p:grpSp>
        <p:nvGrpSpPr>
          <p:cNvPr id="35" name="Группа 34"/>
          <p:cNvGrpSpPr/>
          <p:nvPr/>
        </p:nvGrpSpPr>
        <p:grpSpPr>
          <a:xfrm>
            <a:off x="377242" y="3390181"/>
            <a:ext cx="1969143" cy="1132172"/>
            <a:chOff x="103199" y="808239"/>
            <a:chExt cx="916520" cy="682828"/>
          </a:xfrm>
        </p:grpSpPr>
        <p:sp>
          <p:nvSpPr>
            <p:cNvPr id="39" name="Скругленный прямоугольник 3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Актуализация планов ТОРО</a:t>
              </a:r>
              <a:endParaRPr lang="ru-RU" sz="1050" kern="1200" dirty="0"/>
            </a:p>
          </p:txBody>
        </p:sp>
      </p:grpSp>
      <p:grpSp>
        <p:nvGrpSpPr>
          <p:cNvPr id="41" name="Группа 40"/>
          <p:cNvGrpSpPr/>
          <p:nvPr/>
        </p:nvGrpSpPr>
        <p:grpSpPr>
          <a:xfrm>
            <a:off x="4649874" y="3390181"/>
            <a:ext cx="1880606" cy="1132168"/>
            <a:chOff x="103199" y="808239"/>
            <a:chExt cx="916520" cy="682828"/>
          </a:xfrm>
        </p:grpSpPr>
        <p:sp>
          <p:nvSpPr>
            <p:cNvPr id="46" name="Скругленный прямоугольник 45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Формирование предварительного графика ППР</a:t>
              </a:r>
              <a:endParaRPr lang="ru-RU" sz="1050" kern="1200" dirty="0"/>
            </a:p>
          </p:txBody>
        </p:sp>
      </p:grpSp>
      <p:grpSp>
        <p:nvGrpSpPr>
          <p:cNvPr id="48" name="Группа 47"/>
          <p:cNvGrpSpPr/>
          <p:nvPr/>
        </p:nvGrpSpPr>
        <p:grpSpPr>
          <a:xfrm>
            <a:off x="6763062" y="3390181"/>
            <a:ext cx="1880606" cy="1132169"/>
            <a:chOff x="103199" y="808239"/>
            <a:chExt cx="916520" cy="682828"/>
          </a:xfrm>
        </p:grpSpPr>
        <p:sp>
          <p:nvSpPr>
            <p:cNvPr id="49" name="Скругленный прямоугольник 4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Анализ предварительного графика ППР</a:t>
              </a:r>
              <a:endParaRPr lang="ru-RU" sz="1050" kern="1200" dirty="0"/>
            </a:p>
          </p:txBody>
        </p:sp>
      </p:grpSp>
      <p:cxnSp>
        <p:nvCxnSpPr>
          <p:cNvPr id="51" name="Прямая соединительная линия 50"/>
          <p:cNvCxnSpPr>
            <a:stCxn id="39" idx="3"/>
            <a:endCxn id="27" idx="1"/>
          </p:cNvCxnSpPr>
          <p:nvPr/>
        </p:nvCxnSpPr>
        <p:spPr>
          <a:xfrm flipV="1">
            <a:off x="2346385" y="3956265"/>
            <a:ext cx="206418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>
            <a:stCxn id="27" idx="3"/>
            <a:endCxn id="46" idx="1"/>
          </p:cNvCxnSpPr>
          <p:nvPr/>
        </p:nvCxnSpPr>
        <p:spPr>
          <a:xfrm>
            <a:off x="4417293" y="3956265"/>
            <a:ext cx="23258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46" idx="3"/>
            <a:endCxn id="49" idx="1"/>
          </p:cNvCxnSpPr>
          <p:nvPr/>
        </p:nvCxnSpPr>
        <p:spPr>
          <a:xfrm>
            <a:off x="6530480" y="3956265"/>
            <a:ext cx="23258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>
            <a:stCxn id="49" idx="3"/>
          </p:cNvCxnSpPr>
          <p:nvPr/>
        </p:nvCxnSpPr>
        <p:spPr>
          <a:xfrm flipV="1">
            <a:off x="8643668" y="3956265"/>
            <a:ext cx="439947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«Актуализация планов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Актуализация планов ТОРО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636698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Реестр планов ТОРО (актуализированный)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65804" y="3805975"/>
            <a:ext cx="1829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Реестр планов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Перед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планированием воздействий (заказов ТОРО) на планируемый год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осуществляет анализ полноты охвата планами ТОРО всего оборудования, обслуживаемого по ППР (в зоне ответственности Планировщика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), и анализ актуальности справочников НСИ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, используемых в планах ТОРО: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•	стратегии ТОРО (цикл ППР);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•	счетчики наработки (для планов ТОРО по наработке);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•	технологические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карты.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3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«Календарное планирование планов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Календарное планирование планов ТОРО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36145" y="350724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Выполнено календарное планирование планов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55090" y="3771829"/>
            <a:ext cx="1829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Реестр планов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На основании фактических значений наработок, зафиксированных в документах измерений,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осуществляет в системе календарное планирование планов ТОРО (расчет сроков воздействий</a:t>
            </a:r>
            <a:r>
              <a:rPr lang="ru-RU" sz="1400" dirty="0" smtClean="0"/>
              <a:t>).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57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«Формирование предварительного графика ППР»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Формирование предварительного плана ППР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70653" y="3505893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Сформирован предварительный график ППР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58217" y="3476196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Техническое место</a:t>
            </a:r>
            <a:br>
              <a:rPr lang="ru-RU" sz="1100" dirty="0" smtClean="0">
                <a:solidFill>
                  <a:srgbClr val="595959"/>
                </a:solidFill>
              </a:rPr>
            </a:br>
            <a:r>
              <a:rPr lang="ru-RU" sz="1100" dirty="0" smtClean="0">
                <a:solidFill>
                  <a:srgbClr val="595959"/>
                </a:solidFill>
              </a:rPr>
              <a:t>Группа планирования</a:t>
            </a:r>
            <a:br>
              <a:rPr lang="ru-RU" sz="1100" dirty="0" smtClean="0">
                <a:solidFill>
                  <a:srgbClr val="595959"/>
                </a:solidFill>
              </a:rPr>
            </a:br>
            <a:r>
              <a:rPr lang="ru-RU" sz="1100" dirty="0" smtClean="0">
                <a:solidFill>
                  <a:srgbClr val="595959"/>
                </a:solidFill>
              </a:rPr>
              <a:t>Период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err="1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 формирует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предварительный график ППР в зоне своей ответственности. Предварительный график ППР формируется в АРМ Планировщика (режим «Моделирование годового предварительного план-графика»). Заказы ТОРО еще не создаются.</a:t>
            </a:r>
          </a:p>
        </p:txBody>
      </p:sp>
    </p:spTree>
    <p:extLst>
      <p:ext uri="{BB962C8B-B14F-4D97-AF65-F5344CB8AC3E}">
        <p14:creationId xmlns:p14="http://schemas.microsoft.com/office/powerpoint/2010/main" val="321120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«Анализ предварительного плана ППР»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Анализ предупредительного плана ППР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643883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Предварительный график ППР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77162" y="3643884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Предварительный график ППР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проверяет корректность сформированного предварительного графика ППР на предмет: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•	учета всех необходимых изменений в соответствии с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шагом «Актуализация планов ТОРО»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•	учета всего перечня оборудования, для которого должны быть запланированы мероприятия и которое находится в его зоне ответственности.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199886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«Формирование годовой программы ППА»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215415" y="482737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9012" y="1101092"/>
            <a:ext cx="567618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Группа 34"/>
          <p:cNvGrpSpPr/>
          <p:nvPr/>
        </p:nvGrpSpPr>
        <p:grpSpPr>
          <a:xfrm>
            <a:off x="108545" y="3845725"/>
            <a:ext cx="951226" cy="709478"/>
            <a:chOff x="103199" y="808239"/>
            <a:chExt cx="916520" cy="682828"/>
          </a:xfrm>
        </p:grpSpPr>
        <p:sp>
          <p:nvSpPr>
            <p:cNvPr id="39" name="Скругленный прямоугольник 3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Создание заказов и сообщений из планов ТОРО</a:t>
              </a:r>
              <a:endParaRPr lang="ru-RU" sz="1050" kern="1200" dirty="0"/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1187756" y="3843046"/>
            <a:ext cx="1066843" cy="709478"/>
            <a:chOff x="103199" y="808239"/>
            <a:chExt cx="916520" cy="682828"/>
          </a:xfrm>
        </p:grpSpPr>
        <p:sp>
          <p:nvSpPr>
            <p:cNvPr id="28" name="Скругленный прямоугольник 2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Формирование заказов из сообщений ТОРО</a:t>
              </a:r>
              <a:endParaRPr lang="ru-RU" sz="1050" kern="1200" dirty="0"/>
            </a:p>
          </p:txBody>
        </p:sp>
      </p:grpSp>
      <p:grpSp>
        <p:nvGrpSpPr>
          <p:cNvPr id="32" name="Группа 31"/>
          <p:cNvGrpSpPr/>
          <p:nvPr/>
        </p:nvGrpSpPr>
        <p:grpSpPr>
          <a:xfrm>
            <a:off x="2382584" y="3843046"/>
            <a:ext cx="1066843" cy="709478"/>
            <a:chOff x="103199" y="808239"/>
            <a:chExt cx="916520" cy="682828"/>
          </a:xfrm>
        </p:grpSpPr>
        <p:sp>
          <p:nvSpPr>
            <p:cNvPr id="33" name="Скругленный прямоугольник 3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Формирование заказов ТОРО вручную</a:t>
              </a:r>
              <a:endParaRPr lang="ru-RU" sz="1050" kern="1200" dirty="0"/>
            </a:p>
          </p:txBody>
        </p:sp>
      </p:grpSp>
      <p:grpSp>
        <p:nvGrpSpPr>
          <p:cNvPr id="36" name="Группа 35"/>
          <p:cNvGrpSpPr/>
          <p:nvPr/>
        </p:nvGrpSpPr>
        <p:grpSpPr>
          <a:xfrm>
            <a:off x="3579930" y="3843046"/>
            <a:ext cx="857662" cy="709478"/>
            <a:chOff x="103199" y="808239"/>
            <a:chExt cx="916520" cy="682828"/>
          </a:xfrm>
        </p:grpSpPr>
        <p:sp>
          <p:nvSpPr>
            <p:cNvPr id="37" name="Скругленный прямоугольник 3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Анализ наличия </a:t>
              </a:r>
              <a:r>
                <a:rPr lang="ru-RU" sz="1050" dirty="0" err="1" smtClean="0"/>
                <a:t>техкарты</a:t>
              </a:r>
              <a:r>
                <a:rPr lang="ru-RU" sz="1050" dirty="0" smtClean="0"/>
                <a:t> в заказе</a:t>
              </a:r>
              <a:endParaRPr lang="ru-RU" sz="1050" kern="1200" dirty="0"/>
            </a:p>
          </p:txBody>
        </p:sp>
      </p:grpSp>
      <p:grpSp>
        <p:nvGrpSpPr>
          <p:cNvPr id="42" name="Группа 41"/>
          <p:cNvGrpSpPr/>
          <p:nvPr/>
        </p:nvGrpSpPr>
        <p:grpSpPr>
          <a:xfrm>
            <a:off x="4556252" y="3843045"/>
            <a:ext cx="1066843" cy="709478"/>
            <a:chOff x="103199" y="808239"/>
            <a:chExt cx="916520" cy="682828"/>
          </a:xfrm>
        </p:grpSpPr>
        <p:sp>
          <p:nvSpPr>
            <p:cNvPr id="43" name="Скругленный прямоугольник 4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4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Наполнение заказа операциями и компонентами</a:t>
              </a:r>
              <a:endParaRPr lang="ru-RU" sz="1050" kern="1200" dirty="0"/>
            </a:p>
          </p:txBody>
        </p:sp>
      </p:grpSp>
      <p:sp>
        <p:nvSpPr>
          <p:cNvPr id="45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787684" y="1101092"/>
            <a:ext cx="141709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05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105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05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Группа 54"/>
          <p:cNvGrpSpPr/>
          <p:nvPr/>
        </p:nvGrpSpPr>
        <p:grpSpPr>
          <a:xfrm>
            <a:off x="5975603" y="3843043"/>
            <a:ext cx="1066843" cy="709478"/>
            <a:chOff x="103199" y="808239"/>
            <a:chExt cx="916520" cy="682828"/>
          </a:xfrm>
        </p:grpSpPr>
        <p:sp>
          <p:nvSpPr>
            <p:cNvPr id="56" name="Скругленный прямоугольник 55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Проверка наполнения заказов</a:t>
              </a:r>
              <a:endParaRPr lang="ru-RU" sz="1050" kern="1200" dirty="0"/>
            </a:p>
          </p:txBody>
        </p:sp>
      </p:grpSp>
      <p:cxnSp>
        <p:nvCxnSpPr>
          <p:cNvPr id="65" name="Прямая соединительная линия 64"/>
          <p:cNvCxnSpPr>
            <a:endCxn id="39" idx="1"/>
          </p:cNvCxnSpPr>
          <p:nvPr/>
        </p:nvCxnSpPr>
        <p:spPr>
          <a:xfrm>
            <a:off x="-304119" y="4197785"/>
            <a:ext cx="412664" cy="26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Соединительная линия уступом 10"/>
          <p:cNvCxnSpPr>
            <a:stCxn id="56" idx="2"/>
            <a:endCxn id="43" idx="2"/>
          </p:cNvCxnSpPr>
          <p:nvPr/>
        </p:nvCxnSpPr>
        <p:spPr>
          <a:xfrm rot="5400000">
            <a:off x="5799349" y="3842847"/>
            <a:ext cx="2" cy="1419351"/>
          </a:xfrm>
          <a:prstGeom prst="bentConnector3">
            <a:avLst>
              <a:gd name="adj1" fmla="val 1143010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39" idx="3"/>
            <a:endCxn id="28" idx="1"/>
          </p:cNvCxnSpPr>
          <p:nvPr/>
        </p:nvCxnSpPr>
        <p:spPr>
          <a:xfrm flipV="1">
            <a:off x="1059771" y="4197785"/>
            <a:ext cx="127985" cy="267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>
            <a:stCxn id="28" idx="3"/>
            <a:endCxn id="33" idx="1"/>
          </p:cNvCxnSpPr>
          <p:nvPr/>
        </p:nvCxnSpPr>
        <p:spPr>
          <a:xfrm>
            <a:off x="2254599" y="4197785"/>
            <a:ext cx="12798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>
            <a:stCxn id="33" idx="3"/>
            <a:endCxn id="37" idx="1"/>
          </p:cNvCxnSpPr>
          <p:nvPr/>
        </p:nvCxnSpPr>
        <p:spPr>
          <a:xfrm>
            <a:off x="3449427" y="4197785"/>
            <a:ext cx="13050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>
            <a:stCxn id="37" idx="3"/>
            <a:endCxn id="43" idx="1"/>
          </p:cNvCxnSpPr>
          <p:nvPr/>
        </p:nvCxnSpPr>
        <p:spPr>
          <a:xfrm flipV="1">
            <a:off x="4437592" y="4197784"/>
            <a:ext cx="118660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>
            <a:stCxn id="43" idx="3"/>
            <a:endCxn id="56" idx="1"/>
          </p:cNvCxnSpPr>
          <p:nvPr/>
        </p:nvCxnSpPr>
        <p:spPr>
          <a:xfrm flipV="1">
            <a:off x="5623095" y="4197782"/>
            <a:ext cx="352508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/>
          <p:cNvCxnSpPr>
            <a:stCxn id="56" idx="3"/>
            <a:endCxn id="77" idx="1"/>
          </p:cNvCxnSpPr>
          <p:nvPr/>
        </p:nvCxnSpPr>
        <p:spPr>
          <a:xfrm>
            <a:off x="7042446" y="4197782"/>
            <a:ext cx="297296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Группа 75"/>
          <p:cNvGrpSpPr/>
          <p:nvPr/>
        </p:nvGrpSpPr>
        <p:grpSpPr>
          <a:xfrm>
            <a:off x="7339742" y="3843044"/>
            <a:ext cx="1066843" cy="709478"/>
            <a:chOff x="103199" y="808239"/>
            <a:chExt cx="916520" cy="682828"/>
          </a:xfrm>
        </p:grpSpPr>
        <p:sp>
          <p:nvSpPr>
            <p:cNvPr id="77" name="Скругленный прямоугольник 7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8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Присвоение заказов к СПП-элементам</a:t>
              </a:r>
              <a:endParaRPr lang="ru-RU" sz="1050" kern="1200" dirty="0"/>
            </a:p>
          </p:txBody>
        </p:sp>
      </p:grpSp>
      <p:sp>
        <p:nvSpPr>
          <p:cNvPr id="80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7247270" y="1101092"/>
            <a:ext cx="141709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05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sz="105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ланировщик </a:t>
            </a:r>
            <a:r>
              <a:rPr lang="ru-RU" sz="105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05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Прямая соединительная линия 80"/>
          <p:cNvCxnSpPr>
            <a:stCxn id="77" idx="3"/>
          </p:cNvCxnSpPr>
          <p:nvPr/>
        </p:nvCxnSpPr>
        <p:spPr>
          <a:xfrm flipV="1">
            <a:off x="8406585" y="4197782"/>
            <a:ext cx="695864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53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/>
              <a:t>«Формирование годовой программы ППА»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9011" y="1101092"/>
            <a:ext cx="880756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Группа 34"/>
          <p:cNvGrpSpPr/>
          <p:nvPr/>
        </p:nvGrpSpPr>
        <p:grpSpPr>
          <a:xfrm>
            <a:off x="3531267" y="2889849"/>
            <a:ext cx="1963760" cy="1498771"/>
            <a:chOff x="103199" y="808239"/>
            <a:chExt cx="916520" cy="682828"/>
          </a:xfrm>
        </p:grpSpPr>
        <p:sp>
          <p:nvSpPr>
            <p:cNvPr id="39" name="Скругленный прямоугольник 3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  <a:solidFill>
              <a:srgbClr val="76717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kern="1200" dirty="0" smtClean="0"/>
                <a:t>Включение заказов в годовой план-график воздействий на ПА</a:t>
              </a:r>
              <a:endParaRPr lang="ru-RU" sz="1050" kern="1200" dirty="0"/>
            </a:p>
          </p:txBody>
        </p:sp>
      </p:grpSp>
      <p:cxnSp>
        <p:nvCxnSpPr>
          <p:cNvPr id="65" name="Прямая соединительная линия 64"/>
          <p:cNvCxnSpPr>
            <a:endCxn id="39" idx="1"/>
          </p:cNvCxnSpPr>
          <p:nvPr/>
        </p:nvCxnSpPr>
        <p:spPr>
          <a:xfrm>
            <a:off x="2648309" y="3639235"/>
            <a:ext cx="88295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>
            <a:stCxn id="39" idx="3"/>
          </p:cNvCxnSpPr>
          <p:nvPr/>
        </p:nvCxnSpPr>
        <p:spPr>
          <a:xfrm>
            <a:off x="5495027" y="3639235"/>
            <a:ext cx="948905" cy="111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88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«Создание заказов и сообщений из планов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964565" y="1983633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Создание заказов и сообщений из планов ТОРО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456828" y="3063717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14915" y="2051576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«ПЛАН» - Планируется</a:t>
            </a:r>
            <a:br>
              <a:rPr lang="ru-RU" sz="1100" dirty="0" smtClean="0">
                <a:solidFill>
                  <a:srgbClr val="595959"/>
                </a:solidFill>
              </a:rPr>
            </a:br>
            <a:r>
              <a:rPr lang="ru-RU" sz="1100" dirty="0" smtClean="0">
                <a:solidFill>
                  <a:srgbClr val="595959"/>
                </a:solidFill>
              </a:rPr>
              <a:t>Сообщения ТОРО по КИП и Метрологии в статусе «ОТКР» - открыто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14556" y="3044019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81133" y="2304293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Реестр планов</a:t>
            </a:r>
            <a:br>
              <a:rPr lang="ru-RU" sz="1100" dirty="0" smtClean="0">
                <a:solidFill>
                  <a:srgbClr val="595959"/>
                </a:solidFill>
              </a:rPr>
            </a:br>
            <a:r>
              <a:rPr lang="ru-RU" sz="1100" dirty="0" smtClean="0">
                <a:solidFill>
                  <a:srgbClr val="595959"/>
                </a:solidFill>
              </a:rPr>
              <a:t>Предварительный график ППР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4959759"/>
            <a:ext cx="84040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На </a:t>
            </a:r>
            <a:r>
              <a:rPr lang="ru-RU" sz="1400" dirty="0">
                <a:solidFill>
                  <a:srgbClr val="595959"/>
                </a:solidFill>
              </a:rPr>
              <a:t>основе планов ТОРО в системе формируются следующие объекты:</a:t>
            </a:r>
          </a:p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• Заказы </a:t>
            </a:r>
            <a:r>
              <a:rPr lang="ru-RU" sz="1400" dirty="0">
                <a:solidFill>
                  <a:srgbClr val="595959"/>
                </a:solidFill>
              </a:rPr>
              <a:t>ТОРО на планово-предупредительные работы вида APP1 «ТОРО по ППР»;</a:t>
            </a:r>
          </a:p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• Заказы </a:t>
            </a:r>
            <a:r>
              <a:rPr lang="ru-RU" sz="1400" dirty="0">
                <a:solidFill>
                  <a:srgbClr val="595959"/>
                </a:solidFill>
              </a:rPr>
              <a:t>ТОРО на диагностику вида ADI1 «Диагностика»;</a:t>
            </a:r>
          </a:p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• Сообщения </a:t>
            </a:r>
            <a:r>
              <a:rPr lang="ru-RU" sz="1400" dirty="0">
                <a:solidFill>
                  <a:srgbClr val="595959"/>
                </a:solidFill>
              </a:rPr>
              <a:t>ТОРО по КИП и метрологии вида АD «КИП/ Метрология», которые </a:t>
            </a:r>
            <a:r>
              <a:rPr lang="ru-RU" sz="1400" dirty="0" err="1">
                <a:solidFill>
                  <a:srgbClr val="595959"/>
                </a:solidFill>
              </a:rPr>
              <a:t>агрегируются</a:t>
            </a:r>
            <a:r>
              <a:rPr lang="ru-RU" sz="1400" dirty="0">
                <a:solidFill>
                  <a:srgbClr val="595959"/>
                </a:solidFill>
              </a:rPr>
              <a:t> в заказы ТОРО по КИП и метрологии вида APP1 «ТОРО по ППР</a:t>
            </a:r>
            <a:r>
              <a:rPr lang="ru-RU" sz="1400" dirty="0" smtClean="0">
                <a:solidFill>
                  <a:srgbClr val="595959"/>
                </a:solidFill>
              </a:rPr>
              <a:t>».</a:t>
            </a:r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результатам формирования и анализа предварительного графика ППР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формирует плановые мероприятия (заказы ТОРО) на планируемый год. </a:t>
            </a:r>
          </a:p>
        </p:txBody>
      </p:sp>
    </p:spTree>
    <p:extLst>
      <p:ext uri="{BB962C8B-B14F-4D97-AF65-F5344CB8AC3E}">
        <p14:creationId xmlns:p14="http://schemas.microsoft.com/office/powerpoint/2010/main" val="116816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«Формирование заказов из сообщений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Формирование заказов из сообщений ТОРО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46452" y="3339834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 ТОРО в статусе «ПЛАН» – планируется</a:t>
            </a:r>
            <a:br>
              <a:rPr lang="ru-RU" sz="1100" dirty="0" smtClean="0">
                <a:solidFill>
                  <a:srgbClr val="595959"/>
                </a:solidFill>
              </a:rPr>
            </a:br>
            <a:r>
              <a:rPr lang="ru-RU" sz="1100" dirty="0" smtClean="0">
                <a:solidFill>
                  <a:srgbClr val="595959"/>
                </a:solidFill>
              </a:rPr>
              <a:t>Сообщение ТОРО в статусе «СОРА» - в работе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50144" y="350911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Сообщение ТОРО в статусе «ОТКР» - открыто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плановым мероприятиям ТОРО по КИП и метрологии, созданным в виде сообщений ТОРО (вид «АD – КИП/ Метрология»),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анализирует возможность объединения сообщений ТОРО в заказы ТОРО (с целью снижения общего количества заказов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ТОРО).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82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«Формирование заказов ТОРО вручную»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42203" y="2415182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Формирование заказов ТОРО вручную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34466" y="3495266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79280" y="2837157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</a:t>
            </a:r>
            <a:r>
              <a:rPr lang="ru-RU" sz="1100" dirty="0" smtClean="0">
                <a:solidFill>
                  <a:srgbClr val="595959"/>
                </a:solidFill>
              </a:rPr>
              <a:t>ТОРО в статусе ПЛАН </a:t>
            </a:r>
            <a:r>
              <a:rPr lang="ru-RU" sz="1100" dirty="0">
                <a:solidFill>
                  <a:srgbClr val="595959"/>
                </a:solidFill>
              </a:rPr>
              <a:t>- П</a:t>
            </a:r>
            <a:r>
              <a:rPr lang="ru-RU" sz="1100" dirty="0" smtClean="0">
                <a:solidFill>
                  <a:srgbClr val="595959"/>
                </a:solidFill>
              </a:rPr>
              <a:t>ланируется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92194" y="3475568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51431" y="2378066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Сводный перечень МТР с категориями запасов (несистемный документ)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Договор абонентской платы (несистемный документ)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312" y="5372056"/>
            <a:ext cx="84040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По </a:t>
            </a:r>
            <a:r>
              <a:rPr lang="ru-RU" sz="1400" dirty="0">
                <a:solidFill>
                  <a:srgbClr val="595959"/>
                </a:solidFill>
              </a:rPr>
              <a:t>результатам создания всех заказов для каждого из мероприятий планируются МТР и ресурсы (УСО и/или работы, выполняемые хоз. способом):</a:t>
            </a:r>
          </a:p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• автоматически </a:t>
            </a:r>
            <a:r>
              <a:rPr lang="ru-RU" sz="1400" dirty="0">
                <a:solidFill>
                  <a:srgbClr val="595959"/>
                </a:solidFill>
              </a:rPr>
              <a:t>на основании технологических карт, в том числе инструкций ТОРО;</a:t>
            </a:r>
          </a:p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• вручную </a:t>
            </a:r>
            <a:r>
              <a:rPr lang="ru-RU" sz="1400" dirty="0">
                <a:solidFill>
                  <a:srgbClr val="595959"/>
                </a:solidFill>
              </a:rPr>
              <a:t>(при отсутствии технологических карт и инструкций ТОРО).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формирует вручную следующие объекты в системе:</a:t>
            </a:r>
          </a:p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• Заказ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ТОРО вида ARP1 «Заказ на РПМ»;</a:t>
            </a:r>
          </a:p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• Заказ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ТОРО вида ATU1 «Технический заказ ТОРО»;</a:t>
            </a:r>
          </a:p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• Заказ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ТОРО вида ASR1 «Заказ на сервис по абонентской плате».</a:t>
            </a:r>
          </a:p>
        </p:txBody>
      </p:sp>
    </p:spTree>
    <p:extLst>
      <p:ext uri="{BB962C8B-B14F-4D97-AF65-F5344CB8AC3E}">
        <p14:creationId xmlns:p14="http://schemas.microsoft.com/office/powerpoint/2010/main" val="328373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«Анализ наличия </a:t>
            </a:r>
            <a:r>
              <a:rPr lang="ru-RU" sz="1600" dirty="0" err="1" smtClean="0"/>
              <a:t>техкарты</a:t>
            </a:r>
            <a:r>
              <a:rPr lang="ru-RU" sz="1600" dirty="0" smtClean="0"/>
              <a:t> в заказе»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9831" y="3817163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Анализ наличия </a:t>
              </a:r>
              <a:r>
                <a:rPr lang="ru-RU" sz="1600" dirty="0" err="1" smtClean="0"/>
                <a:t>техкарты</a:t>
              </a:r>
              <a:r>
                <a:rPr lang="ru-RU" sz="1600" dirty="0" smtClean="0"/>
                <a:t> в заказе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32094" y="4897247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56915" y="3128414"/>
            <a:ext cx="182939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статусе «ПЛАН» </a:t>
            </a:r>
            <a:r>
              <a:rPr lang="ru-RU" sz="1100" dirty="0">
                <a:solidFill>
                  <a:srgbClr val="595959"/>
                </a:solidFill>
              </a:rPr>
              <a:t>- П</a:t>
            </a:r>
            <a:r>
              <a:rPr lang="ru-RU" sz="1100" dirty="0" smtClean="0">
                <a:solidFill>
                  <a:srgbClr val="595959"/>
                </a:solidFill>
              </a:rPr>
              <a:t>ланируется </a:t>
            </a:r>
            <a:r>
              <a:rPr lang="ru-RU" sz="1100" dirty="0">
                <a:solidFill>
                  <a:srgbClr val="595959"/>
                </a:solidFill>
              </a:rPr>
              <a:t>(с актуальным признаком «Остановочный ремонт»)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статусе «ПУСТ» </a:t>
            </a:r>
            <a:r>
              <a:rPr lang="ru-RU" sz="1100" dirty="0">
                <a:solidFill>
                  <a:srgbClr val="595959"/>
                </a:solidFill>
              </a:rPr>
              <a:t>– </a:t>
            </a:r>
            <a:r>
              <a:rPr lang="ru-RU" sz="1100" dirty="0" smtClean="0">
                <a:solidFill>
                  <a:srgbClr val="595959"/>
                </a:solidFill>
              </a:rPr>
              <a:t>Требует наполнения </a:t>
            </a:r>
            <a:r>
              <a:rPr lang="ru-RU" sz="1100" dirty="0">
                <a:solidFill>
                  <a:srgbClr val="595959"/>
                </a:solidFill>
              </a:rPr>
              <a:t>(с актуальным признаком «Остановочный ремонт»)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9822" y="4877549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О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существляется проверка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корректности и обоснованности планирования заказов ТОРО.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При отсутствии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техкарты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(или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техкарта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пустая/ некорректная) для заказа ТОРО, требующего ее использования, инициируется формирование заявки на разработку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техкарты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, после чего добавляется в заказ ТОРО либо наполнение заказа ТОРО производится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вручную.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69672" y="4323776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</a:t>
            </a:r>
            <a:r>
              <a:rPr lang="ru-RU" sz="1100" dirty="0" smtClean="0">
                <a:solidFill>
                  <a:srgbClr val="595959"/>
                </a:solidFill>
              </a:rPr>
              <a:t>ТОРО в статусе «ПЛАН» </a:t>
            </a:r>
            <a:r>
              <a:rPr lang="ru-RU" sz="1100" dirty="0">
                <a:solidFill>
                  <a:srgbClr val="595959"/>
                </a:solidFill>
              </a:rPr>
              <a:t>- П</a:t>
            </a:r>
            <a:r>
              <a:rPr lang="ru-RU" sz="1100" dirty="0" smtClean="0">
                <a:solidFill>
                  <a:srgbClr val="595959"/>
                </a:solidFill>
              </a:rPr>
              <a:t>ланируется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05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 smtClean="0"/>
              <a:t>«Наполнение заказа операциями и компонентами»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16323" y="2630626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Наполнение заказа операциями и компонентами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08586" y="3710710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66674" y="2963928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</a:t>
            </a:r>
            <a:r>
              <a:rPr lang="ru-RU" sz="1100" dirty="0" smtClean="0">
                <a:solidFill>
                  <a:srgbClr val="595959"/>
                </a:solidFill>
              </a:rPr>
              <a:t>ТОРО в статусе «ПОЛН» </a:t>
            </a:r>
            <a:r>
              <a:rPr lang="ru-RU" sz="1100" dirty="0">
                <a:solidFill>
                  <a:srgbClr val="595959"/>
                </a:solidFill>
              </a:rPr>
              <a:t>– заказ наполнен </a:t>
            </a:r>
            <a:r>
              <a:rPr lang="ru-RU" sz="1100" dirty="0" smtClean="0">
                <a:solidFill>
                  <a:srgbClr val="595959"/>
                </a:solidFill>
              </a:rPr>
              <a:t>вручную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66314" y="369101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66546" y="2544769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статусе «ПУСТ» </a:t>
            </a:r>
            <a:r>
              <a:rPr lang="ru-RU" sz="1100" dirty="0">
                <a:solidFill>
                  <a:srgbClr val="595959"/>
                </a:solidFill>
              </a:rPr>
              <a:t>– </a:t>
            </a:r>
            <a:r>
              <a:rPr lang="ru-RU" sz="1100" dirty="0" smtClean="0">
                <a:solidFill>
                  <a:srgbClr val="595959"/>
                </a:solidFill>
              </a:rPr>
              <a:t>Требует наполнения</a:t>
            </a:r>
            <a:endParaRPr lang="ru-RU" sz="1100" dirty="0">
              <a:solidFill>
                <a:srgbClr val="595959"/>
              </a:solidFill>
            </a:endParaRPr>
          </a:p>
          <a:p>
            <a:r>
              <a:rPr lang="ru-RU" sz="1100" dirty="0">
                <a:solidFill>
                  <a:srgbClr val="595959"/>
                </a:solidFill>
              </a:rPr>
              <a:t>Заказ </a:t>
            </a:r>
            <a:r>
              <a:rPr lang="ru-RU" sz="1100" dirty="0" smtClean="0">
                <a:solidFill>
                  <a:srgbClr val="595959"/>
                </a:solidFill>
              </a:rPr>
              <a:t>ТОРО в статусе «КОРР» </a:t>
            </a:r>
            <a:r>
              <a:rPr lang="ru-RU" sz="1100" dirty="0">
                <a:solidFill>
                  <a:srgbClr val="595959"/>
                </a:solidFill>
              </a:rPr>
              <a:t>– </a:t>
            </a:r>
            <a:r>
              <a:rPr lang="ru-RU" sz="1100" dirty="0" smtClean="0">
                <a:solidFill>
                  <a:srgbClr val="595959"/>
                </a:solidFill>
              </a:rPr>
              <a:t>Требует корректировки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5768886"/>
            <a:ext cx="840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После </a:t>
            </a:r>
            <a:r>
              <a:rPr lang="ru-RU" sz="1400" dirty="0">
                <a:solidFill>
                  <a:srgbClr val="595959"/>
                </a:solidFill>
              </a:rPr>
              <a:t>завершения наполнения заказа ТОРО и наличия всех ОЗМ (отсутствуют текстовые позиции компонентов) Планировщик </a:t>
            </a:r>
            <a:r>
              <a:rPr lang="ru-RU" sz="1400" dirty="0" err="1">
                <a:solidFill>
                  <a:srgbClr val="595959"/>
                </a:solidFill>
              </a:rPr>
              <a:t>ТОиР</a:t>
            </a:r>
            <a:r>
              <a:rPr lang="ru-RU" sz="1400" dirty="0">
                <a:solidFill>
                  <a:srgbClr val="595959"/>
                </a:solidFill>
              </a:rPr>
              <a:t> устанавливает статус «ПОЛН».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вносит в заказ ТОРО операции и ресурсы для них (компоненты, ВПС, рабочие места – как для хоз. способа, так и для внешнего подряда) на основе ведомости дефектов, нормативов по трудоемкости и продолжительности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или иной доступной документации (инструкции/ технические условия по ремонту, прошлые дефектные ведомости и сметы). </a:t>
            </a:r>
          </a:p>
        </p:txBody>
      </p:sp>
    </p:spTree>
    <p:extLst>
      <p:ext uri="{BB962C8B-B14F-4D97-AF65-F5344CB8AC3E}">
        <p14:creationId xmlns:p14="http://schemas.microsoft.com/office/powerpoint/2010/main" val="117287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«Проверка </a:t>
            </a:r>
            <a:r>
              <a:rPr lang="ru-RU" sz="1600" dirty="0" smtClean="0"/>
              <a:t>наполнения заказов»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947312" y="2480069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Проверка наполнения заказов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439575" y="356015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70644" y="2452157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</a:t>
            </a:r>
            <a:r>
              <a:rPr lang="ru-RU" sz="1100" dirty="0" smtClean="0"/>
              <a:t>в статусах «ПРОВ», «ПЛАН» </a:t>
            </a:r>
            <a:r>
              <a:rPr lang="ru-RU" sz="1100" dirty="0"/>
              <a:t>– </a:t>
            </a:r>
            <a:r>
              <a:rPr lang="ru-RU" sz="1100" dirty="0" smtClean="0"/>
              <a:t>Заказ </a:t>
            </a:r>
            <a:r>
              <a:rPr lang="ru-RU" sz="1100" dirty="0"/>
              <a:t>проверен, П</a:t>
            </a:r>
            <a:r>
              <a:rPr lang="ru-RU" sz="1100" dirty="0" smtClean="0"/>
              <a:t>ланируется</a:t>
            </a:r>
            <a:endParaRPr lang="ru-RU" sz="1100" dirty="0"/>
          </a:p>
          <a:p>
            <a:r>
              <a:rPr lang="ru-RU" sz="1100" dirty="0"/>
              <a:t>Заказ ТОРО </a:t>
            </a:r>
            <a:r>
              <a:rPr lang="ru-RU" sz="1100" dirty="0" smtClean="0"/>
              <a:t>в статусе «КОРР» </a:t>
            </a:r>
            <a:r>
              <a:rPr lang="ru-RU" sz="1100" dirty="0"/>
              <a:t>– </a:t>
            </a:r>
            <a:r>
              <a:rPr lang="ru-RU" sz="1100" dirty="0" smtClean="0"/>
              <a:t>Требует корректировки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097303" y="3540455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90898" y="280468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в статусе «ПОЛН» – заказ наполнен вручную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67" y="5071078"/>
            <a:ext cx="84040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solidFill>
                  <a:srgbClr val="595959"/>
                </a:solidFill>
              </a:rPr>
              <a:t>При отсутствии замечаний Старший планировщик </a:t>
            </a:r>
            <a:r>
              <a:rPr lang="ru-RU" sz="1400" dirty="0" err="1">
                <a:solidFill>
                  <a:srgbClr val="595959"/>
                </a:solidFill>
              </a:rPr>
              <a:t>ТОиР</a:t>
            </a:r>
            <a:r>
              <a:rPr lang="ru-RU" sz="1400" dirty="0">
                <a:solidFill>
                  <a:srgbClr val="595959"/>
                </a:solidFill>
              </a:rPr>
              <a:t> устанавливает статус заказа ТОРО «ПРОВ».</a:t>
            </a:r>
            <a:br>
              <a:rPr lang="ru-RU" sz="1400" dirty="0">
                <a:solidFill>
                  <a:srgbClr val="595959"/>
                </a:solidFill>
              </a:rPr>
            </a:br>
            <a:r>
              <a:rPr lang="ru-RU" sz="1400" dirty="0" smtClean="0">
                <a:solidFill>
                  <a:srgbClr val="595959"/>
                </a:solidFill>
              </a:rPr>
              <a:t>При </a:t>
            </a:r>
            <a:r>
              <a:rPr lang="ru-RU" sz="1400" dirty="0">
                <a:solidFill>
                  <a:srgbClr val="595959"/>
                </a:solidFill>
              </a:rPr>
              <a:t>наличии замечаний Старший планировщик </a:t>
            </a:r>
            <a:r>
              <a:rPr lang="ru-RU" sz="1400" dirty="0" err="1">
                <a:solidFill>
                  <a:srgbClr val="595959"/>
                </a:solidFill>
              </a:rPr>
              <a:t>ТОиР</a:t>
            </a:r>
            <a:r>
              <a:rPr lang="ru-RU" sz="1400" dirty="0">
                <a:solidFill>
                  <a:srgbClr val="595959"/>
                </a:solidFill>
              </a:rPr>
              <a:t> устанавливает статус заказа ТОРО «КОРР» и формирует замечание в подробном тексте заказа ТОРО. После получения замечаний Планировщик </a:t>
            </a:r>
            <a:r>
              <a:rPr lang="ru-RU" sz="1400" dirty="0" err="1">
                <a:solidFill>
                  <a:srgbClr val="595959"/>
                </a:solidFill>
              </a:rPr>
              <a:t>ТОиР</a:t>
            </a:r>
            <a:r>
              <a:rPr lang="ru-RU" sz="1400" dirty="0">
                <a:solidFill>
                  <a:srgbClr val="595959"/>
                </a:solidFill>
              </a:rPr>
              <a:t> осуществляет корректировку заказа </a:t>
            </a:r>
            <a:r>
              <a:rPr lang="ru-RU" sz="1400" dirty="0" smtClean="0">
                <a:solidFill>
                  <a:srgbClr val="595959"/>
                </a:solidFill>
              </a:rPr>
              <a:t>ТОРО. </a:t>
            </a:r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результатам наполнения заказа ТОРО вручную (по статусу заказа ТОРО «ПОЛН») Старший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выполняет проверку корректности, соответствия и обоснованности наполнения заказов ТОРО (операции, объемы работ, объемы расхода материалов) на основании документаций, по которым был наполнен заказ ТОРО Планировщиком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, а также с помощью системного отчета «Анализ операций заказов ТОРО» с индикацией отклонений операций заказов ТОРО от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техкарт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и добавленных вручную/удаленных операций. </a:t>
            </a:r>
          </a:p>
        </p:txBody>
      </p:sp>
    </p:spTree>
    <p:extLst>
      <p:ext uri="{BB962C8B-B14F-4D97-AF65-F5344CB8AC3E}">
        <p14:creationId xmlns:p14="http://schemas.microsoft.com/office/powerpoint/2010/main" val="24580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</a:t>
            </a:r>
            <a:r>
              <a:rPr lang="ru-RU" sz="1600" dirty="0" smtClean="0"/>
              <a:t>Присвоение заказов к СПП-элементам»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37093" y="2618092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Присвоение заказов к СПП-элементам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29356" y="3698176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74170" y="3040067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Осуществлено присвоение заказов ТОРО к СПП-элементам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287084" y="3678478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80679" y="3122397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в статусе «ПЛАН» - Планируется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err="1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 присваивает заказы ТОРО вручную к СПП-элементам.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8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«Планирование МТР в рамках годового планирования»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215415" y="482737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9012" y="1101092"/>
            <a:ext cx="3612587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Группа 34"/>
          <p:cNvGrpSpPr/>
          <p:nvPr/>
        </p:nvGrpSpPr>
        <p:grpSpPr>
          <a:xfrm>
            <a:off x="218005" y="3571044"/>
            <a:ext cx="1288392" cy="981477"/>
            <a:chOff x="103199" y="808239"/>
            <a:chExt cx="916520" cy="682828"/>
          </a:xfrm>
        </p:grpSpPr>
        <p:sp>
          <p:nvSpPr>
            <p:cNvPr id="39" name="Скругленный прямоугольник 3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Анализ целесообразности использования МТР в заказах</a:t>
              </a:r>
              <a:endParaRPr lang="ru-RU" sz="1050" kern="1200" dirty="0"/>
            </a:p>
          </p:txBody>
        </p:sp>
      </p:grpSp>
      <p:sp>
        <p:nvSpPr>
          <p:cNvPr id="45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4152412" y="1101092"/>
            <a:ext cx="176396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4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14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4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Группа 54"/>
          <p:cNvGrpSpPr/>
          <p:nvPr/>
        </p:nvGrpSpPr>
        <p:grpSpPr>
          <a:xfrm>
            <a:off x="4267470" y="3571044"/>
            <a:ext cx="1529769" cy="981477"/>
            <a:chOff x="103199" y="808239"/>
            <a:chExt cx="916520" cy="682828"/>
          </a:xfrm>
        </p:grpSpPr>
        <p:sp>
          <p:nvSpPr>
            <p:cNvPr id="56" name="Скругленный прямоугольник 55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Согласование замены МТР в заказах ТОРО</a:t>
              </a:r>
              <a:endParaRPr lang="ru-RU" sz="1050" kern="1200" dirty="0"/>
            </a:p>
          </p:txBody>
        </p:sp>
      </p:grpSp>
      <p:cxnSp>
        <p:nvCxnSpPr>
          <p:cNvPr id="65" name="Прямая соединительная линия 64"/>
          <p:cNvCxnSpPr>
            <a:endCxn id="39" idx="1"/>
          </p:cNvCxnSpPr>
          <p:nvPr/>
        </p:nvCxnSpPr>
        <p:spPr>
          <a:xfrm>
            <a:off x="-188767" y="4061781"/>
            <a:ext cx="406772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Соединительная линия уступом 10"/>
          <p:cNvCxnSpPr>
            <a:stCxn id="56" idx="2"/>
            <a:endCxn id="46" idx="2"/>
          </p:cNvCxnSpPr>
          <p:nvPr/>
        </p:nvCxnSpPr>
        <p:spPr>
          <a:xfrm rot="5400000">
            <a:off x="3884410" y="3404576"/>
            <a:ext cx="12700" cy="2295891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Группа 75"/>
          <p:cNvGrpSpPr/>
          <p:nvPr/>
        </p:nvGrpSpPr>
        <p:grpSpPr>
          <a:xfrm>
            <a:off x="6625087" y="3571044"/>
            <a:ext cx="1500996" cy="987828"/>
            <a:chOff x="103199" y="808239"/>
            <a:chExt cx="916520" cy="682828"/>
          </a:xfrm>
        </p:grpSpPr>
        <p:sp>
          <p:nvSpPr>
            <p:cNvPr id="77" name="Скругленный прямоугольник 7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8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Установка статуса «Материалы запланированы»</a:t>
              </a:r>
              <a:endParaRPr lang="ru-RU" sz="1050" kern="1200" dirty="0"/>
            </a:p>
          </p:txBody>
        </p:sp>
      </p:grpSp>
      <p:sp>
        <p:nvSpPr>
          <p:cNvPr id="80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414727" y="1101092"/>
            <a:ext cx="190976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4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sz="14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ланировщик </a:t>
            </a:r>
            <a:r>
              <a:rPr lang="ru-RU" sz="14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4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Прямая соединительная линия 80"/>
          <p:cNvCxnSpPr>
            <a:stCxn id="77" idx="3"/>
          </p:cNvCxnSpPr>
          <p:nvPr/>
        </p:nvCxnSpPr>
        <p:spPr>
          <a:xfrm flipV="1">
            <a:off x="8126083" y="4061781"/>
            <a:ext cx="603849" cy="317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Группа 40"/>
          <p:cNvGrpSpPr/>
          <p:nvPr/>
        </p:nvGrpSpPr>
        <p:grpSpPr>
          <a:xfrm>
            <a:off x="2092268" y="3571044"/>
            <a:ext cx="1288392" cy="981477"/>
            <a:chOff x="103199" y="808239"/>
            <a:chExt cx="916520" cy="682828"/>
          </a:xfrm>
        </p:grpSpPr>
        <p:sp>
          <p:nvSpPr>
            <p:cNvPr id="46" name="Скругленный прямоугольник 45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Замена МТР в заказах ТОРО</a:t>
              </a:r>
              <a:endParaRPr lang="ru-RU" sz="1050" kern="1200" dirty="0"/>
            </a:p>
          </p:txBody>
        </p:sp>
      </p:grpSp>
      <p:cxnSp>
        <p:nvCxnSpPr>
          <p:cNvPr id="48" name="Прямая соединительная линия 47"/>
          <p:cNvCxnSpPr>
            <a:stCxn id="39" idx="3"/>
            <a:endCxn id="46" idx="1"/>
          </p:cNvCxnSpPr>
          <p:nvPr/>
        </p:nvCxnSpPr>
        <p:spPr>
          <a:xfrm>
            <a:off x="1506397" y="4061783"/>
            <a:ext cx="58587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>
            <a:stCxn id="46" idx="3"/>
            <a:endCxn id="56" idx="1"/>
          </p:cNvCxnSpPr>
          <p:nvPr/>
        </p:nvCxnSpPr>
        <p:spPr>
          <a:xfrm>
            <a:off x="3380660" y="4061783"/>
            <a:ext cx="88681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56" idx="3"/>
            <a:endCxn id="77" idx="1"/>
          </p:cNvCxnSpPr>
          <p:nvPr/>
        </p:nvCxnSpPr>
        <p:spPr>
          <a:xfrm>
            <a:off x="5797239" y="4061783"/>
            <a:ext cx="827848" cy="317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82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387146" cy="410926"/>
          </a:xfrm>
        </p:spPr>
        <p:txBody>
          <a:bodyPr/>
          <a:lstStyle/>
          <a:p>
            <a:r>
              <a:rPr lang="ru-RU" sz="14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4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шагов </a:t>
            </a:r>
            <a:r>
              <a:rPr lang="ru-RU" sz="1400" dirty="0"/>
              <a:t>«Анализ целесообразности использования МТР в </a:t>
            </a:r>
            <a:r>
              <a:rPr lang="ru-RU" sz="1400" dirty="0" smtClean="0"/>
              <a:t>заказах» и «Замена МТР в заказах ТОРО»</a:t>
            </a:r>
            <a:endParaRPr lang="ru-RU" sz="14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целесообразности использования МТР в заказах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70653" y="3505893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</a:t>
            </a:r>
            <a:r>
              <a:rPr lang="ru-RU" sz="1100" dirty="0" smtClean="0"/>
              <a:t>ТОРО в статусе «МТРЗ» </a:t>
            </a:r>
            <a:r>
              <a:rPr lang="ru-RU" sz="1100" dirty="0"/>
              <a:t>– материалы </a:t>
            </a:r>
            <a:r>
              <a:rPr lang="ru-RU" sz="1100" dirty="0" smtClean="0"/>
              <a:t>заменены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50144" y="3192448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</a:t>
            </a:r>
            <a:r>
              <a:rPr lang="ru-RU" sz="1100" dirty="0" smtClean="0"/>
              <a:t>в статусах «ПЛАН», «ГОД» </a:t>
            </a:r>
            <a:r>
              <a:rPr lang="ru-RU" sz="1100" dirty="0"/>
              <a:t>– </a:t>
            </a:r>
            <a:r>
              <a:rPr lang="ru-RU" sz="1100" dirty="0" smtClean="0"/>
              <a:t>Планируется</a:t>
            </a:r>
            <a:r>
              <a:rPr lang="ru-RU" sz="1100" dirty="0"/>
              <a:t>, </a:t>
            </a:r>
            <a:r>
              <a:rPr lang="ru-RU" sz="1100" dirty="0" smtClean="0"/>
              <a:t>Заказ </a:t>
            </a:r>
            <a:r>
              <a:rPr lang="ru-RU" sz="1100" dirty="0"/>
              <a:t>включен в годовую программу </a:t>
            </a:r>
            <a:r>
              <a:rPr lang="ru-RU" sz="1100" dirty="0" smtClean="0"/>
              <a:t>ППА</a:t>
            </a:r>
            <a:endParaRPr lang="ru-RU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err="1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 осуществляет анализ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МТР в заказах ТОРО.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При наличии более оптимальных вариантов МТР устанавливается статус заказа «МТРК – МТР необходимо откорректировать» и осуществляется соответствующая замена МТР. После замены МТР устанавливается статус «МТРЗ – материалы заменены»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Если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плановый срок поставки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превышает дату потребности и отсутствует возможность замены МТР, устанавливается статус «НМАТ» и осуществляется корректировка сроков/ объемов воздействий.</a:t>
            </a:r>
          </a:p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При отсутствии утвержденных плановых цен МТР на заказе ТОРО автоматически устанавливается статус «МТРН – МТР не оценены». </a:t>
            </a:r>
          </a:p>
        </p:txBody>
      </p:sp>
    </p:spTree>
    <p:extLst>
      <p:ext uri="{BB962C8B-B14F-4D97-AF65-F5344CB8AC3E}">
        <p14:creationId xmlns:p14="http://schemas.microsoft.com/office/powerpoint/2010/main" val="230812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«Согласование замены МТР в заказах </a:t>
            </a:r>
            <a:r>
              <a:rPr lang="ru-RU" sz="1600" dirty="0" smtClean="0"/>
              <a:t>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42202" y="2117759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Согласование замены МТР в заказах ТОРО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34465" y="319784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92553" y="1958142"/>
            <a:ext cx="18293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статусе «МТРК» </a:t>
            </a:r>
            <a:r>
              <a:rPr lang="ru-RU" sz="1100" dirty="0">
                <a:solidFill>
                  <a:srgbClr val="595959"/>
                </a:solidFill>
              </a:rPr>
              <a:t>– МТР необходимо </a:t>
            </a:r>
            <a:r>
              <a:rPr lang="ru-RU" sz="1100" dirty="0" smtClean="0">
                <a:solidFill>
                  <a:srgbClr val="595959"/>
                </a:solidFill>
              </a:rPr>
              <a:t>откорректировать</a:t>
            </a:r>
            <a:endParaRPr lang="ru-RU" sz="1100" dirty="0">
              <a:solidFill>
                <a:srgbClr val="595959"/>
              </a:solidFill>
            </a:endParaRPr>
          </a:p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статусе «МТРС» </a:t>
            </a:r>
            <a:r>
              <a:rPr lang="ru-RU" sz="1100" dirty="0">
                <a:solidFill>
                  <a:srgbClr val="595959"/>
                </a:solidFill>
              </a:rPr>
              <a:t>– замененные МТР </a:t>
            </a:r>
            <a:r>
              <a:rPr lang="ru-RU" sz="1100" dirty="0" smtClean="0">
                <a:solidFill>
                  <a:srgbClr val="595959"/>
                </a:solidFill>
              </a:rPr>
              <a:t>согласованы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92193" y="3178145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39825" y="24432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статусе «МТРЗ» </a:t>
            </a:r>
            <a:r>
              <a:rPr lang="ru-RU" sz="1100" dirty="0">
                <a:solidFill>
                  <a:srgbClr val="595959"/>
                </a:solidFill>
              </a:rPr>
              <a:t>– материалы </a:t>
            </a:r>
            <a:r>
              <a:rPr lang="ru-RU" sz="1100" dirty="0" smtClean="0">
                <a:solidFill>
                  <a:srgbClr val="595959"/>
                </a:solidFill>
              </a:rPr>
              <a:t>заменены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4977487"/>
            <a:ext cx="84040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При </a:t>
            </a:r>
            <a:r>
              <a:rPr lang="ru-RU" sz="1400" dirty="0">
                <a:solidFill>
                  <a:srgbClr val="595959"/>
                </a:solidFill>
              </a:rPr>
              <a:t>отсутствии замечаний Старший планировщик </a:t>
            </a:r>
            <a:r>
              <a:rPr lang="ru-RU" sz="1400" dirty="0" err="1">
                <a:solidFill>
                  <a:srgbClr val="595959"/>
                </a:solidFill>
              </a:rPr>
              <a:t>ТОиР</a:t>
            </a:r>
            <a:r>
              <a:rPr lang="ru-RU" sz="1400" dirty="0">
                <a:solidFill>
                  <a:srgbClr val="595959"/>
                </a:solidFill>
              </a:rPr>
              <a:t> устанавливает статус заказу ТОРО «МТРС</a:t>
            </a:r>
            <a:r>
              <a:rPr lang="ru-RU" sz="1400" dirty="0" smtClean="0">
                <a:solidFill>
                  <a:srgbClr val="595959"/>
                </a:solidFill>
              </a:rPr>
              <a:t>».</a:t>
            </a:r>
            <a:r>
              <a:rPr lang="ru-RU" sz="1400" dirty="0">
                <a:solidFill>
                  <a:srgbClr val="595959"/>
                </a:solidFill>
              </a:rPr>
              <a:t/>
            </a:r>
            <a:br>
              <a:rPr lang="ru-RU" sz="1400" dirty="0">
                <a:solidFill>
                  <a:srgbClr val="595959"/>
                </a:solidFill>
              </a:rPr>
            </a:br>
            <a:r>
              <a:rPr lang="ru-RU" sz="1400" dirty="0" smtClean="0">
                <a:solidFill>
                  <a:srgbClr val="595959"/>
                </a:solidFill>
              </a:rPr>
              <a:t>При </a:t>
            </a:r>
            <a:r>
              <a:rPr lang="ru-RU" sz="1400" dirty="0">
                <a:solidFill>
                  <a:srgbClr val="595959"/>
                </a:solidFill>
              </a:rPr>
              <a:t>наличии замечаний Старший планировщик </a:t>
            </a:r>
            <a:r>
              <a:rPr lang="ru-RU" sz="1400" dirty="0" err="1">
                <a:solidFill>
                  <a:srgbClr val="595959"/>
                </a:solidFill>
              </a:rPr>
              <a:t>ТОиР</a:t>
            </a:r>
            <a:r>
              <a:rPr lang="ru-RU" sz="1400" dirty="0">
                <a:solidFill>
                  <a:srgbClr val="595959"/>
                </a:solidFill>
              </a:rPr>
              <a:t> устанавливает статус заказу ТОРО «МТРК» с указанием замечания в подробном тексте заказа ТОРО.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результатам замены МТР на аналоги Старший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выполняет анализ уточненного списка МТР в заказах ТОРО со статусом «МТРЗ». В системе анализ МТР осуществляется посредством формирования «Отчета по использованию МТР в заказах ТОРО».</a:t>
            </a:r>
          </a:p>
        </p:txBody>
      </p:sp>
    </p:spTree>
    <p:extLst>
      <p:ext uri="{BB962C8B-B14F-4D97-AF65-F5344CB8AC3E}">
        <p14:creationId xmlns:p14="http://schemas.microsoft.com/office/powerpoint/2010/main" val="359507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«Материалы запланированы</a:t>
            </a:r>
            <a:r>
              <a:rPr lang="ru-RU" sz="1600" dirty="0" smtClean="0"/>
              <a:t>»»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«Материалы запланированы»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6" y="3036308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статусах ПЛАН</a:t>
            </a:r>
            <a:r>
              <a:rPr lang="ru-RU" sz="1100" dirty="0">
                <a:solidFill>
                  <a:srgbClr val="595959"/>
                </a:solidFill>
              </a:rPr>
              <a:t>, ГОД, МТРП – планируется, заказ включен в годовую программу ППА, материалы </a:t>
            </a:r>
            <a:r>
              <a:rPr lang="ru-RU" sz="1100" dirty="0" smtClean="0">
                <a:solidFill>
                  <a:srgbClr val="595959"/>
                </a:solidFill>
              </a:rPr>
              <a:t>запланированы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50144" y="3083918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статусах ПЛАН</a:t>
            </a:r>
            <a:r>
              <a:rPr lang="ru-RU" sz="1100" dirty="0">
                <a:solidFill>
                  <a:srgbClr val="595959"/>
                </a:solidFill>
              </a:rPr>
              <a:t>, ГОД, МТРЦ – планируется, заказ включен в годовую программу ППА, материалы </a:t>
            </a:r>
            <a:r>
              <a:rPr lang="ru-RU" sz="1100" dirty="0" smtClean="0">
                <a:solidFill>
                  <a:srgbClr val="595959"/>
                </a:solidFill>
              </a:rPr>
              <a:t>оценены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результатам завершения планирования МТР на заказах ТОРО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устанавливает статус «МТРП».</a:t>
            </a:r>
          </a:p>
        </p:txBody>
      </p:sp>
    </p:spTree>
    <p:extLst>
      <p:ext uri="{BB962C8B-B14F-4D97-AF65-F5344CB8AC3E}">
        <p14:creationId xmlns:p14="http://schemas.microsoft.com/office/powerpoint/2010/main" val="113779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«Планирование исполнителей в рамках годового планирования»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215415" y="482737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9012" y="1101092"/>
            <a:ext cx="527073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Группа 34"/>
          <p:cNvGrpSpPr/>
          <p:nvPr/>
        </p:nvGrpSpPr>
        <p:grpSpPr>
          <a:xfrm>
            <a:off x="149712" y="3717985"/>
            <a:ext cx="1181614" cy="834536"/>
            <a:chOff x="103199" y="808239"/>
            <a:chExt cx="916520" cy="682828"/>
          </a:xfrm>
        </p:grpSpPr>
        <p:sp>
          <p:nvSpPr>
            <p:cNvPr id="39" name="Скругленный прямоугольник 3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Анализ запланированных исполнителей работ</a:t>
              </a:r>
              <a:endParaRPr lang="ru-RU" sz="1050" kern="1200" dirty="0"/>
            </a:p>
          </p:txBody>
        </p:sp>
      </p:grpSp>
      <p:sp>
        <p:nvSpPr>
          <p:cNvPr id="45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675937" y="1101092"/>
            <a:ext cx="115733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05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105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05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Прямая соединительная линия 64"/>
          <p:cNvCxnSpPr>
            <a:endCxn id="39" idx="1"/>
          </p:cNvCxnSpPr>
          <p:nvPr/>
        </p:nvCxnSpPr>
        <p:spPr>
          <a:xfrm>
            <a:off x="-236813" y="4130001"/>
            <a:ext cx="386525" cy="525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Соединительная линия уступом 10"/>
          <p:cNvCxnSpPr>
            <a:stCxn id="36" idx="2"/>
            <a:endCxn id="32" idx="2"/>
          </p:cNvCxnSpPr>
          <p:nvPr/>
        </p:nvCxnSpPr>
        <p:spPr>
          <a:xfrm rot="5400000">
            <a:off x="5512986" y="3811198"/>
            <a:ext cx="301" cy="1482932"/>
          </a:xfrm>
          <a:prstGeom prst="bentConnector3">
            <a:avLst>
              <a:gd name="adj1" fmla="val 76046844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7165808" y="1101092"/>
            <a:ext cx="146923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1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sz="11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ланировщик </a:t>
            </a:r>
            <a:r>
              <a:rPr lang="ru-RU" sz="11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1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Прямая соединительная линия 80"/>
          <p:cNvCxnSpPr>
            <a:stCxn id="32" idx="3"/>
            <a:endCxn id="36" idx="1"/>
          </p:cNvCxnSpPr>
          <p:nvPr/>
        </p:nvCxnSpPr>
        <p:spPr>
          <a:xfrm flipV="1">
            <a:off x="5261246" y="4129999"/>
            <a:ext cx="503779" cy="30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Группа 40"/>
          <p:cNvGrpSpPr/>
          <p:nvPr/>
        </p:nvGrpSpPr>
        <p:grpSpPr>
          <a:xfrm>
            <a:off x="1408847" y="3717985"/>
            <a:ext cx="1296257" cy="834534"/>
            <a:chOff x="103199" y="808239"/>
            <a:chExt cx="916520" cy="682828"/>
          </a:xfrm>
        </p:grpSpPr>
        <p:sp>
          <p:nvSpPr>
            <p:cNvPr id="46" name="Скругленный прямоугольник 45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Ввод данных смет в заказы ТОРО и приложение скан-копии</a:t>
              </a:r>
              <a:endParaRPr lang="ru-RU" sz="1050" kern="1200" dirty="0"/>
            </a:p>
          </p:txBody>
        </p:sp>
      </p:grpSp>
      <p:cxnSp>
        <p:nvCxnSpPr>
          <p:cNvPr id="48" name="Прямая соединительная линия 47"/>
          <p:cNvCxnSpPr>
            <a:stCxn id="39" idx="3"/>
            <a:endCxn id="46" idx="1"/>
          </p:cNvCxnSpPr>
          <p:nvPr/>
        </p:nvCxnSpPr>
        <p:spPr>
          <a:xfrm flipV="1">
            <a:off x="1331326" y="4135252"/>
            <a:ext cx="77521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Группа 24"/>
          <p:cNvGrpSpPr/>
          <p:nvPr/>
        </p:nvGrpSpPr>
        <p:grpSpPr>
          <a:xfrm>
            <a:off x="2795920" y="3707485"/>
            <a:ext cx="1395357" cy="845031"/>
            <a:chOff x="103199" y="808239"/>
            <a:chExt cx="916520" cy="682828"/>
          </a:xfrm>
        </p:grpSpPr>
        <p:sp>
          <p:nvSpPr>
            <p:cNvPr id="26" name="Скругленный прямоугольник 25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Анализ целесообразности привлечения исполнителей работ</a:t>
              </a:r>
              <a:endParaRPr lang="ru-RU" sz="1050" kern="1200" dirty="0"/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4282093" y="3707784"/>
            <a:ext cx="979153" cy="845031"/>
            <a:chOff x="103199" y="808239"/>
            <a:chExt cx="916520" cy="682828"/>
          </a:xfrm>
        </p:grpSpPr>
        <p:sp>
          <p:nvSpPr>
            <p:cNvPr id="32" name="Скругленный прямоугольник 31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Замена исполнителей в заказах ТОРО</a:t>
              </a:r>
              <a:endParaRPr lang="ru-RU" sz="1050" kern="1200" dirty="0"/>
            </a:p>
          </p:txBody>
        </p:sp>
      </p:grpSp>
      <p:grpSp>
        <p:nvGrpSpPr>
          <p:cNvPr id="34" name="Группа 33"/>
          <p:cNvGrpSpPr/>
          <p:nvPr/>
        </p:nvGrpSpPr>
        <p:grpSpPr>
          <a:xfrm>
            <a:off x="5765025" y="3707483"/>
            <a:ext cx="979153" cy="845031"/>
            <a:chOff x="103199" y="808239"/>
            <a:chExt cx="916520" cy="682828"/>
          </a:xfrm>
        </p:grpSpPr>
        <p:sp>
          <p:nvSpPr>
            <p:cNvPr id="36" name="Скругленный прямоугольник 35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Анализ замененных исполнителей</a:t>
              </a:r>
              <a:endParaRPr lang="ru-RU" sz="1050" kern="1200" dirty="0"/>
            </a:p>
          </p:txBody>
        </p:sp>
      </p:grpSp>
      <p:grpSp>
        <p:nvGrpSpPr>
          <p:cNvPr id="38" name="Группа 37"/>
          <p:cNvGrpSpPr/>
          <p:nvPr/>
        </p:nvGrpSpPr>
        <p:grpSpPr>
          <a:xfrm>
            <a:off x="7284394" y="3707481"/>
            <a:ext cx="1210780" cy="845031"/>
            <a:chOff x="103199" y="808239"/>
            <a:chExt cx="916520" cy="682828"/>
          </a:xfrm>
        </p:grpSpPr>
        <p:sp>
          <p:nvSpPr>
            <p:cNvPr id="42" name="Скругленный прямоугольник 41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Установка статуса «Исполнители запланированы»</a:t>
              </a:r>
              <a:endParaRPr lang="ru-RU" sz="1050" kern="1200" dirty="0"/>
            </a:p>
          </p:txBody>
        </p:sp>
      </p:grpSp>
      <p:cxnSp>
        <p:nvCxnSpPr>
          <p:cNvPr id="44" name="Прямая соединительная линия 43"/>
          <p:cNvCxnSpPr>
            <a:stCxn id="36" idx="3"/>
            <a:endCxn id="42" idx="1"/>
          </p:cNvCxnSpPr>
          <p:nvPr/>
        </p:nvCxnSpPr>
        <p:spPr>
          <a:xfrm flipV="1">
            <a:off x="6744178" y="4129997"/>
            <a:ext cx="540216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>
            <a:stCxn id="42" idx="3"/>
          </p:cNvCxnSpPr>
          <p:nvPr/>
        </p:nvCxnSpPr>
        <p:spPr>
          <a:xfrm flipV="1">
            <a:off x="8495174" y="4129995"/>
            <a:ext cx="219501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>
            <a:stCxn id="26" idx="3"/>
            <a:endCxn id="32" idx="1"/>
          </p:cNvCxnSpPr>
          <p:nvPr/>
        </p:nvCxnSpPr>
        <p:spPr>
          <a:xfrm>
            <a:off x="4191277" y="4130001"/>
            <a:ext cx="90816" cy="29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46" idx="3"/>
            <a:endCxn id="26" idx="1"/>
          </p:cNvCxnSpPr>
          <p:nvPr/>
        </p:nvCxnSpPr>
        <p:spPr>
          <a:xfrm flipV="1">
            <a:off x="2705104" y="4130001"/>
            <a:ext cx="90816" cy="525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60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запланированных исполнителей </a:t>
            </a:r>
            <a:r>
              <a:rPr lang="ru-RU" sz="1600" dirty="0" smtClean="0"/>
              <a:t>работ»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886927" y="4488983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запланированных исполнителей работ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379190" y="5569067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8501" y="2639733"/>
            <a:ext cx="1829396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rgbClr val="767171"/>
                </a:solidFill>
              </a:rPr>
              <a:t>Заказ ТОРО </a:t>
            </a:r>
            <a:r>
              <a:rPr lang="ru-RU" sz="1050" dirty="0" smtClean="0">
                <a:solidFill>
                  <a:srgbClr val="767171"/>
                </a:solidFill>
              </a:rPr>
              <a:t>в статусах «ПЛАН», «ГОД», «ИСПП» </a:t>
            </a:r>
            <a:r>
              <a:rPr lang="ru-RU" sz="1050" dirty="0">
                <a:solidFill>
                  <a:srgbClr val="767171"/>
                </a:solidFill>
              </a:rPr>
              <a:t>– планируется, заказ включен в годовую программу ППА, исполнителя </a:t>
            </a:r>
            <a:r>
              <a:rPr lang="ru-RU" sz="1050" dirty="0" smtClean="0">
                <a:solidFill>
                  <a:srgbClr val="767171"/>
                </a:solidFill>
              </a:rPr>
              <a:t>запланированы</a:t>
            </a:r>
            <a:endParaRPr lang="ru-RU" sz="1050" dirty="0">
              <a:solidFill>
                <a:srgbClr val="767171"/>
              </a:solidFill>
            </a:endParaRPr>
          </a:p>
          <a:p>
            <a:r>
              <a:rPr lang="ru-RU" sz="1050" dirty="0">
                <a:solidFill>
                  <a:srgbClr val="767171"/>
                </a:solidFill>
              </a:rPr>
              <a:t>Заказ ТОРО </a:t>
            </a:r>
            <a:r>
              <a:rPr lang="ru-RU" sz="1050" dirty="0" smtClean="0">
                <a:solidFill>
                  <a:srgbClr val="767171"/>
                </a:solidFill>
              </a:rPr>
              <a:t>в статусах «ПЛАН», «ГОД», «ИСПК» </a:t>
            </a:r>
            <a:r>
              <a:rPr lang="ru-RU" sz="1050" dirty="0">
                <a:solidFill>
                  <a:srgbClr val="767171"/>
                </a:solidFill>
              </a:rPr>
              <a:t>– планируется, заказ включен в годовую программу ППА, требуется заменить исполнителей)</a:t>
            </a:r>
          </a:p>
          <a:p>
            <a:r>
              <a:rPr lang="ru-RU" sz="1050" dirty="0">
                <a:solidFill>
                  <a:srgbClr val="767171"/>
                </a:solidFill>
              </a:rPr>
              <a:t>Заказ ТОРО </a:t>
            </a:r>
            <a:r>
              <a:rPr lang="ru-RU" sz="1050" dirty="0" smtClean="0">
                <a:solidFill>
                  <a:srgbClr val="767171"/>
                </a:solidFill>
              </a:rPr>
              <a:t>в статусах «ПЛАН», «ГОД», «ТРОС» </a:t>
            </a:r>
            <a:r>
              <a:rPr lang="ru-RU" sz="1050" dirty="0">
                <a:solidFill>
                  <a:srgbClr val="767171"/>
                </a:solidFill>
              </a:rPr>
              <a:t>– планируется, заказ включен в годовую программу ППА, требуется </a:t>
            </a:r>
            <a:r>
              <a:rPr lang="ru-RU" sz="1050" dirty="0" err="1" smtClean="0">
                <a:solidFill>
                  <a:srgbClr val="767171"/>
                </a:solidFill>
              </a:rPr>
              <a:t>осмечивание</a:t>
            </a:r>
            <a:endParaRPr lang="ru-RU" sz="1050" dirty="0">
              <a:solidFill>
                <a:srgbClr val="767171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885694" y="55822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52271" y="4630348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767171"/>
                </a:solidFill>
              </a:rPr>
              <a:t>Заказ ТОРО </a:t>
            </a:r>
            <a:r>
              <a:rPr lang="ru-RU" sz="1100" dirty="0" smtClean="0">
                <a:solidFill>
                  <a:srgbClr val="767171"/>
                </a:solidFill>
              </a:rPr>
              <a:t>в статусах «ПЛАН», «ГОД» </a:t>
            </a:r>
            <a:r>
              <a:rPr lang="ru-RU" sz="1100" dirty="0">
                <a:solidFill>
                  <a:srgbClr val="767171"/>
                </a:solidFill>
              </a:rPr>
              <a:t>– планируется, заказ включен в годовую программу </a:t>
            </a:r>
            <a:r>
              <a:rPr lang="ru-RU" sz="1100" dirty="0" smtClean="0">
                <a:solidFill>
                  <a:srgbClr val="767171"/>
                </a:solidFill>
              </a:rPr>
              <a:t>ППА</a:t>
            </a:r>
            <a:endParaRPr lang="ru-RU" sz="1100" dirty="0">
              <a:solidFill>
                <a:srgbClr val="76717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767171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err="1" smtClean="0">
                <a:solidFill>
                  <a:srgbClr val="767171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 smtClean="0">
                <a:solidFill>
                  <a:srgbClr val="767171"/>
                </a:solidFill>
                <a:latin typeface="Calibri" panose="020F0502020204030204" pitchFamily="34" charset="0"/>
              </a:rPr>
              <a:t> осуществляет анализ </a:t>
            </a:r>
            <a:r>
              <a:rPr lang="ru-RU" sz="1400" dirty="0">
                <a:solidFill>
                  <a:srgbClr val="767171"/>
                </a:solidFill>
                <a:latin typeface="Calibri" panose="020F0502020204030204" pitchFamily="34" charset="0"/>
              </a:rPr>
              <a:t>запланированных исполнителей на уровне операций заказов ТОРО (подразделений при выполнении работ </a:t>
            </a:r>
            <a:r>
              <a:rPr lang="ru-RU" sz="1400" dirty="0" err="1">
                <a:solidFill>
                  <a:srgbClr val="767171"/>
                </a:solidFill>
                <a:latin typeface="Calibri" panose="020F0502020204030204" pitchFamily="34" charset="0"/>
              </a:rPr>
              <a:t>хозспособом</a:t>
            </a:r>
            <a:r>
              <a:rPr lang="ru-RU" sz="1400" dirty="0">
                <a:solidFill>
                  <a:srgbClr val="767171"/>
                </a:solidFill>
                <a:latin typeface="Calibri" panose="020F0502020204030204" pitchFamily="34" charset="0"/>
              </a:rPr>
              <a:t> или подрядных организаций) с учетом требований гарантийного обслуживания техники (обслуживание техники на гарантии должно выполняться только официальными дилерами).</a:t>
            </a:r>
          </a:p>
          <a:p>
            <a:r>
              <a:rPr lang="ru-RU" sz="1400" dirty="0">
                <a:solidFill>
                  <a:srgbClr val="767171"/>
                </a:solidFill>
                <a:latin typeface="Calibri" panose="020F0502020204030204" pitchFamily="34" charset="0"/>
              </a:rPr>
              <a:t>По результатам анализа может быть принято решение о целесообразности использования указанных исполнителей либо о необходимости замены исполнителей.</a:t>
            </a:r>
          </a:p>
          <a:p>
            <a:r>
              <a:rPr lang="ru-RU" sz="1400" dirty="0">
                <a:solidFill>
                  <a:srgbClr val="767171"/>
                </a:solidFill>
                <a:latin typeface="Calibri" panose="020F0502020204030204" pitchFamily="34" charset="0"/>
              </a:rPr>
              <a:t>В случае определения в качестве исполнителей работ подрядных организаций устанавливается на заказе ТОРО статус «ТРОС – требует </a:t>
            </a:r>
            <a:r>
              <a:rPr lang="ru-RU" sz="1400" dirty="0" err="1">
                <a:solidFill>
                  <a:srgbClr val="767171"/>
                </a:solidFill>
                <a:latin typeface="Calibri" panose="020F0502020204030204" pitchFamily="34" charset="0"/>
              </a:rPr>
              <a:t>осмечивания</a:t>
            </a:r>
            <a:r>
              <a:rPr lang="ru-RU" sz="1400" dirty="0">
                <a:solidFill>
                  <a:srgbClr val="767171"/>
                </a:solidFill>
                <a:latin typeface="Calibri" panose="020F0502020204030204" pitchFamily="34" charset="0"/>
              </a:rPr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391176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«Ввод данных смет в заказы ТОРО и приложение </a:t>
            </a:r>
            <a:r>
              <a:rPr lang="ru-RU" sz="1600" dirty="0" smtClean="0"/>
              <a:t>скан-копии»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955938" y="2281661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Ввод данных смет в заказы ТОРО и приложение скан-копии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448201" y="3361745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68814" y="2084472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767171"/>
                </a:solidFill>
              </a:rPr>
              <a:t>Заказ ТОРО </a:t>
            </a:r>
            <a:r>
              <a:rPr lang="ru-RU" sz="1100" dirty="0" smtClean="0">
                <a:solidFill>
                  <a:srgbClr val="767171"/>
                </a:solidFill>
              </a:rPr>
              <a:t>в статусах «ПЛАН», «ГОД», «ОСМЧ» </a:t>
            </a:r>
            <a:r>
              <a:rPr lang="ru-RU" sz="1100" dirty="0">
                <a:solidFill>
                  <a:srgbClr val="767171"/>
                </a:solidFill>
              </a:rPr>
              <a:t>– планируется, заказ включен в годовую программу ППА, заказ </a:t>
            </a:r>
            <a:r>
              <a:rPr lang="ru-RU" sz="1100" dirty="0" err="1">
                <a:solidFill>
                  <a:srgbClr val="767171"/>
                </a:solidFill>
              </a:rPr>
              <a:t>осмечен</a:t>
            </a:r>
            <a:r>
              <a:rPr lang="ru-RU" sz="1100" dirty="0" smtClean="0">
                <a:solidFill>
                  <a:srgbClr val="767171"/>
                </a:solidFill>
              </a:rPr>
              <a:t>)</a:t>
            </a:r>
            <a:endParaRPr lang="ru-RU" sz="1100" dirty="0">
              <a:solidFill>
                <a:srgbClr val="767171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2027208" y="3342047"/>
            <a:ext cx="928730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7194" y="2241748"/>
            <a:ext cx="1829396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rgbClr val="595959"/>
                </a:solidFill>
              </a:rPr>
              <a:t>Заказ ТОРО </a:t>
            </a:r>
            <a:r>
              <a:rPr lang="ru-RU" sz="1050" dirty="0" smtClean="0">
                <a:solidFill>
                  <a:srgbClr val="595959"/>
                </a:solidFill>
              </a:rPr>
              <a:t>в статусах «ПЛАН», «ГОД», «ТРОС» </a:t>
            </a:r>
            <a:r>
              <a:rPr lang="ru-RU" sz="1050" dirty="0">
                <a:solidFill>
                  <a:srgbClr val="595959"/>
                </a:solidFill>
              </a:rPr>
              <a:t>– планируется, заказ включен в годовую программу ППА, требуется </a:t>
            </a:r>
            <a:r>
              <a:rPr lang="ru-RU" sz="1050" dirty="0" err="1">
                <a:solidFill>
                  <a:srgbClr val="595959"/>
                </a:solidFill>
              </a:rPr>
              <a:t>осмечивание</a:t>
            </a:r>
            <a:r>
              <a:rPr lang="ru-RU" sz="1050" dirty="0">
                <a:solidFill>
                  <a:srgbClr val="595959"/>
                </a:solidFill>
              </a:rPr>
              <a:t>)</a:t>
            </a:r>
          </a:p>
          <a:p>
            <a:r>
              <a:rPr lang="ru-RU" sz="1050" dirty="0" smtClean="0">
                <a:solidFill>
                  <a:srgbClr val="595959"/>
                </a:solidFill>
              </a:rPr>
              <a:t>Плановая </a:t>
            </a:r>
            <a:r>
              <a:rPr lang="ru-RU" sz="1050" dirty="0">
                <a:solidFill>
                  <a:srgbClr val="595959"/>
                </a:solidFill>
              </a:rPr>
              <a:t>цена (системный документ)</a:t>
            </a:r>
          </a:p>
          <a:p>
            <a:r>
              <a:rPr lang="ru-RU" sz="1050" dirty="0">
                <a:solidFill>
                  <a:srgbClr val="595959"/>
                </a:solidFill>
              </a:rPr>
              <a:t>Смета (несистемный документ)</a:t>
            </a:r>
          </a:p>
          <a:p>
            <a:r>
              <a:rPr lang="ru-RU" sz="1050" dirty="0">
                <a:solidFill>
                  <a:srgbClr val="595959"/>
                </a:solidFill>
              </a:rPr>
              <a:t>ТКП (несистемный документ)</a:t>
            </a:r>
          </a:p>
          <a:p>
            <a:r>
              <a:rPr lang="ru-RU" sz="1050" dirty="0">
                <a:solidFill>
                  <a:srgbClr val="595959"/>
                </a:solidFill>
              </a:rPr>
              <a:t>Дефектная ведомость (несистемный документ)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767171"/>
                </a:solidFill>
              </a:rPr>
              <a:t>Планировщик </a:t>
            </a:r>
            <a:r>
              <a:rPr lang="ru-RU" sz="1400" dirty="0" err="1" smtClean="0">
                <a:solidFill>
                  <a:srgbClr val="767171"/>
                </a:solidFill>
              </a:rPr>
              <a:t>ТОиР</a:t>
            </a:r>
            <a:r>
              <a:rPr lang="ru-RU" sz="1400" dirty="0" smtClean="0">
                <a:solidFill>
                  <a:srgbClr val="767171"/>
                </a:solidFill>
              </a:rPr>
              <a:t> осуществляет ввод </a:t>
            </a:r>
            <a:r>
              <a:rPr lang="ru-RU" sz="1400" dirty="0">
                <a:solidFill>
                  <a:srgbClr val="767171"/>
                </a:solidFill>
              </a:rPr>
              <a:t>стоимости УСО в ОСГ/ заказы ТОРО по операциям, а также прикрепление скан-копии дефектной ведомости, сметы к ОСГ/ заказу ТОРО.</a:t>
            </a:r>
          </a:p>
          <a:p>
            <a:r>
              <a:rPr lang="ru-RU" sz="1400" dirty="0">
                <a:solidFill>
                  <a:srgbClr val="767171"/>
                </a:solidFill>
              </a:rPr>
              <a:t>После ввода стоимости УСО устанавливается статус заказу ТОРО «ОСМЧ – заказ </a:t>
            </a:r>
            <a:r>
              <a:rPr lang="ru-RU" sz="1400" dirty="0" err="1">
                <a:solidFill>
                  <a:srgbClr val="767171"/>
                </a:solidFill>
              </a:rPr>
              <a:t>осмечен</a:t>
            </a:r>
            <a:r>
              <a:rPr lang="ru-RU" sz="1400" dirty="0">
                <a:solidFill>
                  <a:srgbClr val="767171"/>
                </a:solidFill>
              </a:rPr>
              <a:t>».</a:t>
            </a:r>
            <a:endParaRPr lang="ru-RU" sz="14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01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целесообразности привлечения исполнителей </a:t>
            </a:r>
            <a:r>
              <a:rPr lang="ru-RU" sz="1600" dirty="0" smtClean="0"/>
              <a:t>работ» и «Замена исполнителей в заказах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42202" y="274275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целесообразности привлечения исполнителей работ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34465" y="382284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55078" y="2772092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767171"/>
                </a:solidFill>
              </a:rPr>
              <a:t>Заказ ТОРО </a:t>
            </a:r>
            <a:r>
              <a:rPr lang="ru-RU" sz="1100" dirty="0" smtClean="0">
                <a:solidFill>
                  <a:srgbClr val="767171"/>
                </a:solidFill>
              </a:rPr>
              <a:t>в статусах «ПЛАН», «ГОД», «ИСПЗ» </a:t>
            </a:r>
            <a:r>
              <a:rPr lang="ru-RU" sz="1100" dirty="0">
                <a:solidFill>
                  <a:srgbClr val="767171"/>
                </a:solidFill>
              </a:rPr>
              <a:t>– планируется, заказ включен в годовую программу ППА, исполнители заменены)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92193" y="380314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58770" y="2687454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767171"/>
                </a:solidFill>
              </a:rPr>
              <a:t>Заказ ТОРО </a:t>
            </a:r>
            <a:r>
              <a:rPr lang="ru-RU" sz="1100" dirty="0" smtClean="0">
                <a:solidFill>
                  <a:srgbClr val="767171"/>
                </a:solidFill>
              </a:rPr>
              <a:t>в статусах «ПЛАН», «ГОД», «ИСПК» </a:t>
            </a:r>
            <a:r>
              <a:rPr lang="ru-RU" sz="1100" dirty="0">
                <a:solidFill>
                  <a:srgbClr val="767171"/>
                </a:solidFill>
              </a:rPr>
              <a:t>– планируется, заказ включен в годовую программу ППА, требуется заменить </a:t>
            </a:r>
            <a:r>
              <a:rPr lang="ru-RU" sz="1100" dirty="0" smtClean="0">
                <a:solidFill>
                  <a:srgbClr val="767171"/>
                </a:solidFill>
              </a:rPr>
              <a:t>исполнителей</a:t>
            </a:r>
            <a:endParaRPr lang="ru-RU" sz="1100" dirty="0">
              <a:solidFill>
                <a:srgbClr val="76717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767171"/>
                </a:solidFill>
              </a:rPr>
              <a:t>По результатам анализа Планировщиком </a:t>
            </a:r>
            <a:r>
              <a:rPr lang="ru-RU" sz="1400" dirty="0" err="1" smtClean="0">
                <a:solidFill>
                  <a:srgbClr val="767171"/>
                </a:solidFill>
              </a:rPr>
              <a:t>ТОиР</a:t>
            </a:r>
            <a:r>
              <a:rPr lang="ru-RU" sz="1400" dirty="0" smtClean="0">
                <a:solidFill>
                  <a:srgbClr val="767171"/>
                </a:solidFill>
              </a:rPr>
              <a:t> в </a:t>
            </a:r>
            <a:r>
              <a:rPr lang="ru-RU" sz="1400" dirty="0">
                <a:solidFill>
                  <a:srgbClr val="767171"/>
                </a:solidFill>
              </a:rPr>
              <a:t>заказах ТОРО заменяются запланированные исполнители на более оптимальных.</a:t>
            </a:r>
            <a:endParaRPr lang="ru-RU" sz="14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3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замененных </a:t>
            </a:r>
            <a:r>
              <a:rPr lang="ru-RU" sz="1600" dirty="0" smtClean="0"/>
              <a:t>исполнителей»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943952" y="2719040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замененных исполнителей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440266" y="397452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31037" y="1943199"/>
            <a:ext cx="18293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rgbClr val="595959"/>
                </a:solidFill>
              </a:rPr>
              <a:t>Заказ ТОРО </a:t>
            </a:r>
            <a:r>
              <a:rPr lang="ru-RU" sz="1050" dirty="0" smtClean="0">
                <a:solidFill>
                  <a:srgbClr val="595959"/>
                </a:solidFill>
              </a:rPr>
              <a:t>в статусах «ПЛАН», «ГОД», «ИСПС» </a:t>
            </a:r>
            <a:r>
              <a:rPr lang="ru-RU" sz="1050" dirty="0">
                <a:solidFill>
                  <a:srgbClr val="595959"/>
                </a:solidFill>
              </a:rPr>
              <a:t>– планируется, заказ включен в годовую программу ППА, замена исполнителей </a:t>
            </a:r>
            <a:r>
              <a:rPr lang="ru-RU" sz="1050" dirty="0" smtClean="0">
                <a:solidFill>
                  <a:srgbClr val="595959"/>
                </a:solidFill>
              </a:rPr>
              <a:t>согласована</a:t>
            </a:r>
            <a:endParaRPr lang="ru-RU" sz="1050" dirty="0">
              <a:solidFill>
                <a:srgbClr val="595959"/>
              </a:solidFill>
            </a:endParaRPr>
          </a:p>
          <a:p>
            <a:r>
              <a:rPr lang="ru-RU" sz="1050" dirty="0">
                <a:solidFill>
                  <a:srgbClr val="595959"/>
                </a:solidFill>
              </a:rPr>
              <a:t>Заказ ТОРО </a:t>
            </a:r>
            <a:r>
              <a:rPr lang="ru-RU" sz="1050" dirty="0" smtClean="0">
                <a:solidFill>
                  <a:srgbClr val="595959"/>
                </a:solidFill>
              </a:rPr>
              <a:t>в статусах «ПЛАН», «ГОД», «ИСПК» </a:t>
            </a:r>
            <a:r>
              <a:rPr lang="ru-RU" sz="1050" dirty="0">
                <a:solidFill>
                  <a:srgbClr val="595959"/>
                </a:solidFill>
              </a:rPr>
              <a:t>– планируется, заказ включен в годовую программу ППА, требуется замена </a:t>
            </a:r>
            <a:r>
              <a:rPr lang="ru-RU" sz="1050" dirty="0" smtClean="0">
                <a:solidFill>
                  <a:srgbClr val="595959"/>
                </a:solidFill>
              </a:rPr>
              <a:t>исполнителей</a:t>
            </a:r>
            <a:endParaRPr lang="ru-RU" sz="105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080670" y="397452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60520" y="2869601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статусах «ПЛАН», «ГОД», «ИСПЗ» </a:t>
            </a:r>
            <a:r>
              <a:rPr lang="ru-RU" sz="1100" dirty="0">
                <a:solidFill>
                  <a:srgbClr val="595959"/>
                </a:solidFill>
              </a:rPr>
              <a:t>– планируется, заказ включен в годовую программу ППА, исполнители </a:t>
            </a:r>
            <a:r>
              <a:rPr lang="ru-RU" sz="1100" dirty="0" smtClean="0">
                <a:solidFill>
                  <a:srgbClr val="595959"/>
                </a:solidFill>
              </a:rPr>
              <a:t>заменены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2122" y="5089397"/>
            <a:ext cx="84040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При </a:t>
            </a:r>
            <a:r>
              <a:rPr lang="ru-RU" sz="1400" dirty="0">
                <a:solidFill>
                  <a:srgbClr val="595959"/>
                </a:solidFill>
              </a:rPr>
              <a:t>согласовании замены исполнителей, Старший планировщик </a:t>
            </a:r>
            <a:r>
              <a:rPr lang="ru-RU" sz="1400" dirty="0" err="1">
                <a:solidFill>
                  <a:srgbClr val="595959"/>
                </a:solidFill>
              </a:rPr>
              <a:t>ТОиР</a:t>
            </a:r>
            <a:r>
              <a:rPr lang="ru-RU" sz="1400" dirty="0">
                <a:solidFill>
                  <a:srgbClr val="595959"/>
                </a:solidFill>
              </a:rPr>
              <a:t> устанавливает статус заказу ТОРО «ИСПС</a:t>
            </a:r>
            <a:r>
              <a:rPr lang="ru-RU" sz="1400" dirty="0" smtClean="0">
                <a:solidFill>
                  <a:srgbClr val="595959"/>
                </a:solidFill>
              </a:rPr>
              <a:t>».</a:t>
            </a:r>
          </a:p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При </a:t>
            </a:r>
            <a:r>
              <a:rPr lang="ru-RU" sz="1400" dirty="0">
                <a:solidFill>
                  <a:srgbClr val="595959"/>
                </a:solidFill>
              </a:rPr>
              <a:t>несогласовании замены исполнителей, Старший планировщик </a:t>
            </a:r>
            <a:r>
              <a:rPr lang="ru-RU" sz="1400" dirty="0" err="1">
                <a:solidFill>
                  <a:srgbClr val="595959"/>
                </a:solidFill>
              </a:rPr>
              <a:t>ТОиР</a:t>
            </a:r>
            <a:r>
              <a:rPr lang="ru-RU" sz="1400" dirty="0">
                <a:solidFill>
                  <a:srgbClr val="595959"/>
                </a:solidFill>
              </a:rPr>
              <a:t> устанавливает статус заказу ТОРО «ИСПК» с указанием замечания в подробном тексте заказа ТОРО.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767171"/>
                </a:solidFill>
              </a:rPr>
              <a:t>Старшим планировщиком </a:t>
            </a:r>
            <a:r>
              <a:rPr lang="ru-RU" sz="1400" dirty="0" err="1" smtClean="0">
                <a:solidFill>
                  <a:srgbClr val="767171"/>
                </a:solidFill>
              </a:rPr>
              <a:t>ТОиР</a:t>
            </a:r>
            <a:r>
              <a:rPr lang="ru-RU" sz="1400" dirty="0" smtClean="0">
                <a:solidFill>
                  <a:srgbClr val="767171"/>
                </a:solidFill>
              </a:rPr>
              <a:t> выполняется </a:t>
            </a:r>
            <a:r>
              <a:rPr lang="ru-RU" sz="1400" dirty="0">
                <a:solidFill>
                  <a:srgbClr val="767171"/>
                </a:solidFill>
              </a:rPr>
              <a:t>проверка оптимальности замены исполнителей и наличия действующей гарантии по оборудованию, указанному в заказе ТОРО, на соответствующую дату согласно срокам заказа ТОРО.</a:t>
            </a:r>
            <a:endParaRPr lang="ru-RU" sz="14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2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«Исполнители </a:t>
            </a:r>
            <a:r>
              <a:rPr lang="ru-RU" sz="1600" dirty="0" smtClean="0"/>
              <a:t>запланированы»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«Исполнители запланированы»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2675986"/>
            <a:ext cx="18293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статусах «ПЛАН», «ГОД», «ИСПП» </a:t>
            </a:r>
            <a:r>
              <a:rPr lang="ru-RU" sz="1100" dirty="0">
                <a:solidFill>
                  <a:srgbClr val="595959"/>
                </a:solidFill>
              </a:rPr>
              <a:t>– планируется, заказ включен в годовую программу ППА, исполнители </a:t>
            </a:r>
            <a:r>
              <a:rPr lang="ru-RU" sz="1100" dirty="0" smtClean="0">
                <a:solidFill>
                  <a:srgbClr val="595959"/>
                </a:solidFill>
              </a:rPr>
              <a:t>запланированы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63880" y="3069885"/>
            <a:ext cx="1829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767171"/>
                </a:solidFill>
              </a:rPr>
              <a:t>Заказ ТОРО </a:t>
            </a:r>
            <a:r>
              <a:rPr lang="ru-RU" sz="1100" dirty="0" smtClean="0">
                <a:solidFill>
                  <a:srgbClr val="767171"/>
                </a:solidFill>
              </a:rPr>
              <a:t>в статусах «ПЛАН», «ГОД», «ИСПС» </a:t>
            </a:r>
            <a:r>
              <a:rPr lang="ru-RU" sz="1100" dirty="0">
                <a:solidFill>
                  <a:srgbClr val="767171"/>
                </a:solidFill>
              </a:rPr>
              <a:t>– планируется, заказ включен в годовую программу ППА, заменена исполнителей </a:t>
            </a:r>
            <a:r>
              <a:rPr lang="ru-RU" sz="1100" dirty="0" smtClean="0">
                <a:solidFill>
                  <a:srgbClr val="767171"/>
                </a:solidFill>
              </a:rPr>
              <a:t>согласована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результатам анализа исполнителей и проведения оптимальной замены, согласованной со Старшим планировщиком </a:t>
            </a:r>
            <a:r>
              <a:rPr lang="ru-RU" sz="1400" dirty="0" err="1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, Планировщик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на заказах ТОРО устанавливает статус «ИСПП».</a:t>
            </a:r>
          </a:p>
        </p:txBody>
      </p:sp>
    </p:spTree>
    <p:extLst>
      <p:ext uri="{BB962C8B-B14F-4D97-AF65-F5344CB8AC3E}">
        <p14:creationId xmlns:p14="http://schemas.microsoft.com/office/powerpoint/2010/main" val="379076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«Балансировка мощностей»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5132004" y="479475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9011" y="1101092"/>
            <a:ext cx="880756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16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16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Группа 34"/>
          <p:cNvGrpSpPr/>
          <p:nvPr/>
        </p:nvGrpSpPr>
        <p:grpSpPr>
          <a:xfrm>
            <a:off x="2599613" y="3674853"/>
            <a:ext cx="1181614" cy="834536"/>
            <a:chOff x="103199" y="808239"/>
            <a:chExt cx="916520" cy="682828"/>
          </a:xfrm>
        </p:grpSpPr>
        <p:sp>
          <p:nvSpPr>
            <p:cNvPr id="39" name="Скругленный прямоугольник 38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  <a:solidFill>
              <a:srgbClr val="767171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Формирование план-графика воздействий на ПА подразделения</a:t>
              </a:r>
              <a:endParaRPr lang="ru-RU" sz="1050" kern="1200" dirty="0"/>
            </a:p>
          </p:txBody>
        </p:sp>
      </p:grpSp>
      <p:cxnSp>
        <p:nvCxnSpPr>
          <p:cNvPr id="65" name="Прямая соединительная линия 64"/>
          <p:cNvCxnSpPr>
            <a:endCxn id="39" idx="1"/>
          </p:cNvCxnSpPr>
          <p:nvPr/>
        </p:nvCxnSpPr>
        <p:spPr>
          <a:xfrm>
            <a:off x="2213088" y="4086869"/>
            <a:ext cx="386525" cy="525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>
            <a:stCxn id="39" idx="3"/>
          </p:cNvCxnSpPr>
          <p:nvPr/>
        </p:nvCxnSpPr>
        <p:spPr>
          <a:xfrm flipV="1">
            <a:off x="3781227" y="4092120"/>
            <a:ext cx="270977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Группа 30"/>
          <p:cNvGrpSpPr/>
          <p:nvPr/>
        </p:nvGrpSpPr>
        <p:grpSpPr>
          <a:xfrm>
            <a:off x="4052204" y="3674853"/>
            <a:ext cx="1318974" cy="845031"/>
            <a:chOff x="103199" y="808239"/>
            <a:chExt cx="916520" cy="682828"/>
          </a:xfrm>
        </p:grpSpPr>
        <p:sp>
          <p:nvSpPr>
            <p:cNvPr id="32" name="Скругленный прямоугольник 31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Синхронизация работ различных служб, выполняющих воздействия на ПА</a:t>
              </a:r>
              <a:endParaRPr lang="ru-RU" sz="1050" kern="1200" dirty="0"/>
            </a:p>
          </p:txBody>
        </p:sp>
      </p:grpSp>
      <p:grpSp>
        <p:nvGrpSpPr>
          <p:cNvPr id="29" name="Группа 28"/>
          <p:cNvGrpSpPr/>
          <p:nvPr/>
        </p:nvGrpSpPr>
        <p:grpSpPr>
          <a:xfrm>
            <a:off x="5627187" y="3674855"/>
            <a:ext cx="979153" cy="845031"/>
            <a:chOff x="103199" y="808239"/>
            <a:chExt cx="916520" cy="682828"/>
          </a:xfrm>
        </p:grpSpPr>
        <p:sp>
          <p:nvSpPr>
            <p:cNvPr id="30" name="Скругленный прямоугольник 29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9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 smtClean="0"/>
                <a:t>Балансировка мощностей персонала</a:t>
              </a:r>
              <a:endParaRPr lang="ru-RU" sz="1050" kern="1200" dirty="0"/>
            </a:p>
          </p:txBody>
        </p:sp>
      </p:grpSp>
      <p:cxnSp>
        <p:nvCxnSpPr>
          <p:cNvPr id="55" name="Прямая соединительная линия 54"/>
          <p:cNvCxnSpPr>
            <a:stCxn id="32" idx="3"/>
            <a:endCxn id="30" idx="1"/>
          </p:cNvCxnSpPr>
          <p:nvPr/>
        </p:nvCxnSpPr>
        <p:spPr>
          <a:xfrm>
            <a:off x="5371178" y="4097369"/>
            <a:ext cx="256009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30" idx="3"/>
          </p:cNvCxnSpPr>
          <p:nvPr/>
        </p:nvCxnSpPr>
        <p:spPr>
          <a:xfrm>
            <a:off x="6606340" y="4097371"/>
            <a:ext cx="250016" cy="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49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«Формирование план-графика воздействий на ПА </a:t>
            </a:r>
            <a:r>
              <a:rPr lang="ru-RU" sz="1600" dirty="0" smtClean="0"/>
              <a:t>подразделения</a:t>
            </a:r>
            <a:r>
              <a:rPr lang="ru-RU" sz="1600" dirty="0"/>
              <a:t>» и «Анализ критичности ПА в план-графике воздействий на ПА»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Формирование план-графика воздействий на ПА подразделения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6" y="2684617"/>
            <a:ext cx="18293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Годовая программа ППА Подразделения </a:t>
            </a:r>
          </a:p>
          <a:p>
            <a:r>
              <a:rPr lang="ru-RU" sz="1100" dirty="0" smtClean="0">
                <a:solidFill>
                  <a:srgbClr val="595959"/>
                </a:solidFill>
              </a:rPr>
              <a:t>Заказ </a:t>
            </a:r>
            <a:r>
              <a:rPr lang="ru-RU" sz="1100" dirty="0">
                <a:solidFill>
                  <a:srgbClr val="595959"/>
                </a:solidFill>
              </a:rPr>
              <a:t>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статусах «ПЛАН», «ГОД», «ТРСХ» </a:t>
            </a:r>
            <a:r>
              <a:rPr lang="ru-RU" sz="1100" dirty="0">
                <a:solidFill>
                  <a:srgbClr val="595959"/>
                </a:solidFill>
              </a:rPr>
              <a:t>– планируется, заказ включен в годовую программу ППА, требует </a:t>
            </a:r>
            <a:r>
              <a:rPr lang="ru-RU" sz="1100" dirty="0" smtClean="0">
                <a:solidFill>
                  <a:srgbClr val="595959"/>
                </a:solidFill>
              </a:rPr>
              <a:t>синхронизации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50144" y="3192448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статусах «ПЛАН», «ГОД» </a:t>
            </a:r>
            <a:r>
              <a:rPr lang="ru-RU" sz="1100" dirty="0">
                <a:solidFill>
                  <a:srgbClr val="595959"/>
                </a:solidFill>
              </a:rPr>
              <a:t>– планируется, заказ включен в годовую программу </a:t>
            </a:r>
            <a:r>
              <a:rPr lang="ru-RU" sz="1100" dirty="0" smtClean="0">
                <a:solidFill>
                  <a:srgbClr val="595959"/>
                </a:solidFill>
              </a:rPr>
              <a:t>ППА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Планировщиком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осуществляется формирование </a:t>
            </a:r>
            <a:r>
              <a:rPr lang="ru-RU" sz="1400" dirty="0"/>
              <a:t>годовой программы ППА Подразделения и анализ заказов ТОРО на необходимость выполнения синхронизации работ со смежными службами и балансировки мощностей.</a:t>
            </a:r>
          </a:p>
          <a:p>
            <a:r>
              <a:rPr lang="ru-RU" sz="1400" dirty="0"/>
              <a:t>При необходимости выполнения синхронизации работ на заказах ТОРО устанавливается статус «ТРСХ – требует синхронизации»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4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41302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«Синхронизация работ различных служб, выполняющих воздействия на </a:t>
            </a:r>
            <a:r>
              <a:rPr lang="ru-RU" sz="1600" dirty="0" smtClean="0"/>
              <a:t>ПА»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2826542" y="3040786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Синхронизация работ различных служб, выполняющих воздействия на ПА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318805" y="4120870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76892" y="2716292"/>
            <a:ext cx="18293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статусах «ПЛАН», «ГОД», «СИНХ» </a:t>
            </a:r>
            <a:r>
              <a:rPr lang="ru-RU" sz="1100" dirty="0">
                <a:solidFill>
                  <a:srgbClr val="595959"/>
                </a:solidFill>
              </a:rPr>
              <a:t>– планируется, заказ включен в годовую программу ППА, синхронизирован) </a:t>
            </a:r>
          </a:p>
          <a:p>
            <a:r>
              <a:rPr lang="ru-RU" sz="1100" dirty="0">
                <a:solidFill>
                  <a:srgbClr val="595959"/>
                </a:solidFill>
              </a:rPr>
              <a:t>Годовая программа ППА </a:t>
            </a:r>
            <a:r>
              <a:rPr lang="ru-RU" sz="1100" dirty="0" smtClean="0">
                <a:solidFill>
                  <a:srgbClr val="595959"/>
                </a:solidFill>
              </a:rPr>
              <a:t>Подразделения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976533" y="410117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43110" y="2547015"/>
            <a:ext cx="18293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статусах «ПЛАН», «ГОД», «ТРСХ» </a:t>
            </a:r>
            <a:r>
              <a:rPr lang="ru-RU" sz="1100" dirty="0">
                <a:solidFill>
                  <a:srgbClr val="595959"/>
                </a:solidFill>
              </a:rPr>
              <a:t>– планируется, заказ включен в годовую программу ППА, требует </a:t>
            </a:r>
            <a:r>
              <a:rPr lang="ru-RU" sz="1100" dirty="0" smtClean="0">
                <a:solidFill>
                  <a:srgbClr val="595959"/>
                </a:solidFill>
              </a:rPr>
              <a:t>синхронизации</a:t>
            </a:r>
            <a:endParaRPr lang="ru-RU" sz="1100" dirty="0">
              <a:solidFill>
                <a:srgbClr val="595959"/>
              </a:solidFill>
            </a:endParaRPr>
          </a:p>
          <a:p>
            <a:r>
              <a:rPr lang="ru-RU" sz="1100" dirty="0">
                <a:solidFill>
                  <a:srgbClr val="595959"/>
                </a:solidFill>
              </a:rPr>
              <a:t>Годовая программа ППА Подразделения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Планировщиком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осуществляется синхронизация </a:t>
            </a:r>
            <a:r>
              <a:rPr lang="ru-RU" sz="1400" dirty="0"/>
              <a:t>графиков воздействий различных служб для согласования взаимозависимых мероприятий.</a:t>
            </a:r>
          </a:p>
          <a:p>
            <a:r>
              <a:rPr lang="ru-RU" sz="1400" dirty="0"/>
              <a:t>По результатам синхронизации устанавливается статус на Заказах ТОРО «СИНХ – Синхронизирован».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91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«Балансировка мощностей </a:t>
            </a:r>
            <a:r>
              <a:rPr lang="ru-RU" sz="1600" dirty="0" smtClean="0"/>
              <a:t>персонала»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50828" y="4101835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Балансировка мощностей персонала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43091" y="5181919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1178" y="3447939"/>
            <a:ext cx="182939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Заказ ТОРО </a:t>
            </a:r>
            <a:r>
              <a:rPr lang="ru-RU" sz="1100" dirty="0" smtClean="0"/>
              <a:t>в статусах «ПЛАН», «ГОД», «БЛНС» </a:t>
            </a:r>
            <a:r>
              <a:rPr lang="ru-RU" sz="1100" dirty="0"/>
              <a:t>– планируется, заказ включен в годовую программу ППА, выполнена балансировка </a:t>
            </a:r>
            <a:r>
              <a:rPr lang="ru-RU" sz="1100" dirty="0" smtClean="0"/>
              <a:t>ресурсов</a:t>
            </a:r>
            <a:endParaRPr lang="ru-RU" sz="1100" dirty="0"/>
          </a:p>
          <a:p>
            <a:r>
              <a:rPr lang="ru-RU" sz="1100" dirty="0"/>
              <a:t>Годовая программа ППА </a:t>
            </a:r>
            <a:r>
              <a:rPr lang="ru-RU" sz="1100" dirty="0" smtClean="0"/>
              <a:t>Подразделения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200819" y="516222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67396" y="3508147"/>
            <a:ext cx="182939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 ТОРО </a:t>
            </a:r>
            <a:r>
              <a:rPr lang="ru-RU" sz="1100" dirty="0" smtClean="0">
                <a:solidFill>
                  <a:srgbClr val="595959"/>
                </a:solidFill>
              </a:rPr>
              <a:t>в статусах «ПЛАН», «ГОД» </a:t>
            </a:r>
            <a:r>
              <a:rPr lang="ru-RU" sz="1100" dirty="0">
                <a:solidFill>
                  <a:srgbClr val="595959"/>
                </a:solidFill>
              </a:rPr>
              <a:t>– планируется, заказ включен в годовую программу </a:t>
            </a:r>
            <a:r>
              <a:rPr lang="ru-RU" sz="1100" dirty="0" smtClean="0">
                <a:solidFill>
                  <a:srgbClr val="595959"/>
                </a:solidFill>
              </a:rPr>
              <a:t>ППА</a:t>
            </a:r>
            <a:endParaRPr lang="ru-RU" sz="1100" dirty="0">
              <a:solidFill>
                <a:srgbClr val="595959"/>
              </a:solidFill>
            </a:endParaRPr>
          </a:p>
          <a:p>
            <a:r>
              <a:rPr lang="ru-RU" sz="1100" dirty="0">
                <a:solidFill>
                  <a:srgbClr val="595959"/>
                </a:solidFill>
              </a:rPr>
              <a:t>Годовая программа ППА Подразделения </a:t>
            </a:r>
            <a:endParaRPr lang="ru-RU" sz="1100" dirty="0" smtClean="0">
              <a:solidFill>
                <a:srgbClr val="595959"/>
              </a:solidFill>
            </a:endParaRPr>
          </a:p>
          <a:p>
            <a:r>
              <a:rPr lang="ru-RU" sz="1100" dirty="0" smtClean="0">
                <a:solidFill>
                  <a:srgbClr val="595959"/>
                </a:solidFill>
              </a:rPr>
              <a:t>Наличные </a:t>
            </a:r>
            <a:r>
              <a:rPr lang="ru-RU" sz="1100" dirty="0">
                <a:solidFill>
                  <a:srgbClr val="595959"/>
                </a:solidFill>
              </a:rPr>
              <a:t>мощности и квалификации </a:t>
            </a:r>
            <a:r>
              <a:rPr lang="ru-RU" sz="1100" dirty="0" smtClean="0">
                <a:solidFill>
                  <a:srgbClr val="595959"/>
                </a:solidFill>
              </a:rPr>
              <a:t>персонала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Планировщиком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осуществляется проверка </a:t>
            </a:r>
            <a:r>
              <a:rPr lang="ru-RU" sz="1400" dirty="0"/>
              <a:t>доступности персонала (на уровне подразделений) по запланированным воздействиям в соответствующие сроки.</a:t>
            </a:r>
          </a:p>
          <a:p>
            <a:r>
              <a:rPr lang="ru-RU" sz="1400" dirty="0"/>
              <a:t>При нехватке мощностей персонала проводится балансировка (привлечение подрядной организации, корректировка сроков и объемов) с целью обеспечения полной доступности персонала для выполнения запланированных работ.</a:t>
            </a:r>
          </a:p>
          <a:p>
            <a:r>
              <a:rPr lang="ru-RU" sz="1400" dirty="0"/>
              <a:t>По результатам балансировки мощностей персонала устанавливается статус на Заказах ТОРО «БЛНС – выполнена балансировка ресурсов».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55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«Согласование и утверждение годовой программы ППА»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28" name="Группа 27"/>
          <p:cNvGrpSpPr/>
          <p:nvPr/>
        </p:nvGrpSpPr>
        <p:grpSpPr>
          <a:xfrm>
            <a:off x="95960" y="3214058"/>
            <a:ext cx="969365" cy="753581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45" name="Скругленный прямоугольник 44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0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Формирование предварительного графика ППР на год</a:t>
              </a:r>
              <a:endParaRPr lang="ru-RU" sz="1050" kern="1200" dirty="0"/>
            </a:p>
          </p:txBody>
        </p:sp>
      </p:grpSp>
      <p:sp>
        <p:nvSpPr>
          <p:cNvPr id="52" name="Прямая соединительная линия 4"/>
          <p:cNvSpPr txBox="1"/>
          <p:nvPr/>
        </p:nvSpPr>
        <p:spPr>
          <a:xfrm rot="59759">
            <a:off x="3079437" y="4820105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54" name="Скругленный прямоугольник 4"/>
          <p:cNvSpPr txBox="1"/>
          <p:nvPr/>
        </p:nvSpPr>
        <p:spPr>
          <a:xfrm>
            <a:off x="7413103" y="3146113"/>
            <a:ext cx="1290604" cy="89618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985" tIns="6985" rIns="6985" bIns="6985" numCol="1" spcCol="1270" anchor="ctr" anchorCtr="0">
            <a:noAutofit/>
          </a:bodyPr>
          <a:lstStyle/>
          <a:p>
            <a:pPr lvl="0"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sz="1050" dirty="0"/>
              <a:t>Техническое закрытие заказов на диагностику</a:t>
            </a:r>
            <a:endParaRPr lang="ru-RU" sz="1050" kern="1200" dirty="0" smtClean="0"/>
          </a:p>
        </p:txBody>
      </p:sp>
      <p:sp>
        <p:nvSpPr>
          <p:cNvPr id="55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86264" y="1089185"/>
            <a:ext cx="2063782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Прямая соединительная линия 55"/>
          <p:cNvCxnSpPr>
            <a:endCxn id="45" idx="1"/>
          </p:cNvCxnSpPr>
          <p:nvPr/>
        </p:nvCxnSpPr>
        <p:spPr>
          <a:xfrm flipV="1">
            <a:off x="-396815" y="3590849"/>
            <a:ext cx="492775" cy="277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687315" y="1089185"/>
            <a:ext cx="119420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030022" y="1089185"/>
            <a:ext cx="119803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ПТО</a:t>
            </a:r>
          </a:p>
        </p:txBody>
      </p:sp>
      <p:sp>
        <p:nvSpPr>
          <p:cNvPr id="59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368839" y="1089185"/>
            <a:ext cx="2334868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256044" y="1089185"/>
            <a:ext cx="125290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" name="Группа 60"/>
          <p:cNvGrpSpPr/>
          <p:nvPr/>
        </p:nvGrpSpPr>
        <p:grpSpPr>
          <a:xfrm>
            <a:off x="1171323" y="3214059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62" name="Скругленный прямоугольник 61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СГПЛ</a:t>
              </a:r>
              <a:endParaRPr lang="ru-RU" sz="1050" kern="1200" dirty="0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2406299" y="3214058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66" name="Скругленный прямоугольник 65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7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ССПЛ</a:t>
              </a:r>
              <a:endParaRPr lang="ru-RU" sz="1050" kern="1200" dirty="0"/>
            </a:p>
          </p:txBody>
        </p:sp>
      </p:grpSp>
      <p:cxnSp>
        <p:nvCxnSpPr>
          <p:cNvPr id="68" name="Прямая соединительная линия 67"/>
          <p:cNvCxnSpPr>
            <a:stCxn id="45" idx="3"/>
            <a:endCxn id="62" idx="1"/>
          </p:cNvCxnSpPr>
          <p:nvPr/>
        </p:nvCxnSpPr>
        <p:spPr>
          <a:xfrm>
            <a:off x="1065325" y="3590849"/>
            <a:ext cx="105998" cy="19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>
            <a:stCxn id="62" idx="3"/>
            <a:endCxn id="67" idx="1"/>
          </p:cNvCxnSpPr>
          <p:nvPr/>
        </p:nvCxnSpPr>
        <p:spPr>
          <a:xfrm flipV="1">
            <a:off x="2123715" y="3592753"/>
            <a:ext cx="303366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Группа 69"/>
          <p:cNvGrpSpPr/>
          <p:nvPr/>
        </p:nvGrpSpPr>
        <p:grpSpPr>
          <a:xfrm>
            <a:off x="3835130" y="3210249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71" name="Скругленный прямоугольник 70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2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</a:t>
              </a:r>
              <a:r>
                <a:rPr lang="ru-RU" sz="1050" dirty="0" smtClean="0"/>
                <a:t>СГГС</a:t>
              </a:r>
              <a:endParaRPr lang="ru-RU" sz="1050" kern="1200" dirty="0"/>
            </a:p>
          </p:txBody>
        </p:sp>
      </p:grpSp>
      <p:cxnSp>
        <p:nvCxnSpPr>
          <p:cNvPr id="73" name="Прямая соединительная линия 72"/>
          <p:cNvCxnSpPr>
            <a:stCxn id="66" idx="3"/>
            <a:endCxn id="71" idx="1"/>
          </p:cNvCxnSpPr>
          <p:nvPr/>
        </p:nvCxnSpPr>
        <p:spPr>
          <a:xfrm flipV="1">
            <a:off x="3358691" y="3588944"/>
            <a:ext cx="476439" cy="38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Группа 73"/>
          <p:cNvGrpSpPr/>
          <p:nvPr/>
        </p:nvGrpSpPr>
        <p:grpSpPr>
          <a:xfrm>
            <a:off x="5149619" y="3210249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75" name="Скругленный прямоугольник 74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6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</a:t>
              </a:r>
              <a:r>
                <a:rPr lang="ru-RU" sz="1050" dirty="0" smtClean="0"/>
                <a:t>ПТОГ</a:t>
              </a:r>
              <a:endParaRPr lang="ru-RU" sz="1050" kern="1200" dirty="0"/>
            </a:p>
          </p:txBody>
        </p:sp>
      </p:grpSp>
      <p:grpSp>
        <p:nvGrpSpPr>
          <p:cNvPr id="77" name="Группа 76"/>
          <p:cNvGrpSpPr/>
          <p:nvPr/>
        </p:nvGrpSpPr>
        <p:grpSpPr>
          <a:xfrm>
            <a:off x="6460711" y="3210249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78" name="Скругленный прямоугольник 77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9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ГИП</a:t>
              </a:r>
              <a:endParaRPr lang="ru-RU" sz="1050" kern="1200" dirty="0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7557917" y="3210249"/>
            <a:ext cx="952392" cy="757390"/>
            <a:chOff x="103199" y="808239"/>
            <a:chExt cx="916520" cy="682828"/>
          </a:xfrm>
          <a:solidFill>
            <a:srgbClr val="767171"/>
          </a:solidFill>
        </p:grpSpPr>
        <p:sp>
          <p:nvSpPr>
            <p:cNvPr id="81" name="Скругленный прямоугольник 80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2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Установка статуса УТВГ</a:t>
              </a:r>
              <a:endParaRPr lang="ru-RU" sz="1050" kern="1200" dirty="0"/>
            </a:p>
          </p:txBody>
        </p:sp>
      </p:grpSp>
      <p:cxnSp>
        <p:nvCxnSpPr>
          <p:cNvPr id="83" name="Прямая соединительная линия 82"/>
          <p:cNvCxnSpPr>
            <a:stCxn id="71" idx="3"/>
            <a:endCxn id="75" idx="1"/>
          </p:cNvCxnSpPr>
          <p:nvPr/>
        </p:nvCxnSpPr>
        <p:spPr>
          <a:xfrm>
            <a:off x="4787522" y="3588944"/>
            <a:ext cx="3620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/>
          <p:cNvCxnSpPr>
            <a:stCxn id="75" idx="3"/>
            <a:endCxn id="79" idx="1"/>
          </p:cNvCxnSpPr>
          <p:nvPr/>
        </p:nvCxnSpPr>
        <p:spPr>
          <a:xfrm>
            <a:off x="6102011" y="3588944"/>
            <a:ext cx="37948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/>
          <p:cNvCxnSpPr>
            <a:stCxn id="54" idx="1"/>
            <a:endCxn id="81" idx="1"/>
          </p:cNvCxnSpPr>
          <p:nvPr/>
        </p:nvCxnSpPr>
        <p:spPr>
          <a:xfrm flipV="1">
            <a:off x="7413103" y="3588944"/>
            <a:ext cx="144814" cy="52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/>
          <p:cNvCxnSpPr/>
          <p:nvPr/>
        </p:nvCxnSpPr>
        <p:spPr>
          <a:xfrm>
            <a:off x="8510309" y="3588944"/>
            <a:ext cx="33418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52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«Формирование предварительного графика ППР на год»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Формирование предварительного графика ППР на год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6" y="3335096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Проведен анализ предварительного графика ППР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58217" y="3645473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Год планирования</a:t>
            </a:r>
            <a:br>
              <a:rPr lang="ru-RU" sz="1100" dirty="0" smtClean="0">
                <a:solidFill>
                  <a:srgbClr val="595959"/>
                </a:solidFill>
              </a:rPr>
            </a:br>
            <a:r>
              <a:rPr lang="ru-RU" sz="1100" dirty="0" smtClean="0">
                <a:solidFill>
                  <a:srgbClr val="595959"/>
                </a:solidFill>
              </a:rPr>
              <a:t>Техническое место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формирует в виде отчета (примечание: заказы еще не создаются) предварительный график ППР на основе данных планов и заказов ТОРО.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15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8935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СГПЛ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годовом </a:t>
            </a:r>
            <a:r>
              <a:rPr lang="ru-RU" sz="1600" dirty="0" smtClean="0"/>
              <a:t>горизонте»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СГПЛ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годовом горизонте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7" y="3455676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Установлен пользовательский статус </a:t>
            </a:r>
            <a:r>
              <a:rPr lang="ru-RU" sz="1100" dirty="0" smtClean="0">
                <a:solidFill>
                  <a:srgbClr val="595959"/>
                </a:solidFill>
              </a:rPr>
              <a:t>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После проверки и балансировки всех ресурсов на заказах, выполненных в предшествующих шагах,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устанавливает на заказах ТОРО статус «СГПЛ - Отправлен на согласование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 БЕ ГОК» (при этом статус «ПЛАН» снимается), печатает из системы план-график, подписывает его, и затем передает Старшему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БЕ ГОК на </a:t>
            </a:r>
            <a:r>
              <a:rPr lang="ru-RU" sz="1400" dirty="0" smtClean="0"/>
              <a:t>согласование.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6931" y="3682118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на согласование 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38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ССПЛ 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годовом 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ССПЛ 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годовом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«СГПЛ»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случае отсутствия замечаний, 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согласовывает план-график воздействий на ПА и устанавливает для заказов ТОРО статус «ССПЛ - </a:t>
            </a:r>
            <a:r>
              <a:rPr lang="ru-RU" sz="1400" dirty="0" smtClean="0"/>
              <a:t>Согласовано </a:t>
            </a:r>
            <a:r>
              <a:rPr lang="ru-RU" sz="1400" dirty="0"/>
              <a:t>старшим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 БЕ ГОК», после чего заказы блокируются для изменения/ корректировок.</a:t>
            </a:r>
          </a:p>
        </p:txBody>
      </p:sp>
    </p:spTree>
    <p:extLst>
      <p:ext uri="{BB962C8B-B14F-4D97-AF65-F5344CB8AC3E}">
        <p14:creationId xmlns:p14="http://schemas.microsoft.com/office/powerpoint/2010/main" val="4203955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СГГС Главным специалистом на годовом </a:t>
            </a:r>
            <a:r>
              <a:rPr lang="ru-RU" sz="1600" dirty="0" smtClean="0"/>
              <a:t>горизонте»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СГГС Главным специалистом на годовом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«ССПЛ»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«ССГС»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Главный специалист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при </a:t>
            </a:r>
            <a:r>
              <a:rPr lang="ru-RU" sz="1400" dirty="0"/>
              <a:t>получении план-графика воздействий на ПА, согласованного Старшим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 БЕ ГОК, проверяет на корректность, при наличии замечаний формирует лист замечаний и передает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БЕ ГОК на </a:t>
            </a:r>
            <a:r>
              <a:rPr lang="ru-RU" sz="1400" dirty="0" smtClean="0"/>
              <a:t>корректировку, в </a:t>
            </a:r>
            <a:r>
              <a:rPr lang="ru-RU" sz="1400" dirty="0"/>
              <a:t>случае отсутствия замечаний согласовывает план-график мероприятий </a:t>
            </a:r>
            <a:r>
              <a:rPr lang="ru-RU" sz="1400" dirty="0" err="1"/>
              <a:t>ТОиР</a:t>
            </a:r>
            <a:r>
              <a:rPr lang="ru-RU" sz="1400" dirty="0"/>
              <a:t> путем подписания на бумаге и простановки статуса «СГГС - согласовано главным специалистом» на заказах в 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45377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ПТОГ Специалистом ПТО на годовом 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ПТОГ Специалистом ПТО на годовом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«СГГС»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«ПТОГ»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Специалист </a:t>
            </a:r>
            <a:r>
              <a:rPr lang="ru-RU" sz="1400" dirty="0" smtClean="0"/>
              <a:t>ПТО </a:t>
            </a:r>
            <a:r>
              <a:rPr lang="ru-RU" sz="1400" dirty="0"/>
              <a:t>проверяет план-график воздействий на ПА по заказам ТОРО на все производственное оборудование на соответствие производственной программе и задачам производства и, при выявлении замечаний, формирует лист замечаний, пересылает Главному специалисту </a:t>
            </a:r>
            <a:r>
              <a:rPr lang="ru-RU" sz="1400" dirty="0" err="1"/>
              <a:t>ТОиР</a:t>
            </a:r>
            <a:r>
              <a:rPr lang="ru-RU" sz="1400" dirty="0"/>
              <a:t> БЕ ГОК и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БЕ ГОК.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040" y="5142741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При </a:t>
            </a:r>
            <a:r>
              <a:rPr lang="ru-RU" sz="1400" dirty="0"/>
              <a:t>отсутствии замечаний Специалист </a:t>
            </a:r>
            <a:r>
              <a:rPr lang="ru-RU" sz="1400" dirty="0" smtClean="0"/>
              <a:t>ПТО </a:t>
            </a:r>
            <a:r>
              <a:rPr lang="ru-RU" sz="1400" dirty="0"/>
              <a:t>производит массовое согласование заказов ТОРО на производственное оборудование, влияющее на производственную деятельность и устанавливает пользовательский статус без порядкового номера «ПТОГ – Согласование ПТО». </a:t>
            </a:r>
          </a:p>
        </p:txBody>
      </p:sp>
    </p:spTree>
    <p:extLst>
      <p:ext uri="{BB962C8B-B14F-4D97-AF65-F5344CB8AC3E}">
        <p14:creationId xmlns:p14="http://schemas.microsoft.com/office/powerpoint/2010/main" val="235675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ГИП 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годовом 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ГИП 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годовом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Согласованные заказы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«ГИП»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Получив на предыдущем шаге процесса согласование плана-графика воздействий на ПА от Главного инженера </a:t>
            </a:r>
            <a:r>
              <a:rPr lang="ru-RU" sz="1400" dirty="0" smtClean="0"/>
              <a:t>БЕ, </a:t>
            </a:r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устанавливает на заказах ТОРО статус «ГИП - согласован главным инженером».</a:t>
            </a:r>
          </a:p>
        </p:txBody>
      </p:sp>
    </p:spTree>
    <p:extLst>
      <p:ext uri="{BB962C8B-B14F-4D97-AF65-F5344CB8AC3E}">
        <p14:creationId xmlns:p14="http://schemas.microsoft.com/office/powerpoint/2010/main" val="63656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«Установка статуса УТВГ Старшим планировщиком </a:t>
            </a:r>
            <a:r>
              <a:rPr lang="ru-RU" sz="1600" dirty="0" err="1"/>
              <a:t>ТОиР</a:t>
            </a:r>
            <a:r>
              <a:rPr lang="ru-RU" sz="1600" dirty="0"/>
              <a:t> на годовом горизонте»</a:t>
            </a: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Установка статуса УТВГ Старшим планировщиком </a:t>
              </a:r>
              <a:r>
                <a:rPr lang="ru-RU" sz="1600" dirty="0" err="1"/>
                <a:t>ТОиР</a:t>
              </a:r>
              <a:r>
                <a:rPr lang="ru-RU" sz="1600" dirty="0"/>
                <a:t> на годовом горизонте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5406" y="2958842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Согласованные заказы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Установлен пользовательский статус «УТВГ»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устанавливает </a:t>
            </a:r>
            <a:r>
              <a:rPr lang="ru-RU" sz="1400" dirty="0"/>
              <a:t>на заказах ТОРО статус «УТВГ - утвержден в программе ремонтов, включен в годовой план», а при выявлении замечаний инициирует соответствующие корректировки (сроков, объемов работ). Данный статус будет оставаться установленным на протяжении всего жизненного цикла заказа ТОРО. По статусу УТВГ в стандартных и нестандартных отчетах можно будет выбрать заказы, которые были утверждены в годовой программе воздействий на ПА.</a:t>
            </a:r>
          </a:p>
        </p:txBody>
      </p:sp>
    </p:spTree>
    <p:extLst>
      <p:ext uri="{BB962C8B-B14F-4D97-AF65-F5344CB8AC3E}">
        <p14:creationId xmlns:p14="http://schemas.microsoft.com/office/powerpoint/2010/main" val="220667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«Регистрация технических параметров эксплуатации оборудования»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297816"/>
              </p:ext>
            </p:extLst>
          </p:nvPr>
        </p:nvGraphicFramePr>
        <p:xfrm>
          <a:off x="277682" y="1543505"/>
          <a:ext cx="8628574" cy="177766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xmlns="" val="3700845562"/>
                    </a:ext>
                  </a:extLst>
                </a:gridCol>
              </a:tblGrid>
              <a:tr h="3938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ZPM_PLAN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АРМ Планировщика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564329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IW38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заказов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2789538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CM04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Балансировка мощностей рабочего места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3771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ZPM_IWBK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Отчет по проверке доступности материалов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30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109547</TotalTime>
  <Words>4462</Words>
  <Application>Microsoft Office PowerPoint</Application>
  <PresentationFormat>Экран (4:3)</PresentationFormat>
  <Paragraphs>388</Paragraphs>
  <Slides>48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Pronin Nikita</cp:lastModifiedBy>
  <cp:revision>4446</cp:revision>
  <cp:lastPrinted>2018-04-09T09:22:20Z</cp:lastPrinted>
  <dcterms:created xsi:type="dcterms:W3CDTF">2015-07-14T13:53:28Z</dcterms:created>
  <dcterms:modified xsi:type="dcterms:W3CDTF">2019-11-22T13:34:59Z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