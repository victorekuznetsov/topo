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701" r:id="rId11"/>
    <p:sldId id="1702" r:id="rId12"/>
    <p:sldId id="1703" r:id="rId13"/>
    <p:sldId id="1699" r:id="rId14"/>
    <p:sldId id="1700" r:id="rId15"/>
    <p:sldId id="1668" r:id="rId16"/>
    <p:sldId id="1713" r:id="rId17"/>
    <p:sldId id="1672" r:id="rId18"/>
    <p:sldId id="1691" r:id="rId19"/>
    <p:sldId id="1692" r:id="rId20"/>
    <p:sldId id="1704" r:id="rId21"/>
    <p:sldId id="1705" r:id="rId22"/>
    <p:sldId id="1706" r:id="rId23"/>
    <p:sldId id="1707" r:id="rId24"/>
    <p:sldId id="1708" r:id="rId25"/>
    <p:sldId id="1710" r:id="rId26"/>
    <p:sldId id="1709" r:id="rId27"/>
    <p:sldId id="1712" r:id="rId28"/>
    <p:sldId id="1679" r:id="rId29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B8B8B8"/>
    <a:srgbClr val="FCC917"/>
    <a:srgbClr val="FBC90B"/>
    <a:srgbClr val="FFD966"/>
    <a:srgbClr val="FFF7E0"/>
    <a:srgbClr val="FAC90B"/>
    <a:srgbClr val="F6CC0C"/>
    <a:srgbClr val="19938A"/>
    <a:srgbClr val="C00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89" d="100"/>
          <a:sy n="89" d="100"/>
        </p:scale>
        <p:origin x="739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25.11.2019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25.11.2019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help.sap.com/saphelp_470/helpdata/ru/3c/abb1d2413911d1893d0000e8323c4f/content.htm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help.sap.com/saphelp_470/helpdata/ru/3c/abaf12413911d1893d0000e8323c4f/content.ht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Стратегии предупредительного ТОРО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Стратегия предупредительного ТОРО в системе определяет правила выполнения планируемых мероприятий ТОРО: последовательность и периодичность выполнения работ, состав операций, цикл работ, временные границы допустимого начала и окончания мероприятия.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Централизованный норматив (инструкция ТОРО на модель) имеет одну стратегию ТОРО, но в зависимости от условий эксплуатации и требований завода изготовителя необходимо иметь соответствующий выбор стратегий обслуживания оборудования с учетом разных условий эксплуатации для ЕО, входящих в одну модель (централизованная ТК).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Допускается формирование индивидуальных стратегий ТОРО для ЕО из типовой стратегии на модель, используя «Коэффициент изменения цикла плана» и «Коэффициент изменения цикла позиции плана». Возможны следующие варианты формирования стратегий: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Введение в инструкцию ТОРО дополнительного перечня счетчиков группы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 отдельных нормативов (инструкций ТОРО) с учетом стратегий в рамках одной модели;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Обеспечение оборудования индивидуальной стратегий за счет формирования дополнительных моделей (одна модель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инструкций ТОРО без жесткой связи «Оборудование-Модель-Норматив» (один норматив – одна стратегия);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учета условий эксплуатации используется локальный норматив на ЕО (ТК ЕО).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стратегии предупредительного ТОРО двух видов – «по календарю» и «по наработке». В первом случае работы выполняются через установленные промежутки календарного времени между ремонтами, единицей измерения периодичности устанавливаются годы, месяцы, недели или дни, во втором случае – через установленные значения наработки оборудования (по достижении определенных фактических значений счетчиков наработки), единицей измерения наработки могут являться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мото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-часы, километры пробега, пуски и т.п.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пакетов мероприятий предупредительного ТОРО в системе ведётся вручную и содержит 2 символа. Если вид работ является «номерным», т.е. содержит порядковый номер (ТО-1, ТО-2), то при кодировке пакета работ необходимо использовать первую букву вида работ и номер работ по порядку.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6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Технологическая карта содержит перечень мероприятий (состав работ) и информацию о последовательности их выполнения, а также перечень необходимых ресурсов, запчастей и материалов.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разрабатывается для конкретного оборудования или группы схожих моделей.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общем случае ТК должна содержать следующую информацию: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тип, марка, модель и основные характеристики оборудования, для которого разработана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периодичность и состав выполняемых работ;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трудоемкость, численность и разряд рабочих, выполняющих операции на данном оборудовании;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нормы расхода запасных частей и материалов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 и оснастка, используемые при выполнении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оборудования;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контролируемые и измеряемые характеристики, их граничные значения;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условия безопасности при выполнении работ.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технологические карты/инструкции ТОРО используются для стандартизации последовательности выполнения операций ТОРО и эффективного планирования мероприятий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технологической карте/инструкции ТОРО содержится перечень операций и периодичность их выполнения, трудоемкость, перечень ТМЦ и ресурсы, необходимые для проведения работ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технологической карте указана стратегия ТОРО, то устанавливается зависимость того, какая операция ТК или ТК целиком выполняются при определенном виде работ.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 ТОРО/инструкции ТОРО используются как при планировании предупредительных мероприятий, так и при создании Заказов ТОРО.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следующие типы технологических карт ТОРО: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«E» – технологические карты для ЕО;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«T» – технологические карты для ТМ;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«A» – инструкции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для ЕО и ТМ используются для уникальных технических объектов. Инструкция ТОРО является типовой ТК для технических объектов, имеющих одинаковую модель оборудования, и могут быть связаны с группой технологических карт.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036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устанавливают связь между стратегиями предупредительного ТОРО, технологическими картами и техническими объектами.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 два типа плана предупредительного ТОРО: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заказах ТОРО;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сообщениях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требуется выполнить простое предупредительное ТОРО, для которого достаточен один цикл предупредительного ТОРО, можно работать с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планами отдельного цикла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План отдельного цикла является наиболее простым видом плана ТОРО. Для создания такого плана и точно определяется один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цикл предупредительного ТОРО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основе работ или времени, в котором указывается интервал, в течение которого план ТОРО должен быть выполнен. Такой план может применяться, например, для периодических испытаний или проверок работоспособности технических объектов.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может создаваться индивидуально для каждого объекта обслуживания или сразу для группы объектов, если они обслуживаются одновременно по одной технологической карте.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состоит из двух составляющих: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000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ru-RU" sz="2800" dirty="0" smtClean="0">
                <a:solidFill>
                  <a:srgbClr val="FCC917"/>
                </a:solidFill>
              </a:rPr>
              <a:t>61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«Планирование остановочных ремонтов»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=""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=""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=""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=""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=""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Стратегия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371397" y="-180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Стратегия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47985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Стратегия предупредительного ТОРО в системе </a:t>
            </a:r>
            <a:r>
              <a:rPr lang="en-US" sz="1000" dirty="0" smtClean="0"/>
              <a:t>SAP S/4 HANA </a:t>
            </a:r>
            <a:r>
              <a:rPr lang="ru-RU" sz="1000" dirty="0" smtClean="0"/>
              <a:t>определяет </a:t>
            </a:r>
            <a:r>
              <a:rPr lang="ru-RU" sz="1000" dirty="0"/>
              <a:t>структуру ремонтного цикла объекта - правила выполнения планируемых мероприятий ТОРО: последовательность и периодичность выполнения работ, цикл работ, временные границы допустимого начала и окончания </a:t>
            </a:r>
            <a:r>
              <a:rPr lang="ru-RU" sz="1000" dirty="0" smtClean="0"/>
              <a:t>мероприятия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Информация из стратегии используется в технологических картах и в планах предупредительного ТОРО, для определения работ, которые требуется выполнить при разных видах обслуживания или ремонта и срока их выполнения.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Определены стратегии </a:t>
            </a:r>
            <a:r>
              <a:rPr lang="ru-RU" sz="1000" dirty="0"/>
              <a:t>предупредительного ТОРО двух видов – «по календарю» и «по наработке</a:t>
            </a:r>
            <a:r>
              <a:rPr lang="ru-RU" sz="1000" dirty="0" smtClean="0"/>
              <a:t>».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Единицей стратегии ТОРО является пакет мероприятий предупредительного ТОРО. Пакет мероприятий предупредительного ТОРО в стратегии ТОРО имеет индивидуальный код, периодичность и соотносится с отдельным видом работ. У каждого пакета есть уровень иерархии. Уровень иерархии определяет, на основании какого пакета необходимо выполнять работы, если плановый срок выполнения пришелся на одну дату. </a:t>
            </a:r>
          </a:p>
          <a:p>
            <a:endParaRPr lang="ru-RU" sz="1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27" y="1152521"/>
            <a:ext cx="2403332" cy="31686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80" y="5242237"/>
            <a:ext cx="8644806" cy="802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824" y="4800542"/>
            <a:ext cx="3490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Линейка обслуживания в рамках стратегии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78885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Технологические карты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71974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Технологическая карта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9" y="1771927"/>
            <a:ext cx="324263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Технологическая карта (ТК) содержит перечень отдельных мероприятий </a:t>
            </a:r>
            <a:r>
              <a:rPr lang="ru-RU" sz="1000" dirty="0" err="1"/>
              <a:t>ТОиР</a:t>
            </a:r>
            <a:r>
              <a:rPr lang="ru-RU" sz="1000" dirty="0"/>
              <a:t> (состав работ) и информацию о последовательности их выполнения, а также содержит информацию о трудозатратах, материалах, запасных частях и требуемых инструментах, необходимых для выполнения работ</a:t>
            </a:r>
            <a:r>
              <a:rPr lang="ru-RU" sz="1000" dirty="0" smtClean="0"/>
              <a:t>.</a:t>
            </a:r>
          </a:p>
          <a:p>
            <a:pPr fontAlgn="t"/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ТК разрабатывается для конкретного оборудования или группы схожих моделей.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В общем случае ТК должна содержать следующую информацию: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тип, марка, модель и основные характеристики оборудования, для которого разработана ТК;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периодичность и состав выполняемых работ;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трудоемкость, численность и разряд рабочих, выполняющих операции на данном оборудовании;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нормы расхода запасных частей и материалов на </a:t>
            </a:r>
            <a:r>
              <a:rPr lang="ru-RU" sz="1000" dirty="0" err="1"/>
              <a:t>ТОиР</a:t>
            </a:r>
            <a:r>
              <a:rPr lang="ru-RU" sz="1000" dirty="0"/>
              <a:t>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инструменты и оснастка, используемые при выполнении </a:t>
            </a:r>
            <a:r>
              <a:rPr lang="ru-RU" sz="1000" dirty="0" err="1"/>
              <a:t>ТОиР</a:t>
            </a:r>
            <a:r>
              <a:rPr lang="ru-RU" sz="1000" dirty="0"/>
              <a:t> оборудования;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контролируемые и измеряемые характеристики, их граничные значения;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условия безопасности при выполнении работ.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</a:t>
            </a:r>
            <a:r>
              <a:rPr lang="ru-RU" sz="1000" dirty="0" smtClean="0"/>
              <a:t>спользуются </a:t>
            </a:r>
            <a:r>
              <a:rPr lang="ru-RU" sz="1000" dirty="0"/>
              <a:t>следующие типы технологических карт ТОРО: </a:t>
            </a:r>
          </a:p>
          <a:p>
            <a:pPr marL="228600" lvl="0" indent="-22860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«E» – технологические карты для ЕО;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«T» – технологические карты для ТМ;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«A» – инструкции ТОРО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57" y="1771927"/>
            <a:ext cx="5580233" cy="400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2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Планы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245997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Планы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8" y="1771927"/>
            <a:ext cx="552138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endParaRPr lang="ru-RU" sz="12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Предусматривается два </a:t>
            </a:r>
            <a:r>
              <a:rPr lang="ru-RU" sz="1200" dirty="0"/>
              <a:t>типа плана предупредительного ТОРО: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заказах ТОРО;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сообщениях ТОРО.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 предупредительного ТОРО состоит из двух составляющих: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pPr fontAlgn="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9890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9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«Планирование остановочных ремонтов»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66052" y="1101092"/>
            <a:ext cx="519406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584911" y="341594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TextBox 47"/>
          <p:cNvSpPr txBox="1"/>
          <p:nvPr/>
        </p:nvSpPr>
        <p:spPr>
          <a:xfrm>
            <a:off x="584910" y="3497789"/>
            <a:ext cx="150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Адаптация сроков заказов ТОРО с признаком "Остановочный ремонт" под предварительную дату начала остановочного ремонта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246550" y="3425064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800" dirty="0" smtClean="0"/>
              <a:t>Анализ предварительного графика остановочного ремонта</a:t>
            </a:r>
            <a:endParaRPr lang="ru-RU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2402863" y="2331664"/>
            <a:ext cx="150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и изменение планового заказа ТОРО </a:t>
            </a: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3905421" y="2439495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5545379" y="3425064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TextBox 59"/>
          <p:cNvSpPr txBox="1"/>
          <p:nvPr/>
        </p:nvSpPr>
        <p:spPr>
          <a:xfrm>
            <a:off x="7047938" y="3590123"/>
            <a:ext cx="13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Присвоение заказа к </a:t>
            </a:r>
            <a:r>
              <a:rPr lang="ru-RU" sz="1200" dirty="0" smtClean="0">
                <a:solidFill>
                  <a:schemeClr val="bg1"/>
                </a:solidFill>
              </a:rPr>
              <a:t>СПП-элементу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78" name="Прямая соединительная линия 77"/>
          <p:cNvCxnSpPr/>
          <p:nvPr/>
        </p:nvCxnSpPr>
        <p:spPr>
          <a:xfrm flipV="1">
            <a:off x="-18657" y="3904162"/>
            <a:ext cx="618155" cy="2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7112007" y="3426479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6" name="Прямая соединительная линия 25"/>
          <p:cNvCxnSpPr>
            <a:stCxn id="29" idx="3"/>
            <a:endCxn id="54" idx="1"/>
          </p:cNvCxnSpPr>
          <p:nvPr/>
        </p:nvCxnSpPr>
        <p:spPr>
          <a:xfrm>
            <a:off x="2087470" y="3904164"/>
            <a:ext cx="159080" cy="912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7" idx="3"/>
            <a:endCxn id="25" idx="1"/>
          </p:cNvCxnSpPr>
          <p:nvPr/>
        </p:nvCxnSpPr>
        <p:spPr>
          <a:xfrm>
            <a:off x="7047938" y="3913287"/>
            <a:ext cx="64069" cy="14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25" idx="3"/>
          </p:cNvCxnSpPr>
          <p:nvPr/>
        </p:nvCxnSpPr>
        <p:spPr>
          <a:xfrm flipV="1">
            <a:off x="8614566" y="3913287"/>
            <a:ext cx="349225" cy="141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05421" y="2512219"/>
            <a:ext cx="150255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Анализ выданных рекомендаций по результатам диагностики оборудования (заключений о техническом состоянии оборудования)</a:t>
            </a:r>
            <a:endParaRPr lang="ru-RU" sz="800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24189" y="3734885"/>
            <a:ext cx="150255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Формирование графика остановочного ремонта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858" y="3673330"/>
            <a:ext cx="150255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Включение дополнительных работ в период остановочного ремонта</a:t>
            </a:r>
          </a:p>
        </p:txBody>
      </p:sp>
      <p:sp>
        <p:nvSpPr>
          <p:cNvPr id="2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521338" y="1101092"/>
            <a:ext cx="323121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3904831" y="3913287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0" name="TextBox 29"/>
          <p:cNvSpPr txBox="1"/>
          <p:nvPr/>
        </p:nvSpPr>
        <p:spPr>
          <a:xfrm>
            <a:off x="3904831" y="4170677"/>
            <a:ext cx="150255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Проверка обеспеченности ресурсами и материалами заказов ТОРО</a:t>
            </a:r>
            <a:endParaRPr lang="ru-RU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«Планирование остановочных ремонтов»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858862" y="4782011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03517" y="1101092"/>
            <a:ext cx="368514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167076" y="3425064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TextBox 47"/>
          <p:cNvSpPr txBox="1"/>
          <p:nvPr/>
        </p:nvSpPr>
        <p:spPr>
          <a:xfrm>
            <a:off x="162621" y="3589488"/>
            <a:ext cx="1502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Автоматическое планирование заказов ТОРО в период остановочного ремонта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1721434" y="3497411"/>
            <a:ext cx="929105" cy="904099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800" dirty="0"/>
              <a:t>Ручное планирование заказов ТОРО в период остановочного ремонта</a:t>
            </a: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3929904" y="3497412"/>
            <a:ext cx="901374" cy="903723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5073378" y="3497411"/>
            <a:ext cx="922564" cy="903723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TextBox 59"/>
          <p:cNvSpPr txBox="1"/>
          <p:nvPr/>
        </p:nvSpPr>
        <p:spPr>
          <a:xfrm>
            <a:off x="6208438" y="3527932"/>
            <a:ext cx="13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Присвоение заказа к </a:t>
            </a:r>
            <a:r>
              <a:rPr lang="ru-RU" sz="1200" dirty="0" smtClean="0">
                <a:solidFill>
                  <a:schemeClr val="bg1"/>
                </a:solidFill>
              </a:rPr>
              <a:t>СПП-элементу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78" name="Прямая соединительная линия 77"/>
          <p:cNvCxnSpPr>
            <a:endCxn id="29" idx="1"/>
          </p:cNvCxnSpPr>
          <p:nvPr/>
        </p:nvCxnSpPr>
        <p:spPr>
          <a:xfrm>
            <a:off x="-18657" y="3904164"/>
            <a:ext cx="185733" cy="912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>
          <a:xfrm>
            <a:off x="6215109" y="3571810"/>
            <a:ext cx="1039480" cy="737237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26" name="Прямая соединительная линия 25"/>
          <p:cNvCxnSpPr>
            <a:endCxn id="54" idx="1"/>
          </p:cNvCxnSpPr>
          <p:nvPr/>
        </p:nvCxnSpPr>
        <p:spPr>
          <a:xfrm>
            <a:off x="1669635" y="3912911"/>
            <a:ext cx="51799" cy="3655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endCxn id="55" idx="1"/>
          </p:cNvCxnSpPr>
          <p:nvPr/>
        </p:nvCxnSpPr>
        <p:spPr>
          <a:xfrm flipV="1">
            <a:off x="3807730" y="3949274"/>
            <a:ext cx="122174" cy="1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5" idx="3"/>
            <a:endCxn id="57" idx="1"/>
          </p:cNvCxnSpPr>
          <p:nvPr/>
        </p:nvCxnSpPr>
        <p:spPr>
          <a:xfrm flipV="1">
            <a:off x="4831278" y="3949273"/>
            <a:ext cx="242100" cy="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7" idx="3"/>
            <a:endCxn id="25" idx="1"/>
          </p:cNvCxnSpPr>
          <p:nvPr/>
        </p:nvCxnSpPr>
        <p:spPr>
          <a:xfrm flipV="1">
            <a:off x="5995942" y="3940429"/>
            <a:ext cx="219167" cy="884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25" idx="3"/>
            <a:endCxn id="52" idx="1"/>
          </p:cNvCxnSpPr>
          <p:nvPr/>
        </p:nvCxnSpPr>
        <p:spPr>
          <a:xfrm flipV="1">
            <a:off x="7254589" y="3940054"/>
            <a:ext cx="349818" cy="37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68092" y="3472219"/>
            <a:ext cx="86094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Контроль и печать календарно-сетевого графика остановочного ремонта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0092" y="3698400"/>
            <a:ext cx="89103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Установка статуса "ОСТ" на заказах ТОРО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2272" y="3526517"/>
            <a:ext cx="104615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Проверка изменений, влияющих на график остановочного ремонта</a:t>
            </a:r>
          </a:p>
        </p:txBody>
      </p:sp>
      <p:sp>
        <p:nvSpPr>
          <p:cNvPr id="52" name="Скругленный прямоугольник 51"/>
          <p:cNvSpPr/>
          <p:nvPr/>
        </p:nvSpPr>
        <p:spPr>
          <a:xfrm>
            <a:off x="7604407" y="3546349"/>
            <a:ext cx="993482" cy="787409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3" name="Прямая соединительная линия 52"/>
          <p:cNvCxnSpPr>
            <a:stCxn id="52" idx="3"/>
          </p:cNvCxnSpPr>
          <p:nvPr/>
        </p:nvCxnSpPr>
        <p:spPr>
          <a:xfrm>
            <a:off x="8597889" y="3940054"/>
            <a:ext cx="439448" cy="921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93665" y="3497411"/>
            <a:ext cx="88875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dirty="0">
                <a:solidFill>
                  <a:schemeClr val="bg1"/>
                </a:solidFill>
              </a:rPr>
              <a:t>Устранение расхождений, влияющих на график остановочного ремонта</a:t>
            </a:r>
          </a:p>
        </p:txBody>
      </p:sp>
      <p:sp>
        <p:nvSpPr>
          <p:cNvPr id="58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882526" y="1101092"/>
            <a:ext cx="99704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991312" y="1101092"/>
            <a:ext cx="106616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158274" y="1099676"/>
            <a:ext cx="12081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7510976" y="1099676"/>
            <a:ext cx="121268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2752855" y="3497411"/>
            <a:ext cx="929105" cy="904099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800" dirty="0"/>
              <a:t>Оформление результатов планирования остановочного ремонта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6216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«Адаптация сроков заказов ТОРО с признаком "Остановочный ремонт" под предварительную дату начала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032404" y="240915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ZPM_PLAN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95821" y="4962380"/>
            <a:ext cx="286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0368" y="3115470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УТВГ с признаком «Остановочный ремонт»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22556" y="3023138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Сроки заказов ТОРО адаптированы под предварительную дату начала ОР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ОР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в рамках процесса планирования остановочных ремонтов анализирует заказы ТОРО в статусе УТВГ с признаком «Остановочный ремонт» и адаптирует сроки заказов ТОРО под предварительную дату начала остановочного ремонта.</a:t>
            </a: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«Уточнение сроков проведения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Прямая со стрелкой 17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ZPM_PLAN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358486" y="5264459"/>
            <a:ext cx="306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5597" y="3307540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Анализ заказов ТОРО в статусе УТВГ с признаком "Остановочный ремонт"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результатам действия вне системы готовится служебная записка о результатах проверки перед ОР, после чего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готовит "Проект приказа о подготовке к проведению ОР", либо "Проект приказа о переносе сроков ОР", после чего через СЭД (иной </a:t>
            </a:r>
            <a:r>
              <a:rPr lang="ru-RU" sz="1400" dirty="0" smtClean="0"/>
              <a:t>способ </a:t>
            </a:r>
            <a:r>
              <a:rPr lang="ru-RU" sz="1400" dirty="0"/>
              <a:t>согласования) выполняется согласование проекта приказа </a:t>
            </a:r>
            <a:r>
              <a:rPr lang="ru-RU" sz="1400" dirty="0" err="1"/>
              <a:t>Техкомитетом</a:t>
            </a:r>
            <a:r>
              <a:rPr lang="ru-RU" sz="1400" dirty="0"/>
              <a:t>. Действие выполняется за 2 месяца от предполагаемой даты начала ОР. </a:t>
            </a:r>
            <a:endParaRPr lang="ru-RU" sz="1400" dirty="0" smtClean="0"/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46727" y="3122875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Предварительный график остановочного ремонта проанализирован, подготовлена служебная записка о результатах проверки перед ОР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305130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«Перенос сроков проведения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результате принятого решения о переносе сроков ОР заказы ТОРО с признаком  "Остановочный ремонт"  в режиме "Формирование годового графика ремонтов"  переносятся на новые сроки остановочного ремонта.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92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307540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/>
              <a:t>Анализ заказов ТОРО в статусе УТВГ с признаком "Остановочный ремонт"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4800" y="3481271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Сроки заказов ТОРО адаптированы под новую дату начала ОР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51864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графика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Анализ всех заказов ТОРО в статусе УТВГ в режиме "Формирование графика остановочного ремонта" в пределах общей иерархии оборудования, обзор периода (до, после) сроков ОР. Принятие решение о возможности включения дополнительного перечня заказов ТОРО в период остановочного ремонта.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75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307540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Анализ заказов ТОРО в статусе </a:t>
            </a:r>
            <a:r>
              <a:rPr lang="ru-RU" sz="1200" dirty="0" smtClean="0"/>
              <a:t>УТВГ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22556" y="2802708"/>
            <a:ext cx="2346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График остановочного ремонта с новыми сроками ОР сформирован. Выделены позиции с заказами ТОРО, которые также можно дополнительно включить в период остановочного ремонта.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47324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«Включение дополнительных работ в период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остановочные ремонты могут быть добавлены дополнительные некритичные работы, при возможности их выполнения в период остановочного ремонта.  Также в окно остановочного ремонта могут быть добавлены ремонтные работы, возникшие в результате </a:t>
            </a:r>
            <a:r>
              <a:rPr lang="ru-RU" sz="1400" dirty="0" smtClean="0"/>
              <a:t>дефекта.</a:t>
            </a:r>
            <a:endParaRPr lang="ru-RU" sz="14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73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7741" y="374688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</a:t>
            </a:r>
            <a:r>
              <a:rPr lang="ru-RU" sz="1200" dirty="0"/>
              <a:t>ТОРО в статусе </a:t>
            </a:r>
            <a:r>
              <a:rPr lang="ru-RU" sz="1200" dirty="0" smtClean="0"/>
              <a:t>УТВГ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46727" y="3122875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/>
              <a:t>Предварительный график остановочного ремонта проанализирован, подготовлена служебная записка о результатах проверки перед ОР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277830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«Автоматическое планирование заказов ТОРО в период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результате планирования заказов ТОРО в период остановочного ремонта формируется календарно-сетевой график остановочного ремонта с корректной последовательностью заказов ТОРО/операций, а также сетевых графиков/операций </a:t>
            </a:r>
            <a:r>
              <a:rPr lang="ru-RU" sz="1400" dirty="0" err="1" smtClean="0"/>
              <a:t>ТПиР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964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307540"/>
            <a:ext cx="233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/>
              <a:t>Анализ заказов ТОРО в статусе УТВГ с признаком "Остановочный ремонт"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4801" y="3011098"/>
            <a:ext cx="234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Календарно-сетевой график остановочного ремонта с заказами ТОРО в статусе «МПРА» - автоматическое планирование ост. Ремонта выполнено</a:t>
            </a:r>
          </a:p>
        </p:txBody>
      </p:sp>
    </p:spTree>
    <p:extLst>
      <p:ext uri="{BB962C8B-B14F-4D97-AF65-F5344CB8AC3E}">
        <p14:creationId xmlns:p14="http://schemas.microsoft.com/office/powerpoint/2010/main" val="298243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«Ручное планирование заказов ТОРО в период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Планировщики ОР БЕ ГОК от служб механики, электрики и метрологии параллельно планируют заказы ТОРО остановочного ремонта и сетевые графики инвестиционных проектов </a:t>
            </a:r>
            <a:r>
              <a:rPr lang="ru-RU" sz="1400" dirty="0" err="1" smtClean="0"/>
              <a:t>ТОиР</a:t>
            </a:r>
            <a:r>
              <a:rPr lang="ru-RU" sz="1400" dirty="0"/>
              <a:t>.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184197"/>
            <a:ext cx="2336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 </a:t>
            </a:r>
            <a:r>
              <a:rPr lang="ru-RU" sz="1200" dirty="0" smtClean="0"/>
              <a:t>Заказы </a:t>
            </a:r>
            <a:r>
              <a:rPr lang="ru-RU" sz="1200" dirty="0"/>
              <a:t>ТОРО с признаком "Остановочный ремонт" и "Дополнительно включено в остановочный ремонт"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00764" y="3553529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Заказам ТОРО присвоен статус:</a:t>
            </a:r>
          </a:p>
          <a:p>
            <a:r>
              <a:rPr lang="ru-RU" sz="1200" dirty="0"/>
              <a:t> - </a:t>
            </a:r>
            <a:r>
              <a:rPr lang="ru-RU" sz="1200" dirty="0" smtClean="0"/>
              <a:t>МПРО</a:t>
            </a:r>
          </a:p>
        </p:txBody>
      </p:sp>
    </p:spTree>
    <p:extLst>
      <p:ext uri="{BB962C8B-B14F-4D97-AF65-F5344CB8AC3E}">
        <p14:creationId xmlns:p14="http://schemas.microsoft.com/office/powerpoint/2010/main" val="382022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«Контроль и печать календарно-сетевого графика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результате проверки календарно-сетевого графика остановочного ремонта выполняется согласование заказов ТОРО со стороны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, затем формируется выходная форма графика остановочного ремонта в формате </a:t>
            </a:r>
            <a:r>
              <a:rPr lang="ru-RU" sz="1400" dirty="0" err="1"/>
              <a:t>Excel</a:t>
            </a:r>
            <a:r>
              <a:rPr lang="ru-RU" sz="1400" dirty="0"/>
              <a:t> для возможности дальнейшего дополнения календарно-сетевого графика работами, необходимыми для обеспечения выполнения основных работ ОР (подготовительные, завершающие, </a:t>
            </a:r>
            <a:r>
              <a:rPr lang="ru-RU" sz="1400" dirty="0" err="1"/>
              <a:t>орг.работы</a:t>
            </a:r>
            <a:r>
              <a:rPr lang="ru-RU" sz="1400" dirty="0"/>
              <a:t> и работы ПТО), после чего через СЭД (иной </a:t>
            </a:r>
            <a:r>
              <a:rPr lang="ru-RU" sz="1400" dirty="0" err="1"/>
              <a:t>сбособ</a:t>
            </a:r>
            <a:r>
              <a:rPr lang="ru-RU" sz="1400" dirty="0"/>
              <a:t> согласования) выполняется согласование графика ОР Техническим директором УК и утверждение графика ОР  Управляющим директором АО "Полюс </a:t>
            </a:r>
            <a:r>
              <a:rPr lang="ru-RU" sz="1400" dirty="0" err="1"/>
              <a:t>Вернинское</a:t>
            </a:r>
            <a:r>
              <a:rPr lang="ru-RU" sz="1400" dirty="0"/>
              <a:t>"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094664" y="5345445"/>
            <a:ext cx="2990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5958" y="2984668"/>
            <a:ext cx="2336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 </a:t>
            </a:r>
            <a:r>
              <a:rPr lang="ru-RU" sz="1200" dirty="0" smtClean="0"/>
              <a:t>Заказы </a:t>
            </a:r>
            <a:r>
              <a:rPr lang="ru-RU" sz="1200" dirty="0"/>
              <a:t>ТОРО с признаком "Остановочный ремонт" и "Дополнительно включено в остановочный ремонт</a:t>
            </a:r>
            <a:r>
              <a:rPr lang="ru-RU" sz="1200" dirty="0" smtClean="0"/>
              <a:t>" </a:t>
            </a:r>
            <a:r>
              <a:rPr lang="ru-RU" sz="1200" dirty="0"/>
              <a:t>в статусе МПРО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00764" y="3412983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План-график остановочного ремонта в формате </a:t>
            </a:r>
            <a:r>
              <a:rPr lang="ru-RU" sz="1200" dirty="0" err="1"/>
              <a:t>Excel</a:t>
            </a:r>
            <a:r>
              <a:rPr lang="ru-RU" sz="1200" dirty="0"/>
              <a:t> сформирован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413925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"ОСТ" на заказах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 результатам утверждения графика ОР Управляющим директором АО "Полюс </a:t>
            </a:r>
            <a:r>
              <a:rPr lang="ru-RU" sz="1400" dirty="0" err="1"/>
              <a:t>Вернинское</a:t>
            </a:r>
            <a:r>
              <a:rPr lang="ru-RU" sz="1400" dirty="0"/>
              <a:t>"  выполняется вывод заказов ТОРО с признаком "Остановочный ремонт" и "Дополнительно включено в остановочный ремонт"  в режиме "Формирование графика остановочного ремонта" в статусе МПРП для простановки статуса ОСТ "Запланирован в остановочный </a:t>
            </a:r>
            <a:r>
              <a:rPr lang="ru-RU" sz="1400" dirty="0" smtClean="0"/>
              <a:t>ремонт».</a:t>
            </a:r>
            <a:endParaRPr lang="ru-RU" sz="14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759" y="3759079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</a:t>
            </a:r>
            <a:r>
              <a:rPr lang="ru-RU" sz="1200" dirty="0"/>
              <a:t>ТОРО в статусе МПРП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00764" y="3526178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Заказам ТОРО присвоен статус:</a:t>
            </a:r>
          </a:p>
          <a:p>
            <a:r>
              <a:rPr lang="ru-RU" sz="1200" dirty="0"/>
              <a:t> - ОСТ "Запланирован в остановочный ремонт"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232367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изменений, влияющих на график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месячном/недельном горизонтах планирования выполняется сравнение плана графика воздействий на заданный период и календарно-сетевого графика остановочного </a:t>
            </a:r>
            <a:r>
              <a:rPr lang="ru-RU" sz="1400" dirty="0" smtClean="0"/>
              <a:t>ремонта.</a:t>
            </a:r>
            <a:endParaRPr lang="ru-RU" sz="140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2728758" y="5458087"/>
            <a:ext cx="390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530011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Календарно-сетевой график остановочных ремонтов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46727" y="3122875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Решение о наличии расхождений в плане-графике воздействий на ПА и календарно-сетевого графика остановочного ремонта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72948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«Устранение расхождений, влияющих на график остановочного ремонта»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Устранение расхождений в режиме "Формирование графика остановочного ремонта" с применением алгоритмов оптимизации:</a:t>
            </a:r>
          </a:p>
          <a:p>
            <a:r>
              <a:rPr lang="ru-RU" sz="1400" dirty="0"/>
              <a:t> - Установка взаимосвязи операций разных заказов ТОРО</a:t>
            </a:r>
          </a:p>
          <a:p>
            <a:r>
              <a:rPr lang="ru-RU" sz="1400" dirty="0"/>
              <a:t> - Календарное планирование операций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304450" y="3012617"/>
            <a:ext cx="2496314" cy="2319786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smtClean="0">
                  <a:solidFill>
                    <a:schemeClr val="bg1"/>
                  </a:solidFill>
                </a:rPr>
                <a:t>АРМ Планировщика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Прямая со стрелкой 19"/>
          <p:cNvCxnSpPr/>
          <p:nvPr/>
        </p:nvCxnSpPr>
        <p:spPr>
          <a:xfrm>
            <a:off x="903454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41701" y="27112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ZPM_PLAN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358486" y="5264459"/>
            <a:ext cx="284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Планировщик ОР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597" y="3307540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Календарно-сетевой график остановочных ремонтов</a:t>
            </a:r>
            <a:endParaRPr lang="ru-RU" sz="12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800764" y="424575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46727" y="3122875"/>
            <a:ext cx="234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Заказам ТОРО присвоен статус:</a:t>
            </a:r>
          </a:p>
          <a:p>
            <a:r>
              <a:rPr lang="ru-RU" sz="1200" dirty="0"/>
              <a:t> - МПРА "</a:t>
            </a:r>
            <a:r>
              <a:rPr lang="ru-RU" sz="1200" dirty="0" err="1"/>
              <a:t>Авт</a:t>
            </a:r>
            <a:r>
              <a:rPr lang="ru-RU" sz="1200" dirty="0"/>
              <a:t> </a:t>
            </a:r>
            <a:r>
              <a:rPr lang="ru-RU" sz="1200" dirty="0" err="1"/>
              <a:t>планир</a:t>
            </a:r>
            <a:r>
              <a:rPr lang="ru-RU" sz="1200" dirty="0"/>
              <a:t> </a:t>
            </a:r>
            <a:r>
              <a:rPr lang="ru-RU" sz="1200" dirty="0" err="1"/>
              <a:t>Ост.ремонта</a:t>
            </a:r>
            <a:r>
              <a:rPr lang="ru-RU" sz="1200" dirty="0"/>
              <a:t> выполнено"</a:t>
            </a:r>
          </a:p>
          <a:p>
            <a:r>
              <a:rPr lang="ru-RU" sz="1200" dirty="0"/>
              <a:t>Заказам ТОРО присвоен статус:</a:t>
            </a:r>
          </a:p>
          <a:p>
            <a:r>
              <a:rPr lang="ru-RU" sz="1200" dirty="0"/>
              <a:t> - </a:t>
            </a:r>
            <a:r>
              <a:rPr lang="ru-RU" sz="1200" dirty="0" smtClean="0"/>
              <a:t>МПРО</a:t>
            </a:r>
          </a:p>
        </p:txBody>
      </p:sp>
    </p:spTree>
    <p:extLst>
      <p:ext uri="{BB962C8B-B14F-4D97-AF65-F5344CB8AC3E}">
        <p14:creationId xmlns:p14="http://schemas.microsoft.com/office/powerpoint/2010/main" val="40407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533389"/>
              </p:ext>
            </p:extLst>
          </p:nvPr>
        </p:nvGraphicFramePr>
        <p:xfrm>
          <a:off x="424331" y="1831742"/>
          <a:ext cx="8628574" cy="53189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531896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 –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АРМ Планировщика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115463</TotalTime>
  <Words>3381</Words>
  <Application>Microsoft Office PowerPoint</Application>
  <PresentationFormat>Экран (4:3)</PresentationFormat>
  <Paragraphs>304</Paragraphs>
  <Slides>25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4468</cp:revision>
  <cp:lastPrinted>2018-04-09T09:22:20Z</cp:lastPrinted>
  <dcterms:created xsi:type="dcterms:W3CDTF">2015-07-14T13:53:28Z</dcterms:created>
  <dcterms:modified xsi:type="dcterms:W3CDTF">2019-11-25T14:37:48Z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