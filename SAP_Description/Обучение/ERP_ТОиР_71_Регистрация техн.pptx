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67" r:id="rId12"/>
    <p:sldId id="1681" r:id="rId13"/>
    <p:sldId id="1682" r:id="rId14"/>
    <p:sldId id="1668" r:id="rId15"/>
    <p:sldId id="1672" r:id="rId16"/>
    <p:sldId id="1671" r:id="rId17"/>
    <p:sldId id="1670" r:id="rId18"/>
    <p:sldId id="1669" r:id="rId19"/>
    <p:sldId id="1680" r:id="rId20"/>
    <p:sldId id="1676" r:id="rId21"/>
    <p:sldId id="1677" r:id="rId22"/>
    <p:sldId id="1678" r:id="rId23"/>
    <p:sldId id="1674" r:id="rId24"/>
    <p:sldId id="1673" r:id="rId25"/>
    <p:sldId id="1679" r:id="rId26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90B"/>
    <a:srgbClr val="FCC917"/>
    <a:srgbClr val="FFD966"/>
    <a:srgbClr val="FFF7E0"/>
    <a:srgbClr val="FAC90B"/>
    <a:srgbClr val="F6CC0C"/>
    <a:srgbClr val="19938A"/>
    <a:srgbClr val="C00937"/>
    <a:srgbClr val="B8B8B8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71" d="100"/>
          <a:sy n="71" d="100"/>
        </p:scale>
        <p:origin x="684" y="44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20.10.2019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20.10.2019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CC917"/>
                </a:solidFill>
              </a:rPr>
              <a:t>71_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«Регистрация технических параметров эксплуатации оборудования (измерения, наработка)»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Точки измерений</a:t>
            </a:r>
            <a:endParaRPr lang="ru-RU" dirty="0"/>
          </a:p>
        </p:txBody>
      </p:sp>
      <p:sp>
        <p:nvSpPr>
          <p:cNvPr id="4" name="Пятиугольник 3"/>
          <p:cNvSpPr/>
          <p:nvPr/>
        </p:nvSpPr>
        <p:spPr>
          <a:xfrm rot="5400000">
            <a:off x="1281458" y="116665"/>
            <a:ext cx="554483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Точки измерений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9880" y="1772726"/>
            <a:ext cx="293751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О</a:t>
            </a:r>
            <a:r>
              <a:rPr lang="ru-RU" sz="1200" dirty="0" smtClean="0"/>
              <a:t>бъекты </a:t>
            </a:r>
            <a:r>
              <a:rPr lang="ru-RU" sz="1200" dirty="0"/>
              <a:t>в системе </a:t>
            </a:r>
            <a:r>
              <a:rPr lang="en-US" sz="1200" dirty="0"/>
              <a:t>SAP S</a:t>
            </a:r>
            <a:r>
              <a:rPr lang="ru-RU" sz="1200" dirty="0"/>
              <a:t>/4</a:t>
            </a:r>
            <a:r>
              <a:rPr lang="en-US" sz="1200" dirty="0"/>
              <a:t>HANA</a:t>
            </a:r>
            <a:r>
              <a:rPr lang="ru-RU" sz="1200" dirty="0"/>
              <a:t>, используемые для регистрации параметров, меняющихся во времени и характеризующих техническое состояние объекта ТОРО (технического места или единицы оборудования).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/>
              <a:t>Измеряемый параметр может являться как </a:t>
            </a:r>
            <a:r>
              <a:rPr lang="ru-RU" sz="1200" dirty="0" smtClean="0"/>
              <a:t>количественной величиной </a:t>
            </a:r>
            <a:r>
              <a:rPr lang="ru-RU" sz="1200" dirty="0"/>
              <a:t>(наработка, температура и пр.), так и </a:t>
            </a:r>
            <a:r>
              <a:rPr lang="ru-RU" sz="1200" dirty="0" smtClean="0"/>
              <a:t>качественной </a:t>
            </a:r>
            <a:r>
              <a:rPr lang="ru-RU" sz="1200" dirty="0"/>
              <a:t>величиной (список предопределенных символьных значений, логический тип – да/нет).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 Точка измерения присваивается конкретному объекту структуры (техническом месту или единице оборудования.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dirty="0" smtClean="0"/>
              <a:t>Точки измерения могут фиксировать показания с других точек измерения, </a:t>
            </a:r>
            <a:r>
              <a:rPr lang="ru-RU" sz="1200" dirty="0" err="1" smtClean="0"/>
              <a:t>т.о</a:t>
            </a:r>
            <a:r>
              <a:rPr lang="ru-RU" sz="1200" dirty="0" smtClean="0"/>
              <a:t>. осуществляется передача показаний в системе от вышестоящего узла к нижестоящему (например от самосвала к двигателю).</a:t>
            </a:r>
          </a:p>
          <a:p>
            <a:pPr lvl="0"/>
            <a:endParaRPr lang="ru-RU" sz="1200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103" y="3532601"/>
            <a:ext cx="5946309" cy="283639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228700" y="1253362"/>
            <a:ext cx="1671437" cy="313121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4430193" y="1819967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289751" y="2530938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Точка измерений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7327811" y="2525410"/>
            <a:ext cx="1719116" cy="355488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Документы измерений</a:t>
            </a:r>
          </a:p>
        </p:txBody>
      </p:sp>
      <p:cxnSp>
        <p:nvCxnSpPr>
          <p:cNvPr id="16" name="Соединительная линия уступом 15"/>
          <p:cNvCxnSpPr>
            <a:endCxn id="11" idx="1"/>
          </p:cNvCxnSpPr>
          <p:nvPr/>
        </p:nvCxnSpPr>
        <p:spPr>
          <a:xfrm rot="16200000" flipH="1">
            <a:off x="4039365" y="1606883"/>
            <a:ext cx="407786" cy="37387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/>
          <p:nvPr/>
        </p:nvCxnSpPr>
        <p:spPr>
          <a:xfrm rot="16200000" flipH="1">
            <a:off x="4786381" y="2318261"/>
            <a:ext cx="617126" cy="389614"/>
          </a:xfrm>
          <a:prstGeom prst="bentConnector3">
            <a:avLst>
              <a:gd name="adj1" fmla="val 100249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Соединительная линия уступом 27"/>
          <p:cNvCxnSpPr>
            <a:endCxn id="13" idx="1"/>
          </p:cNvCxnSpPr>
          <p:nvPr/>
        </p:nvCxnSpPr>
        <p:spPr>
          <a:xfrm flipV="1">
            <a:off x="7008867" y="2703154"/>
            <a:ext cx="3189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5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Регистрация технических параметров эксплуатации оборудования (измерения, наработка</a:t>
            </a:r>
            <a:r>
              <a:rPr lang="ru-RU" sz="1800" dirty="0" smtClean="0"/>
              <a:t>)»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1181149" y="3464934"/>
            <a:ext cx="1231074" cy="682828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Проверка наличия у оборудования требуемой точки измерения</a:t>
              </a:r>
              <a:endParaRPr lang="ru-RU" sz="1050" kern="1200" dirty="0"/>
            </a:p>
          </p:txBody>
        </p:sp>
      </p:grpSp>
      <p:grpSp>
        <p:nvGrpSpPr>
          <p:cNvPr id="18" name="Группа 17"/>
          <p:cNvGrpSpPr/>
          <p:nvPr/>
        </p:nvGrpSpPr>
        <p:grpSpPr>
          <a:xfrm>
            <a:off x="3565472" y="2095337"/>
            <a:ext cx="1723027" cy="1127211"/>
            <a:chOff x="103199" y="808239"/>
            <a:chExt cx="916520" cy="682828"/>
          </a:xfrm>
        </p:grpSpPr>
        <p:sp>
          <p:nvSpPr>
            <p:cNvPr id="20" name="Скругленный прямоугольник 19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Скругленный прямоугольник 4"/>
            <p:cNvSpPr txBox="1"/>
            <p:nvPr/>
          </p:nvSpPr>
          <p:spPr>
            <a:xfrm>
              <a:off x="157754" y="845000"/>
              <a:ext cx="807410" cy="6093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Регистрация показания измерительного прибора или наработки в </a:t>
              </a:r>
              <a:r>
                <a:rPr lang="ru-RU" sz="1050" dirty="0" smtClean="0"/>
                <a:t>системе</a:t>
              </a:r>
              <a:r>
                <a:rPr lang="en-US" sz="1050" dirty="0" smtClean="0"/>
                <a:t> (</a:t>
              </a:r>
              <a:r>
                <a:rPr lang="ru-RU" sz="1050" dirty="0" smtClean="0"/>
                <a:t>ввод измерения/наработки)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cxnSp>
        <p:nvCxnSpPr>
          <p:cNvPr id="26" name="Прямая соединительная линия 35"/>
          <p:cNvCxnSpPr>
            <a:stCxn id="20" idx="1"/>
            <a:endCxn id="13" idx="3"/>
          </p:cNvCxnSpPr>
          <p:nvPr/>
        </p:nvCxnSpPr>
        <p:spPr>
          <a:xfrm rot="10800000" flipV="1">
            <a:off x="2412224" y="2658942"/>
            <a:ext cx="1153249" cy="114740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Группа 31"/>
          <p:cNvGrpSpPr/>
          <p:nvPr/>
        </p:nvGrpSpPr>
        <p:grpSpPr>
          <a:xfrm>
            <a:off x="3485287" y="4137396"/>
            <a:ext cx="1883395" cy="1248909"/>
            <a:chOff x="103199" y="808239"/>
            <a:chExt cx="916520" cy="682828"/>
          </a:xfrm>
        </p:grpSpPr>
        <p:sp>
          <p:nvSpPr>
            <p:cNvPr id="33" name="Скругленный прямоугольник 3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Регистрация показания измерительного прибора или наработки в системе</a:t>
              </a:r>
              <a:r>
                <a:rPr lang="en-US" sz="1050" dirty="0"/>
                <a:t> </a:t>
              </a:r>
              <a:r>
                <a:rPr lang="ru-RU" sz="1050" dirty="0" smtClean="0"/>
                <a:t>(замена счетчика)</a:t>
              </a:r>
              <a:endParaRPr lang="ru-RU" sz="1050" kern="1200" dirty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6810423" y="3370821"/>
            <a:ext cx="1142423" cy="776941"/>
            <a:chOff x="103199" y="808239"/>
            <a:chExt cx="916520" cy="682828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Скругленный прямоугольник 4"/>
            <p:cNvSpPr txBox="1"/>
            <p:nvPr/>
          </p:nvSpPr>
          <p:spPr>
            <a:xfrm>
              <a:off x="123198" y="838207"/>
              <a:ext cx="876521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kern="1200" dirty="0" smtClean="0"/>
                <a:t>Контроль регистрации измерений</a:t>
              </a:r>
            </a:p>
          </p:txBody>
        </p:sp>
      </p:grp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1059330" y="1101092"/>
            <a:ext cx="5012285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по вводу 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эксплуатационных 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параметров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728493" y="3806348"/>
            <a:ext cx="452656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7952846" y="3770634"/>
            <a:ext cx="76853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6379840" y="1101092"/>
            <a:ext cx="187719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Прямая соединительная линия 35"/>
          <p:cNvCxnSpPr>
            <a:stCxn id="33" idx="1"/>
            <a:endCxn id="14" idx="3"/>
          </p:cNvCxnSpPr>
          <p:nvPr/>
        </p:nvCxnSpPr>
        <p:spPr>
          <a:xfrm rot="10800000">
            <a:off x="2385361" y="3806349"/>
            <a:ext cx="1099927" cy="955503"/>
          </a:xfrm>
          <a:prstGeom prst="bentConnector3">
            <a:avLst>
              <a:gd name="adj1" fmla="val 45012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35"/>
          <p:cNvCxnSpPr>
            <a:stCxn id="20" idx="3"/>
            <a:endCxn id="37" idx="1"/>
          </p:cNvCxnSpPr>
          <p:nvPr/>
        </p:nvCxnSpPr>
        <p:spPr>
          <a:xfrm>
            <a:off x="5288499" y="2658943"/>
            <a:ext cx="1521924" cy="1100349"/>
          </a:xfrm>
          <a:prstGeom prst="bentConnector3">
            <a:avLst>
              <a:gd name="adj1" fmla="val 25967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35"/>
          <p:cNvCxnSpPr>
            <a:stCxn id="33" idx="0"/>
            <a:endCxn id="20" idx="2"/>
          </p:cNvCxnSpPr>
          <p:nvPr/>
        </p:nvCxnSpPr>
        <p:spPr>
          <a:xfrm rot="5400000" flipH="1" flipV="1">
            <a:off x="3969561" y="3679972"/>
            <a:ext cx="914848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«Проверка наличия у оборудования требуемой точки измерения</a:t>
            </a:r>
            <a:r>
              <a:rPr lang="ru-RU" sz="1600" dirty="0" smtClean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Проверка наличия у оборудования требуемой точки измерения</a:t>
              </a:r>
              <a:endParaRPr lang="ru-RU" sz="1600" kern="12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0653" y="3505893"/>
            <a:ext cx="18293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>
                <a:solidFill>
                  <a:srgbClr val="595959"/>
                </a:solidFill>
              </a:rPr>
              <a:t>Осуществлен анализ наличия точек измерений на единицах оборудования</a:t>
            </a: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50144" y="3192448"/>
            <a:ext cx="182939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Получение показаний измерительного прибора</a:t>
            </a:r>
            <a:r>
              <a:rPr lang="en-US" sz="1100" dirty="0" smtClean="0">
                <a:solidFill>
                  <a:srgbClr val="595959"/>
                </a:solidFill>
              </a:rPr>
              <a:t>/</a:t>
            </a:r>
            <a:r>
              <a:rPr lang="ru-RU" sz="1100" dirty="0">
                <a:solidFill>
                  <a:srgbClr val="595959"/>
                </a:solidFill>
              </a:rPr>
              <a:t>Отчёт по результатам диагностики/Путевой лист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484" y="6038061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Если точка </a:t>
            </a:r>
            <a:r>
              <a:rPr lang="ru-RU" sz="1400" dirty="0">
                <a:solidFill>
                  <a:srgbClr val="595959"/>
                </a:solidFill>
              </a:rPr>
              <a:t>измерения </a:t>
            </a:r>
            <a:r>
              <a:rPr lang="ru-RU" sz="1400" dirty="0" smtClean="0">
                <a:solidFill>
                  <a:srgbClr val="595959"/>
                </a:solidFill>
              </a:rPr>
              <a:t>существует, то выполняется </a:t>
            </a:r>
            <a:r>
              <a:rPr lang="ru-RU" sz="1400" dirty="0">
                <a:solidFill>
                  <a:srgbClr val="595959"/>
                </a:solidFill>
              </a:rPr>
              <a:t>регистрация измерений. </a:t>
            </a:r>
            <a:r>
              <a:rPr lang="ru-RU" sz="1400" dirty="0" smtClean="0">
                <a:solidFill>
                  <a:srgbClr val="595959"/>
                </a:solidFill>
              </a:rPr>
              <a:t>В случае если, точка </a:t>
            </a:r>
            <a:r>
              <a:rPr lang="ru-RU" sz="1400" dirty="0">
                <a:solidFill>
                  <a:srgbClr val="595959"/>
                </a:solidFill>
              </a:rPr>
              <a:t>измерений не </a:t>
            </a:r>
            <a:r>
              <a:rPr lang="ru-RU" sz="1400" dirty="0" smtClean="0">
                <a:solidFill>
                  <a:srgbClr val="595959"/>
                </a:solidFill>
              </a:rPr>
              <a:t>существует, то выполняется </a:t>
            </a:r>
            <a:r>
              <a:rPr lang="ru-RU" sz="1400" dirty="0">
                <a:solidFill>
                  <a:srgbClr val="595959"/>
                </a:solidFill>
              </a:rPr>
              <a:t>формирование заявки на создание точки измерений (вне системы</a:t>
            </a:r>
            <a:r>
              <a:rPr lang="ru-RU" sz="1400" dirty="0" smtClean="0">
                <a:solidFill>
                  <a:srgbClr val="595959"/>
                </a:solidFill>
              </a:rPr>
              <a:t>).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Входным процессом для выполнения данного шага могут являться поучение показаний измерительного прибора полученных в результате: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Проведения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аварийного ремонта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Проведения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ежесменного обслуживания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Проведения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диагностики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Проведения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мероприятий </a:t>
            </a:r>
            <a:r>
              <a:rPr lang="ru-RU" sz="1400" dirty="0" err="1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Процессов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ресурсного обеспечения (обменный фонд)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Выполнения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транспортных работ и работ технологического транспорта</a:t>
            </a:r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88935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«Регистрация показания измерительного прибора или наработки в системе</a:t>
            </a:r>
            <a:r>
              <a:rPr lang="en-US" sz="1600" dirty="0"/>
              <a:t> (</a:t>
            </a:r>
            <a:r>
              <a:rPr lang="ru-RU" sz="1600" dirty="0"/>
              <a:t>ввод измерения/наработки</a:t>
            </a:r>
            <a:r>
              <a:rPr lang="ru-RU" sz="1600" dirty="0" smtClean="0"/>
              <a:t>)»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Ввод измерений/наработки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225283"/>
            <a:ext cx="1829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В системе созданы документы измерений для соответствующих точек измерений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258217" y="3483306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Точка измерений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7928" y="6352197"/>
            <a:ext cx="8404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 smtClean="0">
                <a:solidFill>
                  <a:srgbClr val="595959"/>
                </a:solidFill>
              </a:rPr>
              <a:t>После создания документов измерений производится контроль регистрации измерений.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Документ измерений с соответствующими показаниями могут браться из: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отчёта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 результатам диагностики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путевого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листа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снятого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показания с измерительного прибора.</a:t>
            </a:r>
          </a:p>
        </p:txBody>
      </p:sp>
    </p:spTree>
    <p:extLst>
      <p:ext uri="{BB962C8B-B14F-4D97-AF65-F5344CB8AC3E}">
        <p14:creationId xmlns:p14="http://schemas.microsoft.com/office/powerpoint/2010/main" val="4178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395854"/>
            <a:ext cx="7927975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«Регистрация показания измерительного прибора или наработки в системе</a:t>
            </a:r>
            <a:r>
              <a:rPr lang="en-US" sz="1600" dirty="0"/>
              <a:t> </a:t>
            </a:r>
            <a:r>
              <a:rPr lang="ru-RU" sz="1600" dirty="0"/>
              <a:t>(замена счетчика</a:t>
            </a:r>
            <a:r>
              <a:rPr lang="ru-RU" sz="1600" dirty="0" smtClean="0"/>
              <a:t>)»</a:t>
            </a:r>
            <a:endParaRPr lang="ru-RU" sz="1600" dirty="0"/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115872" y="2370686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/>
                <a:t>Замена счетчика</a:t>
              </a:r>
              <a:endParaRPr lang="ru-RU" sz="1600" dirty="0">
                <a:solidFill>
                  <a:srgbClr val="595959"/>
                </a:solidFill>
              </a:endParaRP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608135" y="3450770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265863" y="343107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7928" y="4897836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</a:rPr>
              <a:t>Осуществляется сохранение введённого </a:t>
            </a:r>
            <a:r>
              <a:rPr lang="ru-RU" sz="1400" dirty="0" smtClean="0">
                <a:solidFill>
                  <a:srgbClr val="595959"/>
                </a:solidFill>
              </a:rPr>
              <a:t>документа. Для </a:t>
            </a:r>
            <a:r>
              <a:rPr lang="ru-RU" sz="1400" dirty="0">
                <a:solidFill>
                  <a:srgbClr val="595959"/>
                </a:solidFill>
              </a:rPr>
              <a:t>ввода показаний с учётом обнуления проделать шаг </a:t>
            </a:r>
            <a:r>
              <a:rPr lang="ru-RU" sz="1400" dirty="0" smtClean="0">
                <a:solidFill>
                  <a:srgbClr val="595959"/>
                </a:solidFill>
              </a:rPr>
              <a:t>2 (Ввод измерений/наработка)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40513" y="2962098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Точка измерений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6223" y="287745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Произведено обнуление счётчика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636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pPr lvl="0"/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 smtClean="0"/>
              <a:t>«</a:t>
            </a:r>
            <a:r>
              <a:rPr lang="ru-RU" sz="2000" dirty="0"/>
              <a:t>Контроль регистрации </a:t>
            </a:r>
            <a:r>
              <a:rPr lang="ru-RU" sz="2000" dirty="0" smtClean="0"/>
              <a:t>измерений»</a:t>
            </a:r>
            <a:endParaRPr lang="ru-RU" sz="20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Контроль регистрации измерений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введённых показаний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7928" y="6202480"/>
            <a:ext cx="84040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400" dirty="0">
                <a:solidFill>
                  <a:srgbClr val="595959"/>
                </a:solidFill>
              </a:rPr>
              <a:t>При выявлении отклонений Инженер </a:t>
            </a:r>
            <a:r>
              <a:rPr lang="ru-RU" sz="1400" dirty="0" err="1">
                <a:solidFill>
                  <a:srgbClr val="595959"/>
                </a:solidFill>
              </a:rPr>
              <a:t>ТОиР</a:t>
            </a:r>
            <a:r>
              <a:rPr lang="ru-RU" sz="1400" dirty="0">
                <a:solidFill>
                  <a:srgbClr val="595959"/>
                </a:solidFill>
              </a:rPr>
              <a:t> БЕ ГОК инициирует определение </a:t>
            </a:r>
            <a:r>
              <a:rPr lang="ru-RU" sz="1400" dirty="0" smtClean="0">
                <a:solidFill>
                  <a:srgbClr val="595959"/>
                </a:solidFill>
              </a:rPr>
              <a:t>причин </a:t>
            </a:r>
            <a:r>
              <a:rPr lang="ru-RU" sz="1400" dirty="0">
                <a:solidFill>
                  <a:srgbClr val="595959"/>
                </a:solidFill>
              </a:rPr>
              <a:t>и определяет дальнейшие мероприятия/воздействия в зависимости от критичности </a:t>
            </a:r>
            <a:r>
              <a:rPr lang="ru-RU" sz="1400" dirty="0" smtClean="0">
                <a:solidFill>
                  <a:srgbClr val="595959"/>
                </a:solidFill>
              </a:rPr>
              <a:t>отклонения.</a:t>
            </a:r>
            <a:endParaRPr lang="ru-RU" sz="14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Анализ проводится ежедневно по объёму введённых показаний: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запускается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транзакция и строится список документов измерений.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измерения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сравниваются со значением от нормы для выявления отклонений от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нормативов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контролируется </a:t>
            </a: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передача данных по структуре оборудования</a:t>
            </a:r>
          </a:p>
        </p:txBody>
      </p:sp>
    </p:spTree>
    <p:extLst>
      <p:ext uri="{BB962C8B-B14F-4D97-AF65-F5344CB8AC3E}">
        <p14:creationId xmlns:p14="http://schemas.microsoft.com/office/powerpoint/2010/main" val="128926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Анализ технического состояния производственных </a:t>
            </a:r>
            <a:r>
              <a:rPr lang="ru-RU" sz="1800" dirty="0" smtClean="0"/>
              <a:t>активов» 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631141" y="3322584"/>
            <a:ext cx="1624711" cy="873410"/>
            <a:chOff x="103199" y="808239"/>
            <a:chExt cx="916520" cy="682828"/>
          </a:xfrm>
          <a:solidFill>
            <a:srgbClr val="FCC917"/>
          </a:solidFill>
        </p:grpSpPr>
        <p:sp>
          <p:nvSpPr>
            <p:cNvPr id="13" name="Скругленный прямоугольник 1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Скругленный прямоугольник 4"/>
            <p:cNvSpPr txBox="1"/>
            <p:nvPr/>
          </p:nvSpPr>
          <p:spPr>
            <a:xfrm>
              <a:off x="123198" y="828238"/>
              <a:ext cx="876522" cy="64283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результатов предписаний </a:t>
              </a:r>
              <a:endParaRPr lang="ru-RU" sz="1050" kern="1200" dirty="0"/>
            </a:p>
          </p:txBody>
        </p:sp>
      </p:grp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grpSp>
        <p:nvGrpSpPr>
          <p:cNvPr id="32" name="Группа 31"/>
          <p:cNvGrpSpPr/>
          <p:nvPr/>
        </p:nvGrpSpPr>
        <p:grpSpPr>
          <a:xfrm>
            <a:off x="3237340" y="3134836"/>
            <a:ext cx="1883395" cy="1248909"/>
            <a:chOff x="103199" y="808239"/>
            <a:chExt cx="916520" cy="682828"/>
          </a:xfrm>
        </p:grpSpPr>
        <p:sp>
          <p:nvSpPr>
            <p:cNvPr id="33" name="Скругленный прямоугольник 32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Скругленный прямоугольник 4"/>
            <p:cNvSpPr txBox="1"/>
            <p:nvPr/>
          </p:nvSpPr>
          <p:spPr>
            <a:xfrm>
              <a:off x="123198" y="808239"/>
              <a:ext cx="876522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технических параметров эксплуатации оборудования </a:t>
              </a:r>
              <a:endParaRPr lang="ru-RU" sz="1050" kern="1200" dirty="0"/>
            </a:p>
          </p:txBody>
        </p:sp>
      </p:grpSp>
      <p:grpSp>
        <p:nvGrpSpPr>
          <p:cNvPr id="36" name="Группа 35"/>
          <p:cNvGrpSpPr/>
          <p:nvPr/>
        </p:nvGrpSpPr>
        <p:grpSpPr>
          <a:xfrm>
            <a:off x="6221475" y="3252827"/>
            <a:ext cx="1500868" cy="1012924"/>
            <a:chOff x="103199" y="808239"/>
            <a:chExt cx="916520" cy="682828"/>
          </a:xfrm>
        </p:grpSpPr>
        <p:sp>
          <p:nvSpPr>
            <p:cNvPr id="37" name="Скругленный прямоугольник 36"/>
            <p:cNvSpPr/>
            <p:nvPr/>
          </p:nvSpPr>
          <p:spPr>
            <a:xfrm>
              <a:off x="103199" y="808239"/>
              <a:ext cx="916520" cy="682828"/>
            </a:xfrm>
            <a:prstGeom prst="roundRect">
              <a:avLst>
                <a:gd name="adj" fmla="val 10000"/>
              </a:avLst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Скругленный прямоугольник 4"/>
            <p:cNvSpPr txBox="1"/>
            <p:nvPr/>
          </p:nvSpPr>
          <p:spPr>
            <a:xfrm>
              <a:off x="123198" y="838207"/>
              <a:ext cx="876521" cy="64283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050" dirty="0"/>
                <a:t>Анализ дефектов </a:t>
              </a:r>
              <a:endParaRPr lang="ru-RU" sz="1050" kern="1200" dirty="0" smtClean="0"/>
            </a:p>
          </p:txBody>
        </p:sp>
      </p:grpSp>
      <p:sp>
        <p:nvSpPr>
          <p:cNvPr id="2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899075" y="1101092"/>
            <a:ext cx="255992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Специалист 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диагностике</a:t>
            </a:r>
            <a:b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Прямая соединительная линия 29"/>
          <p:cNvCxnSpPr>
            <a:endCxn id="13" idx="1"/>
          </p:cNvCxnSpPr>
          <p:nvPr/>
        </p:nvCxnSpPr>
        <p:spPr>
          <a:xfrm>
            <a:off x="66557" y="3759289"/>
            <a:ext cx="56458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7722343" y="3759289"/>
            <a:ext cx="76853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208007" y="1101092"/>
            <a:ext cx="2434888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Прямая соединительная линия 35"/>
          <p:cNvCxnSpPr>
            <a:stCxn id="33" idx="1"/>
            <a:endCxn id="13" idx="3"/>
          </p:cNvCxnSpPr>
          <p:nvPr/>
        </p:nvCxnSpPr>
        <p:spPr>
          <a:xfrm rot="10800000">
            <a:off x="2255852" y="3759289"/>
            <a:ext cx="981488" cy="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35"/>
          <p:cNvCxnSpPr>
            <a:stCxn id="33" idx="3"/>
            <a:endCxn id="37" idx="1"/>
          </p:cNvCxnSpPr>
          <p:nvPr/>
        </p:nvCxnSpPr>
        <p:spPr>
          <a:xfrm flipV="1">
            <a:off x="5120735" y="3759289"/>
            <a:ext cx="1100740" cy="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715181" y="1101092"/>
            <a:ext cx="2559926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по надежности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8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«Анализ результатов </a:t>
            </a:r>
            <a:r>
              <a:rPr lang="ru-RU" sz="2000" dirty="0" smtClean="0"/>
              <a:t>предписаний»</a:t>
            </a:r>
            <a:endParaRPr lang="ru-RU" sz="20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результатов предписаний 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результатов предписаний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Сообщение ТОРО со статусом «СОЗА»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</a:t>
            </a:r>
            <a:r>
              <a:rPr lang="ru-RU" sz="1400" dirty="0" smtClean="0"/>
              <a:t>просматривает </a:t>
            </a:r>
            <a:r>
              <a:rPr lang="ru-RU" sz="1400" dirty="0"/>
              <a:t>информацию о результатах выполнения предписаний от надзорных органов, а так же анализируют частоту получения предписаний об устранении выявленных нарушений на конкретном ПА.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60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«Анализ технических параметров эксплуатации </a:t>
            </a:r>
            <a:r>
              <a:rPr lang="ru-RU" sz="1600" dirty="0" smtClean="0"/>
              <a:t>оборудования»</a:t>
            </a:r>
            <a:endParaRPr lang="ru-RU" sz="16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технических параметров эксплуатации оборудования 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00488" y="3549171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технических параметров</a:t>
            </a:r>
            <a:endParaRPr lang="ru-RU" sz="1100" dirty="0">
              <a:solidFill>
                <a:srgbClr val="595959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93873" y="3633809"/>
            <a:ext cx="18293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Единицы оборудования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Специалист </a:t>
            </a:r>
            <a:r>
              <a:rPr lang="ru-RU" sz="1400" dirty="0"/>
              <a:t>по диагностике БЕ ГОК и Инженер </a:t>
            </a:r>
            <a:r>
              <a:rPr lang="ru-RU" sz="1400" dirty="0" err="1"/>
              <a:t>ТОиР</a:t>
            </a:r>
            <a:r>
              <a:rPr lang="ru-RU" sz="1400" dirty="0"/>
              <a:t> БЕ </a:t>
            </a:r>
            <a:r>
              <a:rPr lang="ru-RU" sz="1400" dirty="0" smtClean="0"/>
              <a:t>ГОК</a:t>
            </a:r>
            <a:r>
              <a:rPr lang="en-US" sz="1400" dirty="0" smtClean="0"/>
              <a:t> </a:t>
            </a:r>
            <a:r>
              <a:rPr lang="ru-RU" sz="1400" dirty="0" smtClean="0"/>
              <a:t>анализируют </a:t>
            </a:r>
            <a:r>
              <a:rPr lang="ru-RU" sz="1400" dirty="0"/>
              <a:t>технические параметры эксплуатации </a:t>
            </a:r>
            <a:r>
              <a:rPr lang="ru-RU" sz="1400" dirty="0" smtClean="0"/>
              <a:t>оборудования</a:t>
            </a:r>
            <a:r>
              <a:rPr lang="en-US" sz="1400" dirty="0" smtClean="0"/>
              <a:t> </a:t>
            </a:r>
            <a:r>
              <a:rPr lang="ru-RU" sz="1400" dirty="0" smtClean="0"/>
              <a:t>при помощи документов изменений.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59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41541" y="494827"/>
            <a:ext cx="7927975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2000" dirty="0"/>
              <a:t>«Анализ </a:t>
            </a:r>
            <a:r>
              <a:rPr lang="ru-RU" sz="2000" dirty="0" smtClean="0"/>
              <a:t>дефектов»</a:t>
            </a:r>
            <a:endParaRPr lang="ru-RU" sz="2000" dirty="0"/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8" name="Группа 17"/>
          <p:cNvGrpSpPr/>
          <p:nvPr/>
        </p:nvGrpSpPr>
        <p:grpSpPr>
          <a:xfrm>
            <a:off x="3033576" y="3083918"/>
            <a:ext cx="2496314" cy="2319786"/>
            <a:chOff x="2315329" y="875631"/>
            <a:chExt cx="1343033" cy="992604"/>
          </a:xfrm>
        </p:grpSpPr>
        <p:sp>
          <p:nvSpPr>
            <p:cNvPr id="19" name="Скругленный прямоугольник 18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/>
                <a:t>Анализ дефектов </a:t>
              </a:r>
            </a:p>
          </p:txBody>
        </p:sp>
      </p:grpSp>
      <p:cxnSp>
        <p:nvCxnSpPr>
          <p:cNvPr id="13" name="Прямая со стрелкой 12"/>
          <p:cNvCxnSpPr/>
          <p:nvPr/>
        </p:nvCxnSpPr>
        <p:spPr>
          <a:xfrm>
            <a:off x="5525839" y="4164002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183567" y="4144304"/>
            <a:ext cx="1850009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по надежности БЕ </a:t>
            </a:r>
            <a:r>
              <a:rPr lang="ru-RU" sz="1400" dirty="0" smtClean="0"/>
              <a:t>ГОК анализирует </a:t>
            </a:r>
            <a:r>
              <a:rPr lang="ru-RU" sz="1400" dirty="0"/>
              <a:t>дефекты, причины и сроки в </a:t>
            </a:r>
            <a:r>
              <a:rPr lang="ru-RU" sz="1400" dirty="0" smtClean="0"/>
              <a:t>сообщении ТОРО. 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3873" y="3633809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Сообщение ТОРО со статусом «СОЗА»</a:t>
            </a:r>
            <a:endParaRPr lang="ru-RU" sz="1100" dirty="0">
              <a:solidFill>
                <a:srgbClr val="59595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83927" y="3633808"/>
            <a:ext cx="1829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smtClean="0">
                <a:solidFill>
                  <a:srgbClr val="595959"/>
                </a:solidFill>
              </a:rPr>
              <a:t>Проведен анализ дефектов в сообщении ТОРО</a:t>
            </a:r>
            <a:endParaRPr lang="ru-RU" sz="1100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5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290251"/>
              </p:ext>
            </p:extLst>
          </p:nvPr>
        </p:nvGraphicFramePr>
        <p:xfrm>
          <a:off x="195386" y="1248586"/>
          <a:ext cx="8802310" cy="482052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435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61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Проверка наличия у оборудования требуемой точки измерения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3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Ввод измерений/наработки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63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Замена счетчика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953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Контроль регистрации измерений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результатов предписаний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67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технических параметров эксплуатации оборудования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81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Анализ дефектов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«Регистрация технических параметров эксплуатации оборудования»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512073"/>
              </p:ext>
            </p:extLst>
          </p:nvPr>
        </p:nvGraphicFramePr>
        <p:xfrm>
          <a:off x="277682" y="1745478"/>
          <a:ext cx="8628574" cy="201270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60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Проверка наличия у оборудования требуемой точки измерения</a:t>
                      </a:r>
                      <a:endParaRPr kumimoji="0" lang="ru-RU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IH08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Просмотр списка единиц оборудования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Регистрация показания измерительного прибора или наработки в системе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IK11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Создание документов измерения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78953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Контроль регистрации измерений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ZPM_DOCIZM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документов измерения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30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950999"/>
              </p:ext>
            </p:extLst>
          </p:nvPr>
        </p:nvGraphicFramePr>
        <p:xfrm>
          <a:off x="277682" y="1745478"/>
          <a:ext cx="8628574" cy="2012706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604530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ru-RU" sz="1600" dirty="0" smtClean="0">
                          <a:solidFill>
                            <a:srgbClr val="595959"/>
                          </a:solidFill>
                        </a:rPr>
                        <a:t>Анализ результатов предписаний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IW29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Просмотр сообщений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Анализ технических параметров эксплуатации оборудования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ZPM_DOCIZM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списка документов измерения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78953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Анализ дефектов 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сообщений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107124</TotalTime>
  <Words>1815</Words>
  <Application>Microsoft Office PowerPoint</Application>
  <PresentationFormat>Экран (4:3)</PresentationFormat>
  <Paragraphs>234</Paragraphs>
  <Slides>22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Pronin Nikita</cp:lastModifiedBy>
  <cp:revision>4386</cp:revision>
  <cp:lastPrinted>2018-04-09T09:22:20Z</cp:lastPrinted>
  <dcterms:created xsi:type="dcterms:W3CDTF">2015-07-14T13:53:28Z</dcterms:created>
  <dcterms:modified xsi:type="dcterms:W3CDTF">2019-10-20T11:25:42Z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