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1389" r:id="rId5"/>
    <p:sldId id="1462" r:id="rId6"/>
    <p:sldId id="1463" r:id="rId7"/>
    <p:sldId id="1464" r:id="rId8"/>
    <p:sldId id="1465" r:id="rId9"/>
    <p:sldId id="1466" r:id="rId10"/>
    <p:sldId id="1467" r:id="rId11"/>
    <p:sldId id="1468" r:id="rId12"/>
    <p:sldId id="1469" r:id="rId13"/>
    <p:sldId id="1471" r:id="rId14"/>
    <p:sldId id="1474" r:id="rId15"/>
    <p:sldId id="1472" r:id="rId16"/>
    <p:sldId id="1475" r:id="rId17"/>
    <p:sldId id="1477" r:id="rId18"/>
    <p:sldId id="1478" r:id="rId19"/>
    <p:sldId id="1479" r:id="rId20"/>
    <p:sldId id="1476" r:id="rId21"/>
    <p:sldId id="1459" r:id="rId22"/>
    <p:sldId id="1473" r:id="rId23"/>
    <p:sldId id="1480" r:id="rId24"/>
    <p:sldId id="1481" r:id="rId25"/>
    <p:sldId id="1482" r:id="rId26"/>
    <p:sldId id="1460" r:id="rId27"/>
    <p:sldId id="1461" r:id="rId28"/>
    <p:sldId id="1470" r:id="rId29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38A"/>
    <a:srgbClr val="FAC90B"/>
    <a:srgbClr val="F6CC0C"/>
    <a:srgbClr val="FBC90B"/>
    <a:srgbClr val="C00937"/>
    <a:srgbClr val="B8B8B8"/>
    <a:srgbClr val="595959"/>
    <a:srgbClr val="C80000"/>
    <a:srgbClr val="642235"/>
    <a:srgbClr val="FCC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88" autoAdjust="0"/>
    <p:restoredTop sz="94095" autoAdjust="0"/>
  </p:normalViewPr>
  <p:slideViewPr>
    <p:cSldViewPr snapToGrid="0" showGuides="1">
      <p:cViewPr>
        <p:scale>
          <a:sx n="90" d="100"/>
          <a:sy n="90" d="100"/>
        </p:scale>
        <p:origin x="396" y="114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56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31.10.2019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31.10.2019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1870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012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2394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871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Технологические карты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Технологическая карта содержит перечень мероприятий (состав работ) и информацию о последовательности их выполнения, а также перечень необходимых ресурсов, запчастей и материалов.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ТК разрабатывается для конкретного оборудования или группы схожих моделей.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общем случае ТК должна содержать следующую информацию: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вид, тип, марка, модель и основные характеристики оборудования, для которого разработана ТК;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вид, периодичность и состав выполняемых работ; 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трудоемкость, численность и разряд рабочих, выполняющих операции на данном оборудовании;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нормы расхода запасных частей и материалов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инструменты и оснастка, используемые при выполнении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оборудования; 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контролируемые и измеряемые характеристики, их граничные значения;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условия безопасности при выполнении работ.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технологические карты/инструкции ТОРО используются для стандартизации последовательности выполнения операций ТОРО и эффективного планирования мероприятий ТОРО.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технологической карте/инструкции ТОРО содержится перечень операций и периодичность их выполнения, трудоемкость, перечень ТМЦ и ресурсы, необходимые для проведения работ ТОРО.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 технологической карте указана стратегия ТОРО, то устанавливается зависимость того, какая операция ТК или ТК целиком выполняются при определенном виде работ.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Технологические карты ТОРО/инструкции ТОРО используются как при планировании предупредительных мероприятий, так и при создании Заказов ТОРО.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используются следующие типы технологических карт ТОРО: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«E» – технологические карты для ЕО;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«T» – технологические карты для ТМ;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«A» – инструкции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ТК для ЕО и ТМ используются для уникальных технических объектов. Инструкция ТОРО является типовой ТК для технических объектов, имеющих одинаковую модель оборудования, и могут быть связаны с группой технологических карт. </a:t>
            </a:r>
            <a:endParaRPr lang="ru-RU" sz="14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254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47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quarter" idx="10"/>
          </p:nvPr>
        </p:nvSpPr>
        <p:spPr>
          <a:xfrm>
            <a:off x="498837" y="6003925"/>
            <a:ext cx="3089751" cy="282575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Октябрь 2019</a:t>
            </a:r>
            <a:endParaRPr lang="ru-RU" dirty="0"/>
          </a:p>
        </p:txBody>
      </p:sp>
      <p:sp>
        <p:nvSpPr>
          <p:cNvPr id="6" name="Rectangle 7"/>
          <p:cNvSpPr/>
          <p:nvPr/>
        </p:nvSpPr>
        <p:spPr bwMode="gray">
          <a:xfrm>
            <a:off x="404260" y="2597903"/>
            <a:ext cx="8401069" cy="52322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2800" dirty="0" smtClean="0">
                <a:solidFill>
                  <a:srgbClr val="FCC917"/>
                </a:solidFill>
              </a:rPr>
              <a:t>Формирование </a:t>
            </a:r>
            <a:r>
              <a:rPr lang="ru-RU" sz="2800" dirty="0">
                <a:solidFill>
                  <a:srgbClr val="FCC917"/>
                </a:solidFill>
              </a:rPr>
              <a:t>и анализ плана и исполнения ТОиР</a:t>
            </a:r>
            <a:endParaRPr lang="en-US" sz="2800" dirty="0">
              <a:solidFill>
                <a:srgbClr val="FCC917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Организационная структура ТОиР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63501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04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245466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3153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23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Производственный актив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259394" y="1116754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928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82" y="3406379"/>
            <a:ext cx="6147169" cy="3333133"/>
          </a:xfrm>
          <a:prstGeom prst="rect">
            <a:avLst/>
          </a:prstGeom>
        </p:spPr>
      </p:pic>
      <p:pic>
        <p:nvPicPr>
          <p:cNvPr id="115" name="Рисунок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084" y="1111744"/>
            <a:ext cx="2937432" cy="217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1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Точки </a:t>
            </a:r>
            <a:r>
              <a:rPr lang="ru-RU" dirty="0" smtClean="0"/>
              <a:t>измерений и документы измерений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Точки измерений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206481" y="1925126"/>
            <a:ext cx="293751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Объекты в системе </a:t>
            </a:r>
            <a:r>
              <a:rPr lang="en-US" sz="1200" dirty="0" smtClean="0"/>
              <a:t>SAP S</a:t>
            </a:r>
            <a:r>
              <a:rPr lang="ru-RU" sz="1200" dirty="0" smtClean="0"/>
              <a:t>/4</a:t>
            </a:r>
            <a:r>
              <a:rPr lang="en-US" sz="1200" dirty="0" smtClean="0"/>
              <a:t>HANA</a:t>
            </a:r>
            <a:r>
              <a:rPr lang="ru-RU" sz="1200" dirty="0" smtClean="0"/>
              <a:t>, используемые для регистрации результатов измерений или показаний счетчика.</a:t>
            </a:r>
          </a:p>
          <a:p>
            <a:endParaRPr lang="en-US" sz="1200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680" y="2940789"/>
            <a:ext cx="5958831" cy="2115286"/>
          </a:xfrm>
          <a:prstGeom prst="rect">
            <a:avLst/>
          </a:prstGeom>
        </p:spPr>
      </p:pic>
      <p:sp>
        <p:nvSpPr>
          <p:cNvPr id="9" name="Пятиугольник 8"/>
          <p:cNvSpPr/>
          <p:nvPr/>
        </p:nvSpPr>
        <p:spPr>
          <a:xfrm rot="5400000">
            <a:off x="7293240" y="116666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Документы измерений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32280" y="1925126"/>
            <a:ext cx="29375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</a:t>
            </a:r>
            <a:r>
              <a:rPr lang="ru-RU" sz="1200" dirty="0" smtClean="0"/>
              <a:t>бъекты </a:t>
            </a:r>
            <a:r>
              <a:rPr lang="ru-RU" sz="1200" dirty="0"/>
              <a:t>в системе </a:t>
            </a:r>
            <a:r>
              <a:rPr lang="en-US" sz="1200" dirty="0"/>
              <a:t>SAP S</a:t>
            </a:r>
            <a:r>
              <a:rPr lang="ru-RU" sz="1200" dirty="0"/>
              <a:t>/4</a:t>
            </a:r>
            <a:r>
              <a:rPr lang="en-US" sz="1200" dirty="0"/>
              <a:t>HANA</a:t>
            </a:r>
            <a:r>
              <a:rPr lang="ru-RU" sz="1200" dirty="0"/>
              <a:t>, используемые для регистрации параметров, меняющихся во времени и характеризующих техническое состояние объекта ТОРО (технического места или единицы оборудования).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Измеряемый параметр может являться как </a:t>
            </a:r>
            <a:r>
              <a:rPr lang="ru-RU" sz="1200" dirty="0" smtClean="0"/>
              <a:t>количественной величиной </a:t>
            </a:r>
            <a:r>
              <a:rPr lang="ru-RU" sz="1200" dirty="0"/>
              <a:t>(наработка, температура и пр.), так и </a:t>
            </a:r>
            <a:r>
              <a:rPr lang="ru-RU" sz="1200" dirty="0" smtClean="0"/>
              <a:t>качественной </a:t>
            </a:r>
            <a:r>
              <a:rPr lang="ru-RU" sz="1200" dirty="0"/>
              <a:t>величиной (список предопределенных символьных значений, логический тип – да/нет).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 Точка измерения присваивается конкретному объекту структуры (техническом месту или единице оборудования.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Точки измерения могут фиксировать показания с других точек измерения, </a:t>
            </a:r>
            <a:r>
              <a:rPr lang="ru-RU" sz="1200" dirty="0" err="1" smtClean="0"/>
              <a:t>т.о</a:t>
            </a:r>
            <a:r>
              <a:rPr lang="ru-RU" sz="1200" dirty="0" smtClean="0"/>
              <a:t>. осуществляется передача показаний в системе от вышестоящего узла к нижестоящему (например от самосвала к двигателю).</a:t>
            </a:r>
          </a:p>
          <a:p>
            <a:pPr lvl="0"/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415916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Технологические карты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71974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Технологическая карта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9" y="1771927"/>
            <a:ext cx="324263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Технологическая карта (ТК) содержит перечень отдельных мероприятий </a:t>
            </a:r>
            <a:r>
              <a:rPr lang="ru-RU" sz="1000" dirty="0" err="1"/>
              <a:t>ТОиР</a:t>
            </a:r>
            <a:r>
              <a:rPr lang="ru-RU" sz="1000" dirty="0"/>
              <a:t> (состав работ) и информацию о последовательности их выполнения, а также содержит информацию о трудозатратах, материалах, запасных частях и требуемых инструментах, необходимых для выполнения работ</a:t>
            </a:r>
            <a:r>
              <a:rPr lang="ru-RU" sz="1000" dirty="0" smtClean="0"/>
              <a:t>.</a:t>
            </a:r>
          </a:p>
          <a:p>
            <a:pPr fontAlgn="t"/>
            <a:endParaRPr lang="ru-RU" sz="10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ТК разрабатывается для конкретного оборудования или группы схожих моделей.</a:t>
            </a:r>
          </a:p>
          <a:p>
            <a:pPr fontAlgn="t"/>
            <a:endParaRPr lang="ru-RU" sz="10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В общем случае ТК должна содержать следующую информацию: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вид, тип, марка, модель и основные характеристики оборудования, для которого разработана ТК;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вид, периодичность и состав выполняемых работ; 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трудоемкость, численность и разряд рабочих, выполняющих операции на данном оборудовании;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нормы расхода запасных частей и материалов на </a:t>
            </a:r>
            <a:r>
              <a:rPr lang="ru-RU" sz="1000" dirty="0" err="1"/>
              <a:t>ТОиР</a:t>
            </a:r>
            <a:r>
              <a:rPr lang="ru-RU" sz="1000" dirty="0"/>
              <a:t>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инструменты и оснастка, используемые при выполнении </a:t>
            </a:r>
            <a:r>
              <a:rPr lang="ru-RU" sz="1000" dirty="0" err="1"/>
              <a:t>ТОиР</a:t>
            </a:r>
            <a:r>
              <a:rPr lang="ru-RU" sz="1000" dirty="0"/>
              <a:t> оборудования; 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контролируемые и измеряемые характеристики, их граничные значения;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условия безопасности при выполнении работ.</a:t>
            </a:r>
          </a:p>
          <a:p>
            <a:pPr fontAlgn="t"/>
            <a:endParaRPr lang="ru-RU" sz="10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000" dirty="0"/>
              <a:t>И</a:t>
            </a:r>
            <a:r>
              <a:rPr lang="ru-RU" sz="1000" dirty="0" smtClean="0"/>
              <a:t>спользуются </a:t>
            </a:r>
            <a:r>
              <a:rPr lang="ru-RU" sz="1000" dirty="0"/>
              <a:t>следующие типы технологических карт ТОРО: </a:t>
            </a:r>
          </a:p>
          <a:p>
            <a:pPr marL="228600" lvl="0" indent="-22860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«E» – технологические карты для ЕО;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«T» – технологические карты для ТМ;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000" dirty="0"/>
              <a:t>тип «A» – инструкции ТОРО</a:t>
            </a:r>
            <a:r>
              <a:rPr lang="ru-RU" sz="1000" dirty="0" smtClean="0"/>
              <a:t>.</a:t>
            </a:r>
            <a:endParaRPr lang="ru-RU" sz="1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457" y="1771927"/>
            <a:ext cx="5580233" cy="400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00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3314"/>
            <a:ext cx="9108658" cy="338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9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6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27210"/>
            <a:ext cx="9135969" cy="443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2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Заказ ТОРО. Виды заказов </a:t>
            </a:r>
            <a:r>
              <a:rPr lang="ru-RU" dirty="0" smtClean="0"/>
              <a:t>ТОРО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69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Список Единиц оборудования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Список Единиц оборудования служит дл</a:t>
            </a:r>
            <a:r>
              <a:rPr lang="ru-RU" sz="1600" dirty="0" smtClean="0"/>
              <a:t>я просмотра и анализа данных оборудования, например, данных производителя, технических характеристик, организационных присвоений.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80" y="959284"/>
            <a:ext cx="868108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7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Список документов измерений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Список документов измерений служит дл</a:t>
            </a:r>
            <a:r>
              <a:rPr lang="ru-RU" sz="1600" dirty="0" smtClean="0"/>
              <a:t>я просмотра и анализа результатов измерений во времени.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12" y="952502"/>
            <a:ext cx="869442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10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Список технологических карт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Список технологических карт служит дл</a:t>
            </a:r>
            <a:r>
              <a:rPr lang="ru-RU" sz="1600" dirty="0" smtClean="0"/>
              <a:t>я просмотра и анализа данных техкарт, например, общая трудоемкость и продолжительность работ, организационные присвоения.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14" y="962331"/>
            <a:ext cx="8674418" cy="439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4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Список сообщений ТОРО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Список сообщений ТОРО служит дл</a:t>
            </a:r>
            <a:r>
              <a:rPr lang="ru-RU" sz="1600" dirty="0" smtClean="0"/>
              <a:t>я просмотра и анализа данных о состояниях оборудования, например, данные о дефекте, аварии, предписаниях ЭПБ.</a:t>
            </a:r>
            <a:endParaRPr lang="ru-RU" sz="1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3" y="952962"/>
            <a:ext cx="8694420" cy="441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28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Список заказов ТОРО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39365" y="5288340"/>
            <a:ext cx="87200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Список </a:t>
            </a:r>
            <a:r>
              <a:rPr lang="ru-RU" sz="1600" dirty="0"/>
              <a:t>заказов ТОРО служит для просмотра и анализа данных заказов ТОРО, в том числе и для анализа стоимости мероприятий ТОРО в разрезе плановых и фактических </a:t>
            </a:r>
            <a:r>
              <a:rPr lang="ru-RU" sz="1600" dirty="0" smtClean="0"/>
              <a:t>показателях:</a:t>
            </a:r>
          </a:p>
          <a:p>
            <a:pPr marL="285750" lvl="2" indent="-285750">
              <a:buFontTx/>
              <a:buChar char="-"/>
            </a:pPr>
            <a:r>
              <a:rPr lang="ru-RU" sz="1600" dirty="0" smtClean="0"/>
              <a:t>Стоимость новой ЕО;			- Материалы </a:t>
            </a:r>
            <a:r>
              <a:rPr lang="ru-RU" sz="1600" dirty="0"/>
              <a:t>(план/факт);</a:t>
            </a:r>
          </a:p>
          <a:p>
            <a:pPr marL="285750" lvl="2" indent="-285750">
              <a:buFontTx/>
              <a:buChar char="-"/>
            </a:pPr>
            <a:r>
              <a:rPr lang="ru-RU" sz="1600" dirty="0"/>
              <a:t>% от стоимости ремонта (план/факт</a:t>
            </a:r>
            <a:r>
              <a:rPr lang="ru-RU" sz="1600" dirty="0" smtClean="0"/>
              <a:t>)		- ТЗР </a:t>
            </a:r>
            <a:r>
              <a:rPr lang="ru-RU" sz="1600" dirty="0"/>
              <a:t>(план/факт);</a:t>
            </a:r>
          </a:p>
          <a:p>
            <a:pPr marL="285750" lvl="2" indent="-285750">
              <a:buFontTx/>
              <a:buChar char="-"/>
            </a:pPr>
            <a:r>
              <a:rPr lang="ru-RU" sz="1600" dirty="0"/>
              <a:t>Запчасти (план/факт</a:t>
            </a:r>
            <a:r>
              <a:rPr lang="ru-RU" sz="1600" dirty="0" smtClean="0"/>
              <a:t>);			- ФОТ </a:t>
            </a:r>
            <a:r>
              <a:rPr lang="ru-RU" sz="1600" dirty="0"/>
              <a:t>(план/факт);</a:t>
            </a:r>
          </a:p>
          <a:p>
            <a:pPr marL="285750" lvl="2" indent="-285750">
              <a:buFontTx/>
              <a:buChar char="-"/>
            </a:pPr>
            <a:r>
              <a:rPr lang="ru-RU" sz="1600" dirty="0"/>
              <a:t>УСО по ремонту (план/факт); </a:t>
            </a:r>
            <a:r>
              <a:rPr lang="ru-RU" sz="1600" dirty="0" smtClean="0"/>
              <a:t>		- Прочие </a:t>
            </a:r>
            <a:r>
              <a:rPr lang="ru-RU" sz="1600" dirty="0"/>
              <a:t>(план/факт</a:t>
            </a:r>
            <a:r>
              <a:rPr lang="ru-RU" sz="1600" dirty="0" smtClean="0"/>
              <a:t>).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12" y="946294"/>
            <a:ext cx="8687753" cy="442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Список операций заказов ТОРО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Список операций заказов ТОРО служит дл</a:t>
            </a:r>
            <a:r>
              <a:rPr lang="ru-RU" sz="1600" dirty="0" smtClean="0"/>
              <a:t>я просмотра и анализа перечня работ, их сроков, продолжительности, трудоемкости.</a:t>
            </a:r>
            <a:endParaRPr lang="ru-RU" sz="16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46" y="959629"/>
            <a:ext cx="8674418" cy="440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57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Ведомость использования материалов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Ведомость использования материалов служит </a:t>
            </a:r>
            <a:r>
              <a:rPr lang="ru-RU" sz="1600" dirty="0" smtClean="0"/>
              <a:t>для </a:t>
            </a:r>
            <a:r>
              <a:rPr lang="ru-RU" sz="1600" dirty="0"/>
              <a:t>просмотра и анализа материалов, зарегистрированных на заказах ТОРО в разрезе плановых и фактических показателей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84" y="955204"/>
            <a:ext cx="8681085" cy="437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89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АРМ Планировщика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АРМ </a:t>
            </a:r>
            <a:r>
              <a:rPr lang="ru-RU" sz="1600" dirty="0"/>
              <a:t>планировщика представляет собой интерактивный отчет, который </a:t>
            </a:r>
            <a:r>
              <a:rPr lang="ru-RU" sz="1600" dirty="0" smtClean="0"/>
              <a:t>позволяет формировать данные в следующих режимах:</a:t>
            </a:r>
          </a:p>
          <a:p>
            <a:r>
              <a:rPr lang="ru-RU" sz="1600" dirty="0" smtClean="0"/>
              <a:t>- Моделирование и анализ годового предупредительного план-графика.</a:t>
            </a:r>
          </a:p>
          <a:p>
            <a:r>
              <a:rPr lang="ru-RU" sz="1600" dirty="0" smtClean="0"/>
              <a:t>- Формирование графика ремонтов на годовом/ месячном/ недельном горизонте планирования.</a:t>
            </a:r>
          </a:p>
          <a:p>
            <a:r>
              <a:rPr lang="ru-RU" sz="1600" dirty="0" smtClean="0"/>
              <a:t>- Формирование графика остановочного ремонта.</a:t>
            </a:r>
            <a:endParaRPr lang="ru-RU" sz="1600" dirty="0"/>
          </a:p>
          <a:p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5" y="956642"/>
            <a:ext cx="8634413" cy="430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51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>
          <a:xfrm>
            <a:off x="255512" y="463983"/>
            <a:ext cx="7432667" cy="410926"/>
          </a:xfrm>
        </p:spPr>
        <p:txBody>
          <a:bodyPr/>
          <a:lstStyle/>
          <a:p>
            <a:r>
              <a:rPr lang="ru-RU" sz="2000" dirty="0" smtClean="0"/>
              <a:t>Анализ данных: Анализ состояния ОФ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3219" y="5366847"/>
            <a:ext cx="8720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Отчет «Анализ состояния ОФ» отображает </a:t>
            </a:r>
            <a:r>
              <a:rPr lang="ru-RU" sz="1600" dirty="0"/>
              <a:t>информацию о складском запасе узлов ОФ в разрезе вида оценки, с учетом наличия заказов на восстановления, заказов ТОРО с использованием узлов ОФ, а также заказов и проектов на поставку новых узлов ОФ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52" y="958652"/>
            <a:ext cx="8687753" cy="438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95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761925"/>
              </p:ext>
            </p:extLst>
          </p:nvPr>
        </p:nvGraphicFramePr>
        <p:xfrm>
          <a:off x="195386" y="1248586"/>
          <a:ext cx="8802310" cy="4269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52778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Просмотр списка заказов ТОРО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Просмотр списка операций заказов ТОРО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Просмотр списка сообщений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АРМ планировщика (форма</a:t>
                      </a:r>
                      <a:r>
                        <a:rPr lang="ru-RU" sz="1400" baseline="0" dirty="0" smtClean="0">
                          <a:solidFill>
                            <a:srgbClr val="595959"/>
                          </a:solidFill>
                        </a:rPr>
                        <a:t> 11-П, 12-П</a:t>
                      </a: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)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Анализ состояния ОФ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График остановочных</a:t>
                      </a:r>
                      <a:r>
                        <a:rPr lang="ru-RU" sz="1400" baseline="0" dirty="0" smtClean="0">
                          <a:solidFill>
                            <a:srgbClr val="595959"/>
                          </a:solidFill>
                        </a:rPr>
                        <a:t> ремонтов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Просмотр</a:t>
                      </a:r>
                      <a:r>
                        <a:rPr lang="ru-RU" sz="1400" baseline="0" dirty="0" smtClean="0">
                          <a:solidFill>
                            <a:srgbClr val="595959"/>
                          </a:solidFill>
                        </a:rPr>
                        <a:t> списка документов измерений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Просмотр списка единиц оборудования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Планирование</a:t>
                      </a:r>
                      <a:r>
                        <a:rPr lang="ru-RU" sz="1400" baseline="0" dirty="0" smtClean="0">
                          <a:solidFill>
                            <a:srgbClr val="595959"/>
                          </a:solidFill>
                        </a:rPr>
                        <a:t> и исполнение воздействий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Бюджет воздействий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Просмотр списка технологических карт ТОРО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>
                          <a:solidFill>
                            <a:srgbClr val="595959"/>
                          </a:solidFill>
                        </a:rPr>
                        <a:t>Ведомость</a:t>
                      </a:r>
                      <a:r>
                        <a:rPr lang="ru-RU" sz="1400" baseline="0" dirty="0" smtClean="0">
                          <a:solidFill>
                            <a:srgbClr val="595959"/>
                          </a:solidFill>
                        </a:rPr>
                        <a:t> использования материалов</a:t>
                      </a:r>
                      <a:endParaRPr lang="ru-RU" sz="14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67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2062" y="426081"/>
            <a:ext cx="7429470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ru-RU" sz="1800" dirty="0" smtClean="0"/>
              <a:t>Формирование и анализ плана и исполнения ТОиР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35938"/>
              </p:ext>
            </p:extLst>
          </p:nvPr>
        </p:nvGraphicFramePr>
        <p:xfrm>
          <a:off x="337676" y="1472208"/>
          <a:ext cx="8628574" cy="465074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данных заказов ТОРО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IW39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заказов 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Анализ операций заказов ТОРО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операций заказов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Анализ данных сообщений ТОРО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сообщений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Формирование форм 11-П, 12-П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ZPM_PLAN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АРМ </a:t>
                      </a:r>
                      <a:r>
                        <a:rPr kumimoji="0" lang="ru-RU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планировщика ТОиР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Анализ состояния ОФ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ZPM_OF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Отчет о состоянии обменного фонда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Формирование графика остановочных ремонтов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ZPM_PLAN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АРМ планировщика ТОиР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7. Просмотр списка документов измерений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ZPM_DOCIZM -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документы измерений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8. Просмотр списка единиц оборудования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IH08 -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единиц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24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2062" y="426081"/>
            <a:ext cx="7429470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ru-RU" sz="1800" dirty="0" smtClean="0"/>
              <a:t>Формирование и анализ плана и исполнения ТОиР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528799"/>
              </p:ext>
            </p:extLst>
          </p:nvPr>
        </p:nvGraphicFramePr>
        <p:xfrm>
          <a:off x="337676" y="1472208"/>
          <a:ext cx="8628574" cy="329628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Планирование и исполнение воздействий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ZPM_M01 - Планирование и исполнение воздействий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Подробно описано в рамках курса 77_ТОиР «Формирование и анализ отчетности по бюджетам ТОиР»</a:t>
                      </a:r>
                      <a:endParaRPr kumimoji="0" lang="ru-RU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10. Бюджет воздействий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ZPM_M05 -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Бюджет воздействий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Подробно описано в рамках курса 77_ТОиР «Формирование и анализ отчетности по бюджетам ТОиР»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11. Анализ списка технологических карт ТОРО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IA09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техкарт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12. Анализ материалов заказов ТОРО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IW13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Ведомость использования материалов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41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101122</TotalTime>
  <Words>2200</Words>
  <Application>Microsoft Office PowerPoint</Application>
  <PresentationFormat>Экран (4:3)</PresentationFormat>
  <Paragraphs>247</Paragraphs>
  <Slides>25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Попова Дарья</cp:lastModifiedBy>
  <cp:revision>4209</cp:revision>
  <cp:lastPrinted>2018-04-09T09:22:20Z</cp:lastPrinted>
  <dcterms:created xsi:type="dcterms:W3CDTF">2015-07-14T13:53:28Z</dcterms:created>
  <dcterms:modified xsi:type="dcterms:W3CDTF">2019-11-01T09:35:25Z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