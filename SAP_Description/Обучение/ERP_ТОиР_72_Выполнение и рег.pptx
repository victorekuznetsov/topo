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1389" r:id="rId5"/>
    <p:sldId id="1580" r:id="rId6"/>
    <p:sldId id="1581" r:id="rId7"/>
    <p:sldId id="1582" r:id="rId8"/>
    <p:sldId id="1583" r:id="rId9"/>
    <p:sldId id="1584" r:id="rId10"/>
    <p:sldId id="1675" r:id="rId11"/>
    <p:sldId id="1676" r:id="rId12"/>
    <p:sldId id="1667" r:id="rId13"/>
    <p:sldId id="1668" r:id="rId14"/>
    <p:sldId id="1672" r:id="rId15"/>
    <p:sldId id="1671" r:id="rId16"/>
    <p:sldId id="1670" r:id="rId17"/>
    <p:sldId id="1669" r:id="rId18"/>
    <p:sldId id="1677" r:id="rId19"/>
    <p:sldId id="1674" r:id="rId20"/>
    <p:sldId id="1673" r:id="rId21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90B"/>
    <a:srgbClr val="FCC917"/>
    <a:srgbClr val="FFD966"/>
    <a:srgbClr val="FFF7E0"/>
    <a:srgbClr val="FAC90B"/>
    <a:srgbClr val="F6CC0C"/>
    <a:srgbClr val="19938A"/>
    <a:srgbClr val="C00937"/>
    <a:srgbClr val="B8B8B8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73" autoAdjust="0"/>
    <p:restoredTop sz="87093" autoAdjust="0"/>
  </p:normalViewPr>
  <p:slideViewPr>
    <p:cSldViewPr snapToGrid="0" showGuides="1">
      <p:cViewPr varScale="1">
        <p:scale>
          <a:sx n="71" d="100"/>
          <a:sy n="71" d="100"/>
        </p:scale>
        <p:origin x="684" y="44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18.10.2019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18.10.2019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2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2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28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330527" y="2726829"/>
            <a:ext cx="832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CC917"/>
                </a:solidFill>
              </a:rPr>
              <a:t>72_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 </a:t>
            </a:r>
            <a:r>
              <a:rPr lang="ru-RU" sz="2800" dirty="0">
                <a:solidFill>
                  <a:srgbClr val="FCC917"/>
                </a:solidFill>
              </a:rPr>
              <a:t>«Выполнение и регистрация результатов диагностики </a:t>
            </a:r>
            <a:r>
              <a:rPr lang="ru-RU" sz="2800" dirty="0" smtClean="0">
                <a:solidFill>
                  <a:srgbClr val="FCC917"/>
                </a:solidFill>
              </a:rPr>
              <a:t>ПА»</a:t>
            </a:r>
            <a:endParaRPr lang="ru-RU" sz="2800" dirty="0">
              <a:solidFill>
                <a:srgbClr val="FCC9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="" xmlns:a16="http://schemas.microsoft.com/office/drawing/2014/main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="" xmlns:a16="http://schemas.microsoft.com/office/drawing/2014/main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="" xmlns:a16="http://schemas.microsoft.com/office/drawing/2014/main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=""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="" xmlns:a16="http://schemas.microsoft.com/office/drawing/2014/main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=""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="" xmlns:a16="http://schemas.microsoft.com/office/drawing/2014/main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=""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=""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="" xmlns:a16="http://schemas.microsoft.com/office/drawing/2014/main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="" xmlns:a16="http://schemas.microsoft.com/office/drawing/2014/main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="" xmlns:a16="http://schemas.microsoft.com/office/drawing/2014/main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39276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="" xmlns:a16="http://schemas.microsoft.com/office/drawing/2014/main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=""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=""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2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=""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</a:t>
            </a:r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6" y="1405946"/>
            <a:ext cx="8756781" cy="460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0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ТОРО. Виды заказов ТОРО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0" y="1266239"/>
            <a:ext cx="8570235" cy="48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159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Точки измерений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281458" y="116665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Точки измерений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880" y="1772726"/>
            <a:ext cx="293751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О</a:t>
            </a:r>
            <a:r>
              <a:rPr lang="ru-RU" sz="1200" dirty="0" smtClean="0"/>
              <a:t>бъекты </a:t>
            </a:r>
            <a:r>
              <a:rPr lang="ru-RU" sz="1200" dirty="0"/>
              <a:t>в системе </a:t>
            </a:r>
            <a:r>
              <a:rPr lang="en-US" sz="1200" dirty="0"/>
              <a:t>SAP S</a:t>
            </a:r>
            <a:r>
              <a:rPr lang="ru-RU" sz="1200" dirty="0"/>
              <a:t>/4</a:t>
            </a:r>
            <a:r>
              <a:rPr lang="en-US" sz="1200" dirty="0"/>
              <a:t>HANA</a:t>
            </a:r>
            <a:r>
              <a:rPr lang="ru-RU" sz="1200" dirty="0"/>
              <a:t>, используемые для регистрации параметров, меняющихся во времени и характеризующих техническое состояние объекта ТОРО (технического места или единицы оборудования).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Измеряемый параметр может являться как </a:t>
            </a:r>
            <a:r>
              <a:rPr lang="ru-RU" sz="1200" dirty="0" smtClean="0"/>
              <a:t>количественной величиной </a:t>
            </a:r>
            <a:r>
              <a:rPr lang="ru-RU" sz="1200" dirty="0"/>
              <a:t>(наработка, температура и пр.), так и </a:t>
            </a:r>
            <a:r>
              <a:rPr lang="ru-RU" sz="1200" dirty="0" smtClean="0"/>
              <a:t>качественной </a:t>
            </a:r>
            <a:r>
              <a:rPr lang="ru-RU" sz="1200" dirty="0"/>
              <a:t>величиной (список предопределенных символьных значений, логический тип – да/нет).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 Точка измерения присваивается конкретному объекту структуры (техническом месту или единице оборудования.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Точки измерения могут фиксировать показания с других точек измерения, </a:t>
            </a:r>
            <a:r>
              <a:rPr lang="ru-RU" sz="1200" dirty="0" err="1" smtClean="0"/>
              <a:t>т.о</a:t>
            </a:r>
            <a:r>
              <a:rPr lang="ru-RU" sz="1200" dirty="0" smtClean="0"/>
              <a:t>. осуществляется передача показаний в системе от вышестоящего узла к нижестоящему (например от самосвала к двигателю).</a:t>
            </a:r>
          </a:p>
          <a:p>
            <a:pPr lvl="0"/>
            <a:endParaRPr lang="ru-RU" sz="1200" dirty="0" smtClean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103" y="3532601"/>
            <a:ext cx="5946309" cy="283639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228700" y="1253362"/>
            <a:ext cx="1671437" cy="31312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Техническое место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4430193" y="1819967"/>
            <a:ext cx="1719116" cy="35548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Единица оборудования</a:t>
            </a:r>
            <a:endParaRPr lang="ru-RU" sz="1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289751" y="2530938"/>
            <a:ext cx="1719116" cy="35548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Точка измерений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327811" y="2525410"/>
            <a:ext cx="1719116" cy="35548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Документы измерений</a:t>
            </a:r>
          </a:p>
        </p:txBody>
      </p:sp>
      <p:cxnSp>
        <p:nvCxnSpPr>
          <p:cNvPr id="16" name="Соединительная линия уступом 15"/>
          <p:cNvCxnSpPr>
            <a:endCxn id="11" idx="1"/>
          </p:cNvCxnSpPr>
          <p:nvPr/>
        </p:nvCxnSpPr>
        <p:spPr>
          <a:xfrm rot="16200000" flipH="1">
            <a:off x="4039365" y="1606883"/>
            <a:ext cx="407786" cy="37387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Соединительная линия уступом 18"/>
          <p:cNvCxnSpPr/>
          <p:nvPr/>
        </p:nvCxnSpPr>
        <p:spPr>
          <a:xfrm rot="16200000" flipH="1">
            <a:off x="4786381" y="2318261"/>
            <a:ext cx="617126" cy="389614"/>
          </a:xfrm>
          <a:prstGeom prst="bentConnector3">
            <a:avLst>
              <a:gd name="adj1" fmla="val 10024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/>
          <p:cNvCxnSpPr>
            <a:endCxn id="13" idx="1"/>
          </p:cNvCxnSpPr>
          <p:nvPr/>
        </p:nvCxnSpPr>
        <p:spPr>
          <a:xfrm flipV="1">
            <a:off x="7008867" y="2703154"/>
            <a:ext cx="318944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52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</a:t>
            </a:r>
            <a:r>
              <a:rPr lang="ru-RU" sz="1800" dirty="0"/>
              <a:t>Регистрация технических параметров эксплуатации оборудования (измерения, наработка</a:t>
            </a:r>
            <a:r>
              <a:rPr lang="ru-RU" sz="1800" dirty="0" smtClean="0"/>
              <a:t>)»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299326" y="2976282"/>
            <a:ext cx="1000556" cy="117148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13" name="Скругленный прямоугольник 1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Выдача наряд-заданий на выполнение работ</a:t>
              </a:r>
              <a:endParaRPr lang="ru-RU" sz="1050" kern="1200" dirty="0"/>
            </a:p>
          </p:txBody>
        </p:sp>
      </p:grpSp>
      <p:grpSp>
        <p:nvGrpSpPr>
          <p:cNvPr id="18" name="Группа 17"/>
          <p:cNvGrpSpPr/>
          <p:nvPr/>
        </p:nvGrpSpPr>
        <p:grpSpPr>
          <a:xfrm>
            <a:off x="1706777" y="2998416"/>
            <a:ext cx="1583555" cy="1127211"/>
            <a:chOff x="3795" y="808238"/>
            <a:chExt cx="916520" cy="682828"/>
          </a:xfrm>
        </p:grpSpPr>
        <p:sp>
          <p:nvSpPr>
            <p:cNvPr id="20" name="Скругленный прямоугольник 19"/>
            <p:cNvSpPr/>
            <p:nvPr/>
          </p:nvSpPr>
          <p:spPr>
            <a:xfrm>
              <a:off x="3795" y="808238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Скругленный прямоугольник 4"/>
            <p:cNvSpPr txBox="1"/>
            <p:nvPr/>
          </p:nvSpPr>
          <p:spPr>
            <a:xfrm>
              <a:off x="70131" y="8523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Регистрация факта выполнения операций диагностики</a:t>
              </a:r>
              <a:endParaRPr lang="ru-RU" sz="1050" kern="1200" dirty="0"/>
            </a:p>
          </p:txBody>
        </p:sp>
      </p:grpSp>
      <p:sp>
        <p:nvSpPr>
          <p:cNvPr id="23" name="Прямая соединительная линия 4"/>
          <p:cNvSpPr txBox="1"/>
          <p:nvPr/>
        </p:nvSpPr>
        <p:spPr>
          <a:xfrm rot="59759">
            <a:off x="3079437" y="4820105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grpSp>
        <p:nvGrpSpPr>
          <p:cNvPr id="32" name="Группа 31"/>
          <p:cNvGrpSpPr/>
          <p:nvPr/>
        </p:nvGrpSpPr>
        <p:grpSpPr>
          <a:xfrm>
            <a:off x="3637576" y="3090444"/>
            <a:ext cx="1393404" cy="935159"/>
            <a:chOff x="103199" y="808239"/>
            <a:chExt cx="916520" cy="682828"/>
          </a:xfrm>
        </p:grpSpPr>
        <p:sp>
          <p:nvSpPr>
            <p:cNvPr id="33" name="Скругленный прямоугольник 3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Скругленный прямоугольник 4"/>
            <p:cNvSpPr txBox="1"/>
            <p:nvPr/>
          </p:nvSpPr>
          <p:spPr>
            <a:xfrm>
              <a:off x="123198" y="808239"/>
              <a:ext cx="876522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Контроль результатов </a:t>
              </a:r>
              <a:r>
                <a:rPr lang="ru-RU" sz="1050" dirty="0" smtClean="0"/>
                <a:t>диагностики</a:t>
              </a:r>
              <a:endParaRPr lang="ru-RU" sz="1050" kern="1200" dirty="0"/>
            </a:p>
          </p:txBody>
        </p:sp>
      </p:grpSp>
      <p:grpSp>
        <p:nvGrpSpPr>
          <p:cNvPr id="36" name="Группа 35"/>
          <p:cNvGrpSpPr/>
          <p:nvPr/>
        </p:nvGrpSpPr>
        <p:grpSpPr>
          <a:xfrm>
            <a:off x="7212081" y="3082048"/>
            <a:ext cx="1349499" cy="951950"/>
            <a:chOff x="103199" y="808239"/>
            <a:chExt cx="916520" cy="682828"/>
          </a:xfrm>
        </p:grpSpPr>
        <p:sp>
          <p:nvSpPr>
            <p:cNvPr id="37" name="Скругленный прямоугольник 3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Скругленный прямоугольник 4"/>
            <p:cNvSpPr txBox="1"/>
            <p:nvPr/>
          </p:nvSpPr>
          <p:spPr>
            <a:xfrm>
              <a:off x="123198" y="838207"/>
              <a:ext cx="876521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Техническое закрытие заказов на диагностику</a:t>
              </a:r>
              <a:endParaRPr lang="ru-RU" sz="1050" kern="1200" dirty="0" smtClean="0"/>
            </a:p>
          </p:txBody>
        </p:sp>
      </p:grpSp>
      <p:sp>
        <p:nvSpPr>
          <p:cNvPr id="28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73653" y="1101092"/>
            <a:ext cx="125290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Прямая соединительная линия 29"/>
          <p:cNvCxnSpPr>
            <a:endCxn id="13" idx="1"/>
          </p:cNvCxnSpPr>
          <p:nvPr/>
        </p:nvCxnSpPr>
        <p:spPr>
          <a:xfrm>
            <a:off x="-153330" y="3562022"/>
            <a:ext cx="45265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37" idx="3"/>
          </p:cNvCxnSpPr>
          <p:nvPr/>
        </p:nvCxnSpPr>
        <p:spPr>
          <a:xfrm>
            <a:off x="8561580" y="3558023"/>
            <a:ext cx="36045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669324" y="1099525"/>
            <a:ext cx="168132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по диагностике</a:t>
            </a:r>
            <a:r>
              <a:rPr lang="en-US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Обходчик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3570553" y="1099525"/>
            <a:ext cx="1527451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Главный специалист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5348019" y="1101092"/>
            <a:ext cx="1522008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по </a:t>
            </a: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диагностике</a:t>
            </a:r>
            <a:b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Обходчик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7120545" y="1101092"/>
            <a:ext cx="1522008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Группа 39"/>
          <p:cNvGrpSpPr/>
          <p:nvPr/>
        </p:nvGrpSpPr>
        <p:grpSpPr>
          <a:xfrm>
            <a:off x="5412321" y="3090444"/>
            <a:ext cx="1393404" cy="935159"/>
            <a:chOff x="103199" y="808239"/>
            <a:chExt cx="916520" cy="682828"/>
          </a:xfrm>
        </p:grpSpPr>
        <p:sp>
          <p:nvSpPr>
            <p:cNvPr id="41" name="Скругленный прямоугольник 40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6" name="Скругленный прямоугольник 4"/>
            <p:cNvSpPr txBox="1"/>
            <p:nvPr/>
          </p:nvSpPr>
          <p:spPr>
            <a:xfrm>
              <a:off x="123198" y="808239"/>
              <a:ext cx="876522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Принятие решения о дополнительной диагностике или фиксации дефекта/отказа</a:t>
              </a:r>
              <a:endParaRPr lang="ru-RU" sz="1050" kern="1200" dirty="0"/>
            </a:p>
          </p:txBody>
        </p:sp>
      </p:grpSp>
      <p:cxnSp>
        <p:nvCxnSpPr>
          <p:cNvPr id="47" name="Прямая соединительная линия 46"/>
          <p:cNvCxnSpPr>
            <a:stCxn id="13" idx="3"/>
            <a:endCxn id="20" idx="1"/>
          </p:cNvCxnSpPr>
          <p:nvPr/>
        </p:nvCxnSpPr>
        <p:spPr>
          <a:xfrm>
            <a:off x="1299882" y="3562022"/>
            <a:ext cx="40689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>
            <a:stCxn id="20" idx="3"/>
            <a:endCxn id="33" idx="1"/>
          </p:cNvCxnSpPr>
          <p:nvPr/>
        </p:nvCxnSpPr>
        <p:spPr>
          <a:xfrm flipV="1">
            <a:off x="3290332" y="3558024"/>
            <a:ext cx="347244" cy="39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>
            <a:stCxn id="33" idx="3"/>
            <a:endCxn id="41" idx="1"/>
          </p:cNvCxnSpPr>
          <p:nvPr/>
        </p:nvCxnSpPr>
        <p:spPr>
          <a:xfrm>
            <a:off x="5030980" y="3558024"/>
            <a:ext cx="38134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41" idx="3"/>
            <a:endCxn id="37" idx="1"/>
          </p:cNvCxnSpPr>
          <p:nvPr/>
        </p:nvCxnSpPr>
        <p:spPr>
          <a:xfrm flipV="1">
            <a:off x="6805725" y="3558023"/>
            <a:ext cx="406356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«Выдача наряд-заданий на выполнение работ»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Выдача наряд-заданий на выполнение работ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83926" y="3335096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Формирование </a:t>
            </a:r>
            <a:r>
              <a:rPr lang="ru-RU" sz="1100" dirty="0">
                <a:solidFill>
                  <a:srgbClr val="595959"/>
                </a:solidFill>
              </a:rPr>
              <a:t>наряд-задания (печатается бумажный вариант из системы)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258217" y="3803353"/>
            <a:ext cx="1829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в статусе «УТВН»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484" y="6038061"/>
            <a:ext cx="840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>
                <a:solidFill>
                  <a:srgbClr val="595959"/>
                </a:solidFill>
                <a:latin typeface="Calibri" panose="020F0502020204030204" pitchFamily="34" charset="0"/>
              </a:rPr>
              <a:t>Далее на основании наряд - задания специалисты получают измерительные приборы для выполнения диагностики и приступают к работам.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Входным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и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данными для выполнения данного шага является список утверждённых заказов на недельно - суточном горизонте планирования воздействий на производственные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активы – статус УТВН. Заказы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в статусе УТВН запланированы в разрезе материалов и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трудозатрат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и определены по срокам. После того как оборудование готово к мероприятию и план-график согласован с ПТО, Инженер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БЕ ГОК выдаёт наряд - задание и наряд - допуск если в нём есть необходимость специалистам по диагностике. Наряд - допуск выдаётся на основании наряд - задания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ОТПБиЭ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. В наряд-задании содержится перечень операций, запланированных к исполнению, а так же нормы по времени и ТМЦ, необходимые для выполнения работ. </a:t>
            </a:r>
          </a:p>
        </p:txBody>
      </p:sp>
    </p:spTree>
    <p:extLst>
      <p:ext uri="{BB962C8B-B14F-4D97-AF65-F5344CB8AC3E}">
        <p14:creationId xmlns:p14="http://schemas.microsoft.com/office/powerpoint/2010/main" val="28091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88935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«Регистрация факта выполнения операций </a:t>
            </a:r>
            <a:r>
              <a:rPr lang="ru-RU" sz="1600" dirty="0" smtClean="0"/>
              <a:t>диагностики»</a:t>
            </a:r>
            <a:endParaRPr lang="ru-RU" sz="16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Регистрация факта выполнения операций диагностики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225283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Произведено </a:t>
            </a:r>
            <a:r>
              <a:rPr lang="ru-RU" sz="1100" dirty="0" smtClean="0">
                <a:solidFill>
                  <a:srgbClr val="595959"/>
                </a:solidFill>
              </a:rPr>
              <a:t>подтверж</a:t>
            </a:r>
            <a:r>
              <a:rPr lang="ru-RU" sz="1100" dirty="0">
                <a:solidFill>
                  <a:srgbClr val="595959"/>
                </a:solidFill>
              </a:rPr>
              <a:t>д</a:t>
            </a:r>
            <a:r>
              <a:rPr lang="ru-RU" sz="1100" dirty="0" smtClean="0">
                <a:solidFill>
                  <a:srgbClr val="595959"/>
                </a:solidFill>
              </a:rPr>
              <a:t>ение </a:t>
            </a:r>
            <a:r>
              <a:rPr lang="ru-RU" sz="1100" dirty="0">
                <a:solidFill>
                  <a:srgbClr val="595959"/>
                </a:solidFill>
              </a:rPr>
              <a:t>операций, заказу ТОРО присвоен статус ПДТВ – «Подтверждено».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4484" y="5586278"/>
            <a:ext cx="84040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В случае выполнения диагностики подрядным способом исполнителем выдаётся отчёт о результатах диагностики, акт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приёма-сдачи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выполненных работ/услуг. Отчёт проверяется Специалистом по диагностике БЕ ГОК, при подтверждении результатов специалистом диагностика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согласовывается,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и акты подписываются. Регистрация факта происходит после выполнения диагностики вне зависимости от способа выполнения работ.</a:t>
            </a:r>
          </a:p>
          <a:p>
            <a:pPr algn="just"/>
            <a:endParaRPr lang="ru-RU" sz="14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Диагностика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проводится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хозспособом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или силами подрядных организаций в соответствии с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наряд-заданием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. В случае выполнения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хозспособом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исполнителями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являются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Технолог БЕ ГОК, Обходчик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БЕ ГОК, Специалист по диагностике БЕ ГОК. После выполнения диагностики в наряд-задание вносятся фактические данные по времени, трудозатратам и расходованию ТМЦ. Выходным документом при выполнении диагностики Специалистом по диагностике БЕ ГОК  является Рекомендации по обслуживанию оборудования.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931" y="3682118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«УТВН»</a:t>
            </a:r>
            <a:endParaRPr lang="ru-RU" sz="11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8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«Контроль результатов </a:t>
            </a:r>
            <a:r>
              <a:rPr lang="ru-RU" sz="1600" dirty="0" smtClean="0"/>
              <a:t>диагностики»</a:t>
            </a:r>
            <a:endParaRPr lang="ru-RU" sz="1600" dirty="0"/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0765" y="2397287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Контроль результатов диагностики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3028" y="3477371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0756" y="3457673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8" y="5268405"/>
            <a:ext cx="840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В случае выявления замечаний, выясняются причины, устраняется в зависимости от замечания или принимается решение о дополнительной диагностике или фиксации дефекта/отказа.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406" y="3099231"/>
            <a:ext cx="1829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Единица оборудования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1116" y="2904060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Произведено обнуление счётчика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040" y="1124980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Результаты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диагностики проверяются на корректность отражения в системе и соответствие полученным результатам, полноту выполнения и наличие рекомендаций. В случае отсутствия замечаний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инициируется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техническое закрытие заказа, а в случае подрядных работ,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инициируется передача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подписанного акта выполненных работ для регистрации приемки работ/услуг. </a:t>
            </a:r>
          </a:p>
        </p:txBody>
      </p:sp>
    </p:spTree>
    <p:extLst>
      <p:ext uri="{BB962C8B-B14F-4D97-AF65-F5344CB8AC3E}">
        <p14:creationId xmlns:p14="http://schemas.microsoft.com/office/powerpoint/2010/main" val="237636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30933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«Принятие решения о дополнительной диагностике или фиксации дефекта/отказа»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Принятие решения о дополнительной диагностике или фиксации дефекта/отказа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549171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Проведен анализ введённых показаний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633144" y="3718448"/>
            <a:ext cx="939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 ТОРО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В ходе принятия решения о дополнительной диагностике анализируется заказ ТОРО на полноту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введённых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данных. Если есть необходимость в повторной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диагностике,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то создаётся сообщение ТОРО.</a:t>
            </a:r>
          </a:p>
        </p:txBody>
      </p:sp>
    </p:spTree>
    <p:extLst>
      <p:ext uri="{BB962C8B-B14F-4D97-AF65-F5344CB8AC3E}">
        <p14:creationId xmlns:p14="http://schemas.microsoft.com/office/powerpoint/2010/main" val="128926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30933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«Техническое закрытие заказов на диагностику»</a:t>
            </a: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78399" y="2501212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Техническое закрытие заказов на диагностику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70662" y="3581296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45311" y="2966465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Заказам присвоен системный статус "ТЗКР"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228390" y="3561598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4484" y="5150364"/>
            <a:ext cx="84040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Заказ технически закрывается в любом случае, т.е. когда принимается решение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о дополнительной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диагностике или фиксации дефекта/отказа или при успешном выполнении работ. Ежемесячно заказы ТОРО со статусом «Подтверждено» и «Технически закрыто» рассчитываются на объекты, которые являются получателями затрат. При техническом закрытии заказа ТОРО в системе автоматически снимается резервирование на невостребованную потребность материалов.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После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регистрации и проверки результатов диагностики в системе на основании рекомендаций по обслуживанию оборудования принимается решение о необходимости дополнительной диагностики или создании сообщения о дефекте/отказе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. Техническое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закрытие заказов на диагностику выполняется Планировщиком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БЕ ГОК, после проверки результатов диагностики в системе.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Проверяются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операции заказа ТОРО на подтверждение фактических затрат. В случае подтверждения всех операций заказу присваивается статус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"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ПДТВ -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подтверждено". 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09683" y="2966465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Заказы ТОРО в статусе «УТВН»</a:t>
            </a:r>
            <a:endParaRPr lang="ru-RU" sz="11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32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15615"/>
              </p:ext>
            </p:extLst>
          </p:nvPr>
        </p:nvGraphicFramePr>
        <p:xfrm>
          <a:off x="195386" y="1248586"/>
          <a:ext cx="8802310" cy="4515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/>
                <a:gridCol w="2305375"/>
                <a:gridCol w="2489807"/>
              </a:tblGrid>
              <a:tr h="42781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98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Выдача наряд-заданий на выполнение работ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001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Регистрация факта выполнения операций диагностики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71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Контроль результатов диагностики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91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Принятие решения о дополнительной диагностике или фиксации дефекта/отказа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57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Техническое закрытие заказов на диагностику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46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79881" y="386806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«Выполнение и регистрация результатов диагностики ПА»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280863"/>
              </p:ext>
            </p:extLst>
          </p:nvPr>
        </p:nvGraphicFramePr>
        <p:xfrm>
          <a:off x="277682" y="1745478"/>
          <a:ext cx="8628574" cy="317094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:a16="http://schemas.microsoft.com/office/drawing/2014/main" xmlns="" val="3700845562"/>
                    </a:ext>
                  </a:extLst>
                </a:gridCol>
              </a:tblGrid>
              <a:tr h="60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ru-RU" sz="1600" dirty="0" smtClean="0">
                          <a:solidFill>
                            <a:srgbClr val="595959"/>
                          </a:solidFill>
                        </a:rPr>
                        <a:t>Выдача наряд-заданий на выполнение работ</a:t>
                      </a:r>
                      <a:endParaRPr kumimoji="0" lang="ru-RU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IW38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Изменение заказов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564329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Регистрация факта выполнения операций диагностики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IW42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Общее подтверждение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2789538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Контроль результатов диагностики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ZPM_DOCIZM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списка документов измерения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Принятие решения о дополнительной диагностике или фиксации дефекта/отказа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IW33 -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заказа ТОРО</a:t>
                      </a: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 Техническое закрытие заказов на диагностику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IW38 -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заказов ТОРО</a:t>
                      </a: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30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A8D3441-DF26-4C7E-9641-F6E293897DF1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107594</TotalTime>
  <Words>1832</Words>
  <Application>Microsoft Office PowerPoint</Application>
  <PresentationFormat>Экран (4:3)</PresentationFormat>
  <Paragraphs>177</Paragraphs>
  <Slides>17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Pronin Nikita</cp:lastModifiedBy>
  <cp:revision>4401</cp:revision>
  <cp:lastPrinted>2018-04-09T09:22:20Z</cp:lastPrinted>
  <dcterms:created xsi:type="dcterms:W3CDTF">2015-07-14T13:53:28Z</dcterms:created>
  <dcterms:modified xsi:type="dcterms:W3CDTF">2019-10-18T08:55:22Z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