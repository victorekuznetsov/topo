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Override PartName="/ppt/presentation.xml" ContentType="application/vnd.openxmlformats-officedocument.presentationml.presentation.main+xml"/>
  <Override PartName="/customXml/itemProps1.xml" ContentType="application/vnd.openxmlformats-officedocument.customXmlProperties+xml"/>
  <Override PartName="/customXml/itemProps2.xml" ContentType="application/vnd.openxmlformats-officedocument.customXmlProperties+xml"/>
  <Override PartName="/customXml/itemProps3.xml" ContentType="application/vnd.openxmlformats-officedocument.customXmlProperties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slides/slide21.xml" ContentType="application/vnd.openxmlformats-officedocument.presentationml.slide+xml"/>
  <Override PartName="/ppt/slides/slide22.xml" ContentType="application/vnd.openxmlformats-officedocument.presentationml.slide+xml"/>
  <Override PartName="/ppt/slides/slide23.xml" ContentType="application/vnd.openxmlformats-officedocument.presentationml.slide+xml"/>
  <Override PartName="/ppt/slides/slide24.xml" ContentType="application/vnd.openxmlformats-officedocument.presentationml.slide+xml"/>
  <Override PartName="/ppt/notesMasters/notesMaster1.xml" ContentType="application/vnd.openxmlformats-officedocument.presentationml.notesMaster+xml"/>
  <Override PartName="/ppt/handoutMasters/handoutMaster1.xml" ContentType="application/vnd.openxmlformats-officedocument.presentationml.handoutMaster+xml"/>
  <Override PartName="/ppt/commentAuthors.xml" ContentType="application/vnd.openxmlformats-officedocument.presentationml.commentAuthors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theme/theme2.xml" ContentType="application/vnd.openxmlformats-officedocument.theme+xml"/>
  <Override PartName="/ppt/theme/theme3.xml" ContentType="application/vnd.openxmlformats-officedocument.theme+xml"/>
  <Override PartName="/ppt/ink/ink1.xml" ContentType="application/inkml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revisionInfo.xml" ContentType="application/vnd.ms-powerpoint.revisioninfo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>
  <p:sldMasterIdLst>
    <p:sldMasterId id="2147483660" r:id="rId4"/>
  </p:sldMasterIdLst>
  <p:notesMasterIdLst>
    <p:notesMasterId r:id="rId29"/>
  </p:notesMasterIdLst>
  <p:handoutMasterIdLst>
    <p:handoutMasterId r:id="rId30"/>
  </p:handoutMasterIdLst>
  <p:sldIdLst>
    <p:sldId id="1389" r:id="rId5"/>
    <p:sldId id="1580" r:id="rId6"/>
    <p:sldId id="1581" r:id="rId7"/>
    <p:sldId id="1582" r:id="rId8"/>
    <p:sldId id="1583" r:id="rId9"/>
    <p:sldId id="1584" r:id="rId10"/>
    <p:sldId id="1665" r:id="rId11"/>
    <p:sldId id="1681" r:id="rId12"/>
    <p:sldId id="1682" r:id="rId13"/>
    <p:sldId id="1699" r:id="rId14"/>
    <p:sldId id="1700" r:id="rId15"/>
    <p:sldId id="1668" r:id="rId16"/>
    <p:sldId id="1710" r:id="rId17"/>
    <p:sldId id="1672" r:id="rId18"/>
    <p:sldId id="1701" r:id="rId19"/>
    <p:sldId id="1702" r:id="rId20"/>
    <p:sldId id="1704" r:id="rId21"/>
    <p:sldId id="1705" r:id="rId22"/>
    <p:sldId id="1706" r:id="rId23"/>
    <p:sldId id="1707" r:id="rId24"/>
    <p:sldId id="1708" r:id="rId25"/>
    <p:sldId id="1709" r:id="rId26"/>
    <p:sldId id="1674" r:id="rId27"/>
    <p:sldId id="1679" r:id="rId28"/>
  </p:sldIdLst>
  <p:sldSz cx="9144000" cy="6858000" type="screen4x3"/>
  <p:notesSz cx="6735763" cy="9866313"/>
  <p:defaultTextStyle>
    <a:defPPr>
      <a:defRPr lang="ru-RU"/>
    </a:defPPr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>
        <p15:guide id="1" orient="horz" pos="4020" userDrawn="1">
          <p15:clr>
            <a:srgbClr val="A4A3A4"/>
          </p15:clr>
        </p15:guide>
        <p15:guide id="2" pos="295" userDrawn="1">
          <p15:clr>
            <a:srgbClr val="A4A3A4"/>
          </p15:clr>
        </p15:guide>
        <p15:guide id="3" pos="5465" userDrawn="1">
          <p15:clr>
            <a:srgbClr val="A4A3A4"/>
          </p15:clr>
        </p15:guide>
        <p15:guide id="4" pos="3061" userDrawn="1">
          <p15:clr>
            <a:srgbClr val="A4A3A4"/>
          </p15:clr>
        </p15:guide>
        <p15:guide id="5" pos="2877">
          <p15:clr>
            <a:srgbClr val="A4A3A4"/>
          </p15:clr>
        </p15:guide>
      </p15:sldGuideLst>
    </p:ext>
    <p:ext uri="{2D200454-40CA-4A62-9FC3-DE9A4176ACB9}">
      <p15:notesGuideLst xmlns:p15="http://schemas.microsoft.com/office/powerpoint/2012/main"/>
    </p:ext>
  </p:extLst>
</p:presentation>
</file>

<file path=ppt/commentAuthors.xml><?xml version="1.0" encoding="utf-8"?>
<p:cmAuthorLst xmlns:a="http://schemas.openxmlformats.org/drawingml/2006/main" xmlns:r="http://schemas.openxmlformats.org/officeDocument/2006/relationships" xmlns:p="http://schemas.openxmlformats.org/presentationml/2006/main">
  <p:cmAuthor id="1" name="Чайка Ирина Николаевна" initials="ЧИН" lastIdx="1" clrIdx="0">
    <p:extLst>
      <p:ext uri="{19B8F6BF-5375-455C-9EA6-DF929625EA0E}">
        <p15:presenceInfo xmlns:p15="http://schemas.microsoft.com/office/powerpoint/2012/main" userId="S-1-5-21-4125628198-1674668921-3204586943-91972" providerId="AD"/>
      </p:ext>
    </p:extLst>
  </p:cmAuthor>
  <p:cmAuthor id="2" name="Nesterov, Ivan" initials="NI" lastIdx="1" clrIdx="1">
    <p:extLst>
      <p:ext uri="{19B8F6BF-5375-455C-9EA6-DF929625EA0E}">
        <p15:presenceInfo xmlns:p15="http://schemas.microsoft.com/office/powerpoint/2012/main" userId="S-1-5-21-74642-3284969411-2123768488-1208332" providerId="AD"/>
      </p:ext>
    </p:extLst>
  </p:cmAuthor>
  <p:cmAuthor id="3" name="Корнева Елена Александровна" initials="КЕА" lastIdx="2" clrIdx="2">
    <p:extLst>
      <p:ext uri="{19B8F6BF-5375-455C-9EA6-DF929625EA0E}">
        <p15:presenceInfo xmlns:p15="http://schemas.microsoft.com/office/powerpoint/2012/main" userId="S-1-5-21-4125628198-1674668921-3204586943-102375" providerId="AD"/>
      </p:ext>
    </p:extLst>
  </p:cmAuthor>
  <p:cmAuthor id="4" name="Александр" initials="А" lastIdx="1" clrIdx="3">
    <p:extLst>
      <p:ext uri="{19B8F6BF-5375-455C-9EA6-DF929625EA0E}">
        <p15:presenceInfo xmlns:p15="http://schemas.microsoft.com/office/powerpoint/2012/main" userId="Александр" providerId="None"/>
      </p:ext>
    </p:extLst>
  </p:cmAuthor>
</p:cmAuthorLst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>
    <p:present/>
    <p:sldAll/>
    <p:penClr>
      <a:prstClr val="red"/>
    </p:penClr>
    <p:extLst>
      <p:ext uri="{EC167BDD-8182-4AB7-AECC-EB403E3ABB37}">
        <p14:laserClr xmlns:p14="http://schemas.microsoft.com/office/powerpoint/2010/main">
          <a:srgbClr val="FF0000"/>
        </p14:laserClr>
      </p:ext>
      <p:ext uri="{2FDB2607-1784-4EEB-B798-7EB5836EED8A}">
        <p14:showMediaCtrls xmlns:p14="http://schemas.microsoft.com/office/powerpoint/2010/main" val="1"/>
      </p:ext>
    </p:extLst>
  </p:showPr>
  <p:clrMru>
    <a:srgbClr val="595959"/>
    <a:srgbClr val="B8B8B8"/>
    <a:srgbClr val="FCC917"/>
    <a:srgbClr val="FBC90B"/>
    <a:srgbClr val="FFD966"/>
    <a:srgbClr val="FFF7E0"/>
    <a:srgbClr val="FAC90B"/>
    <a:srgbClr val="F6CC0C"/>
    <a:srgbClr val="19938A"/>
    <a:srgbClr val="C00937"/>
  </p:clrMru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1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/>
</file>

<file path=ppt/tableStyles.xml><?xml version="1.0" encoding="utf-8"?>
<a:tblStyleLst xmlns:a="http://schemas.openxmlformats.org/drawingml/2006/main" def="{5C22544A-7EE6-4342-B048-85BDC9FD1C3A}">
  <a:tblStyle styleId="{17292A2E-F333-43FB-9621-5CBBE7FDCDCB}" styleName="Светлый стиль 2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accent4"/>
            </a:lnRef>
          </a:top>
          <a:bottom>
            <a:lnRef idx="1">
              <a:schemeClr val="accent4"/>
            </a:lnRef>
          </a:bottom>
        </a:tcBdr>
      </a:tcStyle>
    </a:band1H>
    <a:band1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1V>
    <a:band2V>
      <a:tcStyle>
        <a:tcBdr>
          <a:left>
            <a:lnRef idx="1">
              <a:schemeClr val="accent4"/>
            </a:lnRef>
          </a:left>
          <a:right>
            <a:lnRef idx="1">
              <a:schemeClr val="accent4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accent4"/>
        </a:fillRef>
      </a:tcStyle>
    </a:firstRow>
  </a:tblStyle>
  <a:tblStyle styleId="{1E171933-4619-4E11-9A3F-F7608DF75F80}" styleName="Средний стиль 1 — акцент 4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4"/>
              </a:solidFill>
            </a:ln>
          </a:left>
          <a:right>
            <a:ln w="12700" cmpd="sng">
              <a:solidFill>
                <a:schemeClr val="accent4"/>
              </a:solidFill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 w="12700" cmpd="sng">
              <a:solidFill>
                <a:schemeClr val="accent4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4">
              <a:tint val="20000"/>
            </a:schemeClr>
          </a:solidFill>
        </a:fill>
      </a:tcStyle>
    </a:band1H>
    <a:band1V>
      <a:tcStyle>
        <a:tcBdr/>
        <a:fill>
          <a:solidFill>
            <a:schemeClr val="accent4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4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4"/>
          </a:solidFill>
        </a:fill>
      </a:tcStyle>
    </a:firstRow>
  </a:tblStyle>
  <a:tblStyle styleId="{5C22544A-7EE6-4342-B048-85BDC9FD1C3A}" styleName="Средний стиль 2 — акцент 1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1">
              <a:tint val="20000"/>
            </a:schemeClr>
          </a:solidFill>
        </a:fill>
      </a:tcStyle>
    </a:wholeTbl>
    <a:band1H>
      <a:tcStyle>
        <a:tcBdr/>
        <a:fill>
          <a:solidFill>
            <a:schemeClr val="accent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1"/>
          </a:solidFill>
        </a:fill>
      </a:tcStyle>
    </a:firstRow>
  </a:tblStyle>
  <a:tblStyle styleId="{00A15C55-8517-42AA-B614-E9B94910E393}" styleName="Средний стиль 2 — акцент 4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4">
              <a:tint val="20000"/>
            </a:schemeClr>
          </a:solidFill>
        </a:fill>
      </a:tcStyle>
    </a:wholeTbl>
    <a:band1H>
      <a:tcStyle>
        <a:tcBdr/>
        <a:fill>
          <a:solidFill>
            <a:schemeClr val="accent4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4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4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4"/>
          </a:solidFill>
        </a:fill>
      </a:tcStyle>
    </a:firstRow>
  </a:tblStyle>
  <a:tblStyle styleId="{93296810-A885-4BE3-A3E7-6D5BEEA58F35}" styleName="Средний стиль 2 — акцент 6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6">
              <a:tint val="20000"/>
            </a:schemeClr>
          </a:solidFill>
        </a:fill>
      </a:tcStyle>
    </a:wholeTbl>
    <a:band1H>
      <a:tcStyle>
        <a:tcBdr/>
        <a:fill>
          <a:solidFill>
            <a:schemeClr val="accent6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6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6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6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6"/>
          </a:solidFill>
        </a:fill>
      </a:tcStyle>
    </a:firstRow>
  </a:tblStyle>
  <a:tblStyle styleId="{F5AB1C69-6EDB-4FF4-983F-18BD219EF322}" styleName="Средний стиль 2 — акцент 3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3">
              <a:tint val="20000"/>
            </a:schemeClr>
          </a:solidFill>
        </a:fill>
      </a:tcStyle>
    </a:wholeTbl>
    <a:band1H>
      <a:tcStyle>
        <a:tcBdr/>
        <a:fill>
          <a:solidFill>
            <a:schemeClr val="accent3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3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3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3"/>
          </a:solidFill>
        </a:fill>
      </a:tcStyle>
    </a:firstRow>
  </a:tblStyle>
  <a:tblStyle styleId="{C083E6E3-FA7D-4D7B-A595-EF9225AFEA82}" styleName="Светлый стиль 1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8799B23B-EC83-4686-B30A-512413B5E67A}" styleName="Светлый стиль 3 — акцент 3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accent3"/>
              </a:solidFill>
            </a:ln>
          </a:left>
          <a:right>
            <a:ln w="12700" cmpd="sng">
              <a:solidFill>
                <a:schemeClr val="accent3"/>
              </a:solidFill>
            </a:ln>
          </a:right>
          <a:top>
            <a:ln w="12700" cmpd="sng">
              <a:solidFill>
                <a:schemeClr val="accent3"/>
              </a:solidFill>
            </a:ln>
          </a:top>
          <a:bottom>
            <a:ln w="12700" cmpd="sng">
              <a:solidFill>
                <a:schemeClr val="accent3"/>
              </a:solidFill>
            </a:ln>
          </a:bottom>
          <a:insideH>
            <a:ln w="12700" cmpd="sng">
              <a:solidFill>
                <a:schemeClr val="accent3"/>
              </a:solidFill>
            </a:ln>
          </a:insideH>
          <a:insideV>
            <a:ln w="12700" cmpd="sng">
              <a:solidFill>
                <a:schemeClr val="accent3"/>
              </a:solidFill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3">
              <a:alpha val="20000"/>
            </a:schemeClr>
          </a:solidFill>
        </a:fill>
      </a:tcStyle>
    </a:band1H>
    <a:band1V>
      <a:tcStyle>
        <a:tcBdr/>
        <a:fill>
          <a:solidFill>
            <a:schemeClr val="accent3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3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25400" cmpd="sng">
              <a:solidFill>
                <a:schemeClr val="accent3"/>
              </a:solidFill>
            </a:ln>
          </a:bottom>
        </a:tcBdr>
        <a:fill>
          <a:noFill/>
        </a:fill>
      </a:tcStyle>
    </a:firstRow>
  </a:tblStyle>
  <a:tblStyle styleId="{D27102A9-8310-4765-A935-A1911B00CA55}" styleName="Светлый стиль 1 — акцент 4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accent4"/>
              </a:solidFill>
            </a:ln>
          </a:top>
          <a:bottom>
            <a:ln w="12700" cmpd="sng">
              <a:solidFill>
                <a:schemeClr val="accent4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accent4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4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accent4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accent4"/>
              </a:solidFill>
            </a:ln>
          </a:bottom>
        </a:tcBdr>
        <a:fill>
          <a:noFill/>
        </a:fill>
      </a:tcStyle>
    </a:firstRow>
  </a:tblStyle>
  <a:tblStyle styleId="{2D5ABB26-0587-4C30-8999-92F81FD0307C}" styleName="Нет стиля, нет сетки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>
              <a:noFill/>
            </a:ln>
          </a:top>
          <a:bottom>
            <a:ln>
              <a:noFill/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</a:tblStyle>
  <a:tblStyle styleId="{5940675A-B579-460E-94D1-54222C63F5DA}" styleName="Нет стиля, сетка таблицы">
    <a:wholeTbl>
      <a:tcTxStyle>
        <a:fontRef idx="minor">
          <a:scrgbClr r="0" g="0" b="0"/>
        </a:fontRef>
        <a:schemeClr val="tx1"/>
      </a:tcTxStyle>
      <a:tcStyle>
        <a:tcBdr>
          <a:left>
            <a:ln w="12700" cmpd="sng">
              <a:solidFill>
                <a:schemeClr val="tx1"/>
              </a:solidFill>
            </a:ln>
          </a:left>
          <a:right>
            <a:ln w="12700" cmpd="sng">
              <a:solidFill>
                <a:schemeClr val="tx1"/>
              </a:solidFill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 w="12700" cmpd="sng">
              <a:solidFill>
                <a:schemeClr val="tx1"/>
              </a:solidFill>
            </a:ln>
          </a:insideH>
          <a:insideV>
            <a:ln w="12700" cmpd="sng">
              <a:solidFill>
                <a:schemeClr val="tx1"/>
              </a:solidFill>
            </a:ln>
          </a:insideV>
        </a:tcBdr>
        <a:fill>
          <a:noFill/>
        </a:fill>
      </a:tcStyle>
    </a:wholeTbl>
  </a:tblStyle>
  <a:tblStyle styleId="{B301B821-A1FF-4177-AEE7-76D212191A09}" styleName="Средний стиль 1 — акцент 1">
    <a:wholeTbl>
      <a:tcTxStyle>
        <a:fontRef idx="minor">
          <a:scrgbClr r="0" g="0" b="0"/>
        </a:fontRef>
        <a:schemeClr val="dk1"/>
      </a:tcTxStyle>
      <a:tcStyle>
        <a:tcBdr>
          <a:left>
            <a:ln w="12700" cmpd="sng">
              <a:solidFill>
                <a:schemeClr val="accent1"/>
              </a:solidFill>
            </a:ln>
          </a:left>
          <a:right>
            <a:ln w="12700" cmpd="sng">
              <a:solidFill>
                <a:schemeClr val="accent1"/>
              </a:solidFill>
            </a:ln>
          </a:right>
          <a:top>
            <a:ln w="12700" cmpd="sng">
              <a:solidFill>
                <a:schemeClr val="accent1"/>
              </a:solidFill>
            </a:ln>
          </a:top>
          <a:bottom>
            <a:ln w="12700" cmpd="sng">
              <a:solidFill>
                <a:schemeClr val="accent1"/>
              </a:solidFill>
            </a:ln>
          </a:bottom>
          <a:insideH>
            <a:ln w="12700" cmpd="sng">
              <a:solidFill>
                <a:schemeClr val="accent1"/>
              </a:solidFill>
            </a:ln>
          </a:insideH>
          <a:insideV>
            <a:ln>
              <a:noFill/>
            </a:ln>
          </a:insideV>
        </a:tcBdr>
        <a:fill>
          <a:solidFill>
            <a:schemeClr val="lt1"/>
          </a:solidFill>
        </a:fill>
      </a:tcStyle>
    </a:wholeTbl>
    <a:band1H>
      <a:tcStyle>
        <a:tcBdr/>
        <a:fill>
          <a:solidFill>
            <a:schemeClr val="accent1">
              <a:tint val="20000"/>
            </a:schemeClr>
          </a:solidFill>
        </a:fill>
      </a:tcStyle>
    </a:band1H>
    <a:band1V>
      <a:tcStyle>
        <a:tcBdr/>
        <a:fill>
          <a:solidFill>
            <a:schemeClr val="accent1">
              <a:tint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accent1"/>
              </a:solidFill>
            </a:ln>
          </a:top>
        </a:tcBdr>
        <a:fill>
          <a:solidFill>
            <a:schemeClr val="lt1"/>
          </a:solidFill>
        </a:fill>
      </a:tcStyle>
    </a:lastRow>
    <a:firstRow>
      <a:tcTxStyle b="on">
        <a:fontRef idx="minor">
          <a:scrgbClr r="0" g="0" b="0"/>
        </a:fontRef>
        <a:schemeClr val="lt1"/>
      </a:tcTxStyle>
      <a:tcStyle>
        <a:tcBdr/>
        <a:fill>
          <a:solidFill>
            <a:schemeClr val="accent1"/>
          </a:solidFill>
        </a:fill>
      </a:tcStyle>
    </a:firstRow>
  </a:tblStyle>
  <a:tblStyle styleId="{9D7B26C5-4107-4FEC-AEDC-1716B250A1EF}" styleName="Светлый стиль 1">
    <a:wholeTbl>
      <a:tcTxStyle>
        <a:fontRef idx="minor">
          <a:scrgbClr r="0" g="0" b="0"/>
        </a:fontRef>
        <a:schemeClr val="tx1"/>
      </a:tcTxStyle>
      <a:tcStyle>
        <a:tcBdr>
          <a:left>
            <a:ln>
              <a:noFill/>
            </a:ln>
          </a:left>
          <a:right>
            <a:ln>
              <a:noFill/>
            </a:ln>
          </a:right>
          <a:top>
            <a:ln w="12700" cmpd="sng">
              <a:solidFill>
                <a:schemeClr val="tx1"/>
              </a:solidFill>
            </a:ln>
          </a:top>
          <a:bottom>
            <a:ln w="12700" cmpd="sng">
              <a:solidFill>
                <a:schemeClr val="tx1"/>
              </a:solidFill>
            </a:ln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/>
        <a:fill>
          <a:solidFill>
            <a:schemeClr val="tx1">
              <a:alpha val="2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tx1">
              <a:alpha val="20000"/>
            </a:schemeClr>
          </a:solidFill>
        </a:fill>
      </a:tcStyle>
    </a:band1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12700" cmpd="sng">
              <a:solidFill>
                <a:schemeClr val="tx1"/>
              </a:solidFill>
            </a:ln>
          </a:top>
        </a:tcBdr>
        <a:fill>
          <a:noFill/>
        </a:fill>
      </a:tcStyle>
    </a:lastRow>
    <a:firstRow>
      <a:tcTxStyle b="on"/>
      <a:tcStyle>
        <a:tcBdr>
          <a:bottom>
            <a:ln w="12700" cmpd="sng">
              <a:solidFill>
                <a:schemeClr val="tx1"/>
              </a:solidFill>
            </a:ln>
          </a:bottom>
        </a:tcBdr>
        <a:fill>
          <a:noFill/>
        </a:fill>
      </a:tcStyle>
    </a:firstRow>
  </a:tblStyle>
  <a:tblStyle styleId="{21E4AEA4-8DFA-4A89-87EB-49C32662AFE0}" styleName="Средний стиль 2 — акцент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2">
              <a:tint val="20000"/>
            </a:schemeClr>
          </a:solidFill>
        </a:fill>
      </a:tcStyle>
    </a:wholeTbl>
    <a:band1H>
      <a:tcStyle>
        <a:tcBdr/>
        <a:fill>
          <a:solidFill>
            <a:schemeClr val="accent2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2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2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2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2"/>
          </a:solidFill>
        </a:fill>
      </a:tcStyle>
    </a:firstRow>
  </a:tblStyle>
  <a:tblStyle styleId="{7E9639D4-E3E2-4D34-9284-5A2195B3D0D7}" styleName="Light Style 2">
    <a:wholeTbl>
      <a:tcTxStyle>
        <a:fontRef idx="minor">
          <a:scrgbClr r="0" g="0" b="0"/>
        </a:fontRef>
        <a:schemeClr val="tx1"/>
      </a:tcTxStyle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  <a:top>
            <a:lnRef idx="1">
              <a:schemeClr val="tx1"/>
            </a:lnRef>
          </a:top>
          <a:bottom>
            <a:lnRef idx="1">
              <a:schemeClr val="tx1"/>
            </a:lnRef>
          </a:bottom>
          <a:insideH>
            <a:ln>
              <a:noFill/>
            </a:ln>
          </a:insideH>
          <a:insideV>
            <a:ln>
              <a:noFill/>
            </a:ln>
          </a:insideV>
        </a:tcBdr>
        <a:fill>
          <a:noFill/>
        </a:fill>
      </a:tcStyle>
    </a:wholeTbl>
    <a:band1H>
      <a:tcStyle>
        <a:tcBdr>
          <a:top>
            <a:lnRef idx="1">
              <a:schemeClr val="tx1"/>
            </a:lnRef>
          </a:top>
          <a:bottom>
            <a:lnRef idx="1">
              <a:schemeClr val="tx1"/>
            </a:lnRef>
          </a:bottom>
        </a:tcBdr>
      </a:tcStyle>
    </a:band1H>
    <a:band1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1V>
    <a:band2V>
      <a:tcStyle>
        <a:tcBdr>
          <a:left>
            <a:lnRef idx="1">
              <a:schemeClr val="tx1"/>
            </a:lnRef>
          </a:left>
          <a:right>
            <a:lnRef idx="1">
              <a:schemeClr val="tx1"/>
            </a:lnRef>
          </a:right>
        </a:tcBdr>
      </a:tcStyle>
    </a:band2V>
    <a:lastCol>
      <a:tcTxStyle b="on"/>
      <a:tcStyle>
        <a:tcBdr/>
      </a:tcStyle>
    </a:lastCol>
    <a:firstCol>
      <a:tcTxStyle b="on"/>
      <a:tcStyle>
        <a:tcBdr/>
      </a:tcStyle>
    </a:firstCol>
    <a:lastRow>
      <a:tcTxStyle b="on"/>
      <a:tcStyle>
        <a:tcBdr>
          <a:top>
            <a:ln w="50800" cmpd="dbl">
              <a:solidFill>
                <a:schemeClr val="tx1"/>
              </a:solidFill>
            </a:ln>
          </a:top>
        </a:tcBdr>
      </a:tcStyle>
    </a:lastRow>
    <a:firstRow>
      <a:tcTxStyle b="on">
        <a:fontRef idx="minor">
          <a:scrgbClr r="0" g="0" b="0"/>
        </a:fontRef>
        <a:schemeClr val="bg1"/>
      </a:tcTxStyle>
      <a:tcStyle>
        <a:tcBdr/>
        <a:fillRef idx="1">
          <a:schemeClr val="tx1"/>
        </a:fillRef>
      </a:tcStyle>
    </a:firstRow>
  </a:tblStyle>
  <a:tblStyle styleId="{073A0DAA-6AF3-43AB-8588-CEC1D06C72B9}" styleName="Средний стиль 2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dk1">
              <a:tint val="20000"/>
            </a:schemeClr>
          </a:solidFill>
        </a:fill>
      </a:tcStyle>
    </a:wholeTbl>
    <a:band1H>
      <a:tcStyle>
        <a:tcBdr/>
        <a:fill>
          <a:solidFill>
            <a:schemeClr val="dk1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dk1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dk1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dk1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dk1"/>
          </a:solidFill>
        </a:fill>
      </a:tcStyle>
    </a:firstRow>
  </a:tblStyle>
  <a:tblStyle styleId="{7DF18680-E054-41AD-8BC1-D1AEF772440D}" styleName="Средний стиль 2 — акцент 5">
    <a:wholeTbl>
      <a:tcTxStyle>
        <a:fontRef idx="minor">
          <a:prstClr val="black"/>
        </a:fontRef>
        <a:schemeClr val="dk1"/>
      </a:tcTxStyle>
      <a:tcStyle>
        <a:tcBdr>
          <a:left>
            <a:ln w="12700" cmpd="sng">
              <a:solidFill>
                <a:schemeClr val="lt1"/>
              </a:solidFill>
            </a:ln>
          </a:left>
          <a:right>
            <a:ln w="12700" cmpd="sng">
              <a:solidFill>
                <a:schemeClr val="lt1"/>
              </a:solidFill>
            </a:ln>
          </a:right>
          <a:top>
            <a:ln w="12700" cmpd="sng">
              <a:solidFill>
                <a:schemeClr val="lt1"/>
              </a:solidFill>
            </a:ln>
          </a:top>
          <a:bottom>
            <a:ln w="12700" cmpd="sng">
              <a:solidFill>
                <a:schemeClr val="lt1"/>
              </a:solidFill>
            </a:ln>
          </a:bottom>
          <a:insideH>
            <a:ln w="12700" cmpd="sng">
              <a:solidFill>
                <a:schemeClr val="lt1"/>
              </a:solidFill>
            </a:ln>
          </a:insideH>
          <a:insideV>
            <a:ln w="12700" cmpd="sng">
              <a:solidFill>
                <a:schemeClr val="lt1"/>
              </a:solidFill>
            </a:ln>
          </a:insideV>
        </a:tcBdr>
        <a:fill>
          <a:solidFill>
            <a:schemeClr val="accent5">
              <a:tint val="20000"/>
            </a:schemeClr>
          </a:solidFill>
        </a:fill>
      </a:tcStyle>
    </a:wholeTbl>
    <a:band1H>
      <a:tcStyle>
        <a:tcBdr/>
        <a:fill>
          <a:solidFill>
            <a:schemeClr val="accent5">
              <a:tint val="40000"/>
            </a:schemeClr>
          </a:solidFill>
        </a:fill>
      </a:tcStyle>
    </a:band1H>
    <a:band2H>
      <a:tcStyle>
        <a:tcBdr/>
      </a:tcStyle>
    </a:band2H>
    <a:band1V>
      <a:tcStyle>
        <a:tcBdr/>
        <a:fill>
          <a:solidFill>
            <a:schemeClr val="accent5">
              <a:tint val="40000"/>
            </a:schemeClr>
          </a:solidFill>
        </a:fill>
      </a:tcStyle>
    </a:band1V>
    <a:band2V>
      <a:tcStyle>
        <a:tcBdr/>
      </a:tcStyle>
    </a:band2V>
    <a:la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lastCol>
    <a:firstCol>
      <a:tcTxStyle b="on">
        <a:fontRef idx="minor">
          <a:prstClr val="black"/>
        </a:fontRef>
        <a:schemeClr val="lt1"/>
      </a:tcTxStyle>
      <a:tcStyle>
        <a:tcBdr/>
        <a:fill>
          <a:solidFill>
            <a:schemeClr val="accent5"/>
          </a:solidFill>
        </a:fill>
      </a:tcStyle>
    </a:firstCol>
    <a:lastRow>
      <a:tcTxStyle b="on">
        <a:fontRef idx="minor">
          <a:prstClr val="black"/>
        </a:fontRef>
        <a:schemeClr val="lt1"/>
      </a:tcTxStyle>
      <a:tcStyle>
        <a:tcBdr>
          <a:top>
            <a:ln w="38100" cmpd="sng">
              <a:solidFill>
                <a:schemeClr val="lt1"/>
              </a:solidFill>
            </a:ln>
          </a:top>
        </a:tcBdr>
        <a:fill>
          <a:solidFill>
            <a:schemeClr val="accent5"/>
          </a:solidFill>
        </a:fill>
      </a:tcStyle>
    </a:lastRow>
    <a:firstRow>
      <a:tcTxStyle b="on">
        <a:fontRef idx="minor">
          <a:prstClr val="black"/>
        </a:fontRef>
        <a:schemeClr val="lt1"/>
      </a:tcTxStyle>
      <a:tcStyle>
        <a:tcBdr>
          <a:bottom>
            <a:ln w="38100" cmpd="sng">
              <a:solidFill>
                <a:schemeClr val="lt1"/>
              </a:solidFill>
            </a:ln>
          </a:bottom>
        </a:tcBdr>
        <a:fill>
          <a:solidFill>
            <a:schemeClr val="accent5"/>
          </a:solidFill>
        </a:fill>
      </a:tcStyle>
    </a:firstRow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 horzBarState="maximized">
    <p:restoredLeft sz="27473" autoAdjust="0"/>
    <p:restoredTop sz="87093" autoAdjust="0"/>
  </p:normalViewPr>
  <p:slideViewPr>
    <p:cSldViewPr snapToGrid="0" showGuides="1">
      <p:cViewPr varScale="1">
        <p:scale>
          <a:sx n="117" d="100"/>
          <a:sy n="117" d="100"/>
        </p:scale>
        <p:origin x="1056" y="102"/>
      </p:cViewPr>
      <p:guideLst>
        <p:guide orient="horz" pos="4020"/>
        <p:guide pos="295"/>
        <p:guide pos="5465"/>
        <p:guide pos="3061"/>
        <p:guide pos="2877"/>
      </p:guideLst>
    </p:cSldViewPr>
  </p:slideViewPr>
  <p:outlineViewPr>
    <p:cViewPr>
      <p:scale>
        <a:sx n="33" d="100"/>
        <a:sy n="33" d="100"/>
      </p:scale>
      <p:origin x="0" y="-1224"/>
    </p:cViewPr>
  </p:outlineViewPr>
  <p:notesTextViewPr>
    <p:cViewPr>
      <p:scale>
        <a:sx n="1" d="1"/>
        <a:sy n="1" d="1"/>
      </p:scale>
      <p:origin x="0" y="0"/>
    </p:cViewPr>
  </p:notesTextViewPr>
  <p:sorterViewPr>
    <p:cViewPr>
      <p:scale>
        <a:sx n="110" d="100"/>
        <a:sy n="110" d="100"/>
      </p:scale>
      <p:origin x="0" y="0"/>
    </p:cViewPr>
  </p:sorterViewPr>
  <p:notesViewPr>
    <p:cSldViewPr snapToGrid="0">
      <p:cViewPr varScale="1">
        <p:scale>
          <a:sx n="80" d="100"/>
          <a:sy n="80" d="100"/>
        </p:scale>
        <p:origin x="3948" y="84"/>
      </p:cViewPr>
      <p:guideLst/>
    </p:cSldViewPr>
  </p:notesViewPr>
  <p:gridSpacing cx="72008" cy="72008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4.xml"/><Relationship Id="rId13" Type="http://schemas.openxmlformats.org/officeDocument/2006/relationships/slide" Target="slides/slide9.xml"/><Relationship Id="rId18" Type="http://schemas.openxmlformats.org/officeDocument/2006/relationships/slide" Target="slides/slide14.xml"/><Relationship Id="rId26" Type="http://schemas.openxmlformats.org/officeDocument/2006/relationships/slide" Target="slides/slide22.xml"/><Relationship Id="rId3" Type="http://schemas.openxmlformats.org/officeDocument/2006/relationships/customXml" Target="../customXml/item3.xml"/><Relationship Id="rId21" Type="http://schemas.openxmlformats.org/officeDocument/2006/relationships/slide" Target="slides/slide17.xml"/><Relationship Id="rId34" Type="http://schemas.openxmlformats.org/officeDocument/2006/relationships/theme" Target="theme/theme1.xml"/><Relationship Id="rId7" Type="http://schemas.openxmlformats.org/officeDocument/2006/relationships/slide" Target="slides/slide3.xml"/><Relationship Id="rId12" Type="http://schemas.openxmlformats.org/officeDocument/2006/relationships/slide" Target="slides/slide8.xml"/><Relationship Id="rId17" Type="http://schemas.openxmlformats.org/officeDocument/2006/relationships/slide" Target="slides/slide13.xml"/><Relationship Id="rId25" Type="http://schemas.openxmlformats.org/officeDocument/2006/relationships/slide" Target="slides/slide21.xml"/><Relationship Id="rId33" Type="http://schemas.openxmlformats.org/officeDocument/2006/relationships/viewProps" Target="viewProps.xml"/><Relationship Id="rId2" Type="http://schemas.openxmlformats.org/officeDocument/2006/relationships/customXml" Target="../customXml/item2.xml"/><Relationship Id="rId16" Type="http://schemas.openxmlformats.org/officeDocument/2006/relationships/slide" Target="slides/slide12.xml"/><Relationship Id="rId20" Type="http://schemas.openxmlformats.org/officeDocument/2006/relationships/slide" Target="slides/slide16.xml"/><Relationship Id="rId29" Type="http://schemas.openxmlformats.org/officeDocument/2006/relationships/notesMaster" Target="notesMasters/notesMaster1.xml"/><Relationship Id="rId1" Type="http://schemas.openxmlformats.org/officeDocument/2006/relationships/customXml" Target="../customXml/item1.xml"/><Relationship Id="rId6" Type="http://schemas.openxmlformats.org/officeDocument/2006/relationships/slide" Target="slides/slide2.xml"/><Relationship Id="rId11" Type="http://schemas.openxmlformats.org/officeDocument/2006/relationships/slide" Target="slides/slide7.xml"/><Relationship Id="rId24" Type="http://schemas.openxmlformats.org/officeDocument/2006/relationships/slide" Target="slides/slide20.xml"/><Relationship Id="rId32" Type="http://schemas.openxmlformats.org/officeDocument/2006/relationships/presProps" Target="presProps.xml"/><Relationship Id="rId5" Type="http://schemas.openxmlformats.org/officeDocument/2006/relationships/slide" Target="slides/slide1.xml"/><Relationship Id="rId15" Type="http://schemas.openxmlformats.org/officeDocument/2006/relationships/slide" Target="slides/slide11.xml"/><Relationship Id="rId23" Type="http://schemas.openxmlformats.org/officeDocument/2006/relationships/slide" Target="slides/slide19.xml"/><Relationship Id="rId28" Type="http://schemas.openxmlformats.org/officeDocument/2006/relationships/slide" Target="slides/slide24.xml"/><Relationship Id="rId10" Type="http://schemas.openxmlformats.org/officeDocument/2006/relationships/slide" Target="slides/slide6.xml"/><Relationship Id="rId19" Type="http://schemas.openxmlformats.org/officeDocument/2006/relationships/slide" Target="slides/slide15.xml"/><Relationship Id="rId31" Type="http://schemas.openxmlformats.org/officeDocument/2006/relationships/commentAuthors" Target="commentAuthors.xml"/><Relationship Id="rId169" Type="http://schemas.microsoft.com/office/2015/10/relationships/revisionInfo" Target="revisionInfo.xml"/><Relationship Id="rId4" Type="http://schemas.openxmlformats.org/officeDocument/2006/relationships/slideMaster" Target="slideMasters/slideMaster1.xml"/><Relationship Id="rId9" Type="http://schemas.openxmlformats.org/officeDocument/2006/relationships/slide" Target="slides/slide5.xml"/><Relationship Id="rId14" Type="http://schemas.openxmlformats.org/officeDocument/2006/relationships/slide" Target="slides/slide10.xml"/><Relationship Id="rId22" Type="http://schemas.openxmlformats.org/officeDocument/2006/relationships/slide" Target="slides/slide18.xml"/><Relationship Id="rId27" Type="http://schemas.openxmlformats.org/officeDocument/2006/relationships/slide" Target="slides/slide23.xml"/><Relationship Id="rId30" Type="http://schemas.openxmlformats.org/officeDocument/2006/relationships/handoutMaster" Target="handoutMasters/handoutMaster1.xml"/><Relationship Id="rId35" Type="http://schemas.openxmlformats.org/officeDocument/2006/relationships/tableStyles" Target="tableStyles.xml"/></Relationships>
</file>

<file path=ppt/handoutMasters/_rels/handout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3.xml"/></Relationships>
</file>

<file path=ppt/handoutMasters/handoutMaster1.xml><?xml version="1.0" encoding="utf-8"?>
<p:handout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sz="quarter" idx="1"/>
          </p:nvPr>
        </p:nvSpPr>
        <p:spPr>
          <a:xfrm>
            <a:off x="3814763" y="0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8B98B3E6-7D14-4828-917E-251E799EB6D3}" type="datetimeFigureOut">
              <a:rPr lang="ru-RU" smtClean="0"/>
              <a:t>28.11.2019</a:t>
            </a:fld>
            <a:endParaRPr lang="ru-RU" dirty="0"/>
          </a:p>
        </p:txBody>
      </p:sp>
      <p:sp>
        <p:nvSpPr>
          <p:cNvPr id="4" name="Нижний колонтитул 3"/>
          <p:cNvSpPr>
            <a:spLocks noGrp="1"/>
          </p:cNvSpPr>
          <p:nvPr>
            <p:ph type="ftr" sz="quarter" idx="2"/>
          </p:nvPr>
        </p:nvSpPr>
        <p:spPr>
          <a:xfrm>
            <a:off x="0" y="9371013"/>
            <a:ext cx="2919413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5" name="Номер слайда 4"/>
          <p:cNvSpPr>
            <a:spLocks noGrp="1"/>
          </p:cNvSpPr>
          <p:nvPr>
            <p:ph type="sldNum" sz="quarter" idx="3"/>
          </p:nvPr>
        </p:nvSpPr>
        <p:spPr>
          <a:xfrm>
            <a:off x="3814763" y="9371013"/>
            <a:ext cx="2919412" cy="4953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60825A57-54F6-47CC-8C31-8285844BAA91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948164448"/>
      </p:ext>
    </p:extLst>
  </p:cSld>
  <p:clrMap bg1="lt1" tx1="dk1" bg2="lt2" tx2="dk2" accent1="accent1" accent2="accent2" accent3="accent3" accent4="accent4" accent5="accent5" accent6="accent6" hlink="hlink" folHlink="folHlink"/>
</p:handoutMaster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1920" units="cm"/>
          <inkml:channel name="Y" type="integer" max="1080" units="cm"/>
          <inkml:channel name="T" type="integer" max="2.14748E9" units="dev"/>
        </inkml:traceFormat>
        <inkml:channelProperties>
          <inkml:channelProperty channel="X" name="resolution" value="50.26178" units="1/cm"/>
          <inkml:channelProperty channel="Y" name="resolution" value="50.23256" units="1/cm"/>
          <inkml:channelProperty channel="T" name="resolution" value="1" units="1/dev"/>
        </inkml:channelProperties>
      </inkml:inkSource>
      <inkml:timestamp xml:id="ts0" timeString="2019-05-07T15:43:07.432"/>
    </inkml:context>
    <inkml:brush xml:id="br0">
      <inkml:brushProperty name="width" value="0.06667" units="cm"/>
      <inkml:brushProperty name="height" value="0.06667" units="cm"/>
      <inkml:brushProperty name="fitToCurve" value="1"/>
    </inkml:brush>
  </inkml:definitions>
  <inkml:traceGroup>
    <inkml:annotationXML>
      <emma:emma xmlns:emma="http://www.w3.org/2003/04/emma" version="1.0">
        <emma:interpretation id="{00650547-FCE6-4C9F-924D-FDAD7C07A1D4}" emma:medium="tactile" emma:mode="ink">
          <msink:context xmlns:msink="http://schemas.microsoft.com/ink/2010/main" type="writingRegion" rotatedBoundingBox="2932,9998 2947,9998 2947,10044 2932,10044"/>
        </emma:interpretation>
      </emma:emma>
    </inkml:annotationXML>
    <inkml:traceGroup>
      <inkml:annotationXML>
        <emma:emma xmlns:emma="http://www.w3.org/2003/04/emma" version="1.0">
          <emma:interpretation id="{4D413BF5-E76C-41CB-8FBE-6F59FA865CB4}" emma:medium="tactile" emma:mode="ink">
            <msink:context xmlns:msink="http://schemas.microsoft.com/ink/2010/main" type="paragraph" rotatedBoundingBox="2932,9998 2947,9998 2947,10044 2932,10044" alignmentLevel="1"/>
          </emma:interpretation>
        </emma:emma>
      </inkml:annotationXML>
      <inkml:traceGroup>
        <inkml:annotationXML>
          <emma:emma xmlns:emma="http://www.w3.org/2003/04/emma" version="1.0">
            <emma:interpretation id="{2912B46F-84C0-4E15-8744-C86480B7AB20}" emma:medium="tactile" emma:mode="ink">
              <msink:context xmlns:msink="http://schemas.microsoft.com/ink/2010/main" type="line" rotatedBoundingBox="2932,9998 2947,9998 2947,10044 2932,10044"/>
            </emma:interpretation>
          </emma:emma>
        </inkml:annotationXML>
        <inkml:traceGroup>
          <inkml:annotationXML>
            <emma:emma xmlns:emma="http://www.w3.org/2003/04/emma" version="1.0">
              <emma:interpretation id="{1F809A82-46CF-449C-9753-033BEF717237}" emma:medium="tactile" emma:mode="ink">
                <msink:context xmlns:msink="http://schemas.microsoft.com/ink/2010/main" type="inkWord" rotatedBoundingBox="2932,9998 2947,9998 2947,10044 2932,10044"/>
              </emma:interpretation>
              <emma:one-of disjunction-type="recognition" id="oneOf0">
                <emma:interpretation id="interp0" emma:lang="" emma:confidence="0">
                  <emma:literal>'</emma:literal>
                </emma:interpretation>
                <emma:interpretation id="interp1" emma:lang="" emma:confidence="0">
                  <emma:literal>.</emma:literal>
                </emma:interpretation>
                <emma:interpretation id="interp2" emma:lang="" emma:confidence="0">
                  <emma:literal>1</emma:literal>
                </emma:interpretation>
                <emma:interpretation id="interp3" emma:lang="" emma:confidence="0">
                  <emma:literal>/</emma:literal>
                </emma:interpretation>
                <emma:interpretation id="interp4" emma:lang="" emma:confidence="0">
                  <emma:literal>,</emma:literal>
                </emma:interpretation>
              </emma:one-of>
            </emma:emma>
          </inkml:annotationXML>
          <inkml:trace contextRef="#ctx0" brushRef="#br0">0 46 0,'0'-46'0</inkml:trace>
        </inkml:traceGroup>
      </inkml:traceGroup>
    </inkml:traceGroup>
  </inkml:traceGroup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Верхний колонтитул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3" name="Дата 2"/>
          <p:cNvSpPr>
            <a:spLocks noGrp="1"/>
          </p:cNvSpPr>
          <p:nvPr>
            <p:ph type="dt" idx="1"/>
          </p:nvPr>
        </p:nvSpPr>
        <p:spPr>
          <a:xfrm>
            <a:off x="3815373" y="0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E115BFBE-1AB8-064D-92FF-01DC96DD8794}" type="datetimeFigureOut">
              <a:rPr lang="ru-RU" smtClean="0"/>
              <a:t>28.11.2019</a:t>
            </a:fld>
            <a:endParaRPr lang="ru-RU" dirty="0"/>
          </a:p>
        </p:txBody>
      </p:sp>
      <p:sp>
        <p:nvSpPr>
          <p:cNvPr id="4" name="Образ слайда 3"/>
          <p:cNvSpPr>
            <a:spLocks noGrp="1" noRot="1" noChangeAspect="1"/>
          </p:cNvSpPr>
          <p:nvPr>
            <p:ph type="sldImg" idx="2"/>
          </p:nvPr>
        </p:nvSpPr>
        <p:spPr>
          <a:xfrm>
            <a:off x="901700" y="739775"/>
            <a:ext cx="4932363" cy="3700463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r>
              <a:rPr lang="en-US" dirty="0"/>
              <a:t>j</a:t>
            </a:r>
            <a:endParaRPr lang="ru-RU" dirty="0"/>
          </a:p>
        </p:txBody>
      </p:sp>
      <p:sp>
        <p:nvSpPr>
          <p:cNvPr id="5" name="Заметки 4"/>
          <p:cNvSpPr>
            <a:spLocks noGrp="1"/>
          </p:cNvSpPr>
          <p:nvPr>
            <p:ph type="body" sz="quarter" idx="3"/>
          </p:nvPr>
        </p:nvSpPr>
        <p:spPr>
          <a:xfrm>
            <a:off x="673577" y="4686499"/>
            <a:ext cx="5388610" cy="4439841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ru-RU"/>
              <a:t>Образец текста</a:t>
            </a:r>
          </a:p>
          <a:p>
            <a:pPr lvl="1"/>
            <a:r>
              <a:rPr lang="ru-RU"/>
              <a:t>Второй уровень</a:t>
            </a:r>
          </a:p>
          <a:p>
            <a:pPr lvl="2"/>
            <a:r>
              <a:rPr lang="ru-RU"/>
              <a:t>Третий уровень</a:t>
            </a:r>
          </a:p>
          <a:p>
            <a:pPr lvl="3"/>
            <a:r>
              <a:rPr lang="ru-RU"/>
              <a:t>Четвертый уровень</a:t>
            </a:r>
          </a:p>
          <a:p>
            <a:pPr lvl="4"/>
            <a:r>
              <a:rPr lang="ru-RU"/>
              <a:t>Пятый уровень</a:t>
            </a:r>
          </a:p>
        </p:txBody>
      </p:sp>
      <p:sp>
        <p:nvSpPr>
          <p:cNvPr id="6" name="Нижний колонтитул 5"/>
          <p:cNvSpPr>
            <a:spLocks noGrp="1"/>
          </p:cNvSpPr>
          <p:nvPr>
            <p:ph type="ftr" sz="quarter" idx="4"/>
          </p:nvPr>
        </p:nvSpPr>
        <p:spPr>
          <a:xfrm>
            <a:off x="0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ru-RU" dirty="0"/>
          </a:p>
        </p:txBody>
      </p:sp>
      <p:sp>
        <p:nvSpPr>
          <p:cNvPr id="7" name="Номер слайда 6"/>
          <p:cNvSpPr>
            <a:spLocks noGrp="1"/>
          </p:cNvSpPr>
          <p:nvPr>
            <p:ph type="sldNum" sz="quarter" idx="5"/>
          </p:nvPr>
        </p:nvSpPr>
        <p:spPr>
          <a:xfrm>
            <a:off x="3815373" y="9371285"/>
            <a:ext cx="2918831" cy="493316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E0A7C119-28D5-5342-8FDF-728EEBCB3E7E}" type="slidenum">
              <a:rPr lang="ru-RU" smtClean="0"/>
              <a:t>‹#›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268195876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РАСПОЛОЖЕНИЯ </a:t>
            </a:r>
            <a:r>
              <a:rPr lang="ru-RU" sz="1200" b="1" kern="1200" cap="all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ТЕХНических</a:t>
            </a:r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Объектов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pPr marL="0" marR="0" lvl="0" indent="0" algn="l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расположения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ремонту. Если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производится на самом заводе расположения технических объектов, то завод расположения технических объектов является одновременно и заводом, планирующим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 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расположения предполагается создать для всех управляющих офисов, производственных заводов: ГТК,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золотоизвлекательных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 и других заводов, где есть оборудование или здания и сооружения, подлежащие техническому обслуживанию и ремонту.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Производственных и месторождений вспомогательного производства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 – для зданий, сооружений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не создаются для логистических заводов: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аффинажных заводов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портов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Для заводов Полюс-Проекта</a:t>
            </a:r>
            <a:r>
              <a:rPr lang="ru-RU" sz="1200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 </a:t>
            </a:r>
          </a:p>
          <a:p>
            <a:pPr lvl="3"/>
            <a:r>
              <a:rPr lang="ru-RU" sz="1200" b="1" kern="1200" dirty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расположения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расположения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3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1423122060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– организационная единица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на которой планируются потребности в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а также планируется потребность в МТР и ведется учет остатков МТР. На заводе ведутся все данные, необходимые для технического обслуживания и ремонта оборудования, например, локальные технологические карты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и собираются затраты на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 планирования ТОРО присваивается одному логистическому заводу.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Группы компаний Полюс заводы планирования ТОРО предполагается создать для всех логистических заводов для МТР 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разрезов), перевалочных баз, управляющих офисов, и других заводов, где осуществляется планирование потребности в мероприятиях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 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заводов планирования ТОРО осуществляется разделение полномочий между отдельными предприятиями, которые выполняют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один к одному соответствуют логистическим заводам и создаются для 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Заводов МТР (производственных площадок (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ГОКов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и разрезов));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Перевалочных баз;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Управляющих офисов.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планирования ТОРО кодируются аналогично логистическим заводам.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Заводы кодируются как ХХ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где ХХ – два первых символа кода БЕ, а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NN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– последовательная нумерация (сначала цифрами, затем латинскими буквами) пропуская аффинажные заводы XXXA. Сначала кодируются производственные заводы в последовательности: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золотоизвлекательные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фабрики, рудоуправления. После производственных кодируются остальные заводы: заводы МТР  (кроме основного), управляющие офисы и филиалы, и перевалочные базы. 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Перечень заводов планирования ТОРО приведен в Приложении № 1 к данному КД.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4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135294885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lvl="2"/>
            <a:r>
              <a:rPr lang="ru-RU" sz="1200" b="1" kern="1200" cap="all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</a:t>
            </a:r>
          </a:p>
          <a:p>
            <a:pPr lvl="2" algn="ctr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Определение</a:t>
            </a: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- это элемент организационной структуры в системе 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S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/4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HANA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, который осуществляет планирование и организацию технического обслуживания и ремонта в рамках отдельного подразделения, службы, отдела, направления завода планирования ТОРО.</a:t>
            </a:r>
          </a:p>
          <a:p>
            <a:pPr marL="0" marR="0" lvl="0" indent="0" algn="ctr" defTabSz="4572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Применение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реализации целевых бизнес-процессов производства Группы компаний Полюс на заводах будут созданы группы планирования ТОРО в соответствии с направлениями деятельности служб и отделов, выполняющих планирование работ ТОРО, таких как:</a:t>
            </a: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Механики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Электрики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Метрологи/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КИПиА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;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pPr lvl="0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ЗИС</a:t>
            </a:r>
            <a:r>
              <a:rPr lang="en-US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  <a:endParaRPr lang="ru-RU" sz="1200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На уровне группа планирования ТОРО выполняется разделение полномочий к объектам заказов ТОРО, к отчетности для более детального разграничения прав доступа в рамках подразделений и служб, выполняющих планирование мероприятий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.</a:t>
            </a:r>
          </a:p>
          <a:p>
            <a:pPr lvl="3"/>
            <a:r>
              <a:rPr lang="ru-RU" sz="1200" b="1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Кодировка</a:t>
            </a: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Группы планирования ТОРО кодируются длиной от 1 до 3 символов: XXX.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 рамках завода планирования ТОРО будут созданы группы планирования с трехсимвольными номерами: «100», «200» и т.д. 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r>
              <a:rPr lang="ru-RU" sz="1200" i="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Группа планирования ТОРО на каждому заводе планирования ТОРО будут кодироваться следующим образом:</a:t>
            </a:r>
            <a:endParaRPr lang="ru-RU" sz="1200" i="1" kern="1200" dirty="0" smtClean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  <a:p>
            <a:endParaRPr lang="ru-RU" dirty="0" smtClean="0"/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5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340628830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Образ слайда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Заметки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pPr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Единицы оборудования (ЕО) – отдельные объекты, которые подлежат </a:t>
            </a:r>
            <a:r>
              <a:rPr lang="ru-RU" sz="1200" kern="1200" dirty="0" err="1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ТОиР</a:t>
            </a:r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 в качестве самостоятельных единиц. ЕО отражает данные и характеристики конкретного объекта, эксплуатируемого на предприятии, для которого является необходимым отслеживание жизненного цикла, включающего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приобретение;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ввод в эксплуатацию;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выполнение обслуживания и ремонта;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на склад/в обменный фонд;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перемещение между местами установки;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продление срока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вывод из эксплуатации;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консервация;</a:t>
            </a:r>
          </a:p>
          <a:p>
            <a:pPr lvl="0" fontAlgn="t"/>
            <a:r>
              <a:rPr lang="ru-RU" sz="1200" kern="1200" dirty="0" smtClean="0">
                <a:solidFill>
                  <a:schemeClr val="tx1"/>
                </a:solidFill>
                <a:effectLst/>
                <a:latin typeface="+mn-lt"/>
                <a:ea typeface="+mn-ea"/>
                <a:cs typeface="+mn-cs"/>
              </a:rPr>
              <a:t>утилизация.</a:t>
            </a:r>
          </a:p>
          <a:p>
            <a:endParaRPr lang="ru-RU" sz="1200" kern="1200" dirty="0">
              <a:solidFill>
                <a:schemeClr val="tx1"/>
              </a:solidFill>
              <a:effectLst/>
              <a:latin typeface="+mn-lt"/>
              <a:ea typeface="+mn-ea"/>
              <a:cs typeface="+mn-cs"/>
            </a:endParaRPr>
          </a:p>
        </p:txBody>
      </p:sp>
      <p:sp>
        <p:nvSpPr>
          <p:cNvPr id="4" name="Номер слайда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E0A7C119-28D5-5342-8FDF-728EEBCB3E7E}" type="slidenum">
              <a:rPr lang="ru-RU" smtClean="0"/>
              <a:t>7</a:t>
            </a:fld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2723480649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3" Type="http://schemas.openxmlformats.org/officeDocument/2006/relationships/image" Target="../media/image3.png"/><Relationship Id="rId2" Type="http://schemas.openxmlformats.org/officeDocument/2006/relationships/image" Target="../media/image2.jpeg"/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2" Type="http://schemas.openxmlformats.org/officeDocument/2006/relationships/image" Target="../media/image4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Содержание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9" name="Title 1"/>
          <p:cNvSpPr txBox="1">
            <a:spLocks/>
          </p:cNvSpPr>
          <p:nvPr userDrawn="1"/>
        </p:nvSpPr>
        <p:spPr>
          <a:xfrm>
            <a:off x="277161" y="586295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2400" dirty="0">
                <a:solidFill>
                  <a:srgbClr val="FCC917"/>
                </a:solidFill>
                <a:latin typeface="+mn-lt"/>
                <a:cs typeface="Calibri" panose="020F0502020204030204" pitchFamily="34" charset="0"/>
              </a:rPr>
              <a:t>Повестка</a:t>
            </a:r>
            <a:endParaRPr lang="en-US" sz="2400" dirty="0">
              <a:solidFill>
                <a:srgbClr val="FCC917"/>
              </a:solidFill>
              <a:latin typeface="+mn-lt"/>
              <a:cs typeface="Calibri" panose="020F0502020204030204" pitchFamily="34" charset="0"/>
            </a:endParaRPr>
          </a:p>
        </p:txBody>
      </p:sp>
      <p:pic>
        <p:nvPicPr>
          <p:cNvPr id="6" name="Picture 5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1" name="Title 1"/>
          <p:cNvSpPr txBox="1">
            <a:spLocks/>
          </p:cNvSpPr>
          <p:nvPr userDrawn="1"/>
        </p:nvSpPr>
        <p:spPr>
          <a:xfrm>
            <a:off x="27766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2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Calibri" pitchFamily="34" charset="0"/>
                <a:cs typeface="Arial" pitchFamily="34" charset="0"/>
              </a:rPr>
              <a:pPr/>
              <a:t>‹#›</a:t>
            </a:fld>
            <a:endParaRPr lang="ru-RU" sz="1600" b="0" dirty="0"/>
          </a:p>
        </p:txBody>
      </p:sp>
    </p:spTree>
    <p:extLst>
      <p:ext uri="{BB962C8B-B14F-4D97-AF65-F5344CB8AC3E}">
        <p14:creationId xmlns:p14="http://schemas.microsoft.com/office/powerpoint/2010/main" val="2812108179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 userDrawn="1">
  <p:cSld name="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>
                <a:latin typeface="+mn-lt"/>
              </a:defRPr>
            </a:lvl1pPr>
            <a:lvl2pPr>
              <a:defRPr>
                <a:latin typeface="+mn-lt"/>
              </a:defRPr>
            </a:lvl2pPr>
            <a:lvl3pPr>
              <a:defRPr>
                <a:latin typeface="+mn-lt"/>
              </a:defRPr>
            </a:lvl3pPr>
            <a:lvl4pPr>
              <a:defRPr>
                <a:latin typeface="+mn-lt"/>
              </a:defRPr>
            </a:lvl4pPr>
            <a:lvl5pPr>
              <a:defRPr>
                <a:latin typeface="+mn-lt"/>
              </a:defRPr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  <p:sp>
        <p:nvSpPr>
          <p:cNvPr id="10" name="Title 1"/>
          <p:cNvSpPr txBox="1">
            <a:spLocks/>
          </p:cNvSpPr>
          <p:nvPr userDrawn="1"/>
        </p:nvSpPr>
        <p:spPr>
          <a:xfrm>
            <a:off x="256645" y="130681"/>
            <a:ext cx="7380000" cy="352002"/>
          </a:xfrm>
          <a:prstGeom prst="rect">
            <a:avLst/>
          </a:prstGeom>
        </p:spPr>
        <p:txBody>
          <a:bodyPr vert="horz" lIns="91440" tIns="45720" rIns="91440" bIns="45720" rtlCol="0" anchor="ctr">
            <a:noAutofit/>
          </a:bodyPr>
          <a:lstStyle>
            <a:lvl1pPr algn="l" defTabSz="914400" rtl="0" eaLnBrk="1" latinLnBrk="0" hangingPunct="1">
              <a:lnSpc>
                <a:spcPct val="90000"/>
              </a:lnSpc>
              <a:spcBef>
                <a:spcPct val="0"/>
              </a:spcBef>
              <a:buNone/>
              <a:defRPr sz="4400" kern="1200">
                <a:solidFill>
                  <a:schemeClr val="tx1"/>
                </a:solidFill>
                <a:latin typeface="+mj-lt"/>
                <a:ea typeface="+mj-ea"/>
                <a:cs typeface="+mj-cs"/>
              </a:defRPr>
            </a:lvl1pPr>
          </a:lstStyle>
          <a:p>
            <a:r>
              <a:rPr lang="ru-RU" sz="1800" kern="1200" dirty="0" smtClean="0">
                <a:solidFill>
                  <a:schemeClr val="bg1"/>
                </a:solidFill>
                <a:latin typeface="+mj-lt"/>
                <a:ea typeface="+mj-ea"/>
                <a:cs typeface="Calibri" panose="020F0502020204030204" pitchFamily="34" charset="0"/>
              </a:rPr>
              <a:t>Внедрение «Пилота» и стабилизация решения</a:t>
            </a:r>
            <a:endParaRPr lang="en-US" sz="1800" kern="1200" dirty="0">
              <a:solidFill>
                <a:schemeClr val="bg1"/>
              </a:solidFill>
              <a:latin typeface="+mj-lt"/>
              <a:ea typeface="+mj-ea"/>
              <a:cs typeface="Calibri" panose="020F0502020204030204" pitchFamily="34" charset="0"/>
            </a:endParaRPr>
          </a:p>
        </p:txBody>
      </p:sp>
      <p:sp>
        <p:nvSpPr>
          <p:cNvPr id="11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  <a:prstGeom prst="rect">
            <a:avLst/>
          </a:prstGeo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  <a:latin typeface="+mn-lt"/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13" name="Прямоугольник 1"/>
          <p:cNvSpPr/>
          <p:nvPr userDrawn="1"/>
        </p:nvSpPr>
        <p:spPr>
          <a:xfrm>
            <a:off x="8683619" y="6488668"/>
            <a:ext cx="425116" cy="338554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fld id="{E2225EAA-A87D-4D00-A6EA-7D86A67873A6}" type="slidenum">
              <a:rPr lang="ru-RU" altLang="en-US" sz="1600" b="0" smtClean="0">
                <a:latin typeface="+mn-lt"/>
                <a:cs typeface="Arial" pitchFamily="34" charset="0"/>
              </a:rPr>
              <a:pPr/>
              <a:t>‹#›</a:t>
            </a:fld>
            <a:endParaRPr lang="ru-RU" sz="1600" b="0" dirty="0">
              <a:latin typeface="+mn-lt"/>
            </a:endParaRPr>
          </a:p>
        </p:txBody>
      </p:sp>
    </p:spTree>
    <p:extLst>
      <p:ext uri="{BB962C8B-B14F-4D97-AF65-F5344CB8AC3E}">
        <p14:creationId xmlns:p14="http://schemas.microsoft.com/office/powerpoint/2010/main" val="1063941111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4_Вертикальный заголовок и текст">
    <p:bg>
      <p:bgPr>
        <a:blipFill dpi="0" rotWithShape="1">
          <a:blip r:embed="rId2" cstate="screen">
            <a:lum/>
            <a:extLst>
              <a:ext uri="{28A0092B-C50C-407E-A947-70E740481C1C}">
                <a14:useLocalDpi xmlns:a14="http://schemas.microsoft.com/office/drawing/2010/main"/>
              </a:ext>
            </a:extLst>
          </a:blip>
          <a:srcRect/>
          <a:stretch>
            <a:fillRect/>
          </a:stretch>
        </a:blip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Прямоугольник 3"/>
          <p:cNvSpPr/>
          <p:nvPr userDrawn="1"/>
        </p:nvSpPr>
        <p:spPr>
          <a:xfrm>
            <a:off x="-728132" y="1066799"/>
            <a:ext cx="592666" cy="567267"/>
          </a:xfrm>
          <a:prstGeom prst="rect">
            <a:avLst/>
          </a:prstGeom>
          <a:solidFill>
            <a:srgbClr val="FBC90B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6" name="Прямоугольник 5"/>
          <p:cNvSpPr/>
          <p:nvPr userDrawn="1"/>
        </p:nvSpPr>
        <p:spPr>
          <a:xfrm>
            <a:off x="-728132" y="1820332"/>
            <a:ext cx="592666" cy="567267"/>
          </a:xfrm>
          <a:prstGeom prst="rect">
            <a:avLst/>
          </a:prstGeom>
          <a:solidFill>
            <a:srgbClr val="555859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7" name="Прямоугольник 6"/>
          <p:cNvSpPr/>
          <p:nvPr userDrawn="1"/>
        </p:nvSpPr>
        <p:spPr>
          <a:xfrm>
            <a:off x="-728132" y="3005666"/>
            <a:ext cx="592666" cy="567267"/>
          </a:xfrm>
          <a:prstGeom prst="rect">
            <a:avLst/>
          </a:prstGeom>
          <a:solidFill>
            <a:srgbClr val="C00937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8" name="Прямоугольник 7"/>
          <p:cNvSpPr/>
          <p:nvPr userDrawn="1"/>
        </p:nvSpPr>
        <p:spPr>
          <a:xfrm>
            <a:off x="-728132" y="3759199"/>
            <a:ext cx="592666" cy="567267"/>
          </a:xfrm>
          <a:prstGeom prst="rect">
            <a:avLst/>
          </a:prstGeom>
          <a:solidFill>
            <a:srgbClr val="00867E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9" name="Прямоугольник 8"/>
          <p:cNvSpPr/>
          <p:nvPr userDrawn="1"/>
        </p:nvSpPr>
        <p:spPr>
          <a:xfrm>
            <a:off x="-728132" y="4512732"/>
            <a:ext cx="592666" cy="567267"/>
          </a:xfrm>
          <a:prstGeom prst="rect">
            <a:avLst/>
          </a:prstGeom>
          <a:solidFill>
            <a:srgbClr val="64223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srgbClr val="F6CC0C"/>
              </a:solidFill>
            </a:endParaRPr>
          </a:p>
        </p:txBody>
      </p:sp>
      <p:sp>
        <p:nvSpPr>
          <p:cNvPr id="10" name="Прямоугольник 9"/>
          <p:cNvSpPr/>
          <p:nvPr userDrawn="1"/>
        </p:nvSpPr>
        <p:spPr>
          <a:xfrm>
            <a:off x="-728132" y="5266265"/>
            <a:ext cx="592666" cy="567267"/>
          </a:xfrm>
          <a:prstGeom prst="rect">
            <a:avLst/>
          </a:prstGeom>
          <a:solidFill>
            <a:srgbClr val="DB5505"/>
          </a:solidFill>
          <a:ln w="9525"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 fontAlgn="auto">
              <a:spcBef>
                <a:spcPts val="0"/>
              </a:spcBef>
              <a:spcAft>
                <a:spcPts val="0"/>
              </a:spcAft>
            </a:pPr>
            <a:endParaRPr lang="ru-RU" dirty="0">
              <a:ln>
                <a:solidFill>
                  <a:srgbClr val="535756"/>
                </a:solidFill>
              </a:ln>
              <a:solidFill>
                <a:prstClr val="white"/>
              </a:solidFill>
            </a:endParaRPr>
          </a:p>
        </p:txBody>
      </p:sp>
      <p:sp>
        <p:nvSpPr>
          <p:cNvPr id="11" name="TextBox 10"/>
          <p:cNvSpPr txBox="1"/>
          <p:nvPr userDrawn="1"/>
        </p:nvSpPr>
        <p:spPr>
          <a:xfrm>
            <a:off x="-677334" y="2992966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192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55</a:t>
            </a:r>
          </a:p>
        </p:txBody>
      </p:sp>
      <p:sp>
        <p:nvSpPr>
          <p:cNvPr id="12" name="TextBox 11"/>
          <p:cNvSpPr txBox="1"/>
          <p:nvPr userDrawn="1"/>
        </p:nvSpPr>
        <p:spPr>
          <a:xfrm>
            <a:off x="-677334" y="1820332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88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FBC90B"/>
                </a:solidFill>
                <a:latin typeface="Calibri"/>
              </a:rPr>
              <a:t>89</a:t>
            </a:r>
          </a:p>
        </p:txBody>
      </p:sp>
      <p:sp>
        <p:nvSpPr>
          <p:cNvPr id="13" name="TextBox 12"/>
          <p:cNvSpPr txBox="1"/>
          <p:nvPr userDrawn="1"/>
        </p:nvSpPr>
        <p:spPr>
          <a:xfrm>
            <a:off x="-677334" y="3759199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126</a:t>
            </a:r>
          </a:p>
        </p:txBody>
      </p:sp>
      <p:sp>
        <p:nvSpPr>
          <p:cNvPr id="14" name="TextBox 13"/>
          <p:cNvSpPr txBox="1"/>
          <p:nvPr userDrawn="1"/>
        </p:nvSpPr>
        <p:spPr>
          <a:xfrm>
            <a:off x="-677334" y="449628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100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34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53</a:t>
            </a:r>
          </a:p>
        </p:txBody>
      </p:sp>
      <p:sp>
        <p:nvSpPr>
          <p:cNvPr id="15" name="TextBox 14"/>
          <p:cNvSpPr txBox="1"/>
          <p:nvPr userDrawn="1"/>
        </p:nvSpPr>
        <p:spPr>
          <a:xfrm>
            <a:off x="-677334" y="5251933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219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85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prstClr val="white"/>
                </a:solidFill>
                <a:latin typeface="Calibri"/>
              </a:rPr>
              <a:t>5</a:t>
            </a:r>
          </a:p>
        </p:txBody>
      </p:sp>
      <p:sp>
        <p:nvSpPr>
          <p:cNvPr id="16" name="TextBox 15"/>
          <p:cNvSpPr txBox="1"/>
          <p:nvPr userDrawn="1"/>
        </p:nvSpPr>
        <p:spPr>
          <a:xfrm>
            <a:off x="-677334" y="1048234"/>
            <a:ext cx="491068" cy="6001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251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201</a:t>
            </a:r>
          </a:p>
          <a:p>
            <a:pPr algn="r" fontAlgn="auto">
              <a:spcBef>
                <a:spcPts val="0"/>
              </a:spcBef>
              <a:spcAft>
                <a:spcPts val="0"/>
              </a:spcAft>
            </a:pPr>
            <a:r>
              <a:rPr lang="ru-RU" sz="1100" dirty="0">
                <a:solidFill>
                  <a:srgbClr val="555859"/>
                </a:solidFill>
                <a:latin typeface="Calibri"/>
              </a:rPr>
              <a:t>11</a:t>
            </a:r>
          </a:p>
        </p:txBody>
      </p:sp>
      <p:pic>
        <p:nvPicPr>
          <p:cNvPr id="17" name="Picture 4"/>
          <p:cNvPicPr>
            <a:picLocks noChangeAspect="1"/>
          </p:cNvPicPr>
          <p:nvPr userDrawn="1"/>
        </p:nvPicPr>
        <p:blipFill>
          <a:blip r:embed="rId3" cstate="screen">
            <a:extLst>
              <a:ext uri="{28A0092B-C50C-407E-A947-70E740481C1C}">
                <a14:useLocalDpi xmlns:a14="http://schemas.microsoft.com/office/drawing/2010/main"/>
              </a:ext>
            </a:extLst>
          </a:blip>
          <a:stretch>
            <a:fillRect/>
          </a:stretch>
        </p:blipFill>
        <p:spPr>
          <a:xfrm>
            <a:off x="7257388" y="108106"/>
            <a:ext cx="1697425" cy="975453"/>
          </a:xfrm>
          <a:prstGeom prst="rect">
            <a:avLst/>
          </a:prstGeom>
        </p:spPr>
      </p:pic>
      <p:sp>
        <p:nvSpPr>
          <p:cNvPr id="18" name="Title 1"/>
          <p:cNvSpPr>
            <a:spLocks noGrp="1"/>
          </p:cNvSpPr>
          <p:nvPr>
            <p:ph type="ctrTitle" hasCustomPrompt="1"/>
          </p:nvPr>
        </p:nvSpPr>
        <p:spPr>
          <a:xfrm>
            <a:off x="498838" y="1364019"/>
            <a:ext cx="7772400" cy="619941"/>
          </a:xfrm>
          <a:prstGeom prst="rect">
            <a:avLst/>
          </a:prstGeom>
        </p:spPr>
        <p:txBody>
          <a:bodyPr anchor="b">
            <a:normAutofit/>
          </a:bodyPr>
          <a:lstStyle>
            <a:lvl1pPr marL="0" algn="l" defTabSz="914400" rtl="0" eaLnBrk="1" latinLnBrk="0" hangingPunct="1">
              <a:defRPr lang="en-US" sz="3800" b="1" kern="1200" dirty="0">
                <a:solidFill>
                  <a:srgbClr val="FCC917"/>
                </a:solidFill>
                <a:latin typeface="+mn-lt"/>
                <a:ea typeface="Verdana" panose="020B0604030504040204" pitchFamily="34" charset="0"/>
                <a:cs typeface="Verdana" panose="020B0604030504040204" pitchFamily="34" charset="0"/>
              </a:defRPr>
            </a:lvl1pPr>
          </a:lstStyle>
          <a:p>
            <a:r>
              <a:rPr lang="ru-RU" dirty="0"/>
              <a:t>Название проекта </a:t>
            </a:r>
            <a:r>
              <a:rPr lang="en-US" dirty="0"/>
              <a:t>(Calibri bold 38)</a:t>
            </a:r>
          </a:p>
        </p:txBody>
      </p:sp>
      <p:sp>
        <p:nvSpPr>
          <p:cNvPr id="19" name="Subtitle 2"/>
          <p:cNvSpPr>
            <a:spLocks noGrp="1"/>
          </p:cNvSpPr>
          <p:nvPr>
            <p:ph type="subTitle" idx="1" hasCustomPrompt="1"/>
          </p:nvPr>
        </p:nvSpPr>
        <p:spPr>
          <a:xfrm>
            <a:off x="498838" y="2159317"/>
            <a:ext cx="6858000" cy="520019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 algn="l">
              <a:buNone/>
              <a:defRPr lang="en-US" sz="2800" kern="1200" dirty="0">
                <a:solidFill>
                  <a:srgbClr val="FCC917"/>
                </a:solidFill>
                <a:latin typeface="+mn-lt"/>
                <a:ea typeface="+mn-ea"/>
                <a:cs typeface="+mn-cs"/>
              </a:defRPr>
            </a:lvl1pPr>
            <a:lvl2pPr marL="457200" indent="0" algn="ctr">
              <a:buNone/>
              <a:defRPr sz="2000"/>
            </a:lvl2pPr>
            <a:lvl3pPr marL="914400" indent="0" algn="ctr">
              <a:buNone/>
              <a:defRPr sz="1800"/>
            </a:lvl3pPr>
            <a:lvl4pPr marL="1371600" indent="0" algn="ctr">
              <a:buNone/>
              <a:defRPr sz="1600"/>
            </a:lvl4pPr>
            <a:lvl5pPr marL="1828800" indent="0" algn="ctr">
              <a:buNone/>
              <a:defRPr sz="1600"/>
            </a:lvl5pPr>
            <a:lvl6pPr marL="2286000" indent="0" algn="ctr">
              <a:buNone/>
              <a:defRPr sz="1600"/>
            </a:lvl6pPr>
            <a:lvl7pPr marL="2743200" indent="0" algn="ctr">
              <a:buNone/>
              <a:defRPr sz="1600"/>
            </a:lvl7pPr>
            <a:lvl8pPr marL="3200400" indent="0" algn="ctr">
              <a:buNone/>
              <a:defRPr sz="1600"/>
            </a:lvl8pPr>
            <a:lvl9pPr marL="3657600" indent="0" algn="ctr">
              <a:buNone/>
              <a:defRPr sz="1600"/>
            </a:lvl9pPr>
          </a:lstStyle>
          <a:p>
            <a:r>
              <a:rPr lang="ru-RU" dirty="0"/>
              <a:t>Тема презентации</a:t>
            </a:r>
            <a:r>
              <a:rPr lang="en-US" dirty="0"/>
              <a:t> (Calibri 28)</a:t>
            </a:r>
          </a:p>
        </p:txBody>
      </p:sp>
      <p:sp>
        <p:nvSpPr>
          <p:cNvPr id="20" name="Content Placeholder 9"/>
          <p:cNvSpPr>
            <a:spLocks noGrp="1"/>
          </p:cNvSpPr>
          <p:nvPr>
            <p:ph sz="quarter" idx="10" hasCustomPrompt="1"/>
          </p:nvPr>
        </p:nvSpPr>
        <p:spPr>
          <a:xfrm>
            <a:off x="498838" y="6003925"/>
            <a:ext cx="1143000" cy="282575"/>
          </a:xfrm>
          <a:prstGeom prst="rect">
            <a:avLst/>
          </a:prstGeom>
        </p:spPr>
        <p:txBody>
          <a:bodyPr>
            <a:normAutofit/>
          </a:bodyPr>
          <a:lstStyle>
            <a:lvl1pPr marL="0" indent="0">
              <a:buNone/>
              <a:defRPr sz="16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 err="1"/>
              <a:t>чч.мм.гггг</a:t>
            </a: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882133803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userDrawn="1">
  <p:cSld name="1_Макет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Прямоугольник 9"/>
          <p:cNvSpPr/>
          <p:nvPr userDrawn="1"/>
        </p:nvSpPr>
        <p:spPr>
          <a:xfrm>
            <a:off x="0" y="0"/>
            <a:ext cx="9144000" cy="948807"/>
          </a:xfrm>
          <a:prstGeom prst="rect">
            <a:avLst/>
          </a:prstGeom>
          <a:solidFill>
            <a:srgbClr val="595959"/>
          </a:solidFill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ru-RU"/>
          </a:p>
        </p:txBody>
      </p:sp>
      <p:sp>
        <p:nvSpPr>
          <p:cNvPr id="2" name="Title 1"/>
          <p:cNvSpPr>
            <a:spLocks noGrp="1"/>
          </p:cNvSpPr>
          <p:nvPr>
            <p:ph type="title" hasCustomPrompt="1"/>
          </p:nvPr>
        </p:nvSpPr>
        <p:spPr>
          <a:xfrm>
            <a:off x="259394" y="96185"/>
            <a:ext cx="7886700" cy="441695"/>
          </a:xfrm>
        </p:spPr>
        <p:txBody>
          <a:bodyPr>
            <a:normAutofit/>
          </a:bodyPr>
          <a:lstStyle>
            <a:lvl1pPr>
              <a:defRPr sz="1800" b="1" baseline="0">
                <a:solidFill>
                  <a:schemeClr val="bg1"/>
                </a:solidFill>
                <a:latin typeface="Calibri Body"/>
              </a:defRPr>
            </a:lvl1pPr>
          </a:lstStyle>
          <a:p>
            <a:r>
              <a:rPr lang="ru-RU" dirty="0"/>
              <a:t>Наименование программы</a:t>
            </a:r>
            <a:r>
              <a:rPr lang="en-US" dirty="0"/>
              <a:t>/</a:t>
            </a:r>
            <a:r>
              <a:rPr lang="ru-RU" dirty="0"/>
              <a:t>Проекта</a:t>
            </a:r>
            <a:r>
              <a:rPr lang="en-US" dirty="0"/>
              <a:t>/</a:t>
            </a:r>
            <a:r>
              <a:rPr lang="ru-RU" dirty="0"/>
              <a:t> название презентации</a:t>
            </a:r>
            <a:endParaRPr lang="en-US" dirty="0"/>
          </a:p>
        </p:txBody>
      </p:sp>
      <p:sp>
        <p:nvSpPr>
          <p:cNvPr id="55" name="Content Placeholder 54"/>
          <p:cNvSpPr>
            <a:spLocks noGrp="1"/>
          </p:cNvSpPr>
          <p:nvPr>
            <p:ph sz="quarter" idx="13" hasCustomPrompt="1"/>
          </p:nvPr>
        </p:nvSpPr>
        <p:spPr>
          <a:xfrm>
            <a:off x="259394" y="1044992"/>
            <a:ext cx="8738281" cy="5059362"/>
          </a:xfrm>
        </p:spPr>
        <p:txBody>
          <a:bodyPr/>
          <a:lstStyle>
            <a:lvl1pPr>
              <a:defRPr/>
            </a:lvl1pPr>
            <a:lvl2pPr>
              <a:defRPr/>
            </a:lvl2pPr>
            <a:lvl3pPr>
              <a:defRPr/>
            </a:lvl3pPr>
            <a:lvl4pPr>
              <a:defRPr/>
            </a:lvl4pPr>
            <a:lvl5pPr>
              <a:defRPr/>
            </a:lvl5pPr>
          </a:lstStyle>
          <a:p>
            <a:pPr lvl="0"/>
            <a:r>
              <a:rPr lang="ru-RU" dirty="0"/>
              <a:t>Первый уровень</a:t>
            </a:r>
            <a:endParaRPr lang="en-US" dirty="0"/>
          </a:p>
          <a:p>
            <a:pPr lvl="1"/>
            <a:r>
              <a:rPr lang="ru-RU" dirty="0"/>
              <a:t>Второй уровень</a:t>
            </a:r>
            <a:endParaRPr lang="en-US" dirty="0"/>
          </a:p>
          <a:p>
            <a:pPr lvl="2"/>
            <a:r>
              <a:rPr lang="ru-RU" dirty="0"/>
              <a:t>Третий уровень</a:t>
            </a:r>
            <a:endParaRPr lang="en-US" dirty="0"/>
          </a:p>
          <a:p>
            <a:pPr lvl="3"/>
            <a:r>
              <a:rPr lang="ru-RU" dirty="0"/>
              <a:t>Четвертый уровень</a:t>
            </a:r>
            <a:endParaRPr lang="en-US" dirty="0"/>
          </a:p>
          <a:p>
            <a:pPr lvl="4"/>
            <a:r>
              <a:rPr lang="ru-RU" dirty="0"/>
              <a:t>Пятый уровень</a:t>
            </a:r>
          </a:p>
        </p:txBody>
      </p:sp>
      <p:sp>
        <p:nvSpPr>
          <p:cNvPr id="58" name="Content Placeholder 57"/>
          <p:cNvSpPr>
            <a:spLocks noGrp="1"/>
          </p:cNvSpPr>
          <p:nvPr>
            <p:ph sz="quarter" idx="14" hasCustomPrompt="1"/>
          </p:nvPr>
        </p:nvSpPr>
        <p:spPr>
          <a:xfrm>
            <a:off x="259394" y="537881"/>
            <a:ext cx="7927975" cy="410926"/>
          </a:xfrm>
        </p:spPr>
        <p:txBody>
          <a:bodyPr>
            <a:noAutofit/>
          </a:bodyPr>
          <a:lstStyle>
            <a:lvl1pPr marL="0" indent="0">
              <a:buNone/>
              <a:defRPr sz="2400">
                <a:solidFill>
                  <a:srgbClr val="FCC917"/>
                </a:solidFill>
              </a:defRPr>
            </a:lvl1pPr>
          </a:lstStyle>
          <a:p>
            <a:pPr lvl="0"/>
            <a:r>
              <a:rPr lang="ru-RU" dirty="0"/>
              <a:t>Название слайда</a:t>
            </a:r>
          </a:p>
        </p:txBody>
      </p:sp>
      <p:sp>
        <p:nvSpPr>
          <p:cNvPr id="63" name="Slide Number Placeholder 62"/>
          <p:cNvSpPr>
            <a:spLocks noGrp="1"/>
          </p:cNvSpPr>
          <p:nvPr>
            <p:ph type="sldNum" sz="quarter" idx="17"/>
          </p:nvPr>
        </p:nvSpPr>
        <p:spPr>
          <a:xfrm>
            <a:off x="8562975" y="6343858"/>
            <a:ext cx="434700" cy="365125"/>
          </a:xfrm>
        </p:spPr>
        <p:txBody>
          <a:bodyPr/>
          <a:lstStyle>
            <a:lvl1pPr>
              <a:defRPr sz="1600">
                <a:solidFill>
                  <a:schemeClr val="tx1"/>
                </a:solidFill>
              </a:defRPr>
            </a:lvl1pPr>
          </a:lstStyle>
          <a:p>
            <a:fld id="{608ABF02-B19E-48F4-8CD1-E615EFE72681}" type="slidenum">
              <a:rPr lang="ru-RU" smtClean="0"/>
              <a:pPr/>
              <a:t>‹#›</a:t>
            </a:fld>
            <a:endParaRPr lang="ru-RU" dirty="0"/>
          </a:p>
        </p:txBody>
      </p:sp>
      <p:pic>
        <p:nvPicPr>
          <p:cNvPr id="9" name="Picture 8"/>
          <p:cNvPicPr>
            <a:picLocks noChangeAspect="1"/>
          </p:cNvPicPr>
          <p:nvPr userDrawn="1"/>
        </p:nvPicPr>
        <p:blipFill>
          <a:blip r:embed="rId2"/>
          <a:stretch>
            <a:fillRect/>
          </a:stretch>
        </p:blipFill>
        <p:spPr>
          <a:xfrm>
            <a:off x="7739570" y="106695"/>
            <a:ext cx="1308543" cy="751976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1626337670"/>
      </p:ext>
    </p:extLst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5" Type="http://schemas.openxmlformats.org/officeDocument/2006/relationships/theme" Target="../theme/theme1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3174949212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710" r:id="rId1"/>
    <p:sldLayoutId id="2147483711" r:id="rId2"/>
    <p:sldLayoutId id="2147483712" r:id="rId3"/>
    <p:sldLayoutId id="2147483714" r:id="rId4"/>
  </p:sldLayoutIdLst>
  <p:hf hdr="0" ftr="0" dt="0"/>
  <p:txStyles>
    <p:titleStyle>
      <a:lvl1pPr algn="l" defTabSz="914400" rtl="0" eaLnBrk="1" latinLnBrk="0" hangingPunct="1">
        <a:lnSpc>
          <a:spcPct val="90000"/>
        </a:lnSpc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228600" indent="-228600" algn="l" defTabSz="914400" rtl="0" eaLnBrk="1" latinLnBrk="0" hangingPunct="1">
        <a:lnSpc>
          <a:spcPct val="90000"/>
        </a:lnSpc>
        <a:spcBef>
          <a:spcPts val="1000"/>
        </a:spcBef>
        <a:buFont typeface="Arial" panose="020B0604020202020204" pitchFamily="34" charset="0"/>
        <a:buChar char="•"/>
        <a:defRPr sz="2800" kern="1200">
          <a:solidFill>
            <a:schemeClr val="tx1"/>
          </a:solidFill>
          <a:latin typeface="+mn-lt"/>
          <a:ea typeface="+mn-ea"/>
          <a:cs typeface="+mn-cs"/>
        </a:defRPr>
      </a:lvl1pPr>
      <a:lvl2pPr marL="685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lnSpc>
          <a:spcPct val="90000"/>
        </a:lnSpc>
        <a:spcBef>
          <a:spcPts val="500"/>
        </a:spcBef>
        <a:buFont typeface="Arial" panose="020B0604020202020204" pitchFamily="34" charset="0"/>
        <a:buChar char="•"/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emf"/><Relationship Id="rId2" Type="http://schemas.openxmlformats.org/officeDocument/2006/relationships/customXml" Target="../ink/ink1.xml"/><Relationship Id="rId1" Type="http://schemas.openxmlformats.org/officeDocument/2006/relationships/slideLayout" Target="../slideLayouts/slideLayout3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image" Target="../media/image5.png"/><Relationship Id="rId1" Type="http://schemas.openxmlformats.org/officeDocument/2006/relationships/slideLayout" Target="../slideLayouts/slideLayout4.xml"/><Relationship Id="rId4" Type="http://schemas.openxmlformats.org/officeDocument/2006/relationships/image" Target="../media/image7.png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8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12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Relationship Id="rId5" Type="http://schemas.openxmlformats.org/officeDocument/2006/relationships/image" Target="../media/image11.png"/><Relationship Id="rId4" Type="http://schemas.openxmlformats.org/officeDocument/2006/relationships/image" Target="../media/image13.png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2.xml"/></Relationships>
</file>

<file path=ppt/slides/_rels/slide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4.xml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image" Target="../media/image14.emf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2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5.emf"/><Relationship Id="rId1" Type="http://schemas.openxmlformats.org/officeDocument/2006/relationships/slideLayout" Target="../slideLayouts/slideLayout2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image" Target="../media/image16.emf"/><Relationship Id="rId1" Type="http://schemas.openxmlformats.org/officeDocument/2006/relationships/slideLayout" Target="../slideLayouts/slideLayout2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image" Target="../media/image17.emf"/><Relationship Id="rId1" Type="http://schemas.openxmlformats.org/officeDocument/2006/relationships/slideLayout" Target="../slideLayouts/slideLayout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8.emf"/><Relationship Id="rId1" Type="http://schemas.openxmlformats.org/officeDocument/2006/relationships/slideLayout" Target="../slideLayouts/slideLayout2.xml"/></Relationships>
</file>

<file path=ppt/slides/_rels/slide1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5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6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7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19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0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1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2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_rels/slide24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2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Title 1"/>
          <p:cNvSpPr>
            <a:spLocks noGrp="1"/>
          </p:cNvSpPr>
          <p:nvPr>
            <p:ph type="ctrTitle"/>
          </p:nvPr>
        </p:nvSpPr>
        <p:spPr>
          <a:xfrm>
            <a:off x="330526" y="1636294"/>
            <a:ext cx="7940712" cy="665299"/>
          </a:xfrm>
        </p:spPr>
        <p:txBody>
          <a:bodyPr>
            <a:normAutofit fontScale="90000"/>
          </a:bodyPr>
          <a:lstStyle/>
          <a:p>
            <a:r>
              <a:rPr lang="ru-RU" sz="4000" dirty="0"/>
              <a:t>Инструктаж по функциональному направлению </a:t>
            </a:r>
            <a:r>
              <a:rPr lang="ru-RU" sz="4000" dirty="0" smtClean="0"/>
              <a:t>«ТОиР»</a:t>
            </a:r>
            <a:endParaRPr lang="en-US" sz="4000" dirty="0"/>
          </a:p>
        </p:txBody>
      </p:sp>
      <mc:AlternateContent xmlns:mc="http://schemas.openxmlformats.org/markup-compatibility/2006" xmlns:p14="http://schemas.microsoft.com/office/powerpoint/2010/main">
        <mc:Choice Requires="p14">
          <p:contentPart p14:bwMode="auto" r:id="rId2">
            <p14:nvContentPartPr>
              <p14:cNvPr id="3" name="Рукописный ввод 2"/>
              <p14:cNvContentPartPr/>
              <p14:nvPr/>
            </p14:nvContentPartPr>
            <p14:xfrm>
              <a:off x="1055553" y="3599411"/>
              <a:ext cx="360" cy="16920"/>
            </p14:xfrm>
          </p:contentPart>
        </mc:Choice>
        <mc:Fallback xmlns="">
          <p:pic>
            <p:nvPicPr>
              <p:cNvPr id="3" name="Рукописный ввод 2"/>
              <p:cNvPicPr/>
              <p:nvPr/>
            </p:nvPicPr>
            <p:blipFill>
              <a:blip r:embed="rId3"/>
              <a:stretch>
                <a:fillRect/>
              </a:stretch>
            </p:blipFill>
            <p:spPr>
              <a:xfrm>
                <a:off x="1043673" y="3587531"/>
                <a:ext cx="24120" cy="40680"/>
              </a:xfrm>
              <a:prstGeom prst="rect">
                <a:avLst/>
              </a:prstGeom>
            </p:spPr>
          </p:pic>
        </mc:Fallback>
      </mc:AlternateContent>
      <p:sp>
        <p:nvSpPr>
          <p:cNvPr id="11" name="TextBox 10"/>
          <p:cNvSpPr txBox="1"/>
          <p:nvPr/>
        </p:nvSpPr>
        <p:spPr>
          <a:xfrm>
            <a:off x="330527" y="2726829"/>
            <a:ext cx="8321104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0" lvl="2"/>
            <a:r>
              <a:rPr lang="ru-RU" sz="2800" dirty="0" smtClean="0">
                <a:solidFill>
                  <a:srgbClr val="FCC917"/>
                </a:solidFill>
              </a:rPr>
              <a:t>70</a:t>
            </a:r>
            <a:r>
              <a:rPr lang="en-US" sz="2800" dirty="0" smtClean="0">
                <a:solidFill>
                  <a:srgbClr val="FCC917"/>
                </a:solidFill>
              </a:rPr>
              <a:t>_</a:t>
            </a:r>
            <a:r>
              <a:rPr lang="ru-RU" sz="2800" dirty="0" err="1" smtClean="0">
                <a:solidFill>
                  <a:srgbClr val="FCC917"/>
                </a:solidFill>
              </a:rPr>
              <a:t>ТОиР</a:t>
            </a:r>
            <a:r>
              <a:rPr lang="ru-RU" sz="2800" dirty="0" smtClean="0">
                <a:solidFill>
                  <a:srgbClr val="FCC917"/>
                </a:solidFill>
              </a:rPr>
              <a:t> </a:t>
            </a:r>
            <a:r>
              <a:rPr lang="ru-RU" sz="2800" dirty="0">
                <a:solidFill>
                  <a:srgbClr val="FCC917"/>
                </a:solidFill>
              </a:rPr>
              <a:t>«Планирование и регистрация ЕТО и </a:t>
            </a:r>
            <a:r>
              <a:rPr lang="ru-RU" sz="2800" dirty="0" smtClean="0">
                <a:solidFill>
                  <a:srgbClr val="FCC917"/>
                </a:solidFill>
              </a:rPr>
              <a:t>обходов осмотров»</a:t>
            </a:r>
            <a:endParaRPr lang="ru-RU" sz="2800" dirty="0">
              <a:solidFill>
                <a:srgbClr val="FCC917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069653815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2</a:t>
            </a:fld>
            <a:endParaRPr lang="ru-RU" dirty="0"/>
          </a:p>
        </p:txBody>
      </p:sp>
      <p:sp>
        <p:nvSpPr>
          <p:cNvPr id="8" name="TextBox 7">
            <a:extLst>
              <a:ext uri="{FF2B5EF4-FFF2-40B4-BE49-F238E27FC236}">
                <a16:creationId xmlns:a16="http://schemas.microsoft.com/office/drawing/2014/main" xmlns="" id="{A1EF22C0-3D4C-46D3-9147-98A942E14074}"/>
              </a:ext>
            </a:extLst>
          </p:cNvPr>
          <p:cNvSpPr txBox="1"/>
          <p:nvPr/>
        </p:nvSpPr>
        <p:spPr>
          <a:xfrm>
            <a:off x="1015836" y="1251469"/>
            <a:ext cx="32930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Планирующий </a:t>
            </a: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(</a:t>
            </a:r>
            <a:r>
              <a:rPr lang="ru-RU" sz="1400" b="1" dirty="0" smtClean="0">
                <a:solidFill>
                  <a:prstClr val="black"/>
                </a:solidFill>
              </a:rPr>
              <a:t>МТР </a:t>
            </a:r>
            <a:r>
              <a:rPr lang="ru-RU" sz="1400" b="1" dirty="0" err="1" smtClean="0">
                <a:solidFill>
                  <a:prstClr val="black"/>
                </a:solidFill>
              </a:rPr>
              <a:t>Вернинское</a:t>
            </a:r>
            <a:r>
              <a:rPr lang="ru-RU" sz="1400" b="1" dirty="0">
                <a:solidFill>
                  <a:prstClr val="black"/>
                </a:solidFill>
              </a:rPr>
              <a:t>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9" name="Picture 8">
            <a:extLst>
              <a:ext uri="{FF2B5EF4-FFF2-40B4-BE49-F238E27FC236}">
                <a16:creationId xmlns:a16="http://schemas.microsoft.com/office/drawing/2014/main" xmlns="" id="{8DF78CB0-8EFD-45BA-A2E3-EA62FA95345B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59393" y="1027906"/>
            <a:ext cx="756443" cy="756443"/>
          </a:xfrm>
          <a:prstGeom prst="rect">
            <a:avLst/>
          </a:prstGeom>
        </p:spPr>
      </p:pic>
      <p:sp>
        <p:nvSpPr>
          <p:cNvPr id="11" name="TextBox 10">
            <a:extLst>
              <a:ext uri="{FF2B5EF4-FFF2-40B4-BE49-F238E27FC236}">
                <a16:creationId xmlns:a16="http://schemas.microsoft.com/office/drawing/2014/main" xmlns="" id="{A03B924C-2E9B-49B1-86FF-0B5A577F2F13}"/>
              </a:ext>
            </a:extLst>
          </p:cNvPr>
          <p:cNvSpPr txBox="1"/>
          <p:nvPr/>
        </p:nvSpPr>
        <p:spPr>
          <a:xfrm>
            <a:off x="1626413" y="3390009"/>
            <a:ext cx="207175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lvl="0" defTabSz="457200">
              <a:defRPr/>
            </a:pPr>
            <a:r>
              <a:rPr lang="ru-RU" sz="1400" b="1" noProof="0" dirty="0" smtClean="0">
                <a:solidFill>
                  <a:prstClr val="black"/>
                </a:solidFill>
                <a:latin typeface="Calibri" panose="020F0502020204030204"/>
              </a:rPr>
              <a:t>Группа планирования</a:t>
            </a:r>
            <a:endParaRPr kumimoji="0" lang="ru-RU" sz="1400" b="1" i="0" u="none" strike="noStrike" kern="1200" cap="none" spc="0" normalizeH="0" baseline="0" noProof="0" dirty="0">
              <a:ln>
                <a:noFill/>
              </a:ln>
              <a:solidFill>
                <a:prstClr val="black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7285" y="4173822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2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3953314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cxnSp>
        <p:nvCxnSpPr>
          <p:cNvPr id="23" name="Connector: Elbow 22">
            <a:extLst>
              <a:ext uri="{FF2B5EF4-FFF2-40B4-BE49-F238E27FC236}">
                <a16:creationId xmlns:a16="http://schemas.microsoft.com/office/drawing/2014/main" xmlns="" id="{08327DC5-AA2B-464A-86E5-6C11A292CE6C}"/>
              </a:ext>
            </a:extLst>
          </p:cNvPr>
          <p:cNvCxnSpPr>
            <a:cxnSpLocks/>
            <a:stCxn id="9" idx="2"/>
            <a:endCxn id="63" idx="1"/>
          </p:cNvCxnSpPr>
          <p:nvPr/>
        </p:nvCxnSpPr>
        <p:spPr>
          <a:xfrm rot="16200000" flipH="1">
            <a:off x="-114176" y="2536139"/>
            <a:ext cx="1868954" cy="365373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3A0F56DD-CF56-4F1A-ADC7-E0069D93ECD9}"/>
              </a:ext>
            </a:extLst>
          </p:cNvPr>
          <p:cNvCxnSpPr>
            <a:cxnSpLocks/>
            <a:stCxn id="9" idx="2"/>
            <a:endCxn id="61" idx="1"/>
          </p:cNvCxnSpPr>
          <p:nvPr/>
        </p:nvCxnSpPr>
        <p:spPr>
          <a:xfrm rot="16200000" flipH="1">
            <a:off x="381042" y="2040921"/>
            <a:ext cx="1114233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EE5D4648-FA46-435D-8C88-B69916011E2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977230" y="4191663"/>
            <a:ext cx="969400" cy="418316"/>
          </a:xfrm>
          <a:prstGeom prst="bentConnector3">
            <a:avLst>
              <a:gd name="adj1" fmla="val 99783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9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695051" y="4473842"/>
            <a:ext cx="1533758" cy="418316"/>
          </a:xfrm>
          <a:prstGeom prst="bentConnector3">
            <a:avLst>
              <a:gd name="adj1" fmla="val 100510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31" name="Connector: Elbow 30">
            <a:extLst>
              <a:ext uri="{FF2B5EF4-FFF2-40B4-BE49-F238E27FC236}">
                <a16:creationId xmlns:a16="http://schemas.microsoft.com/office/drawing/2014/main" xmlns="" id="{70BCBBD2-7604-446B-9BF1-6D8F3937AD04}"/>
              </a:ext>
            </a:extLst>
          </p:cNvPr>
          <p:cNvCxnSpPr>
            <a:cxnSpLocks/>
            <a:stCxn id="63" idx="2"/>
            <a:endCxn id="21" idx="1"/>
          </p:cNvCxnSpPr>
          <p:nvPr/>
        </p:nvCxnSpPr>
        <p:spPr>
          <a:xfrm rot="16200000" flipH="1">
            <a:off x="1314569" y="3854324"/>
            <a:ext cx="352312" cy="475906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/>
              <a:t>Организационная структура </a:t>
            </a:r>
            <a:r>
              <a:rPr lang="ru-RU" sz="2000" dirty="0" smtClean="0"/>
              <a:t>ТОиР</a:t>
            </a:r>
            <a:endParaRPr lang="ru-RU" sz="2000" dirty="0"/>
          </a:p>
        </p:txBody>
      </p:sp>
      <p:sp>
        <p:nvSpPr>
          <p:cNvPr id="32" name="TextBox 3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4952" y="1959708"/>
            <a:ext cx="438491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noProof="0" dirty="0" smtClean="0">
                <a:solidFill>
                  <a:prstClr val="black"/>
                </a:solidFill>
              </a:rPr>
              <a:t>Г</a:t>
            </a:r>
            <a:r>
              <a:rPr lang="ru-RU" sz="1400" b="1" dirty="0" err="1" smtClean="0">
                <a:solidFill>
                  <a:prstClr val="black"/>
                </a:solidFill>
              </a:rPr>
              <a:t>орно</a:t>
            </a:r>
            <a:r>
              <a:rPr lang="ru-RU" sz="1400" b="1" dirty="0" smtClean="0">
                <a:solidFill>
                  <a:prstClr val="black"/>
                </a:solidFill>
              </a:rPr>
              <a:t>-транспортный комплекс)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05597" y="1749012"/>
            <a:ext cx="756443" cy="756443"/>
          </a:xfrm>
          <a:prstGeom prst="rect">
            <a:avLst/>
          </a:prstGeom>
        </p:spPr>
      </p:pic>
      <p:cxnSp>
        <p:nvCxnSpPr>
          <p:cNvPr id="44" name="Connector: Elbow 43">
            <a:extLst>
              <a:ext uri="{FF2B5EF4-FFF2-40B4-BE49-F238E27FC236}">
                <a16:creationId xmlns:a16="http://schemas.microsoft.com/office/drawing/2014/main" xmlns="" id="{0F914EFE-345F-4856-97FD-0ACEDE102A32}"/>
              </a:ext>
            </a:extLst>
          </p:cNvPr>
          <p:cNvCxnSpPr>
            <a:cxnSpLocks/>
            <a:stCxn id="9" idx="2"/>
          </p:cNvCxnSpPr>
          <p:nvPr/>
        </p:nvCxnSpPr>
        <p:spPr>
          <a:xfrm rot="16200000" flipH="1">
            <a:off x="766716" y="1655247"/>
            <a:ext cx="342884" cy="601087"/>
          </a:xfrm>
          <a:prstGeom prst="bentConnector2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pic>
        <p:nvPicPr>
          <p:cNvPr id="61" name="Picture 32">
            <a:extLst>
              <a:ext uri="{FF2B5EF4-FFF2-40B4-BE49-F238E27FC236}">
                <a16:creationId xmlns:a16="http://schemas.microsoft.com/office/drawing/2014/main" xmlns="" id="{37FE7E8F-72FB-4517-A496-46F4F2577905}"/>
              </a:ext>
            </a:extLst>
          </p:cNvPr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1238702" y="2520360"/>
            <a:ext cx="756443" cy="756443"/>
          </a:xfrm>
          <a:prstGeom prst="rect">
            <a:avLst/>
          </a:prstGeom>
        </p:spPr>
      </p:pic>
      <p:sp>
        <p:nvSpPr>
          <p:cNvPr id="62" name="TextBox 61">
            <a:extLst>
              <a:ext uri="{FF2B5EF4-FFF2-40B4-BE49-F238E27FC236}">
                <a16:creationId xmlns:a16="http://schemas.microsoft.com/office/drawing/2014/main" xmlns="" id="{CA66FEB1-6A64-42C0-B7D1-C69537B39736}"/>
              </a:ext>
            </a:extLst>
          </p:cNvPr>
          <p:cNvSpPr txBox="1"/>
          <p:nvPr/>
        </p:nvSpPr>
        <p:spPr>
          <a:xfrm>
            <a:off x="2035159" y="2731028"/>
            <a:ext cx="436068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kumimoji="0" lang="ru-RU" sz="1400" b="1" i="0" u="none" strike="noStrike" kern="1200" cap="none" spc="0" normalizeH="0" baseline="0" noProof="0" dirty="0" smtClean="0">
                <a:ln>
                  <a:noFill/>
                </a:ln>
                <a:solidFill>
                  <a:prstClr val="black"/>
                </a:solidFill>
                <a:effectLst/>
                <a:uLnTx/>
                <a:uFillTx/>
                <a:latin typeface="Calibri" panose="020F0502020204030204"/>
                <a:ea typeface="+mn-ea"/>
                <a:cs typeface="+mn-cs"/>
              </a:rPr>
              <a:t>Завод расположения (</a:t>
            </a:r>
            <a:r>
              <a:rPr lang="ru-RU" sz="1400" b="1" dirty="0" err="1" smtClean="0">
                <a:solidFill>
                  <a:prstClr val="black"/>
                </a:solidFill>
                <a:latin typeface="Calibri" panose="020F0502020204030204"/>
              </a:rPr>
              <a:t>Золотоизвлекающая</a:t>
            </a:r>
            <a:r>
              <a:rPr lang="ru-RU" sz="1400" b="1" dirty="0" smtClean="0">
                <a:solidFill>
                  <a:prstClr val="black"/>
                </a:solidFill>
                <a:latin typeface="Calibri" panose="020F0502020204030204"/>
              </a:rPr>
              <a:t> фабрика)</a:t>
            </a:r>
            <a:endParaRPr lang="ru-RU" sz="1400" b="1" dirty="0">
              <a:solidFill>
                <a:prstClr val="black"/>
              </a:solidFill>
              <a:latin typeface="Calibri" panose="020F0502020204030204"/>
            </a:endParaRPr>
          </a:p>
        </p:txBody>
      </p:sp>
      <p:pic>
        <p:nvPicPr>
          <p:cNvPr id="63" name="Picture 157"/>
          <p:cNvPicPr>
            <a:picLocks noChangeAspect="1"/>
          </p:cNvPicPr>
          <p:nvPr/>
        </p:nvPicPr>
        <p:blipFill>
          <a:blip r:embed="rId4"/>
          <a:stretch>
            <a:fillRect/>
          </a:stretch>
        </p:blipFill>
        <p:spPr>
          <a:xfrm>
            <a:off x="1002988" y="3390485"/>
            <a:ext cx="499568" cy="525636"/>
          </a:xfrm>
          <a:prstGeom prst="rect">
            <a:avLst/>
          </a:prstGeom>
        </p:spPr>
      </p:pic>
      <p:pic>
        <p:nvPicPr>
          <p:cNvPr id="64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459650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65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34156" y="523968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66" name="TextBox 6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4731632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67" name="TextBox 66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61548" y="5361556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7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1728678" y="5895821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73" name="TextBox 72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2056070" y="6017691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  <p:cxnSp>
        <p:nvCxnSpPr>
          <p:cNvPr id="74" name="Connector: Elbow 28">
            <a:extLst>
              <a:ext uri="{FF2B5EF4-FFF2-40B4-BE49-F238E27FC236}">
                <a16:creationId xmlns:a16="http://schemas.microsoft.com/office/drawing/2014/main" xmlns="" id="{3814E9AF-D996-4CA9-AB03-EAF3EEFC8983}"/>
              </a:ext>
            </a:extLst>
          </p:cNvPr>
          <p:cNvCxnSpPr>
            <a:cxnSpLocks/>
            <a:stCxn id="63" idx="2"/>
          </p:cNvCxnSpPr>
          <p:nvPr/>
        </p:nvCxnSpPr>
        <p:spPr>
          <a:xfrm rot="16200000" flipH="1">
            <a:off x="335986" y="4832907"/>
            <a:ext cx="2298106" cy="464534"/>
          </a:xfrm>
          <a:prstGeom prst="bentConnector3">
            <a:avLst>
              <a:gd name="adj1" fmla="val 100289"/>
            </a:avLst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38705723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расположения технических объектов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078313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– </a:t>
            </a:r>
            <a:r>
              <a:rPr lang="ru-RU" dirty="0"/>
              <a:t>организационная единица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на которой установлены и физически находятся технические объекты или объекты общего назначения (например, здания и сооружения) предприятия, подлежащие техническому обслуживанию и ремонту</a:t>
            </a:r>
            <a:r>
              <a:rPr lang="ru-RU" dirty="0" smtClean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Заводы расположения ТОРО в рамках группы компания Полюс – это управляющие офисы, производственные заводы: ГТК,ЗИФ и другие, где есть оборудование или здания и сооружения, подлежащие техническому обслуживанию и ремонту.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20" name="Picture 19">
            <a:extLst>
              <a:ext uri="{FF2B5EF4-FFF2-40B4-BE49-F238E27FC236}">
                <a16:creationId xmlns:a16="http://schemas.microsoft.com/office/drawing/2014/main" xmlns="" id="{DADD2EAE-83A2-480E-BC8C-22303421C340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678404" y="1052205"/>
            <a:ext cx="1273592" cy="1273592"/>
          </a:xfrm>
          <a:prstGeom prst="rect">
            <a:avLst/>
          </a:prstGeom>
        </p:spPr>
      </p:pic>
      <p:pic>
        <p:nvPicPr>
          <p:cNvPr id="21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5014815" y="2984031"/>
            <a:ext cx="1251887" cy="1251887"/>
          </a:xfrm>
          <a:prstGeom prst="rect">
            <a:avLst/>
          </a:prstGeom>
        </p:spPr>
      </p:pic>
      <p:pic>
        <p:nvPicPr>
          <p:cNvPr id="22" name="Picture 21">
            <a:extLst>
              <a:ext uri="{FF2B5EF4-FFF2-40B4-BE49-F238E27FC236}">
                <a16:creationId xmlns:a16="http://schemas.microsoft.com/office/drawing/2014/main" xmlns="" id="{948FA8B2-F4D0-4001-AC9A-B1EB426BFE1B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041214" y="2999134"/>
            <a:ext cx="1236023" cy="1236023"/>
          </a:xfrm>
          <a:prstGeom prst="rect">
            <a:avLst/>
          </a:prstGeom>
        </p:spPr>
      </p:pic>
      <p:cxnSp>
        <p:nvCxnSpPr>
          <p:cNvPr id="25" name="Connector: Elbow 24">
            <a:extLst>
              <a:ext uri="{FF2B5EF4-FFF2-40B4-BE49-F238E27FC236}">
                <a16:creationId xmlns:a16="http://schemas.microsoft.com/office/drawing/2014/main" xmlns="" id="{BB67AD97-282B-438C-ACF6-60B5280B028E}"/>
              </a:ext>
            </a:extLst>
          </p:cNvPr>
          <p:cNvCxnSpPr>
            <a:cxnSpLocks/>
            <a:stCxn id="20" idx="2"/>
            <a:endCxn id="21" idx="0"/>
          </p:cNvCxnSpPr>
          <p:nvPr/>
        </p:nvCxnSpPr>
        <p:spPr>
          <a:xfrm rot="5400000">
            <a:off x="6148863" y="1817694"/>
            <a:ext cx="658234" cy="1674441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7" name="Connector: Elbow 26">
            <a:extLst>
              <a:ext uri="{FF2B5EF4-FFF2-40B4-BE49-F238E27FC236}">
                <a16:creationId xmlns:a16="http://schemas.microsoft.com/office/drawing/2014/main" xmlns="" id="{7CEDCB67-C6D0-40A6-8D3E-5428FC0FFE10}"/>
              </a:ext>
            </a:extLst>
          </p:cNvPr>
          <p:cNvCxnSpPr>
            <a:cxnSpLocks/>
            <a:stCxn id="22" idx="0"/>
            <a:endCxn id="20" idx="2"/>
          </p:cNvCxnSpPr>
          <p:nvPr/>
        </p:nvCxnSpPr>
        <p:spPr>
          <a:xfrm rot="5400000" flipH="1" flipV="1">
            <a:off x="6650545" y="2334479"/>
            <a:ext cx="673337" cy="655974"/>
          </a:xfrm>
          <a:prstGeom prst="bentConnector3">
            <a:avLst/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30" name="TextBox 29">
            <a:extLst>
              <a:ext uri="{FF2B5EF4-FFF2-40B4-BE49-F238E27FC236}">
                <a16:creationId xmlns:a16="http://schemas.microsoft.com/office/drawing/2014/main" xmlns="" id="{12B9D54C-5B61-470F-82C8-3EF411A66610}"/>
              </a:ext>
            </a:extLst>
          </p:cNvPr>
          <p:cNvSpPr txBox="1"/>
          <p:nvPr/>
        </p:nvSpPr>
        <p:spPr>
          <a:xfrm>
            <a:off x="5160526" y="4184915"/>
            <a:ext cx="1014642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ЗИФ-1</a:t>
            </a:r>
          </a:p>
        </p:txBody>
      </p:sp>
      <p:sp>
        <p:nvSpPr>
          <p:cNvPr id="31" name="TextBox 30">
            <a:extLst>
              <a:ext uri="{FF2B5EF4-FFF2-40B4-BE49-F238E27FC236}">
                <a16:creationId xmlns:a16="http://schemas.microsoft.com/office/drawing/2014/main" xmlns="" id="{B10C6155-1E34-4112-B75C-415D3606A7A7}"/>
              </a:ext>
            </a:extLst>
          </p:cNvPr>
          <p:cNvSpPr txBox="1"/>
          <p:nvPr/>
        </p:nvSpPr>
        <p:spPr>
          <a:xfrm>
            <a:off x="6086158" y="4195893"/>
            <a:ext cx="1136740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ГТК</a:t>
            </a:r>
          </a:p>
        </p:txBody>
      </p:sp>
      <p:pic>
        <p:nvPicPr>
          <p:cNvPr id="33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6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7951996" y="3180317"/>
            <a:ext cx="975250" cy="975250"/>
          </a:xfrm>
          <a:prstGeom prst="rect">
            <a:avLst/>
          </a:prstGeom>
        </p:spPr>
      </p:pic>
      <p:sp>
        <p:nvSpPr>
          <p:cNvPr id="34" name="TextBox 33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7786269" y="4168550"/>
            <a:ext cx="1306703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база</a:t>
            </a:r>
          </a:p>
          <a:p>
            <a:pPr algn="ctr"/>
            <a:r>
              <a:rPr lang="ru-RU" sz="1400" dirty="0"/>
              <a:t>Лесосибирск</a:t>
            </a:r>
          </a:p>
        </p:txBody>
      </p:sp>
      <p:cxnSp>
        <p:nvCxnSpPr>
          <p:cNvPr id="40" name="Connector: Elbow 39">
            <a:extLst>
              <a:ext uri="{FF2B5EF4-FFF2-40B4-BE49-F238E27FC236}">
                <a16:creationId xmlns:a16="http://schemas.microsoft.com/office/drawing/2014/main" xmlns="" id="{80EB108F-8424-4885-8B36-CC496553939A}"/>
              </a:ext>
            </a:extLst>
          </p:cNvPr>
          <p:cNvCxnSpPr>
            <a:cxnSpLocks/>
            <a:stCxn id="20" idx="2"/>
            <a:endCxn id="33" idx="0"/>
          </p:cNvCxnSpPr>
          <p:nvPr/>
        </p:nvCxnSpPr>
        <p:spPr>
          <a:xfrm rot="16200000" flipH="1">
            <a:off x="7450150" y="2190846"/>
            <a:ext cx="854520" cy="1124421"/>
          </a:xfrm>
          <a:prstGeom prst="bentConnector3">
            <a:avLst>
              <a:gd name="adj1" fmla="val 39299"/>
            </a:avLst>
          </a:prstGeom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54" name="TextBox 53">
            <a:extLst>
              <a:ext uri="{FF2B5EF4-FFF2-40B4-BE49-F238E27FC236}">
                <a16:creationId xmlns:a16="http://schemas.microsoft.com/office/drawing/2014/main" xmlns="" id="{2190950D-07E0-4696-A65A-BD4D7519F562}"/>
              </a:ext>
            </a:extLst>
          </p:cNvPr>
          <p:cNvSpPr txBox="1"/>
          <p:nvPr/>
        </p:nvSpPr>
        <p:spPr>
          <a:xfrm>
            <a:off x="6524030" y="1005459"/>
            <a:ext cx="1136740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Полюс Красноярск</a:t>
            </a:r>
          </a:p>
        </p:txBody>
      </p:sp>
    </p:spTree>
    <p:extLst>
      <p:ext uri="{BB962C8B-B14F-4D97-AF65-F5344CB8AC3E}">
        <p14:creationId xmlns:p14="http://schemas.microsoft.com/office/powerpoint/2010/main" val="392767346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Завод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424731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На заводе планирования </a:t>
            </a:r>
            <a:r>
              <a:rPr lang="ru-RU" dirty="0" err="1" smtClean="0"/>
              <a:t>ТОиР</a:t>
            </a:r>
            <a:r>
              <a:rPr lang="ru-RU" dirty="0" smtClean="0"/>
              <a:t> </a:t>
            </a:r>
            <a:r>
              <a:rPr lang="ru-RU" dirty="0"/>
              <a:t>ведутся все данные, необходимые для технического обслуживания и ремонта оборудования, например, локальные технологические </a:t>
            </a:r>
            <a:r>
              <a:rPr lang="ru-RU" dirty="0" smtClean="0"/>
              <a:t>карты (нормативы) </a:t>
            </a:r>
            <a:r>
              <a:rPr lang="ru-RU" dirty="0" err="1"/>
              <a:t>ТОиР</a:t>
            </a:r>
            <a:r>
              <a:rPr lang="ru-RU" dirty="0"/>
              <a:t>, и собираются затраты на </a:t>
            </a:r>
            <a:r>
              <a:rPr lang="ru-RU" dirty="0" err="1"/>
              <a:t>ТОиР</a:t>
            </a:r>
            <a:r>
              <a:rPr lang="ru-RU" dirty="0"/>
              <a:t>.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В рамках заводов планирования ТОРО осуществляется разделение полномочий между отдельными </a:t>
            </a:r>
            <a:r>
              <a:rPr lang="ru-RU" dirty="0" smtClean="0"/>
              <a:t>подразделениями, </a:t>
            </a:r>
            <a:r>
              <a:rPr lang="ru-RU" dirty="0"/>
              <a:t>которые выполняют планирование мероприятий </a:t>
            </a:r>
            <a:r>
              <a:rPr lang="ru-RU" dirty="0" err="1"/>
              <a:t>ТОиР</a:t>
            </a:r>
            <a:r>
              <a:rPr lang="ru-RU" dirty="0"/>
              <a:t>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pic>
        <p:nvPicPr>
          <p:cNvPr id="18" name="Picture 22">
            <a:extLst>
              <a:ext uri="{FF2B5EF4-FFF2-40B4-BE49-F238E27FC236}">
                <a16:creationId xmlns:a16="http://schemas.microsoft.com/office/drawing/2014/main" xmlns="" id="{81263A25-CC50-498C-916D-D93984ECAC65}"/>
              </a:ext>
            </a:extLst>
          </p:cNvPr>
          <p:cNvPicPr>
            <a:picLocks noChangeAspect="1"/>
          </p:cNvPicPr>
          <p:nvPr/>
        </p:nvPicPr>
        <p:blipFill>
          <a:blip r:embed="rId3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1128786"/>
            <a:ext cx="955171" cy="955171"/>
          </a:xfrm>
          <a:prstGeom prst="rect">
            <a:avLst/>
          </a:prstGeom>
        </p:spPr>
      </p:pic>
      <p:sp>
        <p:nvSpPr>
          <p:cNvPr id="19" name="TextBox 18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06435" y="2072686"/>
            <a:ext cx="1987826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МТР Производственной площадки</a:t>
            </a:r>
          </a:p>
        </p:txBody>
      </p:sp>
      <p:pic>
        <p:nvPicPr>
          <p:cNvPr id="24" name="Picture 20">
            <a:extLst>
              <a:ext uri="{FF2B5EF4-FFF2-40B4-BE49-F238E27FC236}">
                <a16:creationId xmlns:a16="http://schemas.microsoft.com/office/drawing/2014/main" xmlns="" id="{4FF47B6F-3A74-4140-BB8B-E295612714E9}"/>
              </a:ext>
            </a:extLst>
          </p:cNvPr>
          <p:cNvPicPr>
            <a:picLocks noChangeAspect="1"/>
          </p:cNvPicPr>
          <p:nvPr/>
        </p:nvPicPr>
        <p:blipFill>
          <a:blip r:embed="rId4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312468" y="2676924"/>
            <a:ext cx="1381793" cy="1381793"/>
          </a:xfrm>
          <a:prstGeom prst="rect">
            <a:avLst/>
          </a:prstGeom>
        </p:spPr>
      </p:pic>
      <p:sp>
        <p:nvSpPr>
          <p:cNvPr id="26" name="TextBox 25">
            <a:extLst>
              <a:ext uri="{FF2B5EF4-FFF2-40B4-BE49-F238E27FC236}">
                <a16:creationId xmlns:a16="http://schemas.microsoft.com/office/drawing/2014/main" xmlns="" id="{40F468BA-E985-4924-9C60-8A872E4702FE}"/>
              </a:ext>
            </a:extLst>
          </p:cNvPr>
          <p:cNvSpPr txBox="1"/>
          <p:nvPr/>
        </p:nvSpPr>
        <p:spPr>
          <a:xfrm>
            <a:off x="5757583" y="4009004"/>
            <a:ext cx="198782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 smtClean="0"/>
              <a:t>Управляющий офис</a:t>
            </a:r>
            <a:endParaRPr lang="ru-RU" sz="1400" dirty="0"/>
          </a:p>
        </p:txBody>
      </p:sp>
      <p:pic>
        <p:nvPicPr>
          <p:cNvPr id="28" name="Picture 32">
            <a:extLst>
              <a:ext uri="{FF2B5EF4-FFF2-40B4-BE49-F238E27FC236}">
                <a16:creationId xmlns:a16="http://schemas.microsoft.com/office/drawing/2014/main" xmlns="" id="{5C73BF0F-FF52-4B5F-B3C8-5B748BC96346}"/>
              </a:ext>
            </a:extLst>
          </p:cNvPr>
          <p:cNvPicPr>
            <a:picLocks noChangeAspect="1"/>
          </p:cNvPicPr>
          <p:nvPr/>
        </p:nvPicPr>
        <p:blipFill>
          <a:blip r:embed="rId5" cstate="print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tretch>
            <a:fillRect/>
          </a:stretch>
        </p:blipFill>
        <p:spPr>
          <a:xfrm>
            <a:off x="6474632" y="4673611"/>
            <a:ext cx="975250" cy="975250"/>
          </a:xfrm>
          <a:prstGeom prst="rect">
            <a:avLst/>
          </a:prstGeom>
        </p:spPr>
      </p:pic>
      <p:sp>
        <p:nvSpPr>
          <p:cNvPr id="35" name="TextBox 34">
            <a:extLst>
              <a:ext uri="{FF2B5EF4-FFF2-40B4-BE49-F238E27FC236}">
                <a16:creationId xmlns:a16="http://schemas.microsoft.com/office/drawing/2014/main" xmlns="" id="{156EE92B-9A10-4C22-AB81-55F21ACBE04B}"/>
              </a:ext>
            </a:extLst>
          </p:cNvPr>
          <p:cNvSpPr txBox="1"/>
          <p:nvPr/>
        </p:nvSpPr>
        <p:spPr>
          <a:xfrm>
            <a:off x="6111382" y="5531512"/>
            <a:ext cx="1306703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/>
              <a:t>Перевалочная </a:t>
            </a:r>
            <a:r>
              <a:rPr lang="ru-RU" sz="1400" dirty="0" smtClean="0"/>
              <a:t>база</a:t>
            </a:r>
            <a:endParaRPr lang="ru-RU" sz="1400" dirty="0"/>
          </a:p>
        </p:txBody>
      </p:sp>
    </p:spTree>
    <p:extLst>
      <p:ext uri="{BB962C8B-B14F-4D97-AF65-F5344CB8AC3E}">
        <p14:creationId xmlns:p14="http://schemas.microsoft.com/office/powerpoint/2010/main" val="23227891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Группа планирования </a:t>
            </a:r>
            <a:r>
              <a:rPr lang="ru-RU" sz="2000" dirty="0" err="1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ТОиР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15" name="TextBox 14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2" y="1128786"/>
            <a:ext cx="4877736" cy="535531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Группа планирования ТОРО - это элемент организационной структуры в системе </a:t>
            </a:r>
            <a:r>
              <a:rPr lang="en-US" dirty="0"/>
              <a:t>S</a:t>
            </a:r>
            <a:r>
              <a:rPr lang="ru-RU" dirty="0"/>
              <a:t>/4</a:t>
            </a:r>
            <a:r>
              <a:rPr lang="en-US" dirty="0"/>
              <a:t>HANA</a:t>
            </a:r>
            <a:r>
              <a:rPr lang="ru-RU" dirty="0"/>
              <a:t>, который осуществляет планирование и организацию технического обслуживания и ремонта в рамках отдельного подразделения, службы, </a:t>
            </a:r>
            <a:r>
              <a:rPr lang="ru-RU" dirty="0" smtClean="0"/>
              <a:t>отдела.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Одному заводу планирования ТОРО может соответствовать несколько групп планирования ТОРО в соответствии с направлениями деятельности по планированию работ ТОРО. 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/>
              <a:t>На уровне группа планирования ТОРО </a:t>
            </a:r>
            <a:r>
              <a:rPr lang="ru-RU" dirty="0" smtClean="0"/>
              <a:t>выполняется системное </a:t>
            </a:r>
            <a:r>
              <a:rPr lang="ru-RU" dirty="0"/>
              <a:t>разделение полномочий к объектам </a:t>
            </a:r>
            <a:r>
              <a:rPr lang="ru-RU" dirty="0" smtClean="0"/>
              <a:t>ТОРО (например заказы ТОРО)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  <p:sp>
        <p:nvSpPr>
          <p:cNvPr id="10" name="TextBox 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30791" y="1541458"/>
            <a:ext cx="98475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Механики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1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320950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2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1964136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pic>
        <p:nvPicPr>
          <p:cNvPr id="13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7662" y="2607322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14" name="TextBox 13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099268"/>
            <a:ext cx="1003352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>
                <a:solidFill>
                  <a:prstClr val="black"/>
                </a:solidFill>
              </a:rPr>
              <a:t>Электрики</a:t>
            </a:r>
          </a:p>
        </p:txBody>
      </p:sp>
      <p:sp>
        <p:nvSpPr>
          <p:cNvPr id="16" name="TextBox 15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25054" y="2729192"/>
            <a:ext cx="1662315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Метрологи/</a:t>
            </a:r>
            <a:r>
              <a:rPr lang="ru-RU" sz="1400" b="1" dirty="0" err="1" smtClean="0">
                <a:solidFill>
                  <a:prstClr val="black"/>
                </a:solidFill>
              </a:rPr>
              <a:t>КИПиА</a:t>
            </a:r>
            <a:endParaRPr lang="ru-RU" sz="1400" b="1" dirty="0">
              <a:solidFill>
                <a:prstClr val="black"/>
              </a:solidFill>
            </a:endParaRPr>
          </a:p>
        </p:txBody>
      </p:sp>
      <p:pic>
        <p:nvPicPr>
          <p:cNvPr id="17" name="Picture 11" descr="q7">
            <a:extLst>
              <a:ext uri="{FF2B5EF4-FFF2-40B4-BE49-F238E27FC236}">
                <a16:creationId xmlns:a16="http://schemas.microsoft.com/office/drawing/2014/main" xmlns="" id="{370C5E81-E3FD-4C69-B9BD-18039387E87C}"/>
              </a:ext>
            </a:extLst>
          </p:cNvPr>
          <p:cNvPicPr>
            <a:picLocks noChangeAspect="1" noChangeArrowheads="1"/>
          </p:cNvPicPr>
          <p:nvPr/>
        </p:nvPicPr>
        <p:blipFill>
          <a:blip r:embed="rId3" cstate="print"/>
          <a:srcRect/>
          <a:stretch>
            <a:fillRect/>
          </a:stretch>
        </p:blipFill>
        <p:spPr bwMode="auto">
          <a:xfrm>
            <a:off x="6192184" y="3263457"/>
            <a:ext cx="233362" cy="630237"/>
          </a:xfrm>
          <a:prstGeom prst="rect">
            <a:avLst/>
          </a:prstGeom>
          <a:noFill/>
          <a:ln w="9525">
            <a:noFill/>
            <a:miter lim="800000"/>
            <a:headEnd/>
            <a:tailEnd/>
          </a:ln>
        </p:spPr>
      </p:pic>
      <p:sp>
        <p:nvSpPr>
          <p:cNvPr id="20" name="TextBox 19">
            <a:extLst>
              <a:ext uri="{FF2B5EF4-FFF2-40B4-BE49-F238E27FC236}">
                <a16:creationId xmlns:a16="http://schemas.microsoft.com/office/drawing/2014/main" xmlns="" id="{28723BFB-ECB8-430E-84E0-DEE5BC0C26DA}"/>
              </a:ext>
            </a:extLst>
          </p:cNvPr>
          <p:cNvSpPr txBox="1"/>
          <p:nvPr/>
        </p:nvSpPr>
        <p:spPr>
          <a:xfrm>
            <a:off x="6519576" y="3385327"/>
            <a:ext cx="48282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pPr defTabSz="457200">
              <a:defRPr/>
            </a:pPr>
            <a:r>
              <a:rPr lang="ru-RU" sz="1400" b="1" dirty="0" smtClean="0">
                <a:solidFill>
                  <a:prstClr val="black"/>
                </a:solidFill>
              </a:rPr>
              <a:t>ЗИС</a:t>
            </a:r>
            <a:endParaRPr lang="ru-RU" sz="1400" b="1" dirty="0">
              <a:solidFill>
                <a:prstClr val="black"/>
              </a:solidFill>
            </a:endParaRPr>
          </a:p>
        </p:txBody>
      </p:sp>
    </p:spTree>
    <p:extLst>
      <p:ext uri="{BB962C8B-B14F-4D97-AF65-F5344CB8AC3E}">
        <p14:creationId xmlns:p14="http://schemas.microsoft.com/office/powerpoint/2010/main" val="3303725731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>
            <a:extLst>
              <a:ext uri="{FF2B5EF4-FFF2-40B4-BE49-F238E27FC236}">
                <a16:creationId xmlns:a16="http://schemas.microsoft.com/office/drawing/2014/main" xmlns="" id="{2E7452D6-2931-4660-B72B-23BEE77562C8}"/>
              </a:ext>
            </a:extLst>
          </p:cNvPr>
          <p:cNvSpPr>
            <a:spLocks noGrp="1"/>
          </p:cNvSpPr>
          <p:nvPr>
            <p:ph type="title"/>
          </p:nvPr>
        </p:nvSpPr>
        <p:spPr/>
        <p:txBody>
          <a:bodyPr>
            <a:normAutofit/>
          </a:bodyPr>
          <a:lstStyle/>
          <a:p>
            <a:r>
              <a:rPr lang="ru-RU" sz="1600" dirty="0" smtClean="0"/>
              <a:t>Внедрение пилота и </a:t>
            </a:r>
            <a:r>
              <a:rPr lang="ru-RU" sz="1600" dirty="0"/>
              <a:t>с</a:t>
            </a:r>
            <a:r>
              <a:rPr lang="ru-RU" sz="1600" dirty="0" smtClean="0"/>
              <a:t>табилизация</a:t>
            </a:r>
            <a:endParaRPr lang="ru-RU" sz="1600" dirty="0"/>
          </a:p>
        </p:txBody>
      </p:sp>
      <p:sp>
        <p:nvSpPr>
          <p:cNvPr id="5" name="Slide Number Placeholder 4">
            <a:extLst>
              <a:ext uri="{FF2B5EF4-FFF2-40B4-BE49-F238E27FC236}">
                <a16:creationId xmlns:a16="http://schemas.microsoft.com/office/drawing/2014/main" xmlns="" id="{0BEA5EF0-EB5E-4271-800C-F8AFAECFA1F0}"/>
              </a:ext>
            </a:extLst>
          </p:cNvPr>
          <p:cNvSpPr>
            <a:spLocks noGrp="1"/>
          </p:cNvSpPr>
          <p:nvPr>
            <p:ph type="sldNum" sz="quarter" idx="17"/>
          </p:nvPr>
        </p:nvSpPr>
        <p:spPr/>
        <p:txBody>
          <a:bodyPr/>
          <a:lstStyle/>
          <a:p>
            <a:fld id="{608ABF02-B19E-48F4-8CD1-E615EFE72681}" type="slidenum">
              <a:rPr lang="ru-RU" smtClean="0"/>
              <a:pPr/>
              <a:t>6</a:t>
            </a:fld>
            <a:endParaRPr lang="ru-RU" dirty="0"/>
          </a:p>
        </p:txBody>
      </p:sp>
      <p:sp>
        <p:nvSpPr>
          <p:cNvPr id="41" name="Content Placeholder 40">
            <a:extLst>
              <a:ext uri="{FF2B5EF4-FFF2-40B4-BE49-F238E27FC236}">
                <a16:creationId xmlns:a16="http://schemas.microsoft.com/office/drawing/2014/main" xmlns="" id="{72908958-8178-442F-A26C-EECF80B40226}"/>
              </a:ext>
            </a:extLst>
          </p:cNvPr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/>
              <a:t>Производственный актив</a:t>
            </a:r>
            <a:endParaRPr lang="ru-RU" sz="2000" dirty="0"/>
          </a:p>
        </p:txBody>
      </p:sp>
      <p:sp>
        <p:nvSpPr>
          <p:cNvPr id="28" name="TextBox 27">
            <a:extLst>
              <a:ext uri="{FF2B5EF4-FFF2-40B4-BE49-F238E27FC236}">
                <a16:creationId xmlns:a16="http://schemas.microsoft.com/office/drawing/2014/main" xmlns="" id="{D6AF221D-D50C-4215-80A9-F450D2E058D4}"/>
              </a:ext>
            </a:extLst>
          </p:cNvPr>
          <p:cNvSpPr txBox="1"/>
          <p:nvPr/>
        </p:nvSpPr>
        <p:spPr>
          <a:xfrm>
            <a:off x="366281" y="1128786"/>
            <a:ext cx="8344581" cy="480131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marL="342900" indent="-342900">
              <a:buFont typeface="Wingdings" panose="05000000000000000000" pitchFamily="2" charset="2"/>
              <a:buChar char="q"/>
            </a:pPr>
            <a:r>
              <a:rPr lang="ru-RU" dirty="0" smtClean="0"/>
              <a:t>Производственные активы: </a:t>
            </a:r>
            <a:r>
              <a:rPr lang="ru-RU" dirty="0"/>
              <a:t>активы, используемые неоднократно или постоянно в течение длительного периода, необходимые для обеспечения основной и вспомогательной производственной деятельности компании. К </a:t>
            </a:r>
            <a:r>
              <a:rPr lang="ru-RU" dirty="0" smtClean="0"/>
              <a:t>производственным активам относят: основное производственное оборудование</a:t>
            </a:r>
            <a:r>
              <a:rPr lang="ru-RU" dirty="0"/>
              <a:t>, вспомогательное </a:t>
            </a:r>
            <a:r>
              <a:rPr lang="ru-RU" dirty="0" smtClean="0"/>
              <a:t>оборудование, здания и сооружения, автотранспортное оборудование, энергетическое оборудование и т.д.</a:t>
            </a:r>
            <a:endParaRPr lang="ru-RU" dirty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В </a:t>
            </a:r>
            <a:r>
              <a:rPr lang="en-US" dirty="0" smtClean="0"/>
              <a:t>SAP S/4 HANA </a:t>
            </a:r>
            <a:r>
              <a:rPr lang="ru-RU" dirty="0" smtClean="0"/>
              <a:t>производственный актив отражён в различных представлениях:</a:t>
            </a:r>
          </a:p>
          <a:p>
            <a:r>
              <a:rPr lang="ru-RU" dirty="0"/>
              <a:t> </a:t>
            </a:r>
            <a:r>
              <a:rPr lang="ru-RU" dirty="0" smtClean="0"/>
              <a:t>    - производственном</a:t>
            </a:r>
          </a:p>
          <a:p>
            <a:r>
              <a:rPr lang="ru-RU" dirty="0"/>
              <a:t> </a:t>
            </a:r>
            <a:r>
              <a:rPr lang="ru-RU" dirty="0" smtClean="0"/>
              <a:t>    - финансовом (БУ/НУ)</a:t>
            </a:r>
          </a:p>
          <a:p>
            <a:r>
              <a:rPr lang="ru-RU" dirty="0"/>
              <a:t> </a:t>
            </a:r>
            <a:r>
              <a:rPr lang="ru-RU" dirty="0" smtClean="0"/>
              <a:t>    - организационном</a:t>
            </a:r>
          </a:p>
          <a:p>
            <a:r>
              <a:rPr lang="ru-RU" dirty="0"/>
              <a:t> </a:t>
            </a:r>
            <a:r>
              <a:rPr lang="ru-RU" dirty="0" smtClean="0"/>
              <a:t>    - </a:t>
            </a:r>
            <a:r>
              <a:rPr lang="ru-RU" dirty="0" err="1" smtClean="0"/>
              <a:t>ТОиР</a:t>
            </a: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 smtClean="0"/>
          </a:p>
          <a:p>
            <a:pPr marL="285750" indent="-285750">
              <a:buFont typeface="Wingdings" panose="05000000000000000000" pitchFamily="2" charset="2"/>
              <a:buChar char="q"/>
            </a:pPr>
            <a:r>
              <a:rPr lang="ru-RU" dirty="0" smtClean="0"/>
              <a:t>Отражением в процессах </a:t>
            </a:r>
            <a:r>
              <a:rPr lang="ru-RU" dirty="0" err="1" smtClean="0"/>
              <a:t>ТОиР</a:t>
            </a:r>
            <a:r>
              <a:rPr lang="ru-RU" dirty="0" smtClean="0"/>
              <a:t> производственных активов является структура технических мест и единиц оборудования и зоны ответственности в рамках этой структуры.</a:t>
            </a:r>
          </a:p>
          <a:p>
            <a:pPr marL="285750" indent="-285750">
              <a:buFont typeface="Wingdings" panose="05000000000000000000" pitchFamily="2" charset="2"/>
              <a:buChar char="q"/>
            </a:pPr>
            <a:endParaRPr lang="ru-RU" dirty="0"/>
          </a:p>
        </p:txBody>
      </p:sp>
    </p:spTree>
    <p:extLst>
      <p:ext uri="{BB962C8B-B14F-4D97-AF65-F5344CB8AC3E}">
        <p14:creationId xmlns:p14="http://schemas.microsoft.com/office/powerpoint/2010/main" val="418674487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sz="20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8" name="Пятиугольник 7"/>
          <p:cNvSpPr/>
          <p:nvPr/>
        </p:nvSpPr>
        <p:spPr>
          <a:xfrm rot="5400000">
            <a:off x="1252674" y="227336"/>
            <a:ext cx="426611" cy="2757638"/>
          </a:xfrm>
          <a:prstGeom prst="homePlate">
            <a:avLst>
              <a:gd name="adj" fmla="val 31672"/>
            </a:avLst>
          </a:prstGeom>
          <a:solidFill>
            <a:srgbClr val="FFC000"/>
          </a:solidFill>
          <a:ln w="9525" cap="flat" cmpd="sng" algn="ctr">
            <a:solidFill>
              <a:srgbClr val="0070C0"/>
            </a:solidFill>
            <a:prstDash val="solid"/>
          </a:ln>
          <a:effectLst/>
        </p:spPr>
        <p:txBody>
          <a:bodyPr vert="vert270" lIns="72000" tIns="72000" rIns="72000" bIns="72000" rtlCol="0" anchor="ctr"/>
          <a:lstStyle/>
          <a:p>
            <a:pPr marL="0" marR="0" lvl="0" indent="0" algn="ctr" defTabSz="1042988" eaLnBrk="1" fontAlgn="base" latinLnBrk="0" hangingPunct="1">
              <a:lnSpc>
                <a:spcPct val="100000"/>
              </a:lnSpc>
              <a:spcBef>
                <a:spcPct val="0"/>
              </a:spcBef>
              <a:spcAft>
                <a:spcPct val="0"/>
              </a:spcAft>
              <a:buClrTx/>
              <a:buSzTx/>
              <a:buFontTx/>
              <a:buNone/>
              <a:tabLst/>
              <a:defRPr/>
            </a:pPr>
            <a:r>
              <a:rPr lang="ru-RU" sz="2000" dirty="0" smtClean="0">
                <a:ea typeface="Verdana" panose="020B0604030504040204" pitchFamily="34" charset="0"/>
                <a:cs typeface="Verdana" panose="020B0604030504040204" pitchFamily="34" charset="0"/>
              </a:rPr>
              <a:t>Единицы оборудования</a:t>
            </a:r>
            <a:endParaRPr lang="ru-RU" sz="2000" dirty="0"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9" name="Прямоугольник 8"/>
          <p:cNvSpPr/>
          <p:nvPr/>
        </p:nvSpPr>
        <p:spPr>
          <a:xfrm>
            <a:off x="87162" y="1819461"/>
            <a:ext cx="2757637" cy="4401205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pPr marL="285750" lvl="0" indent="-285750">
              <a:buFont typeface="Arial" pitchFamily="34" charset="0"/>
              <a:buChar char="•"/>
            </a:pPr>
            <a:r>
              <a:rPr lang="ru-RU" sz="1200" dirty="0" smtClean="0"/>
              <a:t>Объекты</a:t>
            </a:r>
            <a:r>
              <a:rPr lang="ru-RU" sz="1200" dirty="0"/>
              <a:t>, которые подлежат </a:t>
            </a:r>
            <a:r>
              <a:rPr lang="ru-RU" sz="1200" dirty="0" err="1"/>
              <a:t>ТОиР</a:t>
            </a:r>
            <a:r>
              <a:rPr lang="ru-RU" sz="1200" dirty="0"/>
              <a:t> в качестве самостоятельных единиц</a:t>
            </a:r>
            <a:r>
              <a:rPr lang="ru-RU" sz="1200" dirty="0" smtClean="0"/>
              <a:t>.</a:t>
            </a:r>
          </a:p>
          <a:p>
            <a:pPr lvl="0"/>
            <a:r>
              <a:rPr lang="ru-RU" sz="1200" dirty="0" smtClean="0"/>
              <a:t> </a:t>
            </a:r>
            <a:endParaRPr lang="ru-RU" sz="1200" dirty="0"/>
          </a:p>
          <a:p>
            <a:pPr marL="285750" indent="-285750">
              <a:buFont typeface="Wingdings" panose="05000000000000000000" pitchFamily="2" charset="2"/>
              <a:buChar char="Ø"/>
            </a:pPr>
            <a:r>
              <a:rPr lang="ru-RU" sz="1200" dirty="0" smtClean="0"/>
              <a:t>В структуре </a:t>
            </a:r>
            <a:r>
              <a:rPr lang="ru-RU" sz="1200" dirty="0"/>
              <a:t>о</a:t>
            </a:r>
            <a:r>
              <a:rPr lang="ru-RU" sz="1200" dirty="0" smtClean="0"/>
              <a:t>пределяет </a:t>
            </a:r>
            <a:r>
              <a:rPr lang="ru-RU" sz="1200" dirty="0"/>
              <a:t>иерархическое место объекта в связи со справочником технических мест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Описывает технические характеристики объекта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0" indent="-285750">
              <a:buFont typeface="Wingdings" panose="05000000000000000000" pitchFamily="2" charset="2"/>
              <a:buChar char="Ø"/>
            </a:pPr>
            <a:r>
              <a:rPr lang="ru-RU" sz="1200" dirty="0"/>
              <a:t>Содержит информацию о функциональном назначении оборудования</a:t>
            </a:r>
          </a:p>
          <a:p>
            <a:pPr marL="285750" lvl="0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справочником основных средств</a:t>
            </a:r>
          </a:p>
          <a:p>
            <a:pPr marL="285750" lvl="1" indent="-285750">
              <a:buFont typeface="Wingdings" panose="05000000000000000000" pitchFamily="2" charset="2"/>
              <a:buChar char="Ø"/>
            </a:pPr>
            <a:endParaRPr lang="ru-RU" sz="1200" dirty="0"/>
          </a:p>
          <a:p>
            <a:pPr marL="285750" lvl="1" indent="-285750">
              <a:buFont typeface="Wingdings" panose="05000000000000000000" pitchFamily="2" charset="2"/>
              <a:buChar char="Ø"/>
            </a:pPr>
            <a:r>
              <a:rPr lang="ru-RU" sz="1200" dirty="0"/>
              <a:t>Связаны со структурой учета затрат</a:t>
            </a:r>
          </a:p>
          <a:p>
            <a:pPr marL="285750" lvl="0" indent="-285750"/>
            <a:endParaRPr lang="ru-RU" sz="1400" dirty="0"/>
          </a:p>
          <a:p>
            <a:pPr marL="0" lvl="1"/>
            <a:endParaRPr lang="ru-RU" sz="1400" dirty="0"/>
          </a:p>
        </p:txBody>
      </p:sp>
      <p:pic>
        <p:nvPicPr>
          <p:cNvPr id="113" name="Рисунок 112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2376446" y="3079915"/>
            <a:ext cx="6520105" cy="3535347"/>
          </a:xfrm>
          <a:prstGeom prst="rect">
            <a:avLst/>
          </a:prstGeom>
        </p:spPr>
      </p:pic>
      <p:sp>
        <p:nvSpPr>
          <p:cNvPr id="2" name="Прямоугольник 1"/>
          <p:cNvSpPr/>
          <p:nvPr/>
        </p:nvSpPr>
        <p:spPr>
          <a:xfrm>
            <a:off x="3083443" y="1054503"/>
            <a:ext cx="1671437" cy="338346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400" dirty="0" smtClean="0"/>
              <a:t>Техническое место</a:t>
            </a:r>
            <a:endParaRPr lang="ru-RU" sz="1400" dirty="0"/>
          </a:p>
        </p:txBody>
      </p:sp>
      <p:sp>
        <p:nvSpPr>
          <p:cNvPr id="10" name="Прямоугольник 9"/>
          <p:cNvSpPr/>
          <p:nvPr/>
        </p:nvSpPr>
        <p:spPr>
          <a:xfrm>
            <a:off x="4213668" y="1537520"/>
            <a:ext cx="1704350" cy="418052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Единица оборудования</a:t>
            </a:r>
            <a:endParaRPr lang="ru-RU" sz="1200" dirty="0"/>
          </a:p>
        </p:txBody>
      </p:sp>
      <p:sp>
        <p:nvSpPr>
          <p:cNvPr id="11" name="Прямоугольник 10"/>
          <p:cNvSpPr/>
          <p:nvPr/>
        </p:nvSpPr>
        <p:spPr>
          <a:xfrm>
            <a:off x="5918018" y="2658124"/>
            <a:ext cx="1620927" cy="304214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Тип конструкции</a:t>
            </a:r>
            <a:endParaRPr lang="ru-RU" sz="1200" dirty="0"/>
          </a:p>
        </p:txBody>
      </p:sp>
      <p:sp>
        <p:nvSpPr>
          <p:cNvPr id="12" name="Прямоугольник 11"/>
          <p:cNvSpPr/>
          <p:nvPr/>
        </p:nvSpPr>
        <p:spPr>
          <a:xfrm>
            <a:off x="5918018" y="2077580"/>
            <a:ext cx="1620927" cy="338717"/>
          </a:xfrm>
          <a:prstGeom prst="rect">
            <a:avLst/>
          </a:prstGeom>
          <a:solidFill>
            <a:srgbClr val="FFC000"/>
          </a:solidFill>
          <a:ln>
            <a:noFill/>
          </a:ln>
          <a:effectLst>
            <a:outerShdw blurRad="107950" dist="12700" dir="5400000" algn="ctr">
              <a:srgbClr val="000000"/>
            </a:outerShdw>
          </a:effectLst>
          <a:scene3d>
            <a:camera prst="orthographicFront">
              <a:rot lat="0" lon="0" rev="0"/>
            </a:camera>
            <a:lightRig rig="soft" dir="t">
              <a:rot lat="0" lon="0" rev="0"/>
            </a:lightRig>
          </a:scene3d>
          <a:sp3d contourW="44450" prstMaterial="matte">
            <a:bevelT w="63500" h="63500" prst="artDeco"/>
            <a:contourClr>
              <a:srgbClr val="FFFFFF"/>
            </a:contourClr>
          </a:sp3d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ru-RU" sz="1200" dirty="0" smtClean="0"/>
              <a:t>Основное средство</a:t>
            </a:r>
            <a:endParaRPr lang="ru-RU" sz="1200" dirty="0"/>
          </a:p>
        </p:txBody>
      </p:sp>
      <p:cxnSp>
        <p:nvCxnSpPr>
          <p:cNvPr id="5" name="Соединительная линия уступом 4"/>
          <p:cNvCxnSpPr>
            <a:stCxn id="2" idx="2"/>
            <a:endCxn id="10" idx="1"/>
          </p:cNvCxnSpPr>
          <p:nvPr/>
        </p:nvCxnSpPr>
        <p:spPr>
          <a:xfrm rot="16200000" flipH="1">
            <a:off x="3889567" y="1422444"/>
            <a:ext cx="353697" cy="294506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7" name="Соединительная линия уступом 6"/>
          <p:cNvCxnSpPr>
            <a:stCxn id="10" idx="2"/>
            <a:endCxn id="12" idx="1"/>
          </p:cNvCxnSpPr>
          <p:nvPr/>
        </p:nvCxnSpPr>
        <p:spPr>
          <a:xfrm rot="16200000" flipH="1">
            <a:off x="5346247" y="1675167"/>
            <a:ext cx="291367" cy="852175"/>
          </a:xfrm>
          <a:prstGeom prst="bentConnector2">
            <a:avLst/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  <p:cxnSp>
        <p:nvCxnSpPr>
          <p:cNvPr id="14" name="Соединительная линия уступом 13"/>
          <p:cNvCxnSpPr>
            <a:endCxn id="11" idx="1"/>
          </p:cNvCxnSpPr>
          <p:nvPr/>
        </p:nvCxnSpPr>
        <p:spPr>
          <a:xfrm>
            <a:off x="5065843" y="2246938"/>
            <a:ext cx="852175" cy="563293"/>
          </a:xfrm>
          <a:prstGeom prst="bentConnector3">
            <a:avLst>
              <a:gd name="adj1" fmla="val 548"/>
            </a:avLst>
          </a:prstGeom>
          <a:ln>
            <a:tailEnd type="triangle"/>
          </a:ln>
        </p:spPr>
        <p:style>
          <a:lnRef idx="3">
            <a:schemeClr val="dk1"/>
          </a:lnRef>
          <a:fillRef idx="0">
            <a:schemeClr val="dk1"/>
          </a:fillRef>
          <a:effectRef idx="2">
            <a:schemeClr val="dk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51709348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</a:t>
            </a:r>
            <a:endParaRPr lang="ru-RU" sz="2000" dirty="0"/>
          </a:p>
        </p:txBody>
      </p:sp>
      <p:pic>
        <p:nvPicPr>
          <p:cNvPr id="7" name="Рисунок 6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643832"/>
            <a:ext cx="8725213" cy="3245668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98450762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Сообщение ТОРО. Виды сообщений ТОРО</a:t>
            </a:r>
            <a:endParaRPr lang="ru-RU" sz="2000" dirty="0"/>
          </a:p>
        </p:txBody>
      </p:sp>
      <p:pic>
        <p:nvPicPr>
          <p:cNvPr id="2" name="Рисунок 1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284402"/>
            <a:ext cx="8734738" cy="4056855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50747616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>
            <a:extLst>
              <a:ext uri="{FF2B5EF4-FFF2-40B4-BE49-F238E27FC236}">
                <a16:creationId xmlns="" xmlns:a16="http://schemas.microsoft.com/office/drawing/2014/main" id="{D300881B-61BB-45CF-9DDD-57F6479A451F}"/>
              </a:ext>
            </a:extLst>
          </p:cNvPr>
          <p:cNvSpPr>
            <a:spLocks noGrp="1"/>
          </p:cNvSpPr>
          <p:nvPr>
            <p:ph sz="quarter" idx="14"/>
          </p:nvPr>
        </p:nvSpPr>
        <p:spPr>
          <a:xfrm>
            <a:off x="294561" y="521110"/>
            <a:ext cx="7927975" cy="357780"/>
          </a:xfrm>
          <a:ln>
            <a:noFill/>
          </a:ln>
        </p:spPr>
        <p:txBody>
          <a:bodyPr/>
          <a:lstStyle/>
          <a:p>
            <a:r>
              <a:rPr lang="ru-RU" sz="2000" dirty="0" smtClean="0"/>
              <a:t>Заказ ТОРО</a:t>
            </a:r>
            <a:endParaRPr lang="ru-RU" sz="2000" dirty="0"/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1" y="1405946"/>
            <a:ext cx="8551596" cy="4501367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71896191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/>
              <a:t>Заказ ТОРО. Виды заказов </a:t>
            </a:r>
            <a:r>
              <a:rPr lang="ru-RU" dirty="0" smtClean="0"/>
              <a:t>ТОРО</a:t>
            </a:r>
          </a:p>
        </p:txBody>
      </p:sp>
      <p:pic>
        <p:nvPicPr>
          <p:cNvPr id="4" name="Рисунок 3"/>
          <p:cNvPicPr>
            <a:picLocks noChangeAspect="1"/>
          </p:cNvPicPr>
          <p:nvPr/>
        </p:nvPicPr>
        <p:blipFill>
          <a:blip r:embed="rId2"/>
          <a:stretch>
            <a:fillRect/>
          </a:stretch>
        </p:blipFill>
        <p:spPr>
          <a:xfrm>
            <a:off x="294560" y="1266239"/>
            <a:ext cx="8570235" cy="4858790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4133189382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Планирование и регистрация ЕТО и обходов осмотров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179614" y="1101092"/>
            <a:ext cx="613954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266052" y="338901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2344891" y="3379272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Скругленный прямоугольник 54"/>
          <p:cNvSpPr/>
          <p:nvPr/>
        </p:nvSpPr>
        <p:spPr>
          <a:xfrm>
            <a:off x="4423731" y="3072885"/>
            <a:ext cx="1502559" cy="160869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6848203" y="338901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extBox 1"/>
          <p:cNvSpPr txBox="1"/>
          <p:nvPr/>
        </p:nvSpPr>
        <p:spPr>
          <a:xfrm>
            <a:off x="331531" y="3507900"/>
            <a:ext cx="137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Календарное планирование планов на ЕТО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2417170" y="3379272"/>
            <a:ext cx="13634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Создание заказов на ЕТО из планов ТОРО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516386" y="3084055"/>
            <a:ext cx="1322614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Отражение статуса утверждения недельного плана-графика воздействий на ПА</a:t>
            </a:r>
          </a:p>
        </p:txBody>
      </p: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6506936" y="1101092"/>
            <a:ext cx="2212521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6925928" y="3622663"/>
            <a:ext cx="1347107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Выдача чек-</a:t>
            </a:r>
            <a:r>
              <a:rPr lang="ru-RU" sz="1400" dirty="0" err="1">
                <a:solidFill>
                  <a:schemeClr val="bg1"/>
                </a:solidFill>
              </a:rPr>
              <a:t>лсита</a:t>
            </a:r>
            <a:endParaRPr lang="ru-RU" sz="1400" dirty="0">
              <a:solidFill>
                <a:schemeClr val="bg1"/>
              </a:solidFill>
            </a:endParaRPr>
          </a:p>
        </p:txBody>
      </p:sp>
      <p:cxnSp>
        <p:nvCxnSpPr>
          <p:cNvPr id="9" name="Прямая соединительная линия 8"/>
          <p:cNvCxnSpPr>
            <a:stCxn id="29" idx="3"/>
            <a:endCxn id="54" idx="1"/>
          </p:cNvCxnSpPr>
          <p:nvPr/>
        </p:nvCxnSpPr>
        <p:spPr>
          <a:xfrm flipV="1">
            <a:off x="1768611" y="3867495"/>
            <a:ext cx="576280" cy="97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54" idx="3"/>
            <a:endCxn id="55" idx="1"/>
          </p:cNvCxnSpPr>
          <p:nvPr/>
        </p:nvCxnSpPr>
        <p:spPr>
          <a:xfrm>
            <a:off x="3847450" y="3867495"/>
            <a:ext cx="576281" cy="9738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55" idx="3"/>
            <a:endCxn id="7" idx="1"/>
          </p:cNvCxnSpPr>
          <p:nvPr/>
        </p:nvCxnSpPr>
        <p:spPr>
          <a:xfrm>
            <a:off x="5926290" y="3877233"/>
            <a:ext cx="999638" cy="704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6" idx="3"/>
          </p:cNvCxnSpPr>
          <p:nvPr/>
        </p:nvCxnSpPr>
        <p:spPr>
          <a:xfrm>
            <a:off x="8350762" y="3877233"/>
            <a:ext cx="866717" cy="704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11398349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Content Placeholder 2"/>
          <p:cNvSpPr>
            <a:spLocks noGrp="1"/>
          </p:cNvSpPr>
          <p:nvPr>
            <p:ph sz="quarter" idx="14"/>
          </p:nvPr>
        </p:nvSpPr>
        <p:spPr>
          <a:xfrm>
            <a:off x="266052" y="377569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</a:t>
            </a:r>
            <a:r>
              <a:rPr lang="ru-RU" sz="1800" dirty="0" smtClean="0"/>
              <a:t>«</a:t>
            </a:r>
            <a:r>
              <a:rPr lang="ru-RU" sz="1800" dirty="0"/>
              <a:t>Планирование и регистрация ЕТО и обходов осмотров</a:t>
            </a:r>
            <a:r>
              <a:rPr lang="ru-RU" sz="1800" dirty="0" smtClean="0"/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sp>
        <p:nvSpPr>
          <p:cNvPr id="23" name="Прямая соединительная линия 4"/>
          <p:cNvSpPr txBox="1"/>
          <p:nvPr/>
        </p:nvSpPr>
        <p:spPr>
          <a:xfrm rot="59759">
            <a:off x="4499146" y="4784246"/>
            <a:ext cx="20315" cy="45719"/>
          </a:xfrm>
          <a:prstGeom prst="rect">
            <a:avLst/>
          </a:prstGeom>
        </p:spPr>
        <p:style>
          <a:lnRef idx="0">
            <a:scrgbClr r="0" g="0" b="0"/>
          </a:lnRef>
          <a:fillRef idx="0">
            <a:scrgbClr r="0" g="0" b="0"/>
          </a:fillRef>
          <a:effectRef idx="0">
            <a:scrgbClr r="0" g="0" b="0"/>
          </a:effectRef>
          <a:fontRef idx="minor">
            <a:schemeClr val="tx1">
              <a:hueOff val="0"/>
              <a:satOff val="0"/>
              <a:lumOff val="0"/>
              <a:alphaOff val="0"/>
            </a:schemeClr>
          </a:fontRef>
        </p:style>
        <p:txBody>
          <a:bodyPr spcFirstLastPara="0" vert="horz" wrap="square" lIns="12700" tIns="0" rIns="12700" bIns="0" numCol="1" spcCol="1270" anchor="ctr" anchorCtr="0">
            <a:noAutofit/>
          </a:bodyPr>
          <a:lstStyle/>
          <a:p>
            <a:pPr lvl="0" algn="ctr" defTabSz="222250">
              <a:lnSpc>
                <a:spcPct val="90000"/>
              </a:lnSpc>
              <a:spcBef>
                <a:spcPct val="0"/>
              </a:spcBef>
              <a:spcAft>
                <a:spcPct val="35000"/>
              </a:spcAft>
            </a:pPr>
            <a:endParaRPr lang="ru-RU" sz="500" kern="1200"/>
          </a:p>
        </p:txBody>
      </p:sp>
      <p:sp>
        <p:nvSpPr>
          <p:cNvPr id="24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179615" y="1101092"/>
            <a:ext cx="3298372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sz="900" b="1" dirty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Исполнитель работ </a:t>
            </a:r>
            <a:r>
              <a:rPr lang="ru-RU" sz="900" b="1" dirty="0" err="1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29" name="Скругленный прямоугольник 28"/>
          <p:cNvSpPr/>
          <p:nvPr/>
        </p:nvSpPr>
        <p:spPr>
          <a:xfrm>
            <a:off x="266052" y="338901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47" name="TextBox 46"/>
          <p:cNvSpPr txBox="1"/>
          <p:nvPr/>
        </p:nvSpPr>
        <p:spPr>
          <a:xfrm>
            <a:off x="1446425" y="5013466"/>
            <a:ext cx="1567542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200" dirty="0">
                <a:solidFill>
                  <a:schemeClr val="bg1"/>
                </a:solidFill>
              </a:rPr>
              <a:t>Создание заявки на консервацию</a:t>
            </a:r>
          </a:p>
        </p:txBody>
      </p:sp>
      <p:sp>
        <p:nvSpPr>
          <p:cNvPr id="54" name="Скругленный прямоугольник 53"/>
          <p:cNvSpPr/>
          <p:nvPr/>
        </p:nvSpPr>
        <p:spPr>
          <a:xfrm>
            <a:off x="1897628" y="338901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5" name="Скругленный прямоугольник 54"/>
          <p:cNvSpPr/>
          <p:nvPr/>
        </p:nvSpPr>
        <p:spPr>
          <a:xfrm>
            <a:off x="3588632" y="3322115"/>
            <a:ext cx="1517531" cy="1110235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6" name="Скругленный прямоугольник 55"/>
          <p:cNvSpPr/>
          <p:nvPr/>
        </p:nvSpPr>
        <p:spPr>
          <a:xfrm>
            <a:off x="7009627" y="3389010"/>
            <a:ext cx="1502559" cy="976446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57" name="Скругленный прямоугольник 56"/>
          <p:cNvSpPr/>
          <p:nvPr/>
        </p:nvSpPr>
        <p:spPr>
          <a:xfrm>
            <a:off x="5299682" y="3114288"/>
            <a:ext cx="1502559" cy="1525890"/>
          </a:xfrm>
          <a:prstGeom prst="roundRect">
            <a:avLst>
              <a:gd name="adj" fmla="val 10000"/>
            </a:avLst>
          </a:prstGeom>
          <a:solidFill>
            <a:schemeClr val="bg2">
              <a:lumMod val="50000"/>
            </a:schemeClr>
          </a:solidFill>
        </p:spPr>
        <p:style>
          <a:lnRef idx="2">
            <a:schemeClr val="lt1">
              <a:hueOff val="0"/>
              <a:satOff val="0"/>
              <a:lumOff val="0"/>
              <a:alphaOff val="0"/>
            </a:schemeClr>
          </a:lnRef>
          <a:fillRef idx="1">
            <a:scrgbClr r="0" g="0" b="0"/>
          </a:fillRef>
          <a:effectRef idx="0">
            <a:schemeClr val="accent1">
              <a:hueOff val="0"/>
              <a:satOff val="0"/>
              <a:lumOff val="0"/>
              <a:alphaOff val="0"/>
            </a:schemeClr>
          </a:effectRef>
          <a:fontRef idx="minor">
            <a:schemeClr val="lt1"/>
          </a:fontRef>
        </p:style>
      </p:sp>
      <p:sp>
        <p:nvSpPr>
          <p:cNvPr id="2" name="TextBox 1"/>
          <p:cNvSpPr txBox="1"/>
          <p:nvPr/>
        </p:nvSpPr>
        <p:spPr>
          <a:xfrm>
            <a:off x="331531" y="3507900"/>
            <a:ext cx="1371600" cy="738664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Выполнение ежесменного обслуживания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1969907" y="3389010"/>
            <a:ext cx="136343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Фиксация выполнения ежесменного обслуживания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660414" y="3389009"/>
            <a:ext cx="140688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Подтверждение работ при ежесменном обслуживании</a:t>
            </a:r>
          </a:p>
        </p:txBody>
      </p:sp>
      <p:sp>
        <p:nvSpPr>
          <p:cNvPr id="1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3550267" y="1101092"/>
            <a:ext cx="1642219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7" name="TextBox 6"/>
          <p:cNvSpPr txBox="1"/>
          <p:nvPr/>
        </p:nvSpPr>
        <p:spPr>
          <a:xfrm>
            <a:off x="7094302" y="3411349"/>
            <a:ext cx="1347107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Техническое закрытие мероприятий ТОРО</a:t>
            </a:r>
          </a:p>
        </p:txBody>
      </p:sp>
      <p:cxnSp>
        <p:nvCxnSpPr>
          <p:cNvPr id="9" name="Прямая соединительная линия 8"/>
          <p:cNvCxnSpPr>
            <a:stCxn id="29" idx="3"/>
            <a:endCxn id="54" idx="1"/>
          </p:cNvCxnSpPr>
          <p:nvPr/>
        </p:nvCxnSpPr>
        <p:spPr>
          <a:xfrm>
            <a:off x="1768611" y="3877233"/>
            <a:ext cx="129017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1" name="Прямая соединительная линия 10"/>
          <p:cNvCxnSpPr>
            <a:stCxn id="54" idx="3"/>
            <a:endCxn id="55" idx="1"/>
          </p:cNvCxnSpPr>
          <p:nvPr/>
        </p:nvCxnSpPr>
        <p:spPr>
          <a:xfrm>
            <a:off x="3400187" y="3877233"/>
            <a:ext cx="188445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3" name="Прямая соединительная линия 12"/>
          <p:cNvCxnSpPr>
            <a:stCxn id="55" idx="3"/>
            <a:endCxn id="57" idx="1"/>
          </p:cNvCxnSpPr>
          <p:nvPr/>
        </p:nvCxnSpPr>
        <p:spPr>
          <a:xfrm>
            <a:off x="5106163" y="3877233"/>
            <a:ext cx="193519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6" name="Прямая соединительная линия 15"/>
          <p:cNvCxnSpPr>
            <a:stCxn id="57" idx="3"/>
            <a:endCxn id="56" idx="1"/>
          </p:cNvCxnSpPr>
          <p:nvPr/>
        </p:nvCxnSpPr>
        <p:spPr>
          <a:xfrm>
            <a:off x="6802241" y="3877233"/>
            <a:ext cx="207386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cxnSp>
        <p:nvCxnSpPr>
          <p:cNvPr id="18" name="Прямая соединительная линия 17"/>
          <p:cNvCxnSpPr>
            <a:stCxn id="56" idx="3"/>
          </p:cNvCxnSpPr>
          <p:nvPr/>
        </p:nvCxnSpPr>
        <p:spPr>
          <a:xfrm>
            <a:off x="8512186" y="3877233"/>
            <a:ext cx="631814" cy="0"/>
          </a:xfrm>
          <a:prstGeom prst="line">
            <a:avLst/>
          </a:prstGeom>
        </p:spPr>
        <p:style>
          <a:lnRef idx="1">
            <a:schemeClr val="accent3"/>
          </a:lnRef>
          <a:fillRef idx="0">
            <a:schemeClr val="accent3"/>
          </a:fillRef>
          <a:effectRef idx="0">
            <a:schemeClr val="accent3"/>
          </a:effectRef>
          <a:fontRef idx="minor">
            <a:schemeClr val="tx1"/>
          </a:fontRef>
        </p:style>
      </p:cxnSp>
      <p:sp>
        <p:nvSpPr>
          <p:cNvPr id="45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5264269" y="1101092"/>
            <a:ext cx="1565300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8" name="Скругленный прямоугольник 311">
            <a:extLst>
              <a:ext uri="{FF2B5EF4-FFF2-40B4-BE49-F238E27FC236}">
                <a16:creationId xmlns:a16="http://schemas.microsoft.com/office/drawing/2014/main" xmlns="" id="{6B94761C-2B1A-43FF-9AEA-440BE2A8FCFD}"/>
              </a:ext>
            </a:extLst>
          </p:cNvPr>
          <p:cNvSpPr/>
          <p:nvPr/>
        </p:nvSpPr>
        <p:spPr>
          <a:xfrm>
            <a:off x="6946885" y="1100808"/>
            <a:ext cx="1641943" cy="5756908"/>
          </a:xfrm>
          <a:prstGeom prst="roundRect">
            <a:avLst>
              <a:gd name="adj" fmla="val 0"/>
            </a:avLst>
          </a:prstGeom>
          <a:noFill/>
          <a:ln>
            <a:solidFill>
              <a:schemeClr val="bg1">
                <a:lumMod val="75000"/>
              </a:schemeClr>
            </a:solidFill>
            <a:prstDash val="sysDash"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t"/>
          <a:lstStyle/>
          <a:p>
            <a:pPr algn="ctr"/>
            <a:r>
              <a:rPr lang="ru-RU" sz="900" b="1" dirty="0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sz="900" b="1" dirty="0" err="1" smtClean="0">
                <a:solidFill>
                  <a:srgbClr val="595959"/>
                </a:solidFill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sz="900" b="1" dirty="0">
              <a:solidFill>
                <a:srgbClr val="595959"/>
              </a:solidFill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59" name="TextBox 58"/>
          <p:cNvSpPr txBox="1"/>
          <p:nvPr/>
        </p:nvSpPr>
        <p:spPr>
          <a:xfrm>
            <a:off x="5381745" y="3170422"/>
            <a:ext cx="1355271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sz="1400" dirty="0">
                <a:solidFill>
                  <a:schemeClr val="bg1"/>
                </a:solidFill>
              </a:rPr>
              <a:t>Списание материалов, израсходованных при ежесменном обслуживании</a:t>
            </a:r>
          </a:p>
        </p:txBody>
      </p:sp>
    </p:spTree>
    <p:extLst>
      <p:ext uri="{BB962C8B-B14F-4D97-AF65-F5344CB8AC3E}">
        <p14:creationId xmlns:p14="http://schemas.microsoft.com/office/powerpoint/2010/main" val="3529272356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«Календарное планирование планов на ЕТО»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Календарное </a:t>
              </a:r>
              <a:r>
                <a:rPr lang="ru-RU" sz="1600" dirty="0" smtClean="0">
                  <a:solidFill>
                    <a:schemeClr val="bg1"/>
                  </a:solidFill>
                </a:rPr>
                <a:t>планирование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sp>
        <p:nvSpPr>
          <p:cNvPr id="2" name="TextBox 1"/>
          <p:cNvSpPr txBox="1"/>
          <p:nvPr/>
        </p:nvSpPr>
        <p:spPr>
          <a:xfrm>
            <a:off x="4292424" y="2409149"/>
            <a:ext cx="59503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IP10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448443" y="4962381"/>
            <a:ext cx="233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6" name="TextBox 15"/>
          <p:cNvSpPr txBox="1"/>
          <p:nvPr/>
        </p:nvSpPr>
        <p:spPr>
          <a:xfrm>
            <a:off x="5822556" y="3039433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Выполнено календарное планирование, получены плановые сроки по заказам ТОРО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>
                <a:cs typeface="Arial" panose="020B0604020202020204" pitchFamily="34" charset="0"/>
              </a:rPr>
              <a:t>Планировщик </a:t>
            </a:r>
            <a:r>
              <a:rPr lang="ru-RU" sz="1400" dirty="0" err="1" smtClean="0">
                <a:cs typeface="Arial" panose="020B0604020202020204" pitchFamily="34" charset="0"/>
              </a:rPr>
              <a:t>ТОиР</a:t>
            </a:r>
            <a:r>
              <a:rPr lang="en-US" sz="1400" dirty="0" smtClean="0">
                <a:cs typeface="Arial" panose="020B0604020202020204" pitchFamily="34" charset="0"/>
              </a:rPr>
              <a:t> </a:t>
            </a:r>
            <a:r>
              <a:rPr lang="ru-RU" sz="1400" dirty="0" smtClean="0"/>
              <a:t>выполняет </a:t>
            </a:r>
            <a:r>
              <a:rPr lang="ru-RU" sz="1400" dirty="0"/>
              <a:t>календарное планирование для  плана </a:t>
            </a:r>
            <a:r>
              <a:rPr lang="ru-RU" sz="1400" dirty="0" smtClean="0"/>
              <a:t>ТОРО</a:t>
            </a:r>
            <a:r>
              <a:rPr lang="en-US" sz="1400" dirty="0" smtClean="0"/>
              <a:t> </a:t>
            </a:r>
            <a:r>
              <a:rPr lang="ru-RU" sz="1400" dirty="0" smtClean="0"/>
              <a:t>и анализирует </a:t>
            </a:r>
            <a:r>
              <a:rPr lang="ru-RU" sz="1400" dirty="0"/>
              <a:t>предложенные системой </a:t>
            </a:r>
            <a:r>
              <a:rPr lang="ru-RU" sz="1400" dirty="0" smtClean="0"/>
              <a:t>даты.</a:t>
            </a:r>
          </a:p>
        </p:txBody>
      </p:sp>
      <p:cxnSp>
        <p:nvCxnSpPr>
          <p:cNvPr id="18" name="Прямая со стрелкой 17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Номер плана ППР</a:t>
            </a:r>
            <a:endParaRPr lang="ru-RU" sz="1200" dirty="0"/>
          </a:p>
        </p:txBody>
      </p:sp>
    </p:spTree>
    <p:extLst>
      <p:ext uri="{BB962C8B-B14F-4D97-AF65-F5344CB8AC3E}">
        <p14:creationId xmlns:p14="http://schemas.microsoft.com/office/powerpoint/2010/main" val="2809181377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«Создание заказов на ЕТО из планов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Отзыв планов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6600" y="2409149"/>
            <a:ext cx="739305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IP30H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Номер плана ППР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38099" y="2976971"/>
            <a:ext cx="2346960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/>
              <a:t>Сгенерированы  заказы ТОРО  на указанный период в соответствии с выбранными строками</a:t>
            </a:r>
            <a:endParaRPr lang="ru-RU" sz="1200" dirty="0" smtClean="0"/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выполняет </a:t>
            </a:r>
            <a:r>
              <a:rPr lang="ru-RU" sz="1400" dirty="0"/>
              <a:t>генерацию заказов ТОРО и скорректированного графика </a:t>
            </a:r>
            <a:r>
              <a:rPr lang="ru-RU" sz="1400" dirty="0" smtClean="0"/>
              <a:t>ППР. </a:t>
            </a:r>
            <a:r>
              <a:rPr lang="ru-RU" sz="1400" dirty="0"/>
              <a:t>При этом </a:t>
            </a:r>
            <a:r>
              <a:rPr lang="ru-RU" sz="1400" dirty="0" smtClean="0"/>
              <a:t>заказы </a:t>
            </a:r>
            <a:r>
              <a:rPr lang="ru-RU" sz="1400" dirty="0"/>
              <a:t>ТОРО будут сформированы в соответствии с планами </a:t>
            </a:r>
            <a:r>
              <a:rPr lang="ru-RU" sz="1400" dirty="0" smtClean="0"/>
              <a:t>ТОРО.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448443" y="4962381"/>
            <a:ext cx="233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3711286178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«Отражение статуса утверждения недельного плана-графика воздействий на ПА»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Анализ и ведение заказов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3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399446" y="4946771"/>
            <a:ext cx="2438653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</a:t>
            </a:r>
            <a:r>
              <a:rPr lang="ru-RU" dirty="0" smtClean="0">
                <a:latin typeface="Arial" panose="020B0604020202020204" pitchFamily="34" charset="0"/>
                <a:cs typeface="Arial" panose="020B0604020202020204" pitchFamily="34" charset="0"/>
              </a:rPr>
              <a:t>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 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из плана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39246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со статусом УТВН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 smtClean="0"/>
              <a:t>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устанавливает </a:t>
            </a:r>
            <a:r>
              <a:rPr lang="ru-RU" sz="1400" dirty="0"/>
              <a:t>статус УТВН - </a:t>
            </a:r>
            <a:r>
              <a:rPr lang="ru-RU" sz="1400" dirty="0" smtClean="0"/>
              <a:t>утверждено </a:t>
            </a:r>
            <a:r>
              <a:rPr lang="ru-RU" sz="1400" dirty="0"/>
              <a:t>для недельного плана (через функцию массового изменения статусов</a:t>
            </a:r>
            <a:r>
              <a:rPr lang="ru-RU" sz="1400" dirty="0" smtClean="0"/>
              <a:t>).</a:t>
            </a:r>
          </a:p>
        </p:txBody>
      </p:sp>
    </p:spTree>
    <p:extLst>
      <p:ext uri="{BB962C8B-B14F-4D97-AF65-F5344CB8AC3E}">
        <p14:creationId xmlns:p14="http://schemas.microsoft.com/office/powerpoint/2010/main" val="6297844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«Выдача чек-</a:t>
            </a:r>
            <a:r>
              <a:rPr lang="ru-RU" sz="1600" dirty="0" err="1"/>
              <a:t>лсита</a:t>
            </a:r>
            <a:r>
              <a:rPr lang="ru-RU" sz="1600" dirty="0"/>
              <a:t>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заказов </a:t>
              </a:r>
              <a:r>
                <a:rPr lang="ru-RU" sz="1600" dirty="0" smtClean="0">
                  <a:solidFill>
                    <a:schemeClr val="bg1"/>
                  </a:solidFill>
                </a:rPr>
                <a:t>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3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7" name="TextBox 16"/>
          <p:cNvSpPr txBox="1"/>
          <p:nvPr/>
        </p:nvSpPr>
        <p:spPr>
          <a:xfrm>
            <a:off x="264484" y="1039295"/>
            <a:ext cx="8650916" cy="138499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Инженером </a:t>
            </a:r>
            <a:r>
              <a:rPr lang="ru-RU" sz="1400" dirty="0" err="1"/>
              <a:t>ТОиР</a:t>
            </a:r>
            <a:r>
              <a:rPr lang="ru-RU" sz="1400" dirty="0"/>
              <a:t> БЕ ГОК просматриваются, и при необходимости редактируются заказы ТОРО на ежесменное обслуживание с видами заказа «AETG – ЕТО на ГТК» и «AETZ – ЕТО на ЗИФ», видом работ ЕТО – «ежесменное техническое обслуживание», деблокированные и имеющие пользовательский статус УТВН – «утвержден в недельном плане-графике». В заказах назначен исполнитель работ по табельному номеру в операциях заказа ТОРО. Инженер </a:t>
            </a:r>
            <a:r>
              <a:rPr lang="ru-RU" sz="1400" dirty="0" err="1"/>
              <a:t>ТОиР</a:t>
            </a:r>
            <a:r>
              <a:rPr lang="ru-RU" sz="1400" dirty="0"/>
              <a:t> БЕ ГОК печатает и выдаёт Исполнителю работ </a:t>
            </a:r>
            <a:r>
              <a:rPr lang="ru-RU" sz="1400" dirty="0" err="1"/>
              <a:t>ТОиР</a:t>
            </a:r>
            <a:r>
              <a:rPr lang="ru-RU" sz="1400" dirty="0"/>
              <a:t> БЕ ГОК (если ЕТО проводится на ЗИФ) или Оператору </a:t>
            </a:r>
            <a:r>
              <a:rPr lang="ru-RU" sz="1400" dirty="0" err="1"/>
              <a:t>ТОиР</a:t>
            </a:r>
            <a:r>
              <a:rPr lang="ru-RU" sz="1400" dirty="0"/>
              <a:t> БЕ ГОК (если ЕТО проводится на ГТК) наряд-задания на ежесменное обслуживание</a:t>
            </a:r>
            <a:r>
              <a:rPr lang="ru-RU" sz="1400" dirty="0" smtClean="0"/>
              <a:t>.</a:t>
            </a:r>
            <a:endParaRPr lang="ru-RU" sz="1400" dirty="0"/>
          </a:p>
        </p:txBody>
      </p:sp>
      <p:sp>
        <p:nvSpPr>
          <p:cNvPr id="18" name="TextBox 17"/>
          <p:cNvSpPr txBox="1"/>
          <p:nvPr/>
        </p:nvSpPr>
        <p:spPr>
          <a:xfrm>
            <a:off x="3695822" y="4962381"/>
            <a:ext cx="178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9" name="TextBox 18"/>
          <p:cNvSpPr txBox="1"/>
          <p:nvPr/>
        </p:nvSpPr>
        <p:spPr>
          <a:xfrm>
            <a:off x="972932" y="3392470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 на ежемесячное обслуживание</a:t>
            </a:r>
            <a:endParaRPr lang="ru-RU" sz="1200" dirty="0"/>
          </a:p>
        </p:txBody>
      </p:sp>
      <p:sp>
        <p:nvSpPr>
          <p:cNvPr id="21" name="TextBox 20"/>
          <p:cNvSpPr txBox="1"/>
          <p:nvPr/>
        </p:nvSpPr>
        <p:spPr>
          <a:xfrm>
            <a:off x="5892136" y="339246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Печатная форма чек-листа</a:t>
            </a:r>
          </a:p>
        </p:txBody>
      </p:sp>
    </p:spTree>
    <p:extLst>
      <p:ext uri="{BB962C8B-B14F-4D97-AF65-F5344CB8AC3E}">
        <p14:creationId xmlns:p14="http://schemas.microsoft.com/office/powerpoint/2010/main" val="333800043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«Выполнение ежесменного обслуживания»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272205" y="3012617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Изменение сообщения ТОРО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871209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179562" y="2711228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IW22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768519" y="4186773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034462" y="5258886"/>
            <a:ext cx="297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Исполнитель работ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03352" y="3694549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Зафиксирован дефект в ходе обслуживания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22556" y="3694548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Дефекты зафиксированы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997968"/>
            <a:ext cx="8650916" cy="181588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Если в рамках ежесменного технического обслуживания проводятся работы повышенной опасности, работы должны производиться только при выданном наряде-допуске</a:t>
            </a:r>
            <a:r>
              <a:rPr lang="ru-RU" sz="1400" dirty="0" smtClean="0"/>
              <a:t>.</a:t>
            </a:r>
            <a:r>
              <a:rPr lang="en-US" sz="1400" dirty="0" smtClean="0"/>
              <a:t> </a:t>
            </a:r>
            <a:r>
              <a:rPr lang="ru-RU" sz="1400" dirty="0"/>
              <a:t>Исполнитель работ </a:t>
            </a:r>
            <a:r>
              <a:rPr lang="ru-RU" sz="1400" dirty="0" err="1"/>
              <a:t>ТОиР</a:t>
            </a:r>
            <a:r>
              <a:rPr lang="ru-RU" sz="1400" dirty="0"/>
              <a:t>, Оператор </a:t>
            </a:r>
            <a:r>
              <a:rPr lang="ru-RU" sz="1400" dirty="0" err="1"/>
              <a:t>ТОиР</a:t>
            </a:r>
            <a:r>
              <a:rPr lang="ru-RU" sz="1400" dirty="0"/>
              <a:t> или представитель подрядной организации выполняют ежесменное техническое обслуживание. При выполнении ежесменного технического обслуживания могут быть зафиксированы показания измерений (в том числе качественные показатели чек-листа) и введена наработка. </a:t>
            </a:r>
            <a:endParaRPr lang="en-US" sz="1400" dirty="0" smtClean="0"/>
          </a:p>
          <a:p>
            <a:r>
              <a:rPr lang="ru-RU" sz="1400" dirty="0" smtClean="0"/>
              <a:t>Если </a:t>
            </a:r>
            <a:r>
              <a:rPr lang="ru-RU" sz="1400" dirty="0"/>
              <a:t>при выполнении ежесменного технического обслуживания был зафиксирован дефект на оборудовании, он фиксируется на мобильном терминале или в </a:t>
            </a:r>
            <a:r>
              <a:rPr lang="ru-RU" sz="1400" dirty="0" smtClean="0"/>
              <a:t>системе. </a:t>
            </a:r>
            <a:r>
              <a:rPr lang="ru-RU" sz="1400" dirty="0"/>
              <a:t>Вид сообщения ТОРО для фиксации дефекта – «</a:t>
            </a:r>
            <a:r>
              <a:rPr lang="en-US" sz="1400" dirty="0"/>
              <a:t>A</a:t>
            </a:r>
            <a:r>
              <a:rPr lang="ru-RU" sz="1400" dirty="0"/>
              <a:t>2 - </a:t>
            </a:r>
            <a:r>
              <a:rPr lang="ru-RU" sz="1400" dirty="0" smtClean="0"/>
              <a:t>сообщение </a:t>
            </a:r>
            <a:r>
              <a:rPr lang="ru-RU" sz="1400" dirty="0"/>
              <a:t>о неисправности».</a:t>
            </a:r>
            <a:endParaRPr lang="ru-RU" sz="1400" dirty="0" smtClean="0"/>
          </a:p>
        </p:txBody>
      </p:sp>
    </p:spTree>
    <p:extLst>
      <p:ext uri="{BB962C8B-B14F-4D97-AF65-F5344CB8AC3E}">
        <p14:creationId xmlns:p14="http://schemas.microsoft.com/office/powerpoint/2010/main" val="1142229524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«Фиксация выполнения ежесменного обслуживания»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Общее подтверждение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2" y="2419184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IW42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92470"/>
            <a:ext cx="2336709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Выполненные в рамках обслуживания работы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392469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Подтвержденные операции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95410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Исполнитель работ </a:t>
            </a:r>
            <a:r>
              <a:rPr lang="ru-RU" sz="1400" dirty="0" err="1"/>
              <a:t>ТОиР</a:t>
            </a:r>
            <a:r>
              <a:rPr lang="ru-RU" sz="1400" dirty="0"/>
              <a:t> БЕ ГОК или Оператор </a:t>
            </a:r>
            <a:r>
              <a:rPr lang="ru-RU" sz="1400" dirty="0" err="1"/>
              <a:t>ТОиР</a:t>
            </a:r>
            <a:r>
              <a:rPr lang="ru-RU" sz="1400" dirty="0"/>
              <a:t> БЕ ГОК подтверждают выполнение операций во время исполнения работ (при использовании мобильного терминала) или по окончании выполнения работ </a:t>
            </a:r>
            <a:r>
              <a:rPr lang="ru-RU" sz="1400" dirty="0" smtClean="0"/>
              <a:t>(в системе). </a:t>
            </a:r>
            <a:r>
              <a:rPr lang="ru-RU" sz="1400" dirty="0"/>
              <a:t>При подтверждении работ на мобильном терминале время начала и окончания проставляется автоматически. </a:t>
            </a:r>
            <a:endParaRPr lang="ru-RU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104042" y="4956807"/>
            <a:ext cx="2971799" cy="646331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Оператор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  <a:p>
            <a:pPr algn="ctr"/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Исполнитель работ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033771883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«Подтверждение работ при ежесменном обслуживании»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Просмотр подтверждений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3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IW47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ТОРО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300136"/>
            <a:ext cx="2346960" cy="461665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подтверждены корректно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30777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Инженер </a:t>
            </a:r>
            <a:r>
              <a:rPr lang="ru-RU" sz="1400" dirty="0" err="1"/>
              <a:t>ТОиР</a:t>
            </a:r>
            <a:r>
              <a:rPr lang="ru-RU" sz="1400" dirty="0"/>
              <a:t> БЕ проверяет корректность указанного времени при выполнении </a:t>
            </a:r>
            <a:r>
              <a:rPr lang="ru-RU" sz="1400" dirty="0" smtClean="0"/>
              <a:t>работ.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3695822" y="4962381"/>
            <a:ext cx="178824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Инженер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400797859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«Списание материалов, израсходованных при ежесменном обслуживании»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lvl="0"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 smtClean="0">
                  <a:solidFill>
                    <a:schemeClr val="bg1"/>
                  </a:solidFill>
                </a:rPr>
                <a:t>Движение материала</a:t>
              </a:r>
              <a:endParaRPr lang="ru-RU" sz="1600" kern="12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21090" y="2409149"/>
            <a:ext cx="737702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MIGO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6" name="TextBox 5"/>
          <p:cNvSpPr txBox="1"/>
          <p:nvPr/>
        </p:nvSpPr>
        <p:spPr>
          <a:xfrm>
            <a:off x="3908093" y="4962381"/>
            <a:ext cx="1363697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МОЛ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ТОРО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5" y="3392470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Выполнена проводка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523220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Материалы, затраченные при исполнении ежесменного технического обслуживания, периодически (в конце отчетного периода) списываются МОЛ </a:t>
            </a:r>
            <a:r>
              <a:rPr lang="ru-RU" sz="1400" dirty="0" err="1"/>
              <a:t>ТОиР</a:t>
            </a:r>
            <a:r>
              <a:rPr lang="ru-RU" sz="1400" dirty="0"/>
              <a:t> БЕ </a:t>
            </a:r>
            <a:r>
              <a:rPr lang="ru-RU" sz="1400" dirty="0" smtClean="0"/>
              <a:t>ГОК.</a:t>
            </a:r>
          </a:p>
        </p:txBody>
      </p:sp>
    </p:spTree>
    <p:extLst>
      <p:ext uri="{BB962C8B-B14F-4D97-AF65-F5344CB8AC3E}">
        <p14:creationId xmlns:p14="http://schemas.microsoft.com/office/powerpoint/2010/main" val="1625034369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264484" y="494827"/>
            <a:ext cx="7905032" cy="410926"/>
          </a:xfrm>
        </p:spPr>
        <p:txBody>
          <a:bodyPr/>
          <a:lstStyle/>
          <a:p>
            <a:pPr lvl="0"/>
            <a:r>
              <a:rPr lang="ru-RU" sz="16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Описание </a:t>
            </a:r>
            <a:r>
              <a:rPr lang="ru-RU" sz="16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шага </a:t>
            </a:r>
            <a:r>
              <a:rPr lang="ru-RU" sz="1600" dirty="0"/>
              <a:t>«Техническое закрытие мероприятий ТОРО»</a:t>
            </a:r>
            <a:endParaRPr lang="ru-RU" sz="16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  <a:p>
            <a:endParaRPr lang="ru-RU" sz="20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pSp>
        <p:nvGrpSpPr>
          <p:cNvPr id="14" name="Группа 13"/>
          <p:cNvGrpSpPr/>
          <p:nvPr/>
        </p:nvGrpSpPr>
        <p:grpSpPr>
          <a:xfrm>
            <a:off x="3341785" y="2710538"/>
            <a:ext cx="2496314" cy="2319786"/>
            <a:chOff x="2315329" y="875631"/>
            <a:chExt cx="1343033" cy="992604"/>
          </a:xfrm>
        </p:grpSpPr>
        <p:sp>
          <p:nvSpPr>
            <p:cNvPr id="15" name="Скругленный прямоугольник 14"/>
            <p:cNvSpPr/>
            <p:nvPr/>
          </p:nvSpPr>
          <p:spPr>
            <a:xfrm>
              <a:off x="2315329" y="875631"/>
              <a:ext cx="1343033" cy="992604"/>
            </a:xfrm>
            <a:prstGeom prst="roundRect">
              <a:avLst>
                <a:gd name="adj" fmla="val 10000"/>
              </a:avLst>
            </a:prstGeom>
            <a:solidFill>
              <a:srgbClr val="FCC917"/>
            </a:solidFill>
          </p:spPr>
          <p:style>
            <a:lnRef idx="2">
              <a:schemeClr val="lt1">
                <a:hueOff val="0"/>
                <a:satOff val="0"/>
                <a:lumOff val="0"/>
                <a:alphaOff val="0"/>
              </a:schemeClr>
            </a:lnRef>
            <a:fillRef idx="1">
              <a:scrgbClr r="0" g="0" b="0"/>
            </a:fillRef>
            <a:effectRef idx="0">
              <a:schemeClr val="accent1">
                <a:hueOff val="0"/>
                <a:satOff val="0"/>
                <a:lumOff val="0"/>
                <a:alphaOff val="0"/>
              </a:schemeClr>
            </a:effectRef>
            <a:fontRef idx="minor">
              <a:schemeClr val="lt1"/>
            </a:fontRef>
          </p:style>
        </p:sp>
        <p:sp>
          <p:nvSpPr>
            <p:cNvPr id="20" name="Скругленный прямоугольник 4"/>
            <p:cNvSpPr/>
            <p:nvPr/>
          </p:nvSpPr>
          <p:spPr>
            <a:xfrm>
              <a:off x="2344401" y="904703"/>
              <a:ext cx="1284889" cy="934460"/>
            </a:xfrm>
            <a:prstGeom prst="rect">
              <a:avLst/>
            </a:prstGeom>
          </p:spPr>
          <p:style>
            <a:lnRef idx="0">
              <a:scrgbClr r="0" g="0" b="0"/>
            </a:lnRef>
            <a:fillRef idx="0">
              <a:scrgbClr r="0" g="0" b="0"/>
            </a:fillRef>
            <a:effectRef idx="0">
              <a:scrgbClr r="0" g="0" b="0"/>
            </a:effectRef>
            <a:fontRef idx="minor">
              <a:schemeClr val="lt1"/>
            </a:fontRef>
          </p:style>
          <p:txBody>
            <a:bodyPr spcFirstLastPara="0" vert="horz" wrap="square" lIns="6985" tIns="6985" rIns="6985" bIns="6985" numCol="1" spcCol="1270" anchor="ctr" anchorCtr="0">
              <a:noAutofit/>
            </a:bodyPr>
            <a:lstStyle/>
            <a:p>
              <a:pPr algn="ctr" defTabSz="466725">
                <a:lnSpc>
                  <a:spcPct val="90000"/>
                </a:lnSpc>
                <a:spcBef>
                  <a:spcPct val="0"/>
                </a:spcBef>
                <a:spcAft>
                  <a:spcPct val="35000"/>
                </a:spcAft>
              </a:pPr>
              <a:r>
                <a:rPr lang="ru-RU" sz="1600" dirty="0">
                  <a:solidFill>
                    <a:schemeClr val="bg1"/>
                  </a:solidFill>
                </a:rPr>
                <a:t>Анализ и ведение заказов </a:t>
              </a:r>
              <a:r>
                <a:rPr lang="ru-RU" sz="1600" dirty="0" smtClean="0">
                  <a:solidFill>
                    <a:schemeClr val="bg1"/>
                  </a:solidFill>
                </a:rPr>
                <a:t>ТОРО</a:t>
              </a:r>
              <a:endParaRPr lang="ru-RU" sz="1600" dirty="0">
                <a:solidFill>
                  <a:schemeClr val="bg1"/>
                </a:solidFill>
              </a:endParaRPr>
            </a:p>
          </p:txBody>
        </p:sp>
      </p:grpSp>
      <p:cxnSp>
        <p:nvCxnSpPr>
          <p:cNvPr id="22" name="Прямая со стрелкой 21"/>
          <p:cNvCxnSpPr/>
          <p:nvPr/>
        </p:nvCxnSpPr>
        <p:spPr>
          <a:xfrm>
            <a:off x="94078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" name="TextBox 1"/>
          <p:cNvSpPr txBox="1"/>
          <p:nvPr/>
        </p:nvSpPr>
        <p:spPr>
          <a:xfrm>
            <a:off x="4249143" y="2409149"/>
            <a:ext cx="681597" cy="369332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US" dirty="0" smtClean="0"/>
              <a:t>IW38</a:t>
            </a:r>
            <a:endParaRPr lang="ru-RU" dirty="0"/>
          </a:p>
        </p:txBody>
      </p:sp>
      <p:cxnSp>
        <p:nvCxnSpPr>
          <p:cNvPr id="25" name="Прямая со стрелкой 24"/>
          <p:cNvCxnSpPr/>
          <p:nvPr/>
        </p:nvCxnSpPr>
        <p:spPr>
          <a:xfrm>
            <a:off x="5838099" y="3884694"/>
            <a:ext cx="2400996" cy="0"/>
          </a:xfrm>
          <a:prstGeom prst="straightConnector1">
            <a:avLst/>
          </a:prstGeom>
          <a:ln>
            <a:solidFill>
              <a:srgbClr val="595959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3" name="TextBox 12"/>
          <p:cNvSpPr txBox="1"/>
          <p:nvPr/>
        </p:nvSpPr>
        <p:spPr>
          <a:xfrm>
            <a:off x="972932" y="3392470"/>
            <a:ext cx="2336709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ПДТВ или ЧПДТ</a:t>
            </a:r>
            <a:endParaRPr lang="ru-RU" sz="1200" dirty="0"/>
          </a:p>
        </p:txBody>
      </p:sp>
      <p:sp>
        <p:nvSpPr>
          <p:cNvPr id="16" name="TextBox 15"/>
          <p:cNvSpPr txBox="1"/>
          <p:nvPr/>
        </p:nvSpPr>
        <p:spPr>
          <a:xfrm>
            <a:off x="5892136" y="3364104"/>
            <a:ext cx="2346960" cy="276999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200" dirty="0" smtClean="0"/>
              <a:t>Заказы в статусе ПЗКР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264484" y="1039295"/>
            <a:ext cx="8650916" cy="1600438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sz="1400" dirty="0"/>
              <a:t>После выполнения работ </a:t>
            </a:r>
            <a:r>
              <a:rPr lang="ru-RU" sz="1400" dirty="0" err="1"/>
              <a:t>ТОиР</a:t>
            </a:r>
            <a:r>
              <a:rPr lang="ru-RU" sz="1400" dirty="0"/>
              <a:t> по ежесменному обслуживанию Планировщик </a:t>
            </a:r>
            <a:r>
              <a:rPr lang="ru-RU" sz="1400" dirty="0" err="1" smtClean="0"/>
              <a:t>ТОиР</a:t>
            </a:r>
            <a:r>
              <a:rPr lang="ru-RU" sz="1400" dirty="0" smtClean="0"/>
              <a:t> </a:t>
            </a:r>
            <a:r>
              <a:rPr lang="ru-RU" sz="1400" dirty="0"/>
              <a:t>проверяет полноту выполнения работ на основе наличия статусов заказа ТОРО ЧПДТ - частично подтверждено (выполнена часть работ) и ПДТВ - Подтверждено (выполнены все работы</a:t>
            </a:r>
            <a:r>
              <a:rPr lang="ru-RU" sz="1400" dirty="0" smtClean="0"/>
              <a:t>). </a:t>
            </a:r>
            <a:r>
              <a:rPr lang="ru-RU" sz="1400" dirty="0"/>
              <a:t>По результатам анализа массово технически закрывает Заказы ТОРО на выполненное </a:t>
            </a:r>
            <a:r>
              <a:rPr lang="ru-RU" sz="1400" dirty="0" smtClean="0"/>
              <a:t>ЕТО. </a:t>
            </a:r>
            <a:r>
              <a:rPr lang="ru-RU" sz="1400" dirty="0"/>
              <a:t>Заказы ТОРО меняют системный статус ТЗКР - Технически закрыто. При этом в </a:t>
            </a:r>
            <a:r>
              <a:rPr lang="ru-RU" sz="1400" dirty="0" smtClean="0"/>
              <a:t>системе после </a:t>
            </a:r>
            <a:r>
              <a:rPr lang="ru-RU" sz="1400" dirty="0"/>
              <a:t>технического закрытия есть запрет последующего ввода подтверждений операций заказа ТОРО</a:t>
            </a:r>
            <a:r>
              <a:rPr lang="ru-RU" sz="1400" dirty="0" smtClean="0"/>
              <a:t>.</a:t>
            </a:r>
            <a:endParaRPr lang="ru-RU" sz="1400" dirty="0"/>
          </a:p>
          <a:p>
            <a:endParaRPr lang="ru-RU" sz="1400" dirty="0" smtClean="0"/>
          </a:p>
        </p:txBody>
      </p:sp>
      <p:sp>
        <p:nvSpPr>
          <p:cNvPr id="18" name="TextBox 17"/>
          <p:cNvSpPr txBox="1"/>
          <p:nvPr/>
        </p:nvSpPr>
        <p:spPr>
          <a:xfrm>
            <a:off x="3448443" y="4962381"/>
            <a:ext cx="2335620" cy="369332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ru-RU" dirty="0">
                <a:latin typeface="Arial" panose="020B0604020202020204" pitchFamily="34" charset="0"/>
                <a:cs typeface="Arial" panose="020B0604020202020204" pitchFamily="34" charset="0"/>
              </a:rPr>
              <a:t>Планировщик </a:t>
            </a:r>
            <a:r>
              <a:rPr lang="ru-RU" dirty="0" err="1">
                <a:latin typeface="Arial" panose="020B0604020202020204" pitchFamily="34" charset="0"/>
                <a:cs typeface="Arial" panose="020B0604020202020204" pitchFamily="34" charset="0"/>
              </a:rPr>
              <a:t>ТОиР</a:t>
            </a:r>
            <a:endParaRPr lang="ru-RU" dirty="0">
              <a:latin typeface="Arial" panose="020B0604020202020204" pitchFamily="34" charset="0"/>
              <a:cs typeface="Arial" panose="020B0604020202020204" pitchFamily="34" charset="0"/>
            </a:endParaRPr>
          </a:p>
        </p:txBody>
      </p:sp>
    </p:spTree>
    <p:extLst>
      <p:ext uri="{BB962C8B-B14F-4D97-AF65-F5344CB8AC3E}">
        <p14:creationId xmlns:p14="http://schemas.microsoft.com/office/powerpoint/2010/main" val="177970817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Объект 2"/>
          <p:cNvSpPr>
            <a:spLocks noGrp="1"/>
          </p:cNvSpPr>
          <p:nvPr>
            <p:ph sz="quarter" idx="14"/>
          </p:nvPr>
        </p:nvSpPr>
        <p:spPr/>
        <p:txBody>
          <a:bodyPr/>
          <a:lstStyle/>
          <a:p>
            <a:r>
              <a:rPr lang="ru-RU" dirty="0" smtClean="0"/>
              <a:t>Обучающие видеоролики</a:t>
            </a:r>
            <a:endParaRPr lang="ru-RU" dirty="0"/>
          </a:p>
        </p:txBody>
      </p:sp>
      <p:graphicFrame>
        <p:nvGraphicFramePr>
          <p:cNvPr id="4" name="Таблица 3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555657095"/>
              </p:ext>
            </p:extLst>
          </p:nvPr>
        </p:nvGraphicFramePr>
        <p:xfrm>
          <a:off x="195386" y="1248586"/>
          <a:ext cx="8802310" cy="3756256"/>
        </p:xfrm>
        <a:graphic>
          <a:graphicData uri="http://schemas.openxmlformats.org/drawingml/2006/table">
            <a:tbl>
              <a:tblPr firstRow="1" bandRow="1">
                <a:tableStyleId>{00A15C55-8517-42AA-B614-E9B94910E393}</a:tableStyleId>
              </a:tblPr>
              <a:tblGrid>
                <a:gridCol w="4007128"/>
                <a:gridCol w="2305375"/>
                <a:gridCol w="2489807"/>
              </a:tblGrid>
              <a:tr h="542821"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Название</a:t>
                      </a:r>
                      <a:r>
                        <a:rPr lang="ru-RU" sz="1200" baseline="0" dirty="0" smtClean="0"/>
                        <a:t> функции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обучения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r>
                        <a:rPr lang="ru-RU" sz="1200" dirty="0" smtClean="0"/>
                        <a:t>Режим упражнения для Инициатора</a:t>
                      </a:r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070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Календарное планирование планов на ЕТО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33793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Создание заказов на ЕТО из планов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17510">
                <a:tc>
                  <a:txBody>
                    <a:bodyPr/>
                    <a:lstStyle/>
                    <a:p>
                      <a:pPr marL="0" marR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Отражение статуса утверждения недельного плана-графика воздействий на ПА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01227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Выдача чек-</a:t>
                      </a:r>
                      <a:r>
                        <a:rPr lang="ru-RU" sz="1200" dirty="0" err="1" smtClean="0">
                          <a:solidFill>
                            <a:srgbClr val="595959"/>
                          </a:solidFill>
                        </a:rPr>
                        <a:t>лсита</a:t>
                      </a:r>
                      <a:endParaRPr lang="ru-RU" sz="1200" dirty="0" smtClean="0">
                        <a:solidFill>
                          <a:srgbClr val="595959"/>
                        </a:solidFill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2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Выполнение ежесменного обслуживания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Фиксация выполнения ежесменного обслуживания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25651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Подтверждение работ при ежесменном обслуживании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Списание материалов, израсходованных при ежесменном обслуживании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  <a:tr h="366358">
                <a:tc>
                  <a:txBody>
                    <a:bodyPr/>
                    <a:lstStyle/>
                    <a:p>
                      <a:pPr algn="l"/>
                      <a:r>
                        <a:rPr lang="ru-RU" sz="1200" dirty="0" smtClean="0">
                          <a:solidFill>
                            <a:srgbClr val="595959"/>
                          </a:solidFill>
                        </a:rPr>
                        <a:t>Техническое закрытие мероприятий ТОРО</a:t>
                      </a: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/>
                      <a:endParaRPr lang="ru-RU" sz="1200" dirty="0"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</a:txBody>
                  <a:tcPr anchor="ctr"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766046632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slides/slide2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Content Placeholder 2"/>
          <p:cNvSpPr>
            <a:spLocks noGrp="1"/>
          </p:cNvSpPr>
          <p:nvPr>
            <p:ph sz="quarter" idx="14"/>
          </p:nvPr>
        </p:nvSpPr>
        <p:spPr>
          <a:xfrm>
            <a:off x="179881" y="386806"/>
            <a:ext cx="7927975" cy="410926"/>
          </a:xfrm>
        </p:spPr>
        <p:txBody>
          <a:bodyPr/>
          <a:lstStyle/>
          <a:p>
            <a:r>
              <a:rPr lang="ru-RU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Ключевые транзакции</a:t>
            </a:r>
            <a:r>
              <a:rPr lang="en-US" sz="1800" dirty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 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процесса «</a:t>
            </a:r>
            <a:r>
              <a:rPr lang="ru-RU" sz="1800" dirty="0"/>
              <a:t>Анализ технического состояния производственных активов</a:t>
            </a:r>
            <a:r>
              <a:rPr lang="ru-RU" sz="1800" dirty="0" smtClean="0">
                <a:solidFill>
                  <a:srgbClr val="F6CC0C"/>
                </a:solidFill>
                <a:ea typeface="Verdana" panose="020B0604030504040204" pitchFamily="34" charset="0"/>
                <a:cs typeface="Verdana" panose="020B0604030504040204" pitchFamily="34" charset="0"/>
              </a:rPr>
              <a:t>»</a:t>
            </a:r>
            <a:endParaRPr lang="ru-RU" sz="1800" dirty="0">
              <a:solidFill>
                <a:srgbClr val="F6CC0C"/>
              </a:solidFill>
              <a:ea typeface="Verdana" panose="020B0604030504040204" pitchFamily="34" charset="0"/>
              <a:cs typeface="Verdana" panose="020B0604030504040204" pitchFamily="34" charset="0"/>
            </a:endParaRPr>
          </a:p>
        </p:txBody>
      </p:sp>
      <p:graphicFrame>
        <p:nvGraphicFramePr>
          <p:cNvPr id="5" name="Table 4">
            <a:extLst>
              <a:ext uri="{FF2B5EF4-FFF2-40B4-BE49-F238E27FC236}">
                <a16:creationId xmlns="" xmlns:a16="http://schemas.microsoft.com/office/drawing/2014/main" id="{2AD28F94-C432-4660-9220-FF53A770BA9C}"/>
              </a:ext>
            </a:extLst>
          </p:cNvPr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708337600"/>
              </p:ext>
            </p:extLst>
          </p:nvPr>
        </p:nvGraphicFramePr>
        <p:xfrm>
          <a:off x="277682" y="1745478"/>
          <a:ext cx="8628574" cy="4097973"/>
        </p:xfrm>
        <a:graphic>
          <a:graphicData uri="http://schemas.openxmlformats.org/drawingml/2006/table">
            <a:tbl>
              <a:tblPr firstRow="1" bandRow="1">
                <a:tableStyleId>{C4B1156A-380E-4F78-BDF5-A606A8083BF9}</a:tableStyleId>
              </a:tblPr>
              <a:tblGrid>
                <a:gridCol w="8628574">
                  <a:extLst>
                    <a:ext uri="{9D8B030D-6E8A-4147-A177-3AD203B41FA5}">
                      <a16:colId xmlns="" xmlns:a16="http://schemas.microsoft.com/office/drawing/2014/main" val="3700845562"/>
                    </a:ext>
                  </a:extLst>
                </a:gridCol>
              </a:tblGrid>
              <a:tr h="581343">
                <a:tc>
                  <a:txBody>
                    <a:bodyPr/>
                    <a:lstStyle/>
                    <a:p>
                      <a:pPr algn="l"/>
                      <a:r>
                        <a:rPr kumimoji="0" lang="ru-RU" sz="1600" b="1" i="0" u="none" strike="noStrike" kern="1200" cap="none" spc="0" normalizeH="0" baseline="0" noProof="0" dirty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1. </a:t>
                      </a: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Календарное планирование</a:t>
                      </a:r>
                      <a:endParaRPr lang="ru-RU" sz="1600" dirty="0" smtClean="0">
                        <a:solidFill>
                          <a:srgbClr val="595959"/>
                        </a:solidFill>
                        <a:latin typeface="Arial" panose="020B0604020202020204" pitchFamily="34" charset="0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IP10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 – Календарное планирование из ППР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1815643292"/>
                  </a:ext>
                </a:extLst>
              </a:tr>
              <a:tr h="595993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2. Отзыв планов</a:t>
                      </a: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IP30H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Отзыв планов из ППР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  <a:extLst>
                  <a:ext uri="{0D108BD9-81ED-4DB2-BD59-A6C34878D82A}">
                    <a16:rowId xmlns="" xmlns:a16="http://schemas.microsoft.com/office/drawing/2014/main" val="3427895380"/>
                  </a:ext>
                </a:extLst>
              </a:tr>
              <a:tr h="604157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3. Изменение сообщения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IW22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Изменение сообщения ТОРО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Анализ и ведение заказов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IW38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Анализ и ведение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Общее подтверждение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IW42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Общее подтверждение операций заказа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Просмотр подтверждений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IW47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Просмотр подтверждений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  <a:tr h="411480">
                <a:tc>
                  <a:txBody>
                    <a:bodyPr/>
                    <a:lstStyle/>
                    <a:p>
                      <a:pPr marL="0" marR="0" lvl="0" indent="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Tx/>
                        <a:buNone/>
                        <a:tabLst/>
                        <a:defRPr/>
                      </a:pPr>
                      <a:r>
                        <a:rPr kumimoji="0" lang="ru-RU" sz="1600" b="1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4. Движение материала</a:t>
                      </a:r>
                      <a:endParaRPr kumimoji="0" lang="en-US" sz="1600" b="1" i="0" u="none" strike="noStrike" kern="1200" cap="none" spc="0" normalizeH="0" baseline="0" noProof="0" dirty="0" smtClean="0">
                        <a:ln>
                          <a:noFill/>
                        </a:ln>
                        <a:solidFill>
                          <a:srgbClr val="595959"/>
                        </a:solidFill>
                        <a:effectLst/>
                        <a:uLnTx/>
                        <a:uFillTx/>
                        <a:latin typeface="Arial" panose="020B0604020202020204" pitchFamily="34" charset="0"/>
                        <a:ea typeface="+mn-ea"/>
                        <a:cs typeface="Arial" panose="020B0604020202020204" pitchFamily="34" charset="0"/>
                      </a:endParaRPr>
                    </a:p>
                    <a:p>
                      <a:pPr marL="171450" marR="0" lvl="0" indent="-171450" algn="l" defTabSz="914400" rtl="0" eaLnBrk="1" fontAlgn="auto" latinLnBrk="0" hangingPunct="1">
                        <a:lnSpc>
                          <a:spcPct val="100000"/>
                        </a:lnSpc>
                        <a:spcBef>
                          <a:spcPts val="0"/>
                        </a:spcBef>
                        <a:spcAft>
                          <a:spcPts val="0"/>
                        </a:spcAft>
                        <a:buClrTx/>
                        <a:buSzTx/>
                        <a:buFont typeface="Arial" panose="020B0604020202020204" pitchFamily="34" charset="0"/>
                        <a:buChar char="•"/>
                        <a:tabLst/>
                        <a:defRPr/>
                      </a:pPr>
                      <a:r>
                        <a:rPr kumimoji="0" lang="en-US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MIGO – </a:t>
                      </a:r>
                      <a:r>
                        <a:rPr kumimoji="0" lang="ru-RU" sz="1600" b="0" i="0" u="none" strike="noStrike" kern="1200" cap="none" spc="0" normalizeH="0" baseline="0" noProof="0" dirty="0" smtClean="0">
                          <a:ln>
                            <a:noFill/>
                          </a:ln>
                          <a:solidFill>
                            <a:srgbClr val="595959"/>
                          </a:solidFill>
                          <a:effectLst/>
                          <a:uLnTx/>
                          <a:uFillTx/>
                          <a:latin typeface="Arial" panose="020B0604020202020204" pitchFamily="34" charset="0"/>
                          <a:ea typeface="+mn-ea"/>
                          <a:cs typeface="Arial" panose="020B0604020202020204" pitchFamily="34" charset="0"/>
                        </a:rPr>
                        <a:t>Списание материала для заказов ТОРО</a:t>
                      </a:r>
                    </a:p>
                  </a:txBody>
                  <a:tcPr>
                    <a:lnL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12700" cap="flat" cmpd="sng" algn="ctr">
                      <a:solidFill>
                        <a:schemeClr val="tx1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lnTlToBr w="12700" cmpd="sng">
                      <a:noFill/>
                      <a:prstDash val="solid"/>
                    </a:lnTlToBr>
                    <a:lnBlToTr w="12700" cmpd="sng">
                      <a:noFill/>
                      <a:prstDash val="solid"/>
                    </a:lnBlToTr>
                    <a:solidFill>
                      <a:srgbClr val="FCC917"/>
                    </a:solidFill>
                  </a:tcPr>
                </a:tc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2749246380"/>
      </p:ext>
    </p:extLst>
  </p:cSld>
  <p:clrMapOvr>
    <a:masterClrMapping/>
  </p:clrMapOvr>
  <p:timing>
    <p:tnLst>
      <p:par>
        <p:cTn id="1" dur="indefinite" restart="never" nodeType="tmRoot"/>
      </p:par>
    </p:tnLst>
  </p:timing>
</p:sld>
</file>

<file path=ppt/theme/theme1.xml><?xml version="1.0" encoding="utf-8"?>
<a:theme xmlns:a="http://schemas.openxmlformats.org/drawingml/2006/main" name="Тема Office">
  <a:themeElements>
    <a:clrScheme name="Тема 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Тема Office">
      <a:majorFont>
        <a:latin typeface="Calibri Light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Тема 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Тема Offic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3.xml><?xml version="1.0" encoding="utf-8"?>
<a:theme xmlns:a="http://schemas.openxmlformats.org/drawingml/2006/main" name="Тема Office">
  <a:themeElements>
    <a:clrScheme name="Стандартная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Стандартная">
      <a:majorFont>
        <a:latin typeface="Calibri Light" panose="020F03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 panose="020F0502020204030204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Стандартная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customXml/_rels/item1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1.xml"/></Relationships>
</file>

<file path=customXml/_rels/item2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2.xml"/></Relationships>
</file>

<file path=customXml/_rels/item3.xml.rels><?xml version="1.0" encoding="UTF-8" standalone="yes"?>
<Relationships xmlns="http://schemas.openxmlformats.org/package/2006/relationships"><Relationship Id="rId1" Type="http://schemas.openxmlformats.org/officeDocument/2006/relationships/customXmlProps" Target="itemProps3.xml"/></Relationships>
</file>

<file path=customXml/item1.xml><?xml version="1.0" encoding="utf-8"?>
<ct:contentTypeSchema xmlns:ct="http://schemas.microsoft.com/office/2006/metadata/contentType" xmlns:ma="http://schemas.microsoft.com/office/2006/metadata/properties/metaAttributes" ct:_="" ma:_="" ma:contentTypeName="Документ" ma:contentTypeID="0x0101009903329750A3B44499F5D2E787C86944" ma:contentTypeVersion="0" ma:contentTypeDescription="Создание документа." ma:contentTypeScope="" ma:versionID="bb8435fbffccf5a4c924888fb1f4e1ba">
  <xsd:schema xmlns:xsd="http://www.w3.org/2001/XMLSchema" xmlns:xs="http://www.w3.org/2001/XMLSchema" xmlns:p="http://schemas.microsoft.com/office/2006/metadata/properties" targetNamespace="http://schemas.microsoft.com/office/2006/metadata/properties" ma:root="true" ma:fieldsID="76d57dbf9a77af284536b0872d269412">
    <xsd:element name="properties">
      <xsd:complexType>
        <xsd:sequence>
          <xsd:element name="documentManagement">
            <xsd:complexType>
              <xsd:all/>
            </xsd:complexType>
          </xsd:element>
        </xsd:sequence>
      </xsd:complexType>
    </xsd:element>
  </xsd:schema>
  <xsd:schema xmlns="http://schemas.openxmlformats.org/package/2006/metadata/core-properties" xmlns:xsd="http://www.w3.org/2001/XMLSchema" xmlns:xsi="http://www.w3.org/2001/XMLSchema-instance" xmlns:dc="http://purl.org/dc/elements/1.1/" xmlns:dcterms="http://purl.org/dc/terms/" xmlns:odoc="http://schemas.microsoft.com/internal/obd" targetNamespace="http://schemas.openxmlformats.org/package/2006/metadata/core-properties" elementFormDefault="qualified" attributeFormDefault="unqualified" blockDefault="#all">
    <xsd:import namespace="http://purl.org/dc/elements/1.1/" schemaLocation="http://dublincore.org/schemas/xmls/qdc/2003/04/02/dc.xsd"/>
    <xsd:import namespace="http://purl.org/dc/terms/" schemaLocation="http://dublincore.org/schemas/xmls/qdc/2003/04/02/dcterms.xsd"/>
    <xsd:element name="coreProperties" type="CT_coreProperties"/>
    <xsd:complexType name="CT_coreProperties">
      <xsd:all>
        <xsd:element ref="dc:creator" minOccurs="0" maxOccurs="1"/>
        <xsd:element ref="dcterms:created" minOccurs="0" maxOccurs="1"/>
        <xsd:element ref="dc:identifier" minOccurs="0" maxOccurs="1"/>
        <xsd:element name="contentType" minOccurs="0" maxOccurs="1" type="xsd:string" ma:index="0" ma:displayName="Тип контента"/>
        <xsd:element ref="dc:title" minOccurs="0" maxOccurs="1" ma:index="4" ma:displayName="Название"/>
        <xsd:element ref="dc:subject" minOccurs="0" maxOccurs="1"/>
        <xsd:element ref="dc:description" minOccurs="0" maxOccurs="1"/>
        <xsd:element name="keywords" minOccurs="0" maxOccurs="1" type="xsd:string"/>
        <xsd:element ref="dc:language" minOccurs="0" maxOccurs="1"/>
        <xsd:element name="category" minOccurs="0" maxOccurs="1" type="xsd:string"/>
        <xsd:element name="version" minOccurs="0" maxOccurs="1" type="xsd:string"/>
        <xsd:element name="revision" minOccurs="0" maxOccurs="1" type="xsd:string">
          <xsd:annotation>
            <xsd:documentation>
                        This value indicates the number of saves or revisions. The application is responsible for updating this value after each revision.
                    </xsd:documentation>
          </xsd:annotation>
        </xsd:element>
        <xsd:element name="lastModifiedBy" minOccurs="0" maxOccurs="1" type="xsd:string"/>
        <xsd:element ref="dcterms:modified" minOccurs="0" maxOccurs="1"/>
        <xsd:element name="contentStatus" minOccurs="0" maxOccurs="1" type="xsd:string"/>
      </xsd:all>
    </xsd:complexType>
  </xsd:schema>
  <xs:schema xmlns:pc="http://schemas.microsoft.com/office/infopath/2007/PartnerControls" xmlns:xs="http://www.w3.org/2001/XMLSchema" targetNamespace="http://schemas.microsoft.com/office/infopath/2007/PartnerControls" elementFormDefault="qualified" attributeFormDefault="unqualified">
    <xs:element name="Person">
      <xs:complexType>
        <xs:sequence>
          <xs:element ref="pc:DisplayName" minOccurs="0"/>
          <xs:element ref="pc:AccountId" minOccurs="0"/>
          <xs:element ref="pc:AccountType" minOccurs="0"/>
        </xs:sequence>
      </xs:complexType>
    </xs:element>
    <xs:element name="DisplayName" type="xs:string"/>
    <xs:element name="AccountId" type="xs:string"/>
    <xs:element name="AccountType" type="xs:string"/>
    <xs:element name="BDCAssociatedEntity">
      <xs:complexType>
        <xs:sequence>
          <xs:element ref="pc:BDCEntity" minOccurs="0" maxOccurs="unbounded"/>
        </xs:sequence>
        <xs:attribute ref="pc:EntityNamespace"/>
        <xs:attribute ref="pc:EntityName"/>
        <xs:attribute ref="pc:SystemInstanceName"/>
        <xs:attribute ref="pc:AssociationName"/>
      </xs:complexType>
    </xs:element>
    <xs:attribute name="EntityNamespace" type="xs:string"/>
    <xs:attribute name="EntityName" type="xs:string"/>
    <xs:attribute name="SystemInstanceName" type="xs:string"/>
    <xs:attribute name="AssociationName" type="xs:string"/>
    <xs:element name="BDCEntity">
      <xs:complexType>
        <xs:sequence>
          <xs:element ref="pc:EntityDisplayName" minOccurs="0"/>
          <xs:element ref="pc:EntityInstanceReference" minOccurs="0"/>
          <xs:element ref="pc:EntityId1" minOccurs="0"/>
          <xs:element ref="pc:EntityId2" minOccurs="0"/>
          <xs:element ref="pc:EntityId3" minOccurs="0"/>
          <xs:element ref="pc:EntityId4" minOccurs="0"/>
          <xs:element ref="pc:EntityId5" minOccurs="0"/>
        </xs:sequence>
      </xs:complexType>
    </xs:element>
    <xs:element name="EntityDisplayName" type="xs:string"/>
    <xs:element name="EntityInstanceReference" type="xs:string"/>
    <xs:element name="EntityId1" type="xs:string"/>
    <xs:element name="EntityId2" type="xs:string"/>
    <xs:element name="EntityId3" type="xs:string"/>
    <xs:element name="EntityId4" type="xs:string"/>
    <xs:element name="EntityId5" type="xs:string"/>
    <xs:element name="Terms">
      <xs:complexType>
        <xs:sequence>
          <xs:element ref="pc:TermInfo" minOccurs="0" maxOccurs="unbounded"/>
        </xs:sequence>
      </xs:complexType>
    </xs:element>
    <xs:element name="TermInfo">
      <xs:complexType>
        <xs:sequence>
          <xs:element ref="pc:TermName" minOccurs="0"/>
          <xs:element ref="pc:TermId" minOccurs="0"/>
        </xs:sequence>
      </xs:complexType>
    </xs:element>
    <xs:element name="TermName" type="xs:string"/>
    <xs:element name="TermId" type="xs:string"/>
  </xs:schema>
</ct:contentTypeSchema>
</file>

<file path=customXml/item2.xml><?xml version="1.0" encoding="utf-8"?>
<?mso-contentType ?>
<FormTemplates xmlns="http://schemas.microsoft.com/sharepoint/v3/contenttype/forms">
  <Display>DocumentLibraryForm</Display>
  <Edit>DocumentLibraryForm</Edit>
  <New>DocumentLibraryForm</New>
</FormTemplates>
</file>

<file path=customXml/item3.xml><?xml version="1.0" encoding="utf-8"?>
<p:properties xmlns:p="http://schemas.microsoft.com/office/2006/metadata/properties" xmlns:xsi="http://www.w3.org/2001/XMLSchema-instance" xmlns:pc="http://schemas.microsoft.com/office/infopath/2007/PartnerControls">
  <documentManagement/>
</p:properties>
</file>

<file path=customXml/itemProps1.xml><?xml version="1.0" encoding="utf-8"?>
<ds:datastoreItem xmlns:ds="http://schemas.openxmlformats.org/officeDocument/2006/customXml" ds:itemID="{F38B5284-4F25-453C-8235-20B9D019EACA}">
  <ds:schemaRefs>
    <ds:schemaRef ds:uri="http://schemas.microsoft.com/office/2006/metadata/contentType"/>
    <ds:schemaRef ds:uri="http://schemas.microsoft.com/office/2006/metadata/properties/metaAttributes"/>
    <ds:schemaRef ds:uri="http://www.w3.org/2001/XMLSchema"/>
    <ds:schemaRef ds:uri="http://schemas.microsoft.com/office/2006/metadata/properties"/>
    <ds:schemaRef ds:uri="http://schemas.openxmlformats.org/package/2006/metadata/core-properties"/>
    <ds:schemaRef ds:uri="http://purl.org/dc/elements/1.1/"/>
    <ds:schemaRef ds:uri="http://purl.org/dc/terms/"/>
    <ds:schemaRef ds:uri="http://schemas.microsoft.com/internal/obd"/>
    <ds:schemaRef ds:uri="http://schemas.microsoft.com/office/infopath/2007/PartnerControls"/>
  </ds:schemaRefs>
</ds:datastoreItem>
</file>

<file path=customXml/itemProps2.xml><?xml version="1.0" encoding="utf-8"?>
<ds:datastoreItem xmlns:ds="http://schemas.openxmlformats.org/officeDocument/2006/customXml" ds:itemID="{F974C5F2-EB3C-42DA-802D-F2BCA964531E}">
  <ds:schemaRefs>
    <ds:schemaRef ds:uri="http://schemas.microsoft.com/sharepoint/v3/contenttype/forms"/>
  </ds:schemaRefs>
</ds:datastoreItem>
</file>

<file path=customXml/itemProps3.xml><?xml version="1.0" encoding="utf-8"?>
<ds:datastoreItem xmlns:ds="http://schemas.openxmlformats.org/officeDocument/2006/customXml" ds:itemID="{EA8D3441-DF26-4C7E-9641-F6E293897DF1}">
  <ds:schemaRefs>
    <ds:schemaRef ds:uri="http://purl.org/dc/terms/"/>
    <ds:schemaRef ds:uri="http://purl.org/dc/dcmitype/"/>
    <ds:schemaRef ds:uri="http://schemas.microsoft.com/office/infopath/2007/PartnerControls"/>
    <ds:schemaRef ds:uri="http://schemas.openxmlformats.org/package/2006/metadata/core-properties"/>
    <ds:schemaRef ds:uri="http://purl.org/dc/elements/1.1/"/>
    <ds:schemaRef ds:uri="http://schemas.microsoft.com/office/2006/documentManagement/types"/>
    <ds:schemaRef ds:uri="http://schemas.microsoft.com/office/2006/metadata/properties"/>
    <ds:schemaRef ds:uri="http://www.w3.org/XML/1998/namespace"/>
  </ds:schemaRefs>
</ds:datastoreItem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115344</TotalTime>
  <Words>1950</Words>
  <Application>Microsoft Office PowerPoint</Application>
  <PresentationFormat>Экран (4:3)</PresentationFormat>
  <Paragraphs>248</Paragraphs>
  <Slides>24</Slides>
  <Notes>4</Notes>
  <HiddenSlides>0</HiddenSlides>
  <MMClips>0</MMClips>
  <ScaleCrop>false</ScaleCrop>
  <HeadingPairs>
    <vt:vector size="6" baseType="variant">
      <vt:variant>
        <vt:lpstr>Использованные шрифты</vt:lpstr>
      </vt:variant>
      <vt:variant>
        <vt:i4>6</vt:i4>
      </vt:variant>
      <vt:variant>
        <vt:lpstr>Тема</vt:lpstr>
      </vt:variant>
      <vt:variant>
        <vt:i4>1</vt:i4>
      </vt:variant>
      <vt:variant>
        <vt:lpstr>Заголовки слайдов</vt:lpstr>
      </vt:variant>
      <vt:variant>
        <vt:i4>24</vt:i4>
      </vt:variant>
    </vt:vector>
  </HeadingPairs>
  <TitlesOfParts>
    <vt:vector size="31" baseType="lpstr">
      <vt:lpstr>Arial</vt:lpstr>
      <vt:lpstr>Calibri</vt:lpstr>
      <vt:lpstr>Calibri Body</vt:lpstr>
      <vt:lpstr>Calibri Light</vt:lpstr>
      <vt:lpstr>Verdana</vt:lpstr>
      <vt:lpstr>Wingdings</vt:lpstr>
      <vt:lpstr>Тема Office</vt:lpstr>
      <vt:lpstr>Инструктаж по функциональному направлению «ТОиР»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Внедрение пилота и стабилизация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  <vt:lpstr>Презентация PowerPoint</vt:lpstr>
    </vt:vector>
  </TitlesOfParts>
  <Company>SPecialiST RePack</Company>
  <LinksUpToDate>false</LinksUpToDate>
  <SharedDoc>false</SharedDoc>
  <HyperlinksChanged>false</HyperlinksChanged>
  <AppVersion>15.0000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Презентация PowerPoint</dc:title>
  <dc:creator>Tis</dc:creator>
  <cp:lastModifiedBy>Медведев Максим Сергеевич (Подрядчик. ООО БерингПойнт)</cp:lastModifiedBy>
  <cp:revision>4474</cp:revision>
  <cp:lastPrinted>2018-04-09T09:22:20Z</cp:lastPrinted>
  <dcterms:created xsi:type="dcterms:W3CDTF">2015-07-14T13:53:28Z</dcterms:created>
  <dcterms:modified xsi:type="dcterms:W3CDTF">2019-11-28T10:08:56Z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_NewReviewCycle">
    <vt:lpwstr/>
  </property>
  <property fmtid="{D5CDD505-2E9C-101B-9397-08002B2CF9AE}" pid="3" name="ContentTypeId">
    <vt:lpwstr>0x0101009903329750A3B44499F5D2E787C86944</vt:lpwstr>
  </property>
</Properties>
</file>