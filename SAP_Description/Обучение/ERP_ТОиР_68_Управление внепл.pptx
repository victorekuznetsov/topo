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9"/>
  </p:notesMasterIdLst>
  <p:handoutMasterIdLst>
    <p:handoutMasterId r:id="rId30"/>
  </p:handoutMasterIdLst>
  <p:sldIdLst>
    <p:sldId id="1389" r:id="rId5"/>
    <p:sldId id="1580" r:id="rId6"/>
    <p:sldId id="1581" r:id="rId7"/>
    <p:sldId id="1582" r:id="rId8"/>
    <p:sldId id="1583" r:id="rId9"/>
    <p:sldId id="1584" r:id="rId10"/>
    <p:sldId id="1665" r:id="rId11"/>
    <p:sldId id="1681" r:id="rId12"/>
    <p:sldId id="1682" r:id="rId13"/>
    <p:sldId id="1699" r:id="rId14"/>
    <p:sldId id="1700" r:id="rId15"/>
    <p:sldId id="1668" r:id="rId16"/>
    <p:sldId id="1690" r:id="rId17"/>
    <p:sldId id="1672" r:id="rId18"/>
    <p:sldId id="1691" r:id="rId19"/>
    <p:sldId id="1692" r:id="rId20"/>
    <p:sldId id="1693" r:id="rId21"/>
    <p:sldId id="1694" r:id="rId22"/>
    <p:sldId id="1695" r:id="rId23"/>
    <p:sldId id="1696" r:id="rId24"/>
    <p:sldId id="1697" r:id="rId25"/>
    <p:sldId id="1698" r:id="rId26"/>
    <p:sldId id="1674" r:id="rId27"/>
    <p:sldId id="1679" r:id="rId28"/>
  </p:sldIdLst>
  <p:sldSz cx="9144000" cy="6858000" type="screen4x3"/>
  <p:notesSz cx="6735763" cy="98663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20" userDrawn="1">
          <p15:clr>
            <a:srgbClr val="A4A3A4"/>
          </p15:clr>
        </p15:guide>
        <p15:guide id="2" pos="295" userDrawn="1">
          <p15:clr>
            <a:srgbClr val="A4A3A4"/>
          </p15:clr>
        </p15:guide>
        <p15:guide id="3" pos="5465" userDrawn="1">
          <p15:clr>
            <a:srgbClr val="A4A3A4"/>
          </p15:clr>
        </p15:guide>
        <p15:guide id="4" pos="3061" userDrawn="1">
          <p15:clr>
            <a:srgbClr val="A4A3A4"/>
          </p15:clr>
        </p15:guide>
        <p15:guide id="5" pos="287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Чайка Ирина Николаевна" initials="ЧИН" lastIdx="1" clrIdx="0">
    <p:extLst>
      <p:ext uri="{19B8F6BF-5375-455C-9EA6-DF929625EA0E}">
        <p15:presenceInfo xmlns:p15="http://schemas.microsoft.com/office/powerpoint/2012/main" userId="S-1-5-21-4125628198-1674668921-3204586943-91972" providerId="AD"/>
      </p:ext>
    </p:extLst>
  </p:cmAuthor>
  <p:cmAuthor id="2" name="Nesterov, Ivan" initials="NI" lastIdx="1" clrIdx="1">
    <p:extLst>
      <p:ext uri="{19B8F6BF-5375-455C-9EA6-DF929625EA0E}">
        <p15:presenceInfo xmlns:p15="http://schemas.microsoft.com/office/powerpoint/2012/main" userId="S-1-5-21-74642-3284969411-2123768488-1208332" providerId="AD"/>
      </p:ext>
    </p:extLst>
  </p:cmAuthor>
  <p:cmAuthor id="3" name="Корнева Елена Александровна" initials="КЕА" lastIdx="2" clrIdx="2">
    <p:extLst>
      <p:ext uri="{19B8F6BF-5375-455C-9EA6-DF929625EA0E}">
        <p15:presenceInfo xmlns:p15="http://schemas.microsoft.com/office/powerpoint/2012/main" userId="S-1-5-21-4125628198-1674668921-3204586943-102375" providerId="AD"/>
      </p:ext>
    </p:extLst>
  </p:cmAuthor>
  <p:cmAuthor id="4" name="Александр" initials="А" lastIdx="1" clrIdx="3">
    <p:extLst>
      <p:ext uri="{19B8F6BF-5375-455C-9EA6-DF929625EA0E}">
        <p15:presenceInfo xmlns:p15="http://schemas.microsoft.com/office/powerpoint/2012/main" userId="Александр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5959"/>
    <a:srgbClr val="B8B8B8"/>
    <a:srgbClr val="FCC917"/>
    <a:srgbClr val="FBC90B"/>
    <a:srgbClr val="FFD966"/>
    <a:srgbClr val="FFF7E0"/>
    <a:srgbClr val="FAC90B"/>
    <a:srgbClr val="F6CC0C"/>
    <a:srgbClr val="19938A"/>
    <a:srgbClr val="C009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17292A2E-F333-43FB-9621-5CBBE7FDCDCB}" styleName="Светлый стиль 2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E171933-4619-4E11-9A3F-F7608DF75F80}" styleName="Средний стиль 1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Светлый стиль 1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7473" autoAdjust="0"/>
    <p:restoredTop sz="87093" autoAdjust="0"/>
  </p:normalViewPr>
  <p:slideViewPr>
    <p:cSldViewPr snapToGrid="0" showGuides="1">
      <p:cViewPr varScale="1">
        <p:scale>
          <a:sx n="117" d="100"/>
          <a:sy n="117" d="100"/>
        </p:scale>
        <p:origin x="1056" y="102"/>
      </p:cViewPr>
      <p:guideLst>
        <p:guide orient="horz" pos="4020"/>
        <p:guide pos="295"/>
        <p:guide pos="5465"/>
        <p:guide pos="3061"/>
        <p:guide pos="2877"/>
      </p:guideLst>
    </p:cSldViewPr>
  </p:slideViewPr>
  <p:outlineViewPr>
    <p:cViewPr>
      <p:scale>
        <a:sx n="33" d="100"/>
        <a:sy n="33" d="100"/>
      </p:scale>
      <p:origin x="0" y="-122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394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commentAuthors" Target="commentAuthors.xml"/><Relationship Id="rId16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98B3E6-7D14-4828-917E-251E799EB6D3}" type="datetimeFigureOut">
              <a:rPr lang="ru-RU" smtClean="0"/>
              <a:t>20.10.2019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825A57-54F6-47CC-8C31-8285844BAA91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481644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0.26178" units="1/cm"/>
          <inkml:channelProperty channel="Y" name="resolution" value="50.23256" units="1/cm"/>
          <inkml:channelProperty channel="T" name="resolution" value="1" units="1/dev"/>
        </inkml:channelProperties>
      </inkml:inkSource>
      <inkml:timestamp xml:id="ts0" timeString="2019-05-07T15:43:07.432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00650547-FCE6-4C9F-924D-FDAD7C07A1D4}" emma:medium="tactile" emma:mode="ink">
          <msink:context xmlns:msink="http://schemas.microsoft.com/ink/2010/main" type="writingRegion" rotatedBoundingBox="2932,9998 2947,9998 2947,10044 2932,10044"/>
        </emma:interpretation>
      </emma:emma>
    </inkml:annotationXML>
    <inkml:traceGroup>
      <inkml:annotationXML>
        <emma:emma xmlns:emma="http://www.w3.org/2003/04/emma" version="1.0">
          <emma:interpretation id="{4D413BF5-E76C-41CB-8FBE-6F59FA865CB4}" emma:medium="tactile" emma:mode="ink">
            <msink:context xmlns:msink="http://schemas.microsoft.com/ink/2010/main" type="paragraph" rotatedBoundingBox="2932,9998 2947,9998 2947,10044 2932,1004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912B46F-84C0-4E15-8744-C86480B7AB20}" emma:medium="tactile" emma:mode="ink">
              <msink:context xmlns:msink="http://schemas.microsoft.com/ink/2010/main" type="line" rotatedBoundingBox="2932,9998 2947,9998 2947,10044 2932,10044"/>
            </emma:interpretation>
          </emma:emma>
        </inkml:annotationXML>
        <inkml:traceGroup>
          <inkml:annotationXML>
            <emma:emma xmlns:emma="http://www.w3.org/2003/04/emma" version="1.0">
              <emma:interpretation id="{1F809A82-46CF-449C-9753-033BEF717237}" emma:medium="tactile" emma:mode="ink">
                <msink:context xmlns:msink="http://schemas.microsoft.com/ink/2010/main" type="inkWord" rotatedBoundingBox="2932,9998 2947,9998 2947,10044 2932,10044"/>
              </emma:interpretation>
              <emma:one-of disjunction-type="recognition" id="oneOf0">
                <emma:interpretation id="interp0" emma:lang="" emma:confidence="0">
                  <emma:literal>'</emma:literal>
                </emma:interpretation>
                <emma:interpretation id="interp1" emma:lang="" emma:confidence="0">
                  <emma:literal>.</emma:literal>
                </emma:interpretation>
                <emma:interpretation id="interp2" emma:lang="" emma:confidence="0">
                  <emma:literal>1</emma:literal>
                </emma:interpretation>
                <emma:interpretation id="interp3" emma:lang="" emma:confidence="0">
                  <emma:literal>/</emma:literal>
                </emma:interpretation>
                <emma:interpretation id="interp4" emma:lang="" emma:confidence="0">
                  <emma:literal>,</emma:literal>
                </emma:interpretation>
              </emma:one-of>
            </emma:emma>
          </inkml:annotationXML>
          <inkml:trace contextRef="#ctx0" brushRef="#br0">0 46 0,'0'-46'0</inkml:trace>
        </inkml:traceGroup>
      </inkml:traceGroup>
    </inkml:traceGroup>
  </inkml:traceGroup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15BFBE-1AB8-064D-92FF-01DC96DD8794}" type="datetimeFigureOut">
              <a:rPr lang="ru-RU" smtClean="0"/>
              <a:t>20.10.2019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236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r>
              <a:rPr lang="en-US" dirty="0"/>
              <a:t>j</a:t>
            </a:r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A7C119-28D5-5342-8FDF-728EEBCB3E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68195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/>
            <a:r>
              <a:rPr lang="ru-RU" sz="1200" b="1" kern="1200" cap="all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</a:t>
            </a:r>
            <a:r>
              <a:rPr lang="ru-RU" sz="1200" b="1" kern="1200" cap="all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РАСПОЛОЖЕНИЯ </a:t>
            </a:r>
            <a:r>
              <a:rPr lang="ru-RU" sz="1200" b="1" kern="1200" cap="all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ТЕХНических</a:t>
            </a:r>
            <a:r>
              <a:rPr lang="ru-RU" sz="1200" b="1" kern="1200" cap="all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Объектов</a:t>
            </a:r>
          </a:p>
          <a:p>
            <a:pPr lvl="2" algn="ctr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Определение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расположения – организационная единица в системе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/4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HANA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на которой установлены и физически находятся технические объекты или объекты общего назначения (например, здания и сооружения) предприятия, подлежащие техническому обслуживанию и ремонту. Если планирование мероприятий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производится на самом заводе расположения технических объектов, то завод расположения технических объектов является одновременно и заводом, планирующим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Применение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реализации целевых бизнес-процессов Группы компаний Полюс заводы расположения предполагается создать для всех управляющих офисов, производственных заводов: ГТК,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золотоизвлекательных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фабрик и других заводов, где есть оборудование или здания и сооружения, подлежащие техническому обслуживанию и ремонту.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расположения создаются для логистических заводов: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Производственных и месторождений вспомогательного производства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Управляющих офисов – для зданий, сооружений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Перевалочных баз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расположения не создаются для логистических заводов: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аффинажных заводов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портов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заводов Полюс-Проекта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pPr lvl="3"/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Кодировка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расположения кодируются аналогично логистическим заводам.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кодируются как ХХ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NN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где ХХ – два первых символа кода БЕ, а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NN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последовательная нумерация (сначала цифрами, затем латинскими буквами). </a:t>
            </a: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Перечень заводов расположения приведен в Приложении № 1 к данному КД.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31220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/>
            <a:r>
              <a:rPr lang="ru-RU" sz="1200" b="1" kern="1200" cap="all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ПЛАНИРОВАНИЯ ТОРО</a:t>
            </a:r>
          </a:p>
          <a:p>
            <a:pPr lvl="2" algn="ctr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Определение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планирования ТОРО – организационная единица в системе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/4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HANA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на которой планируются потребности в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также планируется потребность в МТР и ведется учет остатков МТР. На заводе ведутся все данные, необходимые для технического обслуживания и ремонта оборудования, например, локальные технологические карты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и собираются затраты на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планирования ТОРО присваивается одному логистическому заводу.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Применение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реализации целевых бизнес-процессов Группы компаний Полюс заводы планирования ТОРО предполагается создать для всех логистических заводов для МТР производственных площадок (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ГОКов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разрезов), перевалочных баз, управляющих офисов, и других заводов, где осуществляется планирование потребности в мероприятиях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заводов планирования ТОРО осуществляется разделение полномочий между отдельными предприятиями, которые выполняют планирование мероприятий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планирования ТОРО один к одному соответствуют логистическим заводам и создаются для :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Заводов МТР (производственных площадок (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ГОКов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разрезов));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Перевалочных баз;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Управляющих офисов.</a:t>
            </a:r>
          </a:p>
          <a:p>
            <a:pPr lvl="3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Кодировка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планирования ТОРО кодируются аналогично логистическим заводам.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кодируются как ХХ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NN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где ХХ – два первых символа кода БЕ, а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NN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последовательная нумерация (сначала цифрами, затем латинскими буквами) пропуская аффинажные заводы XXXA. Сначала кодируются производственные заводы в последовательности: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золотоизвлекательные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фабрики, рудоуправления. После производственных кодируются остальные заводы: заводы МТР  (кроме основного), управляющие офисы и филиалы, и перевалочные базы. </a:t>
            </a: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Перечень заводов планирования ТОРО приведен в Приложении № 1 к данному КД.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352948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/>
            <a:r>
              <a:rPr lang="ru-RU" sz="1200" b="1" kern="1200" cap="all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ГРУППА ПЛАНИРОВАНИЯ ТОРО</a:t>
            </a:r>
          </a:p>
          <a:p>
            <a:pPr lvl="2" algn="ctr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Определение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Группа планирования ТОРО - это элемент организационной структуры в системе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/4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HANA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который осуществляет планирование и организацию технического обслуживания и ремонта в рамках отдельного подразделения, службы, отдела, направления завода планирования ТОРО.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Применение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реализации целевых бизнес-процессов производства Группы компаний Полюс на заводах будут созданы группы планирования ТОРО в соответствии с направлениями деятельности служб и отделов, выполняющих планирование работ ТОРО, таких как: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Механики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Электрики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Метрологи/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КИПиА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ЗИС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Одному заводу планирования ТОРО может соответствовать несколько групп планирования ТОРО в соответствии с направлениями деятельности по планированию работ ТОРО. На уровне группа планирования ТОРО выполняется разделение полномочий к объектам заказов ТОРО, к отчетности для более детального разграничения прав доступа в рамках подразделений и служб, выполняющих планирование мероприятий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3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Кодировка</a:t>
            </a: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Группы планирования ТОРО кодируются длиной от 1 до 3 символов: XXX.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завода планирования ТОРО будут созданы группы планирования с трехсимвольными номерами: «100», «200» и т.д. 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Группа планирования ТОРО на каждому заводе планирования ТОРО будут кодироваться следующим образом: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6288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Единицы оборудования (ЕО) – отдельные объекты, которые подлежат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качестве самостоятельных единиц. ЕО отражает данные и характеристики конкретного объекта, эксплуатируемого на предприятии, для которого является необходимым отслеживание жизненного цикла, включающего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приобретение;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ввод в эксплуатацию;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выполнение обслуживания и ремонта;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перемещение на склад/в обменный фонд;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перемещение между местами установки;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продление срока эксплуатации;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вывод из эксплуатации;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консервация;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утилизация.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234806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9"/>
          <p:cNvSpPr/>
          <p:nvPr userDrawn="1"/>
        </p:nvSpPr>
        <p:spPr>
          <a:xfrm>
            <a:off x="0" y="0"/>
            <a:ext cx="9144000" cy="948807"/>
          </a:xfrm>
          <a:prstGeom prst="rect">
            <a:avLst/>
          </a:prstGeom>
          <a:solidFill>
            <a:srgbClr val="5959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itle 1"/>
          <p:cNvSpPr txBox="1">
            <a:spLocks/>
          </p:cNvSpPr>
          <p:nvPr userDrawn="1"/>
        </p:nvSpPr>
        <p:spPr>
          <a:xfrm>
            <a:off x="277161" y="586295"/>
            <a:ext cx="7380000" cy="3520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dirty="0">
                <a:solidFill>
                  <a:srgbClr val="FCC917"/>
                </a:solidFill>
                <a:latin typeface="+mn-lt"/>
                <a:cs typeface="Calibri" panose="020F0502020204030204" pitchFamily="34" charset="0"/>
              </a:rPr>
              <a:t>Повестка</a:t>
            </a:r>
            <a:endParaRPr lang="en-US" sz="2400" dirty="0">
              <a:solidFill>
                <a:srgbClr val="FCC917"/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39570" y="106695"/>
            <a:ext cx="1308543" cy="751976"/>
          </a:xfrm>
          <a:prstGeom prst="rect">
            <a:avLst/>
          </a:prstGeom>
        </p:spPr>
      </p:pic>
      <p:sp>
        <p:nvSpPr>
          <p:cNvPr id="11" name="Title 1"/>
          <p:cNvSpPr txBox="1">
            <a:spLocks/>
          </p:cNvSpPr>
          <p:nvPr userDrawn="1"/>
        </p:nvSpPr>
        <p:spPr>
          <a:xfrm>
            <a:off x="277665" y="130681"/>
            <a:ext cx="7380000" cy="3520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kern="1200" dirty="0" smtClean="0">
                <a:solidFill>
                  <a:schemeClr val="bg1"/>
                </a:solidFill>
                <a:latin typeface="+mj-lt"/>
                <a:ea typeface="+mj-ea"/>
                <a:cs typeface="Calibri" panose="020F0502020204030204" pitchFamily="34" charset="0"/>
              </a:rPr>
              <a:t>Внедрение «Пилота» и стабилизация решения</a:t>
            </a:r>
            <a:endParaRPr lang="en-US" sz="1800" kern="1200" dirty="0">
              <a:solidFill>
                <a:schemeClr val="bg1"/>
              </a:solidFill>
              <a:latin typeface="+mj-lt"/>
              <a:ea typeface="+mj-ea"/>
              <a:cs typeface="Calibri" panose="020F0502020204030204" pitchFamily="34" charset="0"/>
            </a:endParaRPr>
          </a:p>
        </p:txBody>
      </p:sp>
      <p:sp>
        <p:nvSpPr>
          <p:cNvPr id="12" name="Прямоугольник 1"/>
          <p:cNvSpPr/>
          <p:nvPr userDrawn="1"/>
        </p:nvSpPr>
        <p:spPr>
          <a:xfrm>
            <a:off x="8683619" y="6488668"/>
            <a:ext cx="42511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E2225EAA-A87D-4D00-A6EA-7D86A67873A6}" type="slidenum">
              <a:rPr lang="ru-RU" altLang="en-US" sz="1600" b="0" smtClean="0">
                <a:latin typeface="Calibri" pitchFamily="34" charset="0"/>
                <a:cs typeface="Arial" pitchFamily="34" charset="0"/>
              </a:rPr>
              <a:pPr/>
              <a:t>‹#›</a:t>
            </a:fld>
            <a:endParaRPr lang="ru-RU" sz="1600" b="0" dirty="0"/>
          </a:p>
        </p:txBody>
      </p:sp>
    </p:spTree>
    <p:extLst>
      <p:ext uri="{BB962C8B-B14F-4D97-AF65-F5344CB8AC3E}">
        <p14:creationId xmlns:p14="http://schemas.microsoft.com/office/powerpoint/2010/main" val="2812108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9"/>
          <p:cNvSpPr/>
          <p:nvPr userDrawn="1"/>
        </p:nvSpPr>
        <p:spPr>
          <a:xfrm>
            <a:off x="0" y="0"/>
            <a:ext cx="9144000" cy="948807"/>
          </a:xfrm>
          <a:prstGeom prst="rect">
            <a:avLst/>
          </a:prstGeom>
          <a:solidFill>
            <a:srgbClr val="5959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5" name="Content Placeholder 54"/>
          <p:cNvSpPr>
            <a:spLocks noGrp="1"/>
          </p:cNvSpPr>
          <p:nvPr>
            <p:ph sz="quarter" idx="13" hasCustomPrompt="1"/>
          </p:nvPr>
        </p:nvSpPr>
        <p:spPr>
          <a:xfrm>
            <a:off x="259394" y="1044992"/>
            <a:ext cx="8738281" cy="5059362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ru-RU" dirty="0"/>
              <a:t>Первый уровень</a:t>
            </a:r>
            <a:endParaRPr lang="en-US" dirty="0"/>
          </a:p>
          <a:p>
            <a:pPr lvl="1"/>
            <a:r>
              <a:rPr lang="ru-RU" dirty="0"/>
              <a:t>Второй уровень</a:t>
            </a:r>
            <a:endParaRPr lang="en-US" dirty="0"/>
          </a:p>
          <a:p>
            <a:pPr lvl="2"/>
            <a:r>
              <a:rPr lang="ru-RU" dirty="0"/>
              <a:t>Третий уровень</a:t>
            </a:r>
            <a:endParaRPr lang="en-US" dirty="0"/>
          </a:p>
          <a:p>
            <a:pPr lvl="3"/>
            <a:r>
              <a:rPr lang="ru-RU" dirty="0"/>
              <a:t>Четвертый уровень</a:t>
            </a:r>
            <a:endParaRPr lang="en-US" dirty="0"/>
          </a:p>
          <a:p>
            <a:pPr lvl="4"/>
            <a:r>
              <a:rPr lang="ru-RU" dirty="0"/>
              <a:t>Пятый уровень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39570" y="106695"/>
            <a:ext cx="1308543" cy="751976"/>
          </a:xfrm>
          <a:prstGeom prst="rect">
            <a:avLst/>
          </a:prstGeom>
        </p:spPr>
      </p:pic>
      <p:sp>
        <p:nvSpPr>
          <p:cNvPr id="10" name="Title 1"/>
          <p:cNvSpPr txBox="1">
            <a:spLocks/>
          </p:cNvSpPr>
          <p:nvPr userDrawn="1"/>
        </p:nvSpPr>
        <p:spPr>
          <a:xfrm>
            <a:off x="256645" y="130681"/>
            <a:ext cx="7380000" cy="3520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kern="1200" dirty="0" smtClean="0">
                <a:solidFill>
                  <a:schemeClr val="bg1"/>
                </a:solidFill>
                <a:latin typeface="+mj-lt"/>
                <a:ea typeface="+mj-ea"/>
                <a:cs typeface="Calibri" panose="020F0502020204030204" pitchFamily="34" charset="0"/>
              </a:rPr>
              <a:t>Внедрение «Пилота» и стабилизация решения</a:t>
            </a:r>
            <a:endParaRPr lang="en-US" sz="1800" kern="1200" dirty="0">
              <a:solidFill>
                <a:schemeClr val="bg1"/>
              </a:solidFill>
              <a:latin typeface="+mj-lt"/>
              <a:ea typeface="+mj-ea"/>
              <a:cs typeface="Calibri" panose="020F0502020204030204" pitchFamily="34" charset="0"/>
            </a:endParaRPr>
          </a:p>
        </p:txBody>
      </p:sp>
      <p:sp>
        <p:nvSpPr>
          <p:cNvPr id="11" name="Content Placeholder 57"/>
          <p:cNvSpPr>
            <a:spLocks noGrp="1"/>
          </p:cNvSpPr>
          <p:nvPr>
            <p:ph sz="quarter" idx="14" hasCustomPrompt="1"/>
          </p:nvPr>
        </p:nvSpPr>
        <p:spPr>
          <a:xfrm>
            <a:off x="259394" y="537881"/>
            <a:ext cx="7927975" cy="4109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FCC917"/>
                </a:solidFill>
                <a:latin typeface="+mn-lt"/>
              </a:defRPr>
            </a:lvl1pPr>
          </a:lstStyle>
          <a:p>
            <a:pPr lvl="0"/>
            <a:r>
              <a:rPr lang="ru-RU" dirty="0"/>
              <a:t>Название слайда</a:t>
            </a:r>
          </a:p>
        </p:txBody>
      </p:sp>
      <p:sp>
        <p:nvSpPr>
          <p:cNvPr id="13" name="Прямоугольник 1"/>
          <p:cNvSpPr/>
          <p:nvPr userDrawn="1"/>
        </p:nvSpPr>
        <p:spPr>
          <a:xfrm>
            <a:off x="8683619" y="6488668"/>
            <a:ext cx="42511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E2225EAA-A87D-4D00-A6EA-7D86A67873A6}" type="slidenum">
              <a:rPr lang="ru-RU" altLang="en-US" sz="1600" b="0" smtClean="0">
                <a:latin typeface="+mn-lt"/>
                <a:cs typeface="Arial" pitchFamily="34" charset="0"/>
              </a:rPr>
              <a:pPr/>
              <a:t>‹#›</a:t>
            </a:fld>
            <a:endParaRPr lang="ru-RU" sz="16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63941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Вертикальный заголовок и текст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 userDrawn="1"/>
        </p:nvSpPr>
        <p:spPr>
          <a:xfrm>
            <a:off x="-728132" y="1066799"/>
            <a:ext cx="592666" cy="567267"/>
          </a:xfrm>
          <a:prstGeom prst="rect">
            <a:avLst/>
          </a:prstGeom>
          <a:solidFill>
            <a:srgbClr val="FBC90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srgbClr val="F6CC0C"/>
              </a:solidFill>
            </a:endParaRPr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-728132" y="1820332"/>
            <a:ext cx="592666" cy="567267"/>
          </a:xfrm>
          <a:prstGeom prst="rect">
            <a:avLst/>
          </a:prstGeom>
          <a:solidFill>
            <a:srgbClr val="55585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prstClr val="white"/>
              </a:solidFill>
            </a:endParaRPr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-728132" y="3005666"/>
            <a:ext cx="592666" cy="567267"/>
          </a:xfrm>
          <a:prstGeom prst="rect">
            <a:avLst/>
          </a:prstGeom>
          <a:solidFill>
            <a:srgbClr val="C00937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srgbClr val="F6CC0C"/>
              </a:solidFill>
            </a:endParaRPr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-728132" y="3759199"/>
            <a:ext cx="592666" cy="567267"/>
          </a:xfrm>
          <a:prstGeom prst="rect">
            <a:avLst/>
          </a:prstGeom>
          <a:solidFill>
            <a:srgbClr val="00867E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prstClr val="white"/>
              </a:solidFill>
            </a:endParaRPr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-728132" y="4512732"/>
            <a:ext cx="592666" cy="567267"/>
          </a:xfrm>
          <a:prstGeom prst="rect">
            <a:avLst/>
          </a:prstGeom>
          <a:solidFill>
            <a:srgbClr val="64223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srgbClr val="F6CC0C"/>
              </a:solidFill>
            </a:endParaRP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-728132" y="5266265"/>
            <a:ext cx="592666" cy="567267"/>
          </a:xfrm>
          <a:prstGeom prst="rect">
            <a:avLst/>
          </a:prstGeom>
          <a:solidFill>
            <a:srgbClr val="DB550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prstClr val="white"/>
              </a:solidFill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-677334" y="2992966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192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9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55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-677334" y="1820332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FBC90B"/>
                </a:solidFill>
                <a:latin typeface="Calibri"/>
              </a:rPr>
              <a:t>85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FBC90B"/>
                </a:solidFill>
                <a:latin typeface="Calibri"/>
              </a:rPr>
              <a:t>88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FBC90B"/>
                </a:solidFill>
                <a:latin typeface="Calibri"/>
              </a:rPr>
              <a:t>89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-677334" y="3759199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0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134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126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-677334" y="4496283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100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34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53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-677334" y="5251933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219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85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 userDrawn="1"/>
        </p:nvSpPr>
        <p:spPr>
          <a:xfrm>
            <a:off x="-677334" y="1048234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555859"/>
                </a:solidFill>
                <a:latin typeface="Calibri"/>
              </a:rPr>
              <a:t>251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555859"/>
                </a:solidFill>
                <a:latin typeface="Calibri"/>
              </a:rPr>
              <a:t>201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555859"/>
                </a:solidFill>
                <a:latin typeface="Calibri"/>
              </a:rPr>
              <a:t>11</a:t>
            </a:r>
          </a:p>
        </p:txBody>
      </p:sp>
      <p:pic>
        <p:nvPicPr>
          <p:cNvPr id="17" name="Picture 4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57388" y="108106"/>
            <a:ext cx="1697425" cy="975453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ctrTitle" hasCustomPrompt="1"/>
          </p:nvPr>
        </p:nvSpPr>
        <p:spPr>
          <a:xfrm>
            <a:off x="498838" y="1364019"/>
            <a:ext cx="7772400" cy="619941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algn="l" defTabSz="914400" rtl="0" eaLnBrk="1" latinLnBrk="0" hangingPunct="1">
              <a:defRPr lang="en-US" sz="3800" b="1" kern="1200" dirty="0">
                <a:solidFill>
                  <a:srgbClr val="FCC917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ru-RU" dirty="0"/>
              <a:t>Название проекта </a:t>
            </a:r>
            <a:r>
              <a:rPr lang="en-US" dirty="0"/>
              <a:t>(Calibri bold 38)</a:t>
            </a:r>
          </a:p>
        </p:txBody>
      </p:sp>
      <p:sp>
        <p:nvSpPr>
          <p:cNvPr id="1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8838" y="2159317"/>
            <a:ext cx="6858000" cy="5200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lang="en-US" sz="2800" kern="1200" dirty="0">
                <a:solidFill>
                  <a:srgbClr val="FCC917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Тема презентации</a:t>
            </a:r>
            <a:r>
              <a:rPr lang="en-US" dirty="0"/>
              <a:t> (Calibri 28)</a:t>
            </a:r>
          </a:p>
        </p:txBody>
      </p:sp>
      <p:sp>
        <p:nvSpPr>
          <p:cNvPr id="20" name="Content Placeholder 9"/>
          <p:cNvSpPr>
            <a:spLocks noGrp="1"/>
          </p:cNvSpPr>
          <p:nvPr>
            <p:ph sz="quarter" idx="10" hasCustomPrompt="1"/>
          </p:nvPr>
        </p:nvSpPr>
        <p:spPr>
          <a:xfrm>
            <a:off x="498838" y="6003925"/>
            <a:ext cx="1143000" cy="2825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FCC917"/>
                </a:solidFill>
              </a:defRPr>
            </a:lvl1pPr>
          </a:lstStyle>
          <a:p>
            <a:pPr lvl="0"/>
            <a:r>
              <a:rPr lang="ru-RU" dirty="0" err="1"/>
              <a:t>чч.мм.гггг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82133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9"/>
          <p:cNvSpPr/>
          <p:nvPr userDrawn="1"/>
        </p:nvSpPr>
        <p:spPr>
          <a:xfrm>
            <a:off x="0" y="0"/>
            <a:ext cx="9144000" cy="948807"/>
          </a:xfrm>
          <a:prstGeom prst="rect">
            <a:avLst/>
          </a:prstGeom>
          <a:solidFill>
            <a:srgbClr val="5959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394" y="96185"/>
            <a:ext cx="7886700" cy="441695"/>
          </a:xfrm>
        </p:spPr>
        <p:txBody>
          <a:bodyPr>
            <a:normAutofit/>
          </a:bodyPr>
          <a:lstStyle>
            <a:lvl1pPr>
              <a:defRPr sz="1800" b="1" baseline="0">
                <a:solidFill>
                  <a:schemeClr val="bg1"/>
                </a:solidFill>
                <a:latin typeface="Calibri Body"/>
              </a:defRPr>
            </a:lvl1pPr>
          </a:lstStyle>
          <a:p>
            <a:r>
              <a:rPr lang="ru-RU" dirty="0"/>
              <a:t>Наименование программы</a:t>
            </a:r>
            <a:r>
              <a:rPr lang="en-US" dirty="0"/>
              <a:t>/</a:t>
            </a:r>
            <a:r>
              <a:rPr lang="ru-RU" dirty="0"/>
              <a:t>Проекта</a:t>
            </a:r>
            <a:r>
              <a:rPr lang="en-US" dirty="0"/>
              <a:t>/</a:t>
            </a:r>
            <a:r>
              <a:rPr lang="ru-RU" dirty="0"/>
              <a:t> название презентации</a:t>
            </a:r>
            <a:endParaRPr lang="en-US" dirty="0"/>
          </a:p>
        </p:txBody>
      </p:sp>
      <p:sp>
        <p:nvSpPr>
          <p:cNvPr id="55" name="Content Placeholder 54"/>
          <p:cNvSpPr>
            <a:spLocks noGrp="1"/>
          </p:cNvSpPr>
          <p:nvPr>
            <p:ph sz="quarter" idx="13" hasCustomPrompt="1"/>
          </p:nvPr>
        </p:nvSpPr>
        <p:spPr>
          <a:xfrm>
            <a:off x="259394" y="1044992"/>
            <a:ext cx="8738281" cy="5059362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 dirty="0"/>
              <a:t>Первый уровень</a:t>
            </a:r>
            <a:endParaRPr lang="en-US" dirty="0"/>
          </a:p>
          <a:p>
            <a:pPr lvl="1"/>
            <a:r>
              <a:rPr lang="ru-RU" dirty="0"/>
              <a:t>Второй уровень</a:t>
            </a:r>
            <a:endParaRPr lang="en-US" dirty="0"/>
          </a:p>
          <a:p>
            <a:pPr lvl="2"/>
            <a:r>
              <a:rPr lang="ru-RU" dirty="0"/>
              <a:t>Третий уровень</a:t>
            </a:r>
            <a:endParaRPr lang="en-US" dirty="0"/>
          </a:p>
          <a:p>
            <a:pPr lvl="3"/>
            <a:r>
              <a:rPr lang="ru-RU" dirty="0"/>
              <a:t>Четвертый уровень</a:t>
            </a:r>
            <a:endParaRPr lang="en-US" dirty="0"/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8" name="Content Placeholder 57"/>
          <p:cNvSpPr>
            <a:spLocks noGrp="1"/>
          </p:cNvSpPr>
          <p:nvPr>
            <p:ph sz="quarter" idx="14" hasCustomPrompt="1"/>
          </p:nvPr>
        </p:nvSpPr>
        <p:spPr>
          <a:xfrm>
            <a:off x="259394" y="537881"/>
            <a:ext cx="7927975" cy="410926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FCC917"/>
                </a:solidFill>
              </a:defRPr>
            </a:lvl1pPr>
          </a:lstStyle>
          <a:p>
            <a:pPr lvl="0"/>
            <a:r>
              <a:rPr lang="ru-RU" dirty="0"/>
              <a:t>Название слайда</a:t>
            </a:r>
          </a:p>
        </p:txBody>
      </p:sp>
      <p:sp>
        <p:nvSpPr>
          <p:cNvPr id="63" name="Slide Number Placeholder 62"/>
          <p:cNvSpPr>
            <a:spLocks noGrp="1"/>
          </p:cNvSpPr>
          <p:nvPr>
            <p:ph type="sldNum" sz="quarter" idx="17"/>
          </p:nvPr>
        </p:nvSpPr>
        <p:spPr>
          <a:xfrm>
            <a:off x="8562975" y="6343858"/>
            <a:ext cx="434700" cy="365125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608ABF02-B19E-48F4-8CD1-E615EFE72681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39570" y="106695"/>
            <a:ext cx="1308543" cy="751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337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4949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4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330526" y="1636294"/>
            <a:ext cx="7940712" cy="665299"/>
          </a:xfrm>
        </p:spPr>
        <p:txBody>
          <a:bodyPr>
            <a:normAutofit fontScale="90000"/>
          </a:bodyPr>
          <a:lstStyle/>
          <a:p>
            <a:r>
              <a:rPr lang="ru-RU" sz="4000" dirty="0"/>
              <a:t>Инструктаж по функциональному направлению </a:t>
            </a:r>
            <a:r>
              <a:rPr lang="ru-RU" sz="4000" dirty="0" smtClean="0"/>
              <a:t>«ТОиР»</a:t>
            </a:r>
            <a:endParaRPr lang="en-US" sz="4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Рукописный ввод 2"/>
              <p14:cNvContentPartPr/>
              <p14:nvPr/>
            </p14:nvContentPartPr>
            <p14:xfrm>
              <a:off x="1055553" y="3599411"/>
              <a:ext cx="360" cy="16920"/>
            </p14:xfrm>
          </p:contentPart>
        </mc:Choice>
        <mc:Fallback xmlns="">
          <p:pic>
            <p:nvPicPr>
              <p:cNvPr id="3" name="Рукописный ввод 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43673" y="3587531"/>
                <a:ext cx="24120" cy="4068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/>
          <p:cNvSpPr txBox="1"/>
          <p:nvPr/>
        </p:nvSpPr>
        <p:spPr>
          <a:xfrm>
            <a:off x="330527" y="2726829"/>
            <a:ext cx="83211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2"/>
            <a:r>
              <a:rPr lang="ru-RU" sz="2800" dirty="0" smtClean="0">
                <a:solidFill>
                  <a:srgbClr val="FCC917"/>
                </a:solidFill>
              </a:rPr>
              <a:t>68</a:t>
            </a:r>
            <a:r>
              <a:rPr lang="en-US" sz="2800" dirty="0" smtClean="0">
                <a:solidFill>
                  <a:srgbClr val="FCC917"/>
                </a:solidFill>
              </a:rPr>
              <a:t>_</a:t>
            </a:r>
            <a:r>
              <a:rPr lang="ru-RU" sz="2800" dirty="0" err="1" smtClean="0">
                <a:solidFill>
                  <a:srgbClr val="FCC917"/>
                </a:solidFill>
              </a:rPr>
              <a:t>ТОиР</a:t>
            </a:r>
            <a:r>
              <a:rPr lang="ru-RU" sz="2800" dirty="0" smtClean="0">
                <a:solidFill>
                  <a:srgbClr val="FCC917"/>
                </a:solidFill>
              </a:rPr>
              <a:t> «</a:t>
            </a:r>
            <a:r>
              <a:rPr lang="ru-RU" sz="2800" dirty="0">
                <a:solidFill>
                  <a:srgbClr val="FCC917"/>
                </a:solidFill>
              </a:rPr>
              <a:t>Управление внеплановыми воздействиями </a:t>
            </a:r>
            <a:r>
              <a:rPr lang="ru-RU" sz="2800" dirty="0" err="1" smtClean="0">
                <a:solidFill>
                  <a:srgbClr val="FCC917"/>
                </a:solidFill>
              </a:rPr>
              <a:t>ТОиР</a:t>
            </a:r>
            <a:r>
              <a:rPr lang="ru-RU" sz="2800" dirty="0" smtClean="0">
                <a:solidFill>
                  <a:srgbClr val="FCC917"/>
                </a:solidFill>
              </a:rPr>
              <a:t>»</a:t>
            </a:r>
            <a:endParaRPr lang="ru-RU" sz="2800" dirty="0">
              <a:solidFill>
                <a:srgbClr val="FCC91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9653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E7452D6-2931-4660-B72B-23BEE7756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1600" dirty="0" smtClean="0"/>
              <a:t>Внедрение пилота и </a:t>
            </a:r>
            <a:r>
              <a:rPr lang="ru-RU" sz="1600" dirty="0"/>
              <a:t>с</a:t>
            </a:r>
            <a:r>
              <a:rPr lang="ru-RU" sz="1600" dirty="0" smtClean="0"/>
              <a:t>табилизация</a:t>
            </a:r>
            <a:endParaRPr lang="ru-RU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0BEA5EF0-EB5E-4271-800C-F8AFAECFA1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ABF02-B19E-48F4-8CD1-E615EFE72681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A1EF22C0-3D4C-46D3-9147-98A942E14074}"/>
              </a:ext>
            </a:extLst>
          </p:cNvPr>
          <p:cNvSpPr txBox="1"/>
          <p:nvPr/>
        </p:nvSpPr>
        <p:spPr>
          <a:xfrm>
            <a:off x="1015836" y="1251469"/>
            <a:ext cx="32930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  <a:latin typeface="Calibri" panose="020F0502020204030204"/>
              </a:rPr>
              <a:t>Планирующий </a:t>
            </a:r>
            <a:r>
              <a:rPr kumimoji="0" lang="ru-RU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Завод (</a:t>
            </a:r>
            <a:r>
              <a:rPr lang="ru-RU" sz="1400" b="1" dirty="0" smtClean="0">
                <a:solidFill>
                  <a:prstClr val="black"/>
                </a:solidFill>
              </a:rPr>
              <a:t>МТР </a:t>
            </a:r>
            <a:r>
              <a:rPr lang="ru-RU" sz="1400" b="1" dirty="0" err="1" smtClean="0">
                <a:solidFill>
                  <a:prstClr val="black"/>
                </a:solidFill>
              </a:rPr>
              <a:t>Вернинское</a:t>
            </a:r>
            <a:r>
              <a:rPr lang="ru-RU" sz="1400" b="1" dirty="0">
                <a:solidFill>
                  <a:prstClr val="black"/>
                </a:solidFill>
              </a:rPr>
              <a:t>)</a:t>
            </a:r>
            <a:endParaRPr lang="ru-RU" sz="14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8DF78CB0-8EFD-45BA-A2E3-EA62FA953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393" y="1027906"/>
            <a:ext cx="756443" cy="75644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A03B924C-2E9B-49B1-86FF-0B5A577F2F13}"/>
              </a:ext>
            </a:extLst>
          </p:cNvPr>
          <p:cNvSpPr txBox="1"/>
          <p:nvPr/>
        </p:nvSpPr>
        <p:spPr>
          <a:xfrm>
            <a:off x="1626413" y="3390009"/>
            <a:ext cx="20717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457200">
              <a:defRPr/>
            </a:pPr>
            <a:r>
              <a:rPr lang="ru-RU" sz="1400" b="1" noProof="0" dirty="0" smtClean="0">
                <a:solidFill>
                  <a:prstClr val="black"/>
                </a:solidFill>
                <a:latin typeface="Calibri" panose="020F0502020204030204"/>
              </a:rPr>
              <a:t>Группа планирования</a:t>
            </a:r>
            <a:endParaRPr kumimoji="0" lang="ru-RU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2067285" y="4173822"/>
            <a:ext cx="9847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Механики</a:t>
            </a:r>
            <a:endParaRPr lang="ru-RU" sz="1400" b="1" dirty="0">
              <a:solidFill>
                <a:prstClr val="black"/>
              </a:solidFill>
            </a:endParaRPr>
          </a:p>
        </p:txBody>
      </p:sp>
      <p:pic>
        <p:nvPicPr>
          <p:cNvPr id="21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28678" y="3953314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xmlns="" id="{08327DC5-AA2B-464A-86E5-6C11A292CE6C}"/>
              </a:ext>
            </a:extLst>
          </p:cNvPr>
          <p:cNvCxnSpPr>
            <a:cxnSpLocks/>
            <a:stCxn id="9" idx="2"/>
            <a:endCxn id="63" idx="1"/>
          </p:cNvCxnSpPr>
          <p:nvPr/>
        </p:nvCxnSpPr>
        <p:spPr>
          <a:xfrm rot="16200000" flipH="1">
            <a:off x="-114176" y="2536139"/>
            <a:ext cx="1868954" cy="36537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xmlns="" id="{3A0F56DD-CF56-4F1A-ADC7-E0069D93ECD9}"/>
              </a:ext>
            </a:extLst>
          </p:cNvPr>
          <p:cNvCxnSpPr>
            <a:cxnSpLocks/>
            <a:stCxn id="9" idx="2"/>
            <a:endCxn id="61" idx="1"/>
          </p:cNvCxnSpPr>
          <p:nvPr/>
        </p:nvCxnSpPr>
        <p:spPr>
          <a:xfrm rot="16200000" flipH="1">
            <a:off x="381042" y="2040921"/>
            <a:ext cx="1114233" cy="60108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xmlns="" id="{EE5D4648-FA46-435D-8C88-B69916011E23}"/>
              </a:ext>
            </a:extLst>
          </p:cNvPr>
          <p:cNvCxnSpPr>
            <a:cxnSpLocks/>
            <a:stCxn id="63" idx="2"/>
          </p:cNvCxnSpPr>
          <p:nvPr/>
        </p:nvCxnSpPr>
        <p:spPr>
          <a:xfrm rot="16200000" flipH="1">
            <a:off x="977230" y="4191663"/>
            <a:ext cx="969400" cy="418316"/>
          </a:xfrm>
          <a:prstGeom prst="bentConnector3">
            <a:avLst>
              <a:gd name="adj1" fmla="val 9978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xmlns="" id="{3814E9AF-D996-4CA9-AB03-EAF3EEFC8983}"/>
              </a:ext>
            </a:extLst>
          </p:cNvPr>
          <p:cNvCxnSpPr>
            <a:cxnSpLocks/>
            <a:stCxn id="63" idx="2"/>
          </p:cNvCxnSpPr>
          <p:nvPr/>
        </p:nvCxnSpPr>
        <p:spPr>
          <a:xfrm rot="16200000" flipH="1">
            <a:off x="695051" y="4473842"/>
            <a:ext cx="1533758" cy="418316"/>
          </a:xfrm>
          <a:prstGeom prst="bentConnector3">
            <a:avLst>
              <a:gd name="adj1" fmla="val 10051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xmlns="" id="{70BCBBD2-7604-446B-9BF1-6D8F3937AD04}"/>
              </a:ext>
            </a:extLst>
          </p:cNvPr>
          <p:cNvCxnSpPr>
            <a:cxnSpLocks/>
            <a:stCxn id="63" idx="2"/>
            <a:endCxn id="21" idx="1"/>
          </p:cNvCxnSpPr>
          <p:nvPr/>
        </p:nvCxnSpPr>
        <p:spPr>
          <a:xfrm rot="16200000" flipH="1">
            <a:off x="1314569" y="3854324"/>
            <a:ext cx="352312" cy="47590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ontent Placeholder 40">
            <a:extLst>
              <a:ext uri="{FF2B5EF4-FFF2-40B4-BE49-F238E27FC236}">
                <a16:creationId xmlns:a16="http://schemas.microsoft.com/office/drawing/2014/main" xmlns="" id="{72908958-8178-442F-A26C-EECF80B40226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/>
              <a:t>Организационная структура </a:t>
            </a:r>
            <a:r>
              <a:rPr lang="ru-RU" sz="2000" dirty="0" smtClean="0"/>
              <a:t>ТОиР</a:t>
            </a:r>
            <a:endParaRPr lang="ru-RU" sz="2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CA66FEB1-6A64-42C0-B7D1-C69537B39736}"/>
              </a:ext>
            </a:extLst>
          </p:cNvPr>
          <p:cNvSpPr txBox="1"/>
          <p:nvPr/>
        </p:nvSpPr>
        <p:spPr>
          <a:xfrm>
            <a:off x="2034952" y="1959708"/>
            <a:ext cx="43849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kumimoji="0" lang="ru-RU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Завод расположения (</a:t>
            </a:r>
            <a:r>
              <a:rPr lang="ru-RU" sz="1400" b="1" noProof="0" dirty="0" smtClean="0">
                <a:solidFill>
                  <a:prstClr val="black"/>
                </a:solidFill>
              </a:rPr>
              <a:t>Г</a:t>
            </a:r>
            <a:r>
              <a:rPr lang="ru-RU" sz="1400" b="1" dirty="0" err="1" smtClean="0">
                <a:solidFill>
                  <a:prstClr val="black"/>
                </a:solidFill>
              </a:rPr>
              <a:t>орно</a:t>
            </a:r>
            <a:r>
              <a:rPr lang="ru-RU" sz="1400" b="1" dirty="0" smtClean="0">
                <a:solidFill>
                  <a:prstClr val="black"/>
                </a:solidFill>
              </a:rPr>
              <a:t>-транспортный комплекс)</a:t>
            </a:r>
            <a:endParaRPr lang="ru-RU" sz="14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7FE7E8F-72FB-4517-A496-46F4F2577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597" y="1749012"/>
            <a:ext cx="756443" cy="756443"/>
          </a:xfrm>
          <a:prstGeom prst="rect">
            <a:avLst/>
          </a:prstGeom>
        </p:spPr>
      </p:pic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xmlns="" id="{0F914EFE-345F-4856-97FD-0ACEDE102A32}"/>
              </a:ext>
            </a:extLst>
          </p:cNvPr>
          <p:cNvCxnSpPr>
            <a:cxnSpLocks/>
            <a:stCxn id="9" idx="2"/>
          </p:cNvCxnSpPr>
          <p:nvPr/>
        </p:nvCxnSpPr>
        <p:spPr>
          <a:xfrm rot="16200000" flipH="1">
            <a:off x="766716" y="1655247"/>
            <a:ext cx="342884" cy="60108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" name="Picture 32">
            <a:extLst>
              <a:ext uri="{FF2B5EF4-FFF2-40B4-BE49-F238E27FC236}">
                <a16:creationId xmlns:a16="http://schemas.microsoft.com/office/drawing/2014/main" xmlns="" id="{37FE7E8F-72FB-4517-A496-46F4F2577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702" y="2520360"/>
            <a:ext cx="756443" cy="756443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xmlns="" id="{CA66FEB1-6A64-42C0-B7D1-C69537B39736}"/>
              </a:ext>
            </a:extLst>
          </p:cNvPr>
          <p:cNvSpPr txBox="1"/>
          <p:nvPr/>
        </p:nvSpPr>
        <p:spPr>
          <a:xfrm>
            <a:off x="2035159" y="2731028"/>
            <a:ext cx="43606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kumimoji="0" lang="ru-RU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Завод расположения (</a:t>
            </a:r>
            <a:r>
              <a:rPr lang="ru-RU" sz="1400" b="1" dirty="0" err="1" smtClean="0">
                <a:solidFill>
                  <a:prstClr val="black"/>
                </a:solidFill>
                <a:latin typeface="Calibri" panose="020F0502020204030204"/>
              </a:rPr>
              <a:t>Золотоизвлекающая</a:t>
            </a:r>
            <a:r>
              <a:rPr lang="ru-RU" sz="1400" b="1" dirty="0" smtClean="0">
                <a:solidFill>
                  <a:prstClr val="black"/>
                </a:solidFill>
                <a:latin typeface="Calibri" panose="020F0502020204030204"/>
              </a:rPr>
              <a:t> фабрика)</a:t>
            </a:r>
            <a:endParaRPr lang="ru-RU" sz="14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3" name="Picture 15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988" y="3390485"/>
            <a:ext cx="499568" cy="525636"/>
          </a:xfrm>
          <a:prstGeom prst="rect">
            <a:avLst/>
          </a:prstGeom>
        </p:spPr>
      </p:pic>
      <p:pic>
        <p:nvPicPr>
          <p:cNvPr id="64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28678" y="4596500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5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34156" y="5239686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2061548" y="4731632"/>
            <a:ext cx="10033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>
                <a:solidFill>
                  <a:prstClr val="black"/>
                </a:solidFill>
              </a:rPr>
              <a:t>Электрики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2061548" y="5361556"/>
            <a:ext cx="16623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Метрологи/</a:t>
            </a:r>
            <a:r>
              <a:rPr lang="ru-RU" sz="1400" b="1" dirty="0" err="1" smtClean="0">
                <a:solidFill>
                  <a:prstClr val="black"/>
                </a:solidFill>
              </a:rPr>
              <a:t>КИПиА</a:t>
            </a:r>
            <a:endParaRPr lang="ru-RU" sz="1400" b="1" dirty="0">
              <a:solidFill>
                <a:prstClr val="black"/>
              </a:solidFill>
            </a:endParaRPr>
          </a:p>
        </p:txBody>
      </p:sp>
      <p:pic>
        <p:nvPicPr>
          <p:cNvPr id="71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28678" y="5895821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2056070" y="6017691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ЗИС</a:t>
            </a:r>
            <a:endParaRPr lang="ru-RU" sz="1400" b="1" dirty="0">
              <a:solidFill>
                <a:prstClr val="black"/>
              </a:solidFill>
            </a:endParaRPr>
          </a:p>
        </p:txBody>
      </p:sp>
      <p:cxnSp>
        <p:nvCxnSpPr>
          <p:cNvPr id="74" name="Connector: Elbow 28">
            <a:extLst>
              <a:ext uri="{FF2B5EF4-FFF2-40B4-BE49-F238E27FC236}">
                <a16:creationId xmlns:a16="http://schemas.microsoft.com/office/drawing/2014/main" xmlns="" id="{3814E9AF-D996-4CA9-AB03-EAF3EEFC8983}"/>
              </a:ext>
            </a:extLst>
          </p:cNvPr>
          <p:cNvCxnSpPr>
            <a:cxnSpLocks/>
            <a:stCxn id="63" idx="2"/>
          </p:cNvCxnSpPr>
          <p:nvPr/>
        </p:nvCxnSpPr>
        <p:spPr>
          <a:xfrm rot="16200000" flipH="1">
            <a:off x="335986" y="4832907"/>
            <a:ext cx="2298106" cy="464534"/>
          </a:xfrm>
          <a:prstGeom prst="bentConnector3">
            <a:avLst>
              <a:gd name="adj1" fmla="val 10028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0572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Завод расположения технических объектов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D6AF221D-D50C-4215-80A9-F450D2E058D4}"/>
              </a:ext>
            </a:extLst>
          </p:cNvPr>
          <p:cNvSpPr txBox="1"/>
          <p:nvPr/>
        </p:nvSpPr>
        <p:spPr>
          <a:xfrm>
            <a:off x="366282" y="1128786"/>
            <a:ext cx="487773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Заводы расположения ТОРО – </a:t>
            </a:r>
            <a:r>
              <a:rPr lang="ru-RU" dirty="0"/>
              <a:t>организационная единица в системе </a:t>
            </a:r>
            <a:r>
              <a:rPr lang="en-US" dirty="0"/>
              <a:t>S</a:t>
            </a:r>
            <a:r>
              <a:rPr lang="ru-RU" dirty="0"/>
              <a:t>/4</a:t>
            </a:r>
            <a:r>
              <a:rPr lang="en-US" dirty="0"/>
              <a:t>HANA</a:t>
            </a:r>
            <a:r>
              <a:rPr lang="ru-RU" dirty="0"/>
              <a:t>, на которой установлены и физически находятся технические объекты или объекты общего назначения (например, здания и сооружения) предприятия, подлежащие техническому обслуживанию и ремонту</a:t>
            </a:r>
            <a:r>
              <a:rPr lang="ru-RU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Заводы расположения ТОРО в рамках группы компания Полюс – это управляющие офисы, производственные заводы: ГТК,ЗИФ и другие, где есть оборудование или здания и сооружения, подлежащие техническому обслуживанию и ремонту.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xmlns="" id="{DADD2EAE-83A2-480E-BC8C-22303421C34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8404" y="1052205"/>
            <a:ext cx="1273592" cy="127359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xmlns="" id="{4FF47B6F-3A74-4140-BB8B-E295612714E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4815" y="2984031"/>
            <a:ext cx="1251887" cy="125188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xmlns="" id="{948FA8B2-F4D0-4001-AC9A-B1EB426BFE1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214" y="2999134"/>
            <a:ext cx="1236023" cy="1236023"/>
          </a:xfrm>
          <a:prstGeom prst="rect">
            <a:avLst/>
          </a:prstGeom>
        </p:spPr>
      </p:pic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xmlns="" id="{BB67AD97-282B-438C-ACF6-60B5280B028E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 rot="5400000">
            <a:off x="6148863" y="1817694"/>
            <a:ext cx="658234" cy="167444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xmlns="" id="{7CEDCB67-C6D0-40A6-8D3E-5428FC0FFE10}"/>
              </a:ext>
            </a:extLst>
          </p:cNvPr>
          <p:cNvCxnSpPr>
            <a:cxnSpLocks/>
            <a:stCxn id="22" idx="0"/>
            <a:endCxn id="20" idx="2"/>
          </p:cNvCxnSpPr>
          <p:nvPr/>
        </p:nvCxnSpPr>
        <p:spPr>
          <a:xfrm rot="5400000" flipH="1" flipV="1">
            <a:off x="6650545" y="2334479"/>
            <a:ext cx="673337" cy="655974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12B9D54C-5B61-470F-82C8-3EF411A66610}"/>
              </a:ext>
            </a:extLst>
          </p:cNvPr>
          <p:cNvSpPr txBox="1"/>
          <p:nvPr/>
        </p:nvSpPr>
        <p:spPr>
          <a:xfrm>
            <a:off x="5160526" y="4184915"/>
            <a:ext cx="10146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ЗИФ-1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B10C6155-1E34-4112-B75C-415D3606A7A7}"/>
              </a:ext>
            </a:extLst>
          </p:cNvPr>
          <p:cNvSpPr txBox="1"/>
          <p:nvPr/>
        </p:nvSpPr>
        <p:spPr>
          <a:xfrm>
            <a:off x="6086158" y="4195893"/>
            <a:ext cx="11367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ГТК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5C73BF0F-FF52-4B5F-B3C8-5B748BC9634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1996" y="3180317"/>
            <a:ext cx="975250" cy="97525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156EE92B-9A10-4C22-AB81-55F21ACBE04B}"/>
              </a:ext>
            </a:extLst>
          </p:cNvPr>
          <p:cNvSpPr txBox="1"/>
          <p:nvPr/>
        </p:nvSpPr>
        <p:spPr>
          <a:xfrm>
            <a:off x="7786269" y="4168550"/>
            <a:ext cx="130670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Перевалочная база</a:t>
            </a:r>
          </a:p>
          <a:p>
            <a:pPr algn="ctr"/>
            <a:r>
              <a:rPr lang="ru-RU" sz="1400" dirty="0"/>
              <a:t>Лесосибирск</a:t>
            </a:r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xmlns="" id="{80EB108F-8424-4885-8B36-CC496553939A}"/>
              </a:ext>
            </a:extLst>
          </p:cNvPr>
          <p:cNvCxnSpPr>
            <a:cxnSpLocks/>
            <a:stCxn id="20" idx="2"/>
            <a:endCxn id="33" idx="0"/>
          </p:cNvCxnSpPr>
          <p:nvPr/>
        </p:nvCxnSpPr>
        <p:spPr>
          <a:xfrm rot="16200000" flipH="1">
            <a:off x="7450150" y="2190846"/>
            <a:ext cx="854520" cy="1124421"/>
          </a:xfrm>
          <a:prstGeom prst="bentConnector3">
            <a:avLst>
              <a:gd name="adj1" fmla="val 3929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xmlns="" id="{2190950D-07E0-4696-A65A-BD4D7519F562}"/>
              </a:ext>
            </a:extLst>
          </p:cNvPr>
          <p:cNvSpPr txBox="1"/>
          <p:nvPr/>
        </p:nvSpPr>
        <p:spPr>
          <a:xfrm>
            <a:off x="6524030" y="1005459"/>
            <a:ext cx="1136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Полюс Красноярск</a:t>
            </a:r>
          </a:p>
        </p:txBody>
      </p:sp>
    </p:spTree>
    <p:extLst>
      <p:ext uri="{BB962C8B-B14F-4D97-AF65-F5344CB8AC3E}">
        <p14:creationId xmlns:p14="http://schemas.microsoft.com/office/powerpoint/2010/main" val="3927673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Завод планирования </a:t>
            </a:r>
            <a:r>
              <a:rPr lang="ru-RU" sz="2000" dirty="0" err="1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ТОиР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D6AF221D-D50C-4215-80A9-F450D2E058D4}"/>
              </a:ext>
            </a:extLst>
          </p:cNvPr>
          <p:cNvSpPr txBox="1"/>
          <p:nvPr/>
        </p:nvSpPr>
        <p:spPr>
          <a:xfrm>
            <a:off x="366282" y="1128786"/>
            <a:ext cx="487773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На заводе планирования </a:t>
            </a:r>
            <a:r>
              <a:rPr lang="ru-RU" dirty="0" err="1" smtClean="0"/>
              <a:t>ТОиР</a:t>
            </a:r>
            <a:r>
              <a:rPr lang="ru-RU" dirty="0" smtClean="0"/>
              <a:t> </a:t>
            </a:r>
            <a:r>
              <a:rPr lang="ru-RU" dirty="0"/>
              <a:t>ведутся все данные, необходимые для технического обслуживания и ремонта оборудования, например, локальные технологические </a:t>
            </a:r>
            <a:r>
              <a:rPr lang="ru-RU" dirty="0" smtClean="0"/>
              <a:t>карты (нормативы) </a:t>
            </a:r>
            <a:r>
              <a:rPr lang="ru-RU" dirty="0" err="1"/>
              <a:t>ТОиР</a:t>
            </a:r>
            <a:r>
              <a:rPr lang="ru-RU" dirty="0"/>
              <a:t>, и собираются затраты на </a:t>
            </a:r>
            <a:r>
              <a:rPr lang="ru-RU" dirty="0" err="1"/>
              <a:t>ТОиР</a:t>
            </a:r>
            <a:r>
              <a:rPr lang="ru-RU" dirty="0"/>
              <a:t>.</a:t>
            </a: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В рамках заводов планирования ТОРО осуществляется разделение полномочий между отдельными </a:t>
            </a:r>
            <a:r>
              <a:rPr lang="ru-RU" dirty="0" smtClean="0"/>
              <a:t>подразделениями, </a:t>
            </a:r>
            <a:r>
              <a:rPr lang="ru-RU" dirty="0"/>
              <a:t>которые выполняют планирование мероприятий </a:t>
            </a:r>
            <a:r>
              <a:rPr lang="ru-RU" dirty="0" err="1"/>
              <a:t>ТОиР</a:t>
            </a:r>
            <a:r>
              <a:rPr lang="ru-RU" dirty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</p:txBody>
      </p:sp>
      <p:pic>
        <p:nvPicPr>
          <p:cNvPr id="18" name="Picture 22">
            <a:extLst>
              <a:ext uri="{FF2B5EF4-FFF2-40B4-BE49-F238E27FC236}">
                <a16:creationId xmlns:a16="http://schemas.microsoft.com/office/drawing/2014/main" xmlns="" id="{81263A25-CC50-498C-916D-D93984ECAC6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4632" y="1128786"/>
            <a:ext cx="955171" cy="95517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40F468BA-E985-4924-9C60-8A872E4702FE}"/>
              </a:ext>
            </a:extLst>
          </p:cNvPr>
          <p:cNvSpPr txBox="1"/>
          <p:nvPr/>
        </p:nvSpPr>
        <p:spPr>
          <a:xfrm>
            <a:off x="5706435" y="2072686"/>
            <a:ext cx="19878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МТР Производственной площадки</a:t>
            </a:r>
          </a:p>
        </p:txBody>
      </p:sp>
      <p:pic>
        <p:nvPicPr>
          <p:cNvPr id="24" name="Picture 20">
            <a:extLst>
              <a:ext uri="{FF2B5EF4-FFF2-40B4-BE49-F238E27FC236}">
                <a16:creationId xmlns:a16="http://schemas.microsoft.com/office/drawing/2014/main" xmlns="" id="{4FF47B6F-3A74-4140-BB8B-E295612714E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2468" y="2676924"/>
            <a:ext cx="1381793" cy="1381793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40F468BA-E985-4924-9C60-8A872E4702FE}"/>
              </a:ext>
            </a:extLst>
          </p:cNvPr>
          <p:cNvSpPr txBox="1"/>
          <p:nvPr/>
        </p:nvSpPr>
        <p:spPr>
          <a:xfrm>
            <a:off x="5757583" y="4009004"/>
            <a:ext cx="19878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Управляющий офис</a:t>
            </a:r>
            <a:endParaRPr lang="ru-RU" sz="1400" dirty="0"/>
          </a:p>
        </p:txBody>
      </p:sp>
      <p:pic>
        <p:nvPicPr>
          <p:cNvPr id="28" name="Picture 32">
            <a:extLst>
              <a:ext uri="{FF2B5EF4-FFF2-40B4-BE49-F238E27FC236}">
                <a16:creationId xmlns:a16="http://schemas.microsoft.com/office/drawing/2014/main" xmlns="" id="{5C73BF0F-FF52-4B5F-B3C8-5B748BC9634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4632" y="4673611"/>
            <a:ext cx="975250" cy="97525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xmlns="" id="{156EE92B-9A10-4C22-AB81-55F21ACBE04B}"/>
              </a:ext>
            </a:extLst>
          </p:cNvPr>
          <p:cNvSpPr txBox="1"/>
          <p:nvPr/>
        </p:nvSpPr>
        <p:spPr>
          <a:xfrm>
            <a:off x="6111382" y="5531512"/>
            <a:ext cx="13067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Перевалочная </a:t>
            </a:r>
            <a:r>
              <a:rPr lang="ru-RU" sz="1400" dirty="0" smtClean="0"/>
              <a:t>база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2322789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Группа планирования </a:t>
            </a:r>
            <a:r>
              <a:rPr lang="ru-RU" sz="2000" dirty="0" err="1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ТОиР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D6AF221D-D50C-4215-80A9-F450D2E058D4}"/>
              </a:ext>
            </a:extLst>
          </p:cNvPr>
          <p:cNvSpPr txBox="1"/>
          <p:nvPr/>
        </p:nvSpPr>
        <p:spPr>
          <a:xfrm>
            <a:off x="366282" y="1128786"/>
            <a:ext cx="487773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Группа планирования ТОРО - это элемент организационной структуры в системе </a:t>
            </a:r>
            <a:r>
              <a:rPr lang="en-US" dirty="0"/>
              <a:t>S</a:t>
            </a:r>
            <a:r>
              <a:rPr lang="ru-RU" dirty="0"/>
              <a:t>/4</a:t>
            </a:r>
            <a:r>
              <a:rPr lang="en-US" dirty="0"/>
              <a:t>HANA</a:t>
            </a:r>
            <a:r>
              <a:rPr lang="ru-RU" dirty="0"/>
              <a:t>, который осуществляет планирование и организацию технического обслуживания и ремонта в рамках отдельного подразделения, службы, </a:t>
            </a:r>
            <a:r>
              <a:rPr lang="ru-RU" dirty="0" smtClean="0"/>
              <a:t>отдела.</a:t>
            </a: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Одному заводу планирования ТОРО может соответствовать несколько групп планирования ТОРО в соответствии с направлениями деятельности по планированию работ ТОРО. </a:t>
            </a: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На уровне группа планирования ТОРО </a:t>
            </a:r>
            <a:r>
              <a:rPr lang="ru-RU" dirty="0" smtClean="0"/>
              <a:t>выполняется системное </a:t>
            </a:r>
            <a:r>
              <a:rPr lang="ru-RU" dirty="0"/>
              <a:t>разделение полномочий к объектам </a:t>
            </a:r>
            <a:r>
              <a:rPr lang="ru-RU" dirty="0" smtClean="0"/>
              <a:t>ТОРО (например заказы ТОРО)</a:t>
            </a: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6530791" y="1541458"/>
            <a:ext cx="9847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Механики</a:t>
            </a:r>
            <a:endParaRPr lang="ru-RU" sz="1400" b="1" dirty="0">
              <a:solidFill>
                <a:prstClr val="black"/>
              </a:solidFill>
            </a:endParaRPr>
          </a:p>
        </p:txBody>
      </p:sp>
      <p:pic>
        <p:nvPicPr>
          <p:cNvPr id="11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92184" y="1320950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92184" y="1964136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97662" y="2607322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6525054" y="2099268"/>
            <a:ext cx="10033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>
                <a:solidFill>
                  <a:prstClr val="black"/>
                </a:solidFill>
              </a:rPr>
              <a:t>Электрики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6525054" y="2729192"/>
            <a:ext cx="16623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Метрологи/</a:t>
            </a:r>
            <a:r>
              <a:rPr lang="ru-RU" sz="1400" b="1" dirty="0" err="1" smtClean="0">
                <a:solidFill>
                  <a:prstClr val="black"/>
                </a:solidFill>
              </a:rPr>
              <a:t>КИПиА</a:t>
            </a:r>
            <a:endParaRPr lang="ru-RU" sz="1400" b="1" dirty="0">
              <a:solidFill>
                <a:prstClr val="black"/>
              </a:solidFill>
            </a:endParaRPr>
          </a:p>
        </p:txBody>
      </p:sp>
      <p:pic>
        <p:nvPicPr>
          <p:cNvPr id="17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92184" y="3263457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6519576" y="3385327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ЗИС</a:t>
            </a:r>
            <a:endParaRPr lang="ru-RU" sz="14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3725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E7452D6-2931-4660-B72B-23BEE7756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1600" dirty="0" smtClean="0"/>
              <a:t>Внедрение пилота и </a:t>
            </a:r>
            <a:r>
              <a:rPr lang="ru-RU" sz="1600" dirty="0"/>
              <a:t>с</a:t>
            </a:r>
            <a:r>
              <a:rPr lang="ru-RU" sz="1600" dirty="0" smtClean="0"/>
              <a:t>табилизация</a:t>
            </a:r>
            <a:endParaRPr lang="ru-RU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0BEA5EF0-EB5E-4271-800C-F8AFAECFA1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ABF02-B19E-48F4-8CD1-E615EFE72681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41" name="Content Placeholder 40">
            <a:extLst>
              <a:ext uri="{FF2B5EF4-FFF2-40B4-BE49-F238E27FC236}">
                <a16:creationId xmlns:a16="http://schemas.microsoft.com/office/drawing/2014/main" xmlns="" id="{72908958-8178-442F-A26C-EECF80B40226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/>
              <a:t>Производственный актив</a:t>
            </a:r>
            <a:endParaRPr lang="ru-RU" sz="2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D6AF221D-D50C-4215-80A9-F450D2E058D4}"/>
              </a:ext>
            </a:extLst>
          </p:cNvPr>
          <p:cNvSpPr txBox="1"/>
          <p:nvPr/>
        </p:nvSpPr>
        <p:spPr>
          <a:xfrm>
            <a:off x="366281" y="1128786"/>
            <a:ext cx="834458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ru-RU" dirty="0" smtClean="0"/>
              <a:t>Производственные активы: </a:t>
            </a:r>
            <a:r>
              <a:rPr lang="ru-RU" dirty="0"/>
              <a:t>активы, используемые неоднократно или постоянно в течение длительного периода, необходимые для обеспечения основной и вспомогательной производственной деятельности компании. К </a:t>
            </a:r>
            <a:r>
              <a:rPr lang="ru-RU" dirty="0" smtClean="0"/>
              <a:t>производственным активам относят: основное производственное оборудование</a:t>
            </a:r>
            <a:r>
              <a:rPr lang="ru-RU" dirty="0"/>
              <a:t>, вспомогательное </a:t>
            </a:r>
            <a:r>
              <a:rPr lang="ru-RU" dirty="0" smtClean="0"/>
              <a:t>оборудование, здания и сооружения, автотранспортное оборудование, энергетическое оборудование и т.д.</a:t>
            </a: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В </a:t>
            </a:r>
            <a:r>
              <a:rPr lang="en-US" dirty="0" smtClean="0"/>
              <a:t>SAP S/4 HANA </a:t>
            </a:r>
            <a:r>
              <a:rPr lang="ru-RU" dirty="0" smtClean="0"/>
              <a:t>производственный актив отражён в различных представлениях:</a:t>
            </a:r>
          </a:p>
          <a:p>
            <a:r>
              <a:rPr lang="ru-RU" dirty="0"/>
              <a:t> </a:t>
            </a:r>
            <a:r>
              <a:rPr lang="ru-RU" dirty="0" smtClean="0"/>
              <a:t>    - производственном</a:t>
            </a:r>
          </a:p>
          <a:p>
            <a:r>
              <a:rPr lang="ru-RU" dirty="0"/>
              <a:t> </a:t>
            </a:r>
            <a:r>
              <a:rPr lang="ru-RU" dirty="0" smtClean="0"/>
              <a:t>    - финансовом (БУ/НУ)</a:t>
            </a:r>
          </a:p>
          <a:p>
            <a:r>
              <a:rPr lang="ru-RU" dirty="0"/>
              <a:t> </a:t>
            </a:r>
            <a:r>
              <a:rPr lang="ru-RU" dirty="0" smtClean="0"/>
              <a:t>    - организационном</a:t>
            </a:r>
          </a:p>
          <a:p>
            <a:r>
              <a:rPr lang="ru-RU" dirty="0"/>
              <a:t> </a:t>
            </a:r>
            <a:r>
              <a:rPr lang="ru-RU" dirty="0" smtClean="0"/>
              <a:t>    - </a:t>
            </a:r>
            <a:r>
              <a:rPr lang="ru-RU" dirty="0" err="1" smtClean="0"/>
              <a:t>ТОиР</a:t>
            </a: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Отражением в процессах </a:t>
            </a:r>
            <a:r>
              <a:rPr lang="ru-RU" dirty="0" err="1" smtClean="0"/>
              <a:t>ТОиР</a:t>
            </a:r>
            <a:r>
              <a:rPr lang="ru-RU" dirty="0" smtClean="0"/>
              <a:t> производственных активов является структура технических мест и единиц оборудования и зоны ответственности в рамках этой структуры.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86744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Единицы оборудования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Пятиугольник 7"/>
          <p:cNvSpPr/>
          <p:nvPr/>
        </p:nvSpPr>
        <p:spPr>
          <a:xfrm rot="5400000">
            <a:off x="1252674" y="227336"/>
            <a:ext cx="426611" cy="2757638"/>
          </a:xfrm>
          <a:prstGeom prst="homePlate">
            <a:avLst>
              <a:gd name="adj" fmla="val 31672"/>
            </a:avLst>
          </a:prstGeom>
          <a:solidFill>
            <a:srgbClr val="FFC000"/>
          </a:solidFill>
          <a:ln w="9525" cap="flat" cmpd="sng" algn="ctr">
            <a:solidFill>
              <a:srgbClr val="0070C0"/>
            </a:solidFill>
            <a:prstDash val="solid"/>
          </a:ln>
          <a:effectLst/>
        </p:spPr>
        <p:txBody>
          <a:bodyPr vert="vert270" lIns="72000" tIns="72000" rIns="72000" bIns="72000" rtlCol="0" anchor="ctr"/>
          <a:lstStyle/>
          <a:p>
            <a:pPr marL="0" marR="0" lvl="0" indent="0" algn="ctr" defTabSz="104298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 smtClean="0">
                <a:ea typeface="Verdana" panose="020B0604030504040204" pitchFamily="34" charset="0"/>
                <a:cs typeface="Verdana" panose="020B0604030504040204" pitchFamily="34" charset="0"/>
              </a:rPr>
              <a:t>Единицы оборудования</a:t>
            </a:r>
            <a:endParaRPr lang="ru-RU" sz="2000" dirty="0"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87162" y="1819461"/>
            <a:ext cx="2757637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Arial" pitchFamily="34" charset="0"/>
              <a:buChar char="•"/>
            </a:pPr>
            <a:r>
              <a:rPr lang="ru-RU" sz="1200" dirty="0" smtClean="0"/>
              <a:t>Объекты</a:t>
            </a:r>
            <a:r>
              <a:rPr lang="ru-RU" sz="1200" dirty="0"/>
              <a:t>, которые подлежат </a:t>
            </a:r>
            <a:r>
              <a:rPr lang="ru-RU" sz="1200" dirty="0" err="1"/>
              <a:t>ТОиР</a:t>
            </a:r>
            <a:r>
              <a:rPr lang="ru-RU" sz="1200" dirty="0"/>
              <a:t> в качестве самостоятельных единиц</a:t>
            </a:r>
            <a:r>
              <a:rPr lang="ru-RU" sz="1200" dirty="0" smtClean="0"/>
              <a:t>.</a:t>
            </a:r>
          </a:p>
          <a:p>
            <a:pPr lvl="0"/>
            <a:r>
              <a:rPr lang="ru-RU" sz="1200" dirty="0" smtClean="0"/>
              <a:t> </a:t>
            </a:r>
            <a:endParaRPr lang="ru-RU" sz="1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1200" dirty="0" smtClean="0"/>
              <a:t>В структуре </a:t>
            </a:r>
            <a:r>
              <a:rPr lang="ru-RU" sz="1200" dirty="0"/>
              <a:t>о</a:t>
            </a:r>
            <a:r>
              <a:rPr lang="ru-RU" sz="1200" dirty="0" smtClean="0"/>
              <a:t>пределяет </a:t>
            </a:r>
            <a:r>
              <a:rPr lang="ru-RU" sz="1200" dirty="0"/>
              <a:t>иерархическое место объекта в связи со справочником технических мест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ru-RU" sz="1200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ru-RU" sz="1200" dirty="0"/>
              <a:t>Описывает технические характеристики объекта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ru-RU" sz="1200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ru-RU" sz="1200" dirty="0"/>
              <a:t>Содержит информацию о функциональном назначении оборудования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ru-RU" sz="1200" dirty="0"/>
          </a:p>
          <a:p>
            <a:pPr marL="285750" lvl="1" indent="-285750">
              <a:buFont typeface="Wingdings" panose="05000000000000000000" pitchFamily="2" charset="2"/>
              <a:buChar char="Ø"/>
            </a:pPr>
            <a:r>
              <a:rPr lang="ru-RU" sz="1200" dirty="0"/>
              <a:t>Связаны со справочником основных средств</a:t>
            </a:r>
          </a:p>
          <a:p>
            <a:pPr marL="285750" lvl="1" indent="-285750">
              <a:buFont typeface="Wingdings" panose="05000000000000000000" pitchFamily="2" charset="2"/>
              <a:buChar char="Ø"/>
            </a:pPr>
            <a:endParaRPr lang="ru-RU" sz="1200" dirty="0"/>
          </a:p>
          <a:p>
            <a:pPr marL="285750" lvl="1" indent="-285750">
              <a:buFont typeface="Wingdings" panose="05000000000000000000" pitchFamily="2" charset="2"/>
              <a:buChar char="Ø"/>
            </a:pPr>
            <a:r>
              <a:rPr lang="ru-RU" sz="1200" dirty="0"/>
              <a:t>Связаны со структурой учета затрат</a:t>
            </a:r>
          </a:p>
          <a:p>
            <a:pPr marL="285750" lvl="0" indent="-285750"/>
            <a:endParaRPr lang="ru-RU" sz="1400" dirty="0"/>
          </a:p>
          <a:p>
            <a:pPr marL="0" lvl="1"/>
            <a:endParaRPr lang="ru-RU" sz="1400" dirty="0"/>
          </a:p>
        </p:txBody>
      </p:sp>
      <p:pic>
        <p:nvPicPr>
          <p:cNvPr id="113" name="Рисунок 1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6446" y="3079915"/>
            <a:ext cx="6520105" cy="3535347"/>
          </a:xfrm>
          <a:prstGeom prst="rect">
            <a:avLst/>
          </a:prstGeom>
        </p:spPr>
      </p:pic>
      <p:sp>
        <p:nvSpPr>
          <p:cNvPr id="2" name="Прямоугольник 1"/>
          <p:cNvSpPr/>
          <p:nvPr/>
        </p:nvSpPr>
        <p:spPr>
          <a:xfrm>
            <a:off x="3083443" y="1054503"/>
            <a:ext cx="1671437" cy="338346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 smtClean="0"/>
              <a:t>Техническое место</a:t>
            </a:r>
            <a:endParaRPr lang="ru-RU" sz="1400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4213668" y="1537520"/>
            <a:ext cx="1704350" cy="418052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 smtClean="0"/>
              <a:t>Единица оборудования</a:t>
            </a:r>
            <a:endParaRPr lang="ru-RU" sz="1200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5918018" y="2658124"/>
            <a:ext cx="1620927" cy="304214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 smtClean="0"/>
              <a:t>Тип конструкции</a:t>
            </a:r>
            <a:endParaRPr lang="ru-RU" sz="1200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5918018" y="2077580"/>
            <a:ext cx="1620927" cy="338717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 smtClean="0"/>
              <a:t>Основное средство</a:t>
            </a:r>
            <a:endParaRPr lang="ru-RU" sz="1200" dirty="0"/>
          </a:p>
        </p:txBody>
      </p:sp>
      <p:cxnSp>
        <p:nvCxnSpPr>
          <p:cNvPr id="5" name="Соединительная линия уступом 4"/>
          <p:cNvCxnSpPr>
            <a:stCxn id="2" idx="2"/>
            <a:endCxn id="10" idx="1"/>
          </p:cNvCxnSpPr>
          <p:nvPr/>
        </p:nvCxnSpPr>
        <p:spPr>
          <a:xfrm rot="16200000" flipH="1">
            <a:off x="3889567" y="1422444"/>
            <a:ext cx="353697" cy="294506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Соединительная линия уступом 6"/>
          <p:cNvCxnSpPr>
            <a:stCxn id="10" idx="2"/>
            <a:endCxn id="12" idx="1"/>
          </p:cNvCxnSpPr>
          <p:nvPr/>
        </p:nvCxnSpPr>
        <p:spPr>
          <a:xfrm rot="16200000" flipH="1">
            <a:off x="5346247" y="1675167"/>
            <a:ext cx="291367" cy="852175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Соединительная линия уступом 13"/>
          <p:cNvCxnSpPr>
            <a:endCxn id="11" idx="1"/>
          </p:cNvCxnSpPr>
          <p:nvPr/>
        </p:nvCxnSpPr>
        <p:spPr>
          <a:xfrm>
            <a:off x="5065843" y="2246938"/>
            <a:ext cx="852175" cy="563293"/>
          </a:xfrm>
          <a:prstGeom prst="bentConnector3">
            <a:avLst>
              <a:gd name="adj1" fmla="val 548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7093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300881B-61BB-45CF-9DDD-57F6479A451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94561" y="521110"/>
            <a:ext cx="7927975" cy="357780"/>
          </a:xfrm>
          <a:ln>
            <a:noFill/>
          </a:ln>
        </p:spPr>
        <p:txBody>
          <a:bodyPr/>
          <a:lstStyle/>
          <a:p>
            <a:r>
              <a:rPr lang="ru-RU" sz="2000" dirty="0" smtClean="0"/>
              <a:t>Сообщение ТОРО</a:t>
            </a:r>
            <a:endParaRPr lang="ru-RU" sz="200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61" y="1643832"/>
            <a:ext cx="8725213" cy="3245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507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300881B-61BB-45CF-9DDD-57F6479A451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94561" y="521110"/>
            <a:ext cx="7927975" cy="357780"/>
          </a:xfrm>
          <a:ln>
            <a:noFill/>
          </a:ln>
        </p:spPr>
        <p:txBody>
          <a:bodyPr/>
          <a:lstStyle/>
          <a:p>
            <a:r>
              <a:rPr lang="ru-RU" sz="2000" dirty="0" smtClean="0"/>
              <a:t>Сообщение ТОРО. Виды сообщений ТОРО</a:t>
            </a:r>
            <a:endParaRPr lang="ru-RU" sz="20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61" y="1284402"/>
            <a:ext cx="8734738" cy="4056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476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300881B-61BB-45CF-9DDD-57F6479A451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94561" y="521110"/>
            <a:ext cx="7927975" cy="357780"/>
          </a:xfrm>
          <a:ln>
            <a:noFill/>
          </a:ln>
        </p:spPr>
        <p:txBody>
          <a:bodyPr/>
          <a:lstStyle/>
          <a:p>
            <a:r>
              <a:rPr lang="ru-RU" sz="2000" dirty="0" smtClean="0"/>
              <a:t>Заказ</a:t>
            </a:r>
            <a:r>
              <a:rPr lang="ru-RU" sz="2000" dirty="0" smtClean="0"/>
              <a:t> </a:t>
            </a:r>
            <a:r>
              <a:rPr lang="ru-RU" sz="2000" dirty="0" smtClean="0"/>
              <a:t>ТОРО</a:t>
            </a:r>
            <a:endParaRPr lang="ru-RU" sz="20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61" y="1405946"/>
            <a:ext cx="8551596" cy="4501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961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dirty="0"/>
              <a:t>Заказ ТОРО. Виды заказов </a:t>
            </a:r>
            <a:r>
              <a:rPr lang="ru-RU" dirty="0" smtClean="0"/>
              <a:t>ТОРО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60" y="1266239"/>
            <a:ext cx="8570235" cy="4858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1893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4"/>
          </p:nvPr>
        </p:nvSpPr>
        <p:spPr>
          <a:xfrm>
            <a:off x="266052" y="377569"/>
            <a:ext cx="7927975" cy="410926"/>
          </a:xfrm>
        </p:spPr>
        <p:txBody>
          <a:bodyPr/>
          <a:lstStyle/>
          <a:p>
            <a:r>
              <a:rPr lang="ru-RU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8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процесса </a:t>
            </a:r>
            <a:r>
              <a:rPr lang="ru-RU" sz="1800" dirty="0" smtClean="0"/>
              <a:t>«</a:t>
            </a:r>
            <a:r>
              <a:rPr lang="ru-RU" sz="1800" dirty="0"/>
              <a:t>Управление внеплановыми воздействиями </a:t>
            </a:r>
            <a:r>
              <a:rPr lang="ru-RU" sz="1800" dirty="0" err="1"/>
              <a:t>ТОиР</a:t>
            </a:r>
            <a:r>
              <a:rPr lang="ru-RU" sz="1800" dirty="0" smtClean="0"/>
              <a:t>»</a:t>
            </a:r>
            <a:endParaRPr lang="ru-RU" sz="18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3" name="Прямая соединительная линия 4"/>
          <p:cNvSpPr txBox="1"/>
          <p:nvPr/>
        </p:nvSpPr>
        <p:spPr>
          <a:xfrm rot="59759">
            <a:off x="4499146" y="4784246"/>
            <a:ext cx="20315" cy="4571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700" tIns="0" rIns="12700" bIns="0" numCol="1" spcCol="1270" anchor="ctr" anchorCtr="0">
            <a:noAutofit/>
          </a:bodyPr>
          <a:lstStyle/>
          <a:p>
            <a:pPr lvl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ru-RU" sz="500" kern="1200"/>
          </a:p>
        </p:txBody>
      </p:sp>
      <p:sp>
        <p:nvSpPr>
          <p:cNvPr id="24" name="Скругленный прямоугольник 311">
            <a:extLst>
              <a:ext uri="{FF2B5EF4-FFF2-40B4-BE49-F238E27FC236}">
                <a16:creationId xmlns:a16="http://schemas.microsoft.com/office/drawing/2014/main" xmlns="" id="{6B94761C-2B1A-43FF-9AEA-440BE2A8FCFD}"/>
              </a:ext>
            </a:extLst>
          </p:cNvPr>
          <p:cNvSpPr/>
          <p:nvPr/>
        </p:nvSpPr>
        <p:spPr>
          <a:xfrm>
            <a:off x="514350" y="1101092"/>
            <a:ext cx="8164286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Планировщик </a:t>
            </a:r>
            <a:r>
              <a:rPr lang="ru-RU" sz="900" b="1" dirty="0" err="1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Скругленный прямоугольник 28"/>
          <p:cNvSpPr/>
          <p:nvPr/>
        </p:nvSpPr>
        <p:spPr>
          <a:xfrm>
            <a:off x="584911" y="3415941"/>
            <a:ext cx="1502559" cy="976446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47" name="TextBox 46"/>
          <p:cNvSpPr txBox="1"/>
          <p:nvPr/>
        </p:nvSpPr>
        <p:spPr>
          <a:xfrm>
            <a:off x="1446425" y="5013466"/>
            <a:ext cx="15675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bg1"/>
                </a:solidFill>
              </a:rPr>
              <a:t>Создание заявки на консервацию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4910" y="3497789"/>
            <a:ext cx="15025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bg1"/>
                </a:solidFill>
              </a:rPr>
              <a:t>Анализ сообщений ТОРО в соответствии с приоритетом</a:t>
            </a:r>
            <a:endParaRPr lang="ru-RU" sz="1200" dirty="0">
              <a:solidFill>
                <a:schemeClr val="bg1"/>
              </a:solidFill>
            </a:endParaRPr>
          </a:p>
        </p:txBody>
      </p:sp>
      <p:sp>
        <p:nvSpPr>
          <p:cNvPr id="54" name="Скругленный прямоугольник 53"/>
          <p:cNvSpPr/>
          <p:nvPr/>
        </p:nvSpPr>
        <p:spPr>
          <a:xfrm>
            <a:off x="2425992" y="2263951"/>
            <a:ext cx="1502559" cy="976446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51" name="TextBox 50"/>
          <p:cNvSpPr txBox="1"/>
          <p:nvPr/>
        </p:nvSpPr>
        <p:spPr>
          <a:xfrm>
            <a:off x="2402863" y="2331664"/>
            <a:ext cx="15025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bg1"/>
                </a:solidFill>
              </a:rPr>
              <a:t>Анализ и изменение планового заказа ТОРО </a:t>
            </a:r>
          </a:p>
        </p:txBody>
      </p:sp>
      <p:sp>
        <p:nvSpPr>
          <p:cNvPr id="55" name="Скругленный прямоугольник 54"/>
          <p:cNvSpPr/>
          <p:nvPr/>
        </p:nvSpPr>
        <p:spPr>
          <a:xfrm>
            <a:off x="5307882" y="3415940"/>
            <a:ext cx="1502559" cy="976446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56" name="Скругленный прямоугольник 55"/>
          <p:cNvSpPr/>
          <p:nvPr/>
        </p:nvSpPr>
        <p:spPr>
          <a:xfrm>
            <a:off x="3592463" y="4469639"/>
            <a:ext cx="1502559" cy="976446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57" name="Скругленный прямоугольник 56"/>
          <p:cNvSpPr/>
          <p:nvPr/>
        </p:nvSpPr>
        <p:spPr>
          <a:xfrm>
            <a:off x="7023286" y="3415941"/>
            <a:ext cx="1502559" cy="976446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58" name="TextBox 57"/>
          <p:cNvSpPr txBox="1"/>
          <p:nvPr/>
        </p:nvSpPr>
        <p:spPr>
          <a:xfrm>
            <a:off x="3659130" y="4521174"/>
            <a:ext cx="132565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bg1"/>
                </a:solidFill>
              </a:rPr>
              <a:t>Формирование нового заказа ТОРО по данным сообщения ТОРО</a:t>
            </a:r>
          </a:p>
          <a:p>
            <a:endParaRPr lang="ru-RU" dirty="0"/>
          </a:p>
        </p:txBody>
      </p:sp>
      <p:sp>
        <p:nvSpPr>
          <p:cNvPr id="59" name="TextBox 58"/>
          <p:cNvSpPr txBox="1"/>
          <p:nvPr/>
        </p:nvSpPr>
        <p:spPr>
          <a:xfrm>
            <a:off x="5378262" y="3673330"/>
            <a:ext cx="13617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bg1"/>
                </a:solidFill>
              </a:rPr>
              <a:t>Корректировка заказа </a:t>
            </a:r>
            <a:r>
              <a:rPr lang="ru-RU" sz="1200" dirty="0" smtClean="0">
                <a:solidFill>
                  <a:schemeClr val="bg1"/>
                </a:solidFill>
              </a:rPr>
              <a:t>ТОРО</a:t>
            </a:r>
            <a:endParaRPr lang="ru-RU" sz="1200" dirty="0">
              <a:solidFill>
                <a:schemeClr val="bg1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7047938" y="3590123"/>
            <a:ext cx="13828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bg1"/>
                </a:solidFill>
              </a:rPr>
              <a:t>Присвоение заказа к </a:t>
            </a:r>
            <a:r>
              <a:rPr lang="ru-RU" sz="1200" dirty="0" smtClean="0">
                <a:solidFill>
                  <a:schemeClr val="bg1"/>
                </a:solidFill>
              </a:rPr>
              <a:t>СПП-элементу</a:t>
            </a:r>
            <a:endParaRPr lang="ru-RU" sz="1200" dirty="0">
              <a:solidFill>
                <a:schemeClr val="bg1"/>
              </a:solidFill>
            </a:endParaRPr>
          </a:p>
        </p:txBody>
      </p:sp>
      <p:cxnSp>
        <p:nvCxnSpPr>
          <p:cNvPr id="64" name="Соединительная линия уступом 63"/>
          <p:cNvCxnSpPr>
            <a:stCxn id="29" idx="3"/>
            <a:endCxn id="54" idx="1"/>
          </p:cNvCxnSpPr>
          <p:nvPr/>
        </p:nvCxnSpPr>
        <p:spPr>
          <a:xfrm flipV="1">
            <a:off x="2087470" y="2752174"/>
            <a:ext cx="338522" cy="1151990"/>
          </a:xfrm>
          <a:prstGeom prst="bentConnector3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8" name="Соединительная линия уступом 67"/>
          <p:cNvCxnSpPr/>
          <p:nvPr/>
        </p:nvCxnSpPr>
        <p:spPr>
          <a:xfrm flipH="1">
            <a:off x="3580899" y="3011062"/>
            <a:ext cx="336088" cy="2205688"/>
          </a:xfrm>
          <a:prstGeom prst="bentConnector5">
            <a:avLst>
              <a:gd name="adj1" fmla="val -68018"/>
              <a:gd name="adj2" fmla="val 50000"/>
              <a:gd name="adj3" fmla="val 168018"/>
            </a:avLst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0" name="Соединительная линия уступом 69"/>
          <p:cNvCxnSpPr>
            <a:stCxn id="54" idx="3"/>
            <a:endCxn id="55" idx="1"/>
          </p:cNvCxnSpPr>
          <p:nvPr/>
        </p:nvCxnSpPr>
        <p:spPr>
          <a:xfrm>
            <a:off x="3928551" y="2752174"/>
            <a:ext cx="1379331" cy="1151989"/>
          </a:xfrm>
          <a:prstGeom prst="bentConnector3">
            <a:avLst>
              <a:gd name="adj1" fmla="val 92370"/>
            </a:avLst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2" name="Соединительная линия уступом 71"/>
          <p:cNvCxnSpPr>
            <a:stCxn id="56" idx="3"/>
            <a:endCxn id="55" idx="1"/>
          </p:cNvCxnSpPr>
          <p:nvPr/>
        </p:nvCxnSpPr>
        <p:spPr>
          <a:xfrm flipV="1">
            <a:off x="5095022" y="3904163"/>
            <a:ext cx="212860" cy="1053699"/>
          </a:xfrm>
          <a:prstGeom prst="bentConnector3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6" name="Прямая соединительная линия 75"/>
          <p:cNvCxnSpPr>
            <a:stCxn id="55" idx="3"/>
            <a:endCxn id="57" idx="1"/>
          </p:cNvCxnSpPr>
          <p:nvPr/>
        </p:nvCxnSpPr>
        <p:spPr>
          <a:xfrm>
            <a:off x="6810441" y="3904163"/>
            <a:ext cx="212845" cy="1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8" name="Прямая соединительная линия 77"/>
          <p:cNvCxnSpPr>
            <a:stCxn id="57" idx="3"/>
          </p:cNvCxnSpPr>
          <p:nvPr/>
        </p:nvCxnSpPr>
        <p:spPr>
          <a:xfrm flipV="1">
            <a:off x="8525845" y="3904162"/>
            <a:ext cx="618155" cy="2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983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4"/>
          </p:nvPr>
        </p:nvSpPr>
        <p:spPr>
          <a:xfrm>
            <a:off x="266052" y="377569"/>
            <a:ext cx="7927975" cy="410926"/>
          </a:xfrm>
        </p:spPr>
        <p:txBody>
          <a:bodyPr/>
          <a:lstStyle/>
          <a:p>
            <a:r>
              <a:rPr lang="ru-RU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8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процесса </a:t>
            </a:r>
            <a:r>
              <a:rPr lang="ru-RU" sz="1800" dirty="0"/>
              <a:t>«Ведение сообщений </a:t>
            </a:r>
            <a:r>
              <a:rPr lang="ru-RU" sz="1800" dirty="0" smtClean="0"/>
              <a:t>ТОРО.</a:t>
            </a:r>
            <a:r>
              <a:rPr lang="ru-RU" sz="1800" dirty="0"/>
              <a:t> Консервация/</a:t>
            </a:r>
            <a:r>
              <a:rPr lang="ru-RU" sz="1800" dirty="0" err="1"/>
              <a:t>Расконсервация</a:t>
            </a:r>
            <a:r>
              <a:rPr lang="ru-RU" sz="1800" dirty="0"/>
              <a:t> ПА</a:t>
            </a:r>
            <a:r>
              <a:rPr lang="ru-RU" sz="1800" dirty="0" smtClean="0"/>
              <a:t>»</a:t>
            </a:r>
            <a:endParaRPr lang="ru-RU" sz="18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3" name="Прямая соединительная линия 4"/>
          <p:cNvSpPr txBox="1"/>
          <p:nvPr/>
        </p:nvSpPr>
        <p:spPr>
          <a:xfrm rot="59759">
            <a:off x="4499146" y="4784246"/>
            <a:ext cx="20315" cy="4571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700" tIns="0" rIns="12700" bIns="0" numCol="1" spcCol="1270" anchor="ctr" anchorCtr="0">
            <a:noAutofit/>
          </a:bodyPr>
          <a:lstStyle/>
          <a:p>
            <a:pPr lvl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ru-RU" sz="500" kern="1200"/>
          </a:p>
        </p:txBody>
      </p:sp>
      <p:sp>
        <p:nvSpPr>
          <p:cNvPr id="24" name="Скругленный прямоугольник 311">
            <a:extLst>
              <a:ext uri="{FF2B5EF4-FFF2-40B4-BE49-F238E27FC236}">
                <a16:creationId xmlns:a16="http://schemas.microsoft.com/office/drawing/2014/main" xmlns="" id="{6B94761C-2B1A-43FF-9AEA-440BE2A8FCFD}"/>
              </a:ext>
            </a:extLst>
          </p:cNvPr>
          <p:cNvSpPr/>
          <p:nvPr/>
        </p:nvSpPr>
        <p:spPr>
          <a:xfrm>
            <a:off x="391886" y="1101092"/>
            <a:ext cx="2481943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Планировщик </a:t>
            </a:r>
            <a:r>
              <a:rPr lang="ru-RU" sz="900" b="1" dirty="0" err="1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Скругленный прямоугольник 311">
            <a:extLst>
              <a:ext uri="{FF2B5EF4-FFF2-40B4-BE49-F238E27FC236}">
                <a16:creationId xmlns:a16="http://schemas.microsoft.com/office/drawing/2014/main" xmlns="" id="{6B94761C-2B1A-43FF-9AEA-440BE2A8FCFD}"/>
              </a:ext>
            </a:extLst>
          </p:cNvPr>
          <p:cNvSpPr/>
          <p:nvPr/>
        </p:nvSpPr>
        <p:spPr>
          <a:xfrm>
            <a:off x="3129491" y="1101092"/>
            <a:ext cx="2530810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Старший планировщик </a:t>
            </a:r>
            <a:r>
              <a:rPr lang="ru-RU" sz="900" b="1" dirty="0" err="1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Скругленный прямоугольник 38"/>
          <p:cNvSpPr/>
          <p:nvPr/>
        </p:nvSpPr>
        <p:spPr>
          <a:xfrm>
            <a:off x="859249" y="3415940"/>
            <a:ext cx="1723027" cy="1127211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1" name="Скругленный прямоугольник 311">
            <a:extLst>
              <a:ext uri="{FF2B5EF4-FFF2-40B4-BE49-F238E27FC236}">
                <a16:creationId xmlns:a16="http://schemas.microsoft.com/office/drawing/2014/main" xmlns="" id="{6B94761C-2B1A-43FF-9AEA-440BE2A8FCFD}"/>
              </a:ext>
            </a:extLst>
          </p:cNvPr>
          <p:cNvSpPr/>
          <p:nvPr/>
        </p:nvSpPr>
        <p:spPr>
          <a:xfrm>
            <a:off x="5878286" y="1101091"/>
            <a:ext cx="2628900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Главный специалист </a:t>
            </a:r>
            <a:r>
              <a:rPr lang="ru-RU" sz="900" b="1" dirty="0" err="1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3529544" y="3415940"/>
            <a:ext cx="1723027" cy="1127211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3" name="Скругленный прямоугольник 12"/>
          <p:cNvSpPr/>
          <p:nvPr/>
        </p:nvSpPr>
        <p:spPr>
          <a:xfrm>
            <a:off x="6299820" y="3415940"/>
            <a:ext cx="1723027" cy="1127211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cxnSp>
        <p:nvCxnSpPr>
          <p:cNvPr id="9" name="Прямая соединительная линия 8"/>
          <p:cNvCxnSpPr>
            <a:stCxn id="39" idx="1"/>
          </p:cNvCxnSpPr>
          <p:nvPr/>
        </p:nvCxnSpPr>
        <p:spPr>
          <a:xfrm flipH="1">
            <a:off x="0" y="3979546"/>
            <a:ext cx="859249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>
            <a:stCxn id="39" idx="3"/>
            <a:endCxn id="12" idx="1"/>
          </p:cNvCxnSpPr>
          <p:nvPr/>
        </p:nvCxnSpPr>
        <p:spPr>
          <a:xfrm>
            <a:off x="2582276" y="3979546"/>
            <a:ext cx="947268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/>
          <p:nvPr/>
        </p:nvCxnSpPr>
        <p:spPr>
          <a:xfrm>
            <a:off x="5252571" y="4194046"/>
            <a:ext cx="1047249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58136" y="3745171"/>
            <a:ext cx="1536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bg1"/>
                </a:solidFill>
              </a:rPr>
              <a:t>Анализ лимитов на СПП-элементе</a:t>
            </a:r>
            <a:endParaRPr lang="ru-RU" sz="1200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23609" y="3652837"/>
            <a:ext cx="15348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bg1"/>
                </a:solidFill>
              </a:rPr>
              <a:t>Согласование заказа на внеплановые работы</a:t>
            </a:r>
            <a:endParaRPr lang="ru-RU" sz="1200" dirty="0">
              <a:solidFill>
                <a:schemeClr val="bg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01244" y="3652839"/>
            <a:ext cx="15201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bg1"/>
                </a:solidFill>
              </a:rPr>
              <a:t>Анализ НСИ и данных БУ на предмет изменений</a:t>
            </a:r>
          </a:p>
        </p:txBody>
      </p:sp>
      <p:sp>
        <p:nvSpPr>
          <p:cNvPr id="31" name="Скругленный прямоугольник 30"/>
          <p:cNvSpPr/>
          <p:nvPr/>
        </p:nvSpPr>
        <p:spPr>
          <a:xfrm>
            <a:off x="3535439" y="5154536"/>
            <a:ext cx="1723027" cy="1127211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cxnSp>
        <p:nvCxnSpPr>
          <p:cNvPr id="36" name="Соединительная линия уступом 35"/>
          <p:cNvCxnSpPr/>
          <p:nvPr/>
        </p:nvCxnSpPr>
        <p:spPr>
          <a:xfrm flipH="1">
            <a:off x="5237644" y="4178525"/>
            <a:ext cx="2770276" cy="1577536"/>
          </a:xfrm>
          <a:prstGeom prst="bentConnector3">
            <a:avLst>
              <a:gd name="adj1" fmla="val -8252"/>
            </a:avLst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616145" y="5487308"/>
            <a:ext cx="15348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bg1"/>
                </a:solidFill>
              </a:rPr>
              <a:t>Деблокирование заказа ТОРО</a:t>
            </a:r>
            <a:endParaRPr lang="ru-RU" sz="1200" dirty="0">
              <a:solidFill>
                <a:schemeClr val="bg1"/>
              </a:solidFill>
            </a:endParaRPr>
          </a:p>
        </p:txBody>
      </p:sp>
      <p:cxnSp>
        <p:nvCxnSpPr>
          <p:cNvPr id="46" name="Соединительная линия уступом 45"/>
          <p:cNvCxnSpPr>
            <a:stCxn id="12" idx="3"/>
            <a:endCxn id="39" idx="0"/>
          </p:cNvCxnSpPr>
          <p:nvPr/>
        </p:nvCxnSpPr>
        <p:spPr>
          <a:xfrm flipH="1" flipV="1">
            <a:off x="1720763" y="3415940"/>
            <a:ext cx="3531808" cy="563606"/>
          </a:xfrm>
          <a:prstGeom prst="bentConnector4">
            <a:avLst>
              <a:gd name="adj1" fmla="val -6473"/>
              <a:gd name="adj2" fmla="val 140560"/>
            </a:avLst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0" name="Соединительная линия уступом 49"/>
          <p:cNvCxnSpPr>
            <a:stCxn id="13" idx="3"/>
            <a:endCxn id="39" idx="0"/>
          </p:cNvCxnSpPr>
          <p:nvPr/>
        </p:nvCxnSpPr>
        <p:spPr>
          <a:xfrm flipH="1" flipV="1">
            <a:off x="1720763" y="3415940"/>
            <a:ext cx="6302084" cy="563606"/>
          </a:xfrm>
          <a:prstGeom prst="bentConnector4">
            <a:avLst>
              <a:gd name="adj1" fmla="val -3627"/>
              <a:gd name="adj2" fmla="val 192709"/>
            </a:avLst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0593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«Анализ сообщений ТОРО в соответствии с приоритетом»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4" name="Группа 13"/>
          <p:cNvGrpSpPr/>
          <p:nvPr/>
        </p:nvGrpSpPr>
        <p:grpSpPr>
          <a:xfrm>
            <a:off x="3341785" y="2710538"/>
            <a:ext cx="2496314" cy="2319786"/>
            <a:chOff x="2315329" y="875631"/>
            <a:chExt cx="1343033" cy="992604"/>
          </a:xfrm>
        </p:grpSpPr>
        <p:sp>
          <p:nvSpPr>
            <p:cNvPr id="15" name="Скругленный прямоугольник 14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0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 smtClean="0">
                  <a:solidFill>
                    <a:schemeClr val="bg1"/>
                  </a:solidFill>
                </a:rPr>
                <a:t>Анализ и ведение сообщений ТОРО</a:t>
              </a:r>
              <a:endParaRPr lang="ru-RU" sz="1600" kern="12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2" name="Прямая со стрелкой 21"/>
          <p:cNvCxnSpPr/>
          <p:nvPr/>
        </p:nvCxnSpPr>
        <p:spPr>
          <a:xfrm>
            <a:off x="94078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4217000" y="2409149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IW28</a:t>
            </a:r>
            <a:endParaRPr lang="ru-RU" dirty="0"/>
          </a:p>
        </p:txBody>
      </p:sp>
      <p:cxnSp>
        <p:nvCxnSpPr>
          <p:cNvPr id="25" name="Прямая со стрелкой 24"/>
          <p:cNvCxnSpPr/>
          <p:nvPr/>
        </p:nvCxnSpPr>
        <p:spPr>
          <a:xfrm>
            <a:off x="583809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395821" y="4962380"/>
            <a:ext cx="2388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Планировщик </a:t>
            </a:r>
            <a:r>
              <a:rPr lang="ru-RU" dirty="0" err="1" smtClean="0"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72932" y="3302925"/>
            <a:ext cx="23367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Сообщения </a:t>
            </a:r>
            <a:r>
              <a:rPr lang="ru-RU" sz="1200" dirty="0"/>
              <a:t>на внеплановые работы со статусом СОРА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9891" y="3392471"/>
            <a:ext cx="2346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Решение по выполнению работ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Планировщик </a:t>
            </a:r>
            <a:r>
              <a:rPr lang="ru-RU" sz="1400" dirty="0" err="1"/>
              <a:t>ТОиР</a:t>
            </a:r>
            <a:r>
              <a:rPr lang="ru-RU" sz="1400" dirty="0"/>
              <a:t> БЕ ГОК анализирует список сообщений ТОРО на внеплановые работы в </a:t>
            </a:r>
            <a:r>
              <a:rPr lang="ru-RU" sz="1400" dirty="0" smtClean="0"/>
              <a:t>системе с </a:t>
            </a:r>
            <a:r>
              <a:rPr lang="ru-RU" sz="1400" dirty="0"/>
              <a:t>учетом приоритета сообщений ТОРО и принимает </a:t>
            </a:r>
            <a:r>
              <a:rPr lang="ru-RU" sz="1400" dirty="0" smtClean="0"/>
              <a:t>решение</a:t>
            </a:r>
            <a:r>
              <a:rPr lang="ru-RU" sz="1400" dirty="0"/>
              <a:t> </a:t>
            </a:r>
            <a:r>
              <a:rPr lang="ru-RU" sz="1400" dirty="0" smtClean="0"/>
              <a:t>о формировании нового заказа ТОРО.</a:t>
            </a:r>
            <a:endParaRPr lang="ru-RU" sz="1400" dirty="0" smtClean="0"/>
          </a:p>
        </p:txBody>
      </p:sp>
    </p:spTree>
    <p:extLst>
      <p:ext uri="{BB962C8B-B14F-4D97-AF65-F5344CB8AC3E}">
        <p14:creationId xmlns:p14="http://schemas.microsoft.com/office/powerpoint/2010/main" val="2809181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«Анализ и изменение планового заказа ТОРО 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3" name="Группа 12"/>
          <p:cNvGrpSpPr/>
          <p:nvPr/>
        </p:nvGrpSpPr>
        <p:grpSpPr>
          <a:xfrm>
            <a:off x="3304450" y="3012617"/>
            <a:ext cx="2496314" cy="2319786"/>
            <a:chOff x="2315329" y="875631"/>
            <a:chExt cx="1343033" cy="992604"/>
          </a:xfrm>
        </p:grpSpPr>
        <p:sp>
          <p:nvSpPr>
            <p:cNvPr id="16" name="Скругленный прямоугольник 15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7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 smtClean="0">
                  <a:solidFill>
                    <a:schemeClr val="bg1"/>
                  </a:solidFill>
                </a:rPr>
                <a:t>Анализ и ведение сообщений ТОРО</a:t>
              </a:r>
              <a:endParaRPr lang="ru-RU" sz="1600" kern="12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8" name="Прямая со стрелкой 17"/>
          <p:cNvCxnSpPr/>
          <p:nvPr/>
        </p:nvCxnSpPr>
        <p:spPr>
          <a:xfrm>
            <a:off x="903454" y="4186773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179665" y="2711228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IW</a:t>
            </a:r>
            <a:r>
              <a:rPr lang="ru-RU" dirty="0" smtClean="0"/>
              <a:t>3</a:t>
            </a:r>
            <a:r>
              <a:rPr lang="en-US" dirty="0" smtClean="0"/>
              <a:t>8</a:t>
            </a:r>
            <a:endParaRPr lang="ru-RU" dirty="0"/>
          </a:p>
        </p:txBody>
      </p:sp>
      <p:cxnSp>
        <p:nvCxnSpPr>
          <p:cNvPr id="21" name="Прямая со стрелкой 20"/>
          <p:cNvCxnSpPr/>
          <p:nvPr/>
        </p:nvCxnSpPr>
        <p:spPr>
          <a:xfrm>
            <a:off x="5800764" y="3611663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358486" y="5264459"/>
            <a:ext cx="2388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Планировщик </a:t>
            </a:r>
            <a:r>
              <a:rPr lang="ru-RU" dirty="0" err="1" smtClean="0"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35597" y="3605004"/>
            <a:ext cx="23367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Заказ в рамках которого может быть выполнены работы</a:t>
            </a:r>
            <a:endParaRPr lang="ru-RU" sz="1200" dirty="0"/>
          </a:p>
        </p:txBody>
      </p:sp>
      <p:sp>
        <p:nvSpPr>
          <p:cNvPr id="27" name="TextBox 26"/>
          <p:cNvSpPr txBox="1"/>
          <p:nvPr/>
        </p:nvSpPr>
        <p:spPr>
          <a:xfrm>
            <a:off x="5827782" y="3274753"/>
            <a:ext cx="2346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Присвоение сообщения заказу</a:t>
            </a:r>
            <a:endParaRPr lang="ru-RU" sz="1200" dirty="0" smtClean="0"/>
          </a:p>
        </p:txBody>
      </p:sp>
      <p:sp>
        <p:nvSpPr>
          <p:cNvPr id="28" name="TextBox 27"/>
          <p:cNvSpPr txBox="1"/>
          <p:nvPr/>
        </p:nvSpPr>
        <p:spPr>
          <a:xfrm>
            <a:off x="264484" y="1039295"/>
            <a:ext cx="865091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Планировщик ТОРО БЕ ГОК анализирует ранее созданные заказы </a:t>
            </a:r>
            <a:r>
              <a:rPr lang="ru-RU" sz="1400" dirty="0" smtClean="0"/>
              <a:t>ТОРО, </a:t>
            </a:r>
            <a:r>
              <a:rPr lang="ru-RU" sz="1400" dirty="0"/>
              <a:t>е</a:t>
            </a:r>
            <a:r>
              <a:rPr lang="ru-RU" sz="1400" dirty="0" smtClean="0"/>
              <a:t>сли </a:t>
            </a:r>
            <a:r>
              <a:rPr lang="ru-RU" sz="1400" dirty="0"/>
              <a:t>стоимость дополнительных работ не превышает 20% от ранее запланированных, то сообщение ТОРО на внеплановые работы требуется присвоить заказу ТОРО. Если заказ имеет статус СГГС </a:t>
            </a:r>
            <a:r>
              <a:rPr lang="ru-RU" sz="1400" dirty="0" smtClean="0"/>
              <a:t>– «согласован </a:t>
            </a:r>
            <a:r>
              <a:rPr lang="ru-RU" sz="1400" dirty="0"/>
              <a:t>главным </a:t>
            </a:r>
            <a:r>
              <a:rPr lang="ru-RU" sz="1400" dirty="0" smtClean="0"/>
              <a:t>специалистом», </a:t>
            </a:r>
            <a:r>
              <a:rPr lang="ru-RU" sz="1400" dirty="0"/>
              <a:t>то Планировщик </a:t>
            </a:r>
            <a:r>
              <a:rPr lang="ru-RU" sz="1400" dirty="0" err="1"/>
              <a:t>ТОиР</a:t>
            </a:r>
            <a:r>
              <a:rPr lang="ru-RU" sz="1400" dirty="0"/>
              <a:t> обращается к Старшему планировщику </a:t>
            </a:r>
            <a:r>
              <a:rPr lang="ru-RU" sz="1400" dirty="0" err="1"/>
              <a:t>ТОиР</a:t>
            </a:r>
            <a:r>
              <a:rPr lang="ru-RU" sz="1400" dirty="0"/>
              <a:t> для сброса статуса заказа СГГС на ПЛАН </a:t>
            </a:r>
            <a:r>
              <a:rPr lang="ru-RU" sz="1400" dirty="0" smtClean="0"/>
              <a:t>– «планируется», </a:t>
            </a:r>
            <a:r>
              <a:rPr lang="ru-RU" sz="1400" dirty="0"/>
              <a:t>а после с добавления в заказ необходимых операций и МТР инициировать повторное согласование </a:t>
            </a:r>
            <a:r>
              <a:rPr lang="ru-RU" sz="1400" dirty="0" smtClean="0"/>
              <a:t>заказа.</a:t>
            </a:r>
          </a:p>
          <a:p>
            <a:r>
              <a:rPr lang="ru-RU" sz="1400" dirty="0"/>
              <a:t>Если стоимость дополнительных работ превышает 20% от ранее запланированных, то существующий заказ не изменяется, требуется создание </a:t>
            </a:r>
            <a:r>
              <a:rPr lang="ru-RU" sz="1400" dirty="0" smtClean="0"/>
              <a:t>нового заказа ТОРО.</a:t>
            </a:r>
            <a:endParaRPr lang="ru-RU" sz="1400" dirty="0" smtClean="0"/>
          </a:p>
        </p:txBody>
      </p:sp>
      <p:cxnSp>
        <p:nvCxnSpPr>
          <p:cNvPr id="29" name="Прямая со стрелкой 28"/>
          <p:cNvCxnSpPr/>
          <p:nvPr/>
        </p:nvCxnSpPr>
        <p:spPr>
          <a:xfrm>
            <a:off x="5827782" y="4727449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800764" y="4195228"/>
            <a:ext cx="2346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Переход к созданию нового заказа</a:t>
            </a:r>
            <a:endParaRPr lang="ru-RU" sz="1200" dirty="0" smtClean="0"/>
          </a:p>
        </p:txBody>
      </p:sp>
    </p:spTree>
    <p:extLst>
      <p:ext uri="{BB962C8B-B14F-4D97-AF65-F5344CB8AC3E}">
        <p14:creationId xmlns:p14="http://schemas.microsoft.com/office/powerpoint/2010/main" val="3051309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«Формирование нового заказа ТОРО по данным сообщения ТОРО»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64484" y="1039295"/>
            <a:ext cx="86509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Планировщик </a:t>
            </a:r>
            <a:r>
              <a:rPr lang="ru-RU" sz="1400" dirty="0" err="1"/>
              <a:t>ТОиР</a:t>
            </a:r>
            <a:r>
              <a:rPr lang="ru-RU" sz="1400" dirty="0"/>
              <a:t> БЕ ГОК на основании сообщений ТОРО создает новый заказ ТОРО в </a:t>
            </a:r>
            <a:r>
              <a:rPr lang="ru-RU" sz="1400" dirty="0" smtClean="0"/>
              <a:t>системе.</a:t>
            </a:r>
          </a:p>
          <a:p>
            <a:r>
              <a:rPr lang="ru-RU" sz="1400" dirty="0" smtClean="0"/>
              <a:t>Заказ </a:t>
            </a:r>
            <a:r>
              <a:rPr lang="ru-RU" sz="1400" dirty="0"/>
              <a:t>ТОРО сохраняется с системным статусом </a:t>
            </a:r>
            <a:r>
              <a:rPr lang="ru-RU" sz="1400" dirty="0" smtClean="0"/>
              <a:t>«</a:t>
            </a:r>
            <a:r>
              <a:rPr lang="ru-RU" sz="1400" dirty="0"/>
              <a:t>ПЛАН – планируется</a:t>
            </a:r>
            <a:r>
              <a:rPr lang="ru-RU" sz="1400" dirty="0" smtClean="0"/>
              <a:t>».</a:t>
            </a:r>
            <a:endParaRPr lang="ru-RU" sz="1400" dirty="0"/>
          </a:p>
        </p:txBody>
      </p:sp>
      <p:grpSp>
        <p:nvGrpSpPr>
          <p:cNvPr id="17" name="Группа 16"/>
          <p:cNvGrpSpPr/>
          <p:nvPr/>
        </p:nvGrpSpPr>
        <p:grpSpPr>
          <a:xfrm>
            <a:off x="3341785" y="2710538"/>
            <a:ext cx="2496314" cy="2319786"/>
            <a:chOff x="2315329" y="875631"/>
            <a:chExt cx="1343033" cy="992604"/>
          </a:xfrm>
        </p:grpSpPr>
        <p:sp>
          <p:nvSpPr>
            <p:cNvPr id="18" name="Скругленный прямоугольник 17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>
                  <a:solidFill>
                    <a:schemeClr val="bg1"/>
                  </a:solidFill>
                </a:rPr>
                <a:t>Заказ ТОРО для сообщения ТОРО</a:t>
              </a:r>
              <a:endParaRPr lang="ru-RU" sz="1600" kern="12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1" name="Прямая со стрелкой 20"/>
          <p:cNvCxnSpPr/>
          <p:nvPr/>
        </p:nvCxnSpPr>
        <p:spPr>
          <a:xfrm>
            <a:off x="94078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217000" y="2409149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IW34</a:t>
            </a:r>
            <a:endParaRPr lang="ru-RU" dirty="0"/>
          </a:p>
        </p:txBody>
      </p:sp>
      <p:sp>
        <p:nvSpPr>
          <p:cNvPr id="24" name="TextBox 23"/>
          <p:cNvSpPr txBox="1"/>
          <p:nvPr/>
        </p:nvSpPr>
        <p:spPr>
          <a:xfrm>
            <a:off x="875475" y="3227932"/>
            <a:ext cx="2346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Сообщение, которое может быть выполнено в рамках заказа</a:t>
            </a:r>
            <a:endParaRPr lang="ru-RU" sz="1200" dirty="0"/>
          </a:p>
        </p:txBody>
      </p:sp>
      <p:cxnSp>
        <p:nvCxnSpPr>
          <p:cNvPr id="27" name="Прямая со стрелкой 26"/>
          <p:cNvCxnSpPr/>
          <p:nvPr/>
        </p:nvCxnSpPr>
        <p:spPr>
          <a:xfrm>
            <a:off x="583809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892136" y="3320264"/>
            <a:ext cx="2346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Заказ </a:t>
            </a:r>
            <a:r>
              <a:rPr lang="ru-RU" sz="1200" dirty="0" smtClean="0"/>
              <a:t>создан</a:t>
            </a:r>
            <a:endParaRPr lang="ru-RU" sz="1200" dirty="0"/>
          </a:p>
        </p:txBody>
      </p:sp>
      <p:sp>
        <p:nvSpPr>
          <p:cNvPr id="29" name="TextBox 28"/>
          <p:cNvSpPr txBox="1"/>
          <p:nvPr/>
        </p:nvSpPr>
        <p:spPr>
          <a:xfrm>
            <a:off x="3395821" y="4962380"/>
            <a:ext cx="2388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Планировщик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8644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«Корректировка заказа ТОРО»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4484" y="1039295"/>
            <a:ext cx="865091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Планировщик </a:t>
            </a:r>
            <a:r>
              <a:rPr lang="ru-RU" sz="1400" dirty="0" err="1" smtClean="0"/>
              <a:t>ТОиР</a:t>
            </a:r>
            <a:r>
              <a:rPr lang="ru-RU" sz="1400" dirty="0" smtClean="0"/>
              <a:t> БЕ ГОК осуществляет анализ наличия </a:t>
            </a:r>
            <a:r>
              <a:rPr lang="ru-RU" sz="1400" dirty="0" err="1" smtClean="0"/>
              <a:t>техкрты</a:t>
            </a:r>
            <a:r>
              <a:rPr lang="ru-RU" sz="1400" dirty="0" smtClean="0"/>
              <a:t> в заказе ТОРО. В случае невозможности в данный момент наполнить заказ </a:t>
            </a:r>
            <a:r>
              <a:rPr lang="ru-RU" sz="1400" dirty="0"/>
              <a:t>со статусом ПЛАН – «Планируется» операциями, услугами, МТР, ВПС, требуемыми для выполнения внеплановых мероприятий </a:t>
            </a:r>
            <a:r>
              <a:rPr lang="ru-RU" sz="1400" dirty="0" err="1"/>
              <a:t>ТОиР</a:t>
            </a:r>
            <a:r>
              <a:rPr lang="ru-RU" sz="1400" dirty="0"/>
              <a:t>, Планировщик </a:t>
            </a:r>
            <a:r>
              <a:rPr lang="ru-RU" sz="1400" dirty="0" err="1"/>
              <a:t>ТОиР</a:t>
            </a:r>
            <a:r>
              <a:rPr lang="ru-RU" sz="1400" dirty="0"/>
              <a:t> БЕ </a:t>
            </a:r>
            <a:r>
              <a:rPr lang="ru-RU" sz="1400" dirty="0" smtClean="0"/>
              <a:t>ГОК </a:t>
            </a:r>
            <a:r>
              <a:rPr lang="ru-RU" sz="1400" dirty="0"/>
              <a:t>устанавливает статус ПУСТ </a:t>
            </a:r>
            <a:r>
              <a:rPr lang="ru-RU" sz="1400" dirty="0" smtClean="0"/>
              <a:t>– «Заказ требует дополнительного наполнения». В </a:t>
            </a:r>
            <a:r>
              <a:rPr lang="ru-RU" sz="1400" dirty="0"/>
              <a:t>случае </a:t>
            </a:r>
            <a:r>
              <a:rPr lang="ru-RU" sz="1400" dirty="0" smtClean="0"/>
              <a:t>возможности </a:t>
            </a:r>
            <a:r>
              <a:rPr lang="ru-RU" sz="1400" dirty="0"/>
              <a:t>наполнения </a:t>
            </a:r>
            <a:r>
              <a:rPr lang="ru-RU" sz="1400" dirty="0" smtClean="0"/>
              <a:t>заказа со </a:t>
            </a:r>
            <a:r>
              <a:rPr lang="ru-RU" sz="1400" dirty="0"/>
              <a:t>статусом ПЛАН – «Планируется» операциями, услугами, МТР, ВПС, требуемыми для выполнения внеплановых мероприятий </a:t>
            </a:r>
            <a:r>
              <a:rPr lang="ru-RU" sz="1400" dirty="0" err="1"/>
              <a:t>ТОиР</a:t>
            </a:r>
            <a:r>
              <a:rPr lang="ru-RU" sz="1400" dirty="0"/>
              <a:t>, Планировщик </a:t>
            </a:r>
            <a:r>
              <a:rPr lang="ru-RU" sz="1400" dirty="0" err="1"/>
              <a:t>ТОиР</a:t>
            </a:r>
            <a:r>
              <a:rPr lang="ru-RU" sz="1400" dirty="0"/>
              <a:t> БЕ ГОК вносит в заказ ТОРО соответствующие </a:t>
            </a:r>
            <a:r>
              <a:rPr lang="ru-RU" sz="1400" dirty="0" smtClean="0"/>
              <a:t>изменения и </a:t>
            </a:r>
            <a:r>
              <a:rPr lang="ru-RU" sz="1400" dirty="0"/>
              <a:t>устанавливает статус ПОЛН – «Заказ наполнен вручную».</a:t>
            </a:r>
            <a:endParaRPr lang="ru-RU" sz="1400" dirty="0"/>
          </a:p>
        </p:txBody>
      </p:sp>
      <p:grpSp>
        <p:nvGrpSpPr>
          <p:cNvPr id="14" name="Группа 13"/>
          <p:cNvGrpSpPr/>
          <p:nvPr/>
        </p:nvGrpSpPr>
        <p:grpSpPr>
          <a:xfrm>
            <a:off x="3349949" y="2941122"/>
            <a:ext cx="2496314" cy="2319786"/>
            <a:chOff x="2315329" y="875631"/>
            <a:chExt cx="1343033" cy="992604"/>
          </a:xfrm>
        </p:grpSpPr>
        <p:sp>
          <p:nvSpPr>
            <p:cNvPr id="15" name="Скругленный прямоугольник 14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0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 smtClean="0">
                  <a:solidFill>
                    <a:schemeClr val="bg1"/>
                  </a:solidFill>
                </a:rPr>
                <a:t>Анализ и ведение заказов ТОРО</a:t>
              </a:r>
            </a:p>
          </p:txBody>
        </p:sp>
      </p:grpSp>
      <p:cxnSp>
        <p:nvCxnSpPr>
          <p:cNvPr id="22" name="Прямая со стрелкой 21"/>
          <p:cNvCxnSpPr/>
          <p:nvPr/>
        </p:nvCxnSpPr>
        <p:spPr>
          <a:xfrm>
            <a:off x="948953" y="4115278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4225164" y="2639733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IW38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948953" y="3675389"/>
            <a:ext cx="2346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Заказ без </a:t>
            </a:r>
            <a:r>
              <a:rPr lang="ru-RU" sz="1200" dirty="0" err="1" smtClean="0"/>
              <a:t>техкарты</a:t>
            </a:r>
            <a:endParaRPr lang="ru-RU" sz="1200" dirty="0"/>
          </a:p>
        </p:txBody>
      </p:sp>
      <p:cxnSp>
        <p:nvCxnSpPr>
          <p:cNvPr id="25" name="Прямая со стрелкой 24"/>
          <p:cNvCxnSpPr/>
          <p:nvPr/>
        </p:nvCxnSpPr>
        <p:spPr>
          <a:xfrm>
            <a:off x="5846263" y="3545323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900299" y="2890350"/>
            <a:ext cx="2346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Выполнена проверка использованных ТК, установлен статус ПУСТ на заказе</a:t>
            </a:r>
            <a:endParaRPr lang="ru-RU" sz="1200" dirty="0"/>
          </a:p>
        </p:txBody>
      </p:sp>
      <p:sp>
        <p:nvSpPr>
          <p:cNvPr id="6" name="TextBox 5"/>
          <p:cNvSpPr txBox="1"/>
          <p:nvPr/>
        </p:nvSpPr>
        <p:spPr>
          <a:xfrm>
            <a:off x="3403985" y="5192964"/>
            <a:ext cx="2388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Планировщик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846263" y="3989807"/>
            <a:ext cx="2346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Заказ наполнен без ТК, установлен статус ПОЛН</a:t>
            </a:r>
            <a:endParaRPr lang="ru-RU" sz="1200" dirty="0"/>
          </a:p>
        </p:txBody>
      </p:sp>
      <p:cxnSp>
        <p:nvCxnSpPr>
          <p:cNvPr id="16" name="Прямая со стрелкой 15"/>
          <p:cNvCxnSpPr/>
          <p:nvPr/>
        </p:nvCxnSpPr>
        <p:spPr>
          <a:xfrm>
            <a:off x="5846263" y="4451472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7423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«Присвоение заказа к СПП-элементу»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4484" y="1039295"/>
            <a:ext cx="8650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Планировщик </a:t>
            </a:r>
            <a:r>
              <a:rPr lang="ru-RU" sz="1400" dirty="0" err="1"/>
              <a:t>ТОиР</a:t>
            </a:r>
            <a:r>
              <a:rPr lang="ru-RU" sz="1400" dirty="0"/>
              <a:t> БЕ ГОК присваивает Заказам ТОРО СПП-элементы с выделенными лимитами</a:t>
            </a:r>
            <a:r>
              <a:rPr lang="ru-RU" sz="1400" dirty="0" smtClean="0"/>
              <a:t>.</a:t>
            </a:r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  <p:grpSp>
        <p:nvGrpSpPr>
          <p:cNvPr id="14" name="Группа 13"/>
          <p:cNvGrpSpPr/>
          <p:nvPr/>
        </p:nvGrpSpPr>
        <p:grpSpPr>
          <a:xfrm>
            <a:off x="3341785" y="2710538"/>
            <a:ext cx="2496314" cy="2319786"/>
            <a:chOff x="2315329" y="875631"/>
            <a:chExt cx="1343033" cy="992604"/>
          </a:xfrm>
        </p:grpSpPr>
        <p:sp>
          <p:nvSpPr>
            <p:cNvPr id="15" name="Скругленный прямоугольник 14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0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 smtClean="0">
                  <a:solidFill>
                    <a:schemeClr val="bg1"/>
                  </a:solidFill>
                </a:rPr>
                <a:t>Изменение заказа ТОРО</a:t>
              </a:r>
              <a:endParaRPr lang="ru-RU" sz="1600" kern="12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2" name="Прямая со стрелкой 21"/>
          <p:cNvCxnSpPr/>
          <p:nvPr/>
        </p:nvCxnSpPr>
        <p:spPr>
          <a:xfrm>
            <a:off x="94078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4217000" y="2409149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IW32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940789" y="3251450"/>
            <a:ext cx="2346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Заказ не присвоенный СПП-элементу</a:t>
            </a:r>
            <a:endParaRPr lang="ru-RU" sz="1200" dirty="0"/>
          </a:p>
        </p:txBody>
      </p:sp>
      <p:cxnSp>
        <p:nvCxnSpPr>
          <p:cNvPr id="25" name="Прямая со стрелкой 24"/>
          <p:cNvCxnSpPr/>
          <p:nvPr/>
        </p:nvCxnSpPr>
        <p:spPr>
          <a:xfrm>
            <a:off x="583809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865117" y="3436116"/>
            <a:ext cx="2346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Заказ присвоен СПП-элементу</a:t>
            </a:r>
            <a:endParaRPr lang="ru-RU" sz="1200" dirty="0"/>
          </a:p>
        </p:txBody>
      </p:sp>
      <p:sp>
        <p:nvSpPr>
          <p:cNvPr id="6" name="TextBox 5"/>
          <p:cNvSpPr txBox="1"/>
          <p:nvPr/>
        </p:nvSpPr>
        <p:spPr>
          <a:xfrm>
            <a:off x="3395821" y="4962380"/>
            <a:ext cx="2388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Планировщик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7721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«Анализ лимитов на СПП-элементе»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4484" y="1039295"/>
            <a:ext cx="865091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При изменении заказов ТОРО, система автоматически контролирует доступность средств в бюджете. При нехватке бюджета Планировщик </a:t>
            </a:r>
            <a:r>
              <a:rPr lang="ru-RU" sz="1400" dirty="0" err="1"/>
              <a:t>ТОиР</a:t>
            </a:r>
            <a:r>
              <a:rPr lang="ru-RU" sz="1400" dirty="0"/>
              <a:t> БЕ ГОК формирует запрос на корректировку </a:t>
            </a:r>
            <a:r>
              <a:rPr lang="ru-RU" sz="1400" dirty="0" smtClean="0"/>
              <a:t>бюджета.</a:t>
            </a:r>
          </a:p>
          <a:p>
            <a:r>
              <a:rPr lang="ru-RU" sz="1400" dirty="0" smtClean="0"/>
              <a:t>На заказе </a:t>
            </a:r>
            <a:r>
              <a:rPr lang="ru-RU" sz="1400" dirty="0"/>
              <a:t>ТОРО </a:t>
            </a:r>
            <a:r>
              <a:rPr lang="ru-RU" sz="1400" dirty="0" smtClean="0"/>
              <a:t>автоматически устанавливается статус ТРКБ – «требуется </a:t>
            </a:r>
            <a:r>
              <a:rPr lang="ru-RU" sz="1400" dirty="0"/>
              <a:t>корректировка </a:t>
            </a:r>
            <a:r>
              <a:rPr lang="ru-RU" sz="1400" dirty="0" smtClean="0"/>
              <a:t>бюджета».</a:t>
            </a:r>
          </a:p>
          <a:p>
            <a:r>
              <a:rPr lang="ru-RU" sz="1400" dirty="0"/>
              <a:t>Планировщик </a:t>
            </a:r>
            <a:r>
              <a:rPr lang="ru-RU" sz="1400" dirty="0" err="1"/>
              <a:t>ТОиР</a:t>
            </a:r>
            <a:r>
              <a:rPr lang="ru-RU" sz="1400" dirty="0"/>
              <a:t> БЕ ГОК </a:t>
            </a:r>
            <a:r>
              <a:rPr lang="ru-RU" sz="1400" dirty="0" smtClean="0"/>
              <a:t>согласует заказ </a:t>
            </a:r>
            <a:r>
              <a:rPr lang="ru-RU" sz="1400" dirty="0"/>
              <a:t>на внеплановые работы и </a:t>
            </a:r>
            <a:r>
              <a:rPr lang="ru-RU" sz="1400" dirty="0" smtClean="0"/>
              <a:t>корректировку бюджета.</a:t>
            </a:r>
          </a:p>
          <a:p>
            <a:r>
              <a:rPr lang="ru-RU" sz="1400" dirty="0" smtClean="0"/>
              <a:t>На заказе ТОРО устанавливается статус СГПЛ – «отправлен </a:t>
            </a:r>
            <a:r>
              <a:rPr lang="ru-RU" sz="1400" dirty="0"/>
              <a:t>на согласование планировщиком </a:t>
            </a:r>
            <a:r>
              <a:rPr lang="ru-RU" sz="1400" dirty="0" err="1"/>
              <a:t>ТОиР</a:t>
            </a:r>
            <a:r>
              <a:rPr lang="ru-RU" sz="1400" dirty="0" smtClean="0"/>
              <a:t>».</a:t>
            </a:r>
            <a:endParaRPr lang="ru-RU" sz="1400" dirty="0"/>
          </a:p>
          <a:p>
            <a:endParaRPr lang="ru-RU" sz="1400" dirty="0" smtClean="0"/>
          </a:p>
          <a:p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  <p:grpSp>
        <p:nvGrpSpPr>
          <p:cNvPr id="14" name="Группа 13"/>
          <p:cNvGrpSpPr/>
          <p:nvPr/>
        </p:nvGrpSpPr>
        <p:grpSpPr>
          <a:xfrm>
            <a:off x="3341785" y="2710538"/>
            <a:ext cx="2496314" cy="2319786"/>
            <a:chOff x="2315329" y="875631"/>
            <a:chExt cx="1343033" cy="992604"/>
          </a:xfrm>
        </p:grpSpPr>
        <p:sp>
          <p:nvSpPr>
            <p:cNvPr id="15" name="Скругленный прямоугольник 14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0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>
                  <a:solidFill>
                    <a:schemeClr val="bg1"/>
                  </a:solidFill>
                </a:rPr>
                <a:t>Изменение заказа </a:t>
              </a:r>
              <a:r>
                <a:rPr lang="ru-RU" sz="1600" dirty="0" smtClean="0">
                  <a:solidFill>
                    <a:schemeClr val="bg1"/>
                  </a:solidFill>
                </a:rPr>
                <a:t>ТОРО</a:t>
              </a:r>
              <a:endParaRPr lang="ru-RU" sz="16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2" name="Прямая со стрелкой 21"/>
          <p:cNvCxnSpPr/>
          <p:nvPr/>
        </p:nvCxnSpPr>
        <p:spPr>
          <a:xfrm>
            <a:off x="94078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4217000" y="2409149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IW32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940789" y="3251450"/>
            <a:ext cx="2346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Заказ требующий корректировки бюджетных средств</a:t>
            </a:r>
            <a:endParaRPr lang="ru-RU" sz="1200" dirty="0"/>
          </a:p>
        </p:txBody>
      </p:sp>
      <p:cxnSp>
        <p:nvCxnSpPr>
          <p:cNvPr id="25" name="Прямая со стрелкой 24"/>
          <p:cNvCxnSpPr/>
          <p:nvPr/>
        </p:nvCxnSpPr>
        <p:spPr>
          <a:xfrm>
            <a:off x="583809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865117" y="3343782"/>
            <a:ext cx="2346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Заказ в статусе СГПЛ </a:t>
            </a:r>
            <a:r>
              <a:rPr lang="ru-RU" sz="1200" dirty="0"/>
              <a:t>ТРКБ</a:t>
            </a:r>
            <a:r>
              <a:rPr lang="ru-RU" sz="1200" dirty="0" smtClean="0"/>
              <a:t> </a:t>
            </a:r>
            <a:endParaRPr lang="ru-RU" sz="1200" dirty="0"/>
          </a:p>
        </p:txBody>
      </p:sp>
      <p:sp>
        <p:nvSpPr>
          <p:cNvPr id="6" name="TextBox 5"/>
          <p:cNvSpPr txBox="1"/>
          <p:nvPr/>
        </p:nvSpPr>
        <p:spPr>
          <a:xfrm>
            <a:off x="3395821" y="4962380"/>
            <a:ext cx="2388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Планировщик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3277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«Согласование заказа на внеплановые работы»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4484" y="1039295"/>
            <a:ext cx="865091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Старший планировщик </a:t>
            </a:r>
            <a:r>
              <a:rPr lang="ru-RU" sz="1400" dirty="0" err="1"/>
              <a:t>ТОиР</a:t>
            </a:r>
            <a:r>
              <a:rPr lang="ru-RU" sz="1400" dirty="0"/>
              <a:t> БЕ ГОК анализирует заказы ТОРО с присвоенным статусом СГПЛ </a:t>
            </a:r>
            <a:r>
              <a:rPr lang="ru-RU" sz="1400" dirty="0" smtClean="0"/>
              <a:t>– «отправлен </a:t>
            </a:r>
            <a:r>
              <a:rPr lang="ru-RU" sz="1400" dirty="0"/>
              <a:t>на согласование планировщиком </a:t>
            </a:r>
            <a:r>
              <a:rPr lang="ru-RU" sz="1400" dirty="0" err="1" smtClean="0"/>
              <a:t>ТОиР</a:t>
            </a:r>
            <a:r>
              <a:rPr lang="ru-RU" sz="1400" dirty="0" smtClean="0"/>
              <a:t>». </a:t>
            </a:r>
            <a:r>
              <a:rPr lang="ru-RU" sz="1400" dirty="0"/>
              <a:t>Проверяет корректность планирования и возможность выполнения мероприятий </a:t>
            </a:r>
            <a:r>
              <a:rPr lang="ru-RU" sz="1400" dirty="0" err="1"/>
              <a:t>ТОиР</a:t>
            </a:r>
            <a:r>
              <a:rPr lang="ru-RU" sz="1400" dirty="0"/>
              <a:t> по срокам, доступным ресурсам, мощностям</a:t>
            </a:r>
            <a:r>
              <a:rPr lang="ru-RU" sz="1400" dirty="0" smtClean="0"/>
              <a:t>.</a:t>
            </a:r>
          </a:p>
          <a:p>
            <a:r>
              <a:rPr lang="ru-RU" sz="1400" dirty="0"/>
              <a:t>В случае выявления замечаний Старший планировщик </a:t>
            </a:r>
            <a:r>
              <a:rPr lang="ru-RU" sz="1400" dirty="0" err="1"/>
              <a:t>ТОиР</a:t>
            </a:r>
            <a:r>
              <a:rPr lang="ru-RU" sz="1400" dirty="0"/>
              <a:t> БЕ ГОК возвращает заказ ТОРО на корректировку Планировщику </a:t>
            </a:r>
            <a:r>
              <a:rPr lang="ru-RU" sz="1400" dirty="0" err="1"/>
              <a:t>ТОиР</a:t>
            </a:r>
            <a:r>
              <a:rPr lang="ru-RU" sz="1400" dirty="0"/>
              <a:t> БЕ ГОК, устанавливая статус </a:t>
            </a:r>
            <a:r>
              <a:rPr lang="ru-RU" sz="1400" dirty="0" smtClean="0"/>
              <a:t>ПЛАН </a:t>
            </a:r>
            <a:r>
              <a:rPr lang="ru-RU" sz="1400" dirty="0"/>
              <a:t>– </a:t>
            </a:r>
            <a:r>
              <a:rPr lang="ru-RU" sz="1400" dirty="0" smtClean="0"/>
              <a:t>«планируется» </a:t>
            </a:r>
            <a:r>
              <a:rPr lang="ru-RU" sz="1400" dirty="0"/>
              <a:t>и добавляя комментарии в подробный </a:t>
            </a:r>
            <a:r>
              <a:rPr lang="ru-RU" sz="1400" dirty="0" smtClean="0"/>
              <a:t>текст.</a:t>
            </a:r>
          </a:p>
          <a:p>
            <a:r>
              <a:rPr lang="ru-RU" sz="1400" dirty="0"/>
              <a:t>В случае отсутствия замечаний согласовывает Заказ ТОРО установкой статуса ССПЛ </a:t>
            </a:r>
            <a:r>
              <a:rPr lang="ru-RU" sz="1400" dirty="0" smtClean="0"/>
              <a:t>– «согласовано </a:t>
            </a:r>
            <a:r>
              <a:rPr lang="ru-RU" sz="1400" dirty="0"/>
              <a:t>старшим планировщиком </a:t>
            </a:r>
            <a:r>
              <a:rPr lang="ru-RU" sz="1400" dirty="0" err="1" smtClean="0"/>
              <a:t>ТОиР</a:t>
            </a:r>
            <a:r>
              <a:rPr lang="ru-RU" sz="1400" dirty="0" smtClean="0"/>
              <a:t>» </a:t>
            </a:r>
            <a:r>
              <a:rPr lang="ru-RU" sz="1400" dirty="0"/>
              <a:t>и инициирует в зависимости от требуемых сроков работ включение заказа ТОРО в соответствующий горизонт </a:t>
            </a:r>
            <a:r>
              <a:rPr lang="ru-RU" sz="1400" dirty="0" smtClean="0"/>
              <a:t>планирования.</a:t>
            </a:r>
            <a:endParaRPr lang="ru-RU" sz="1400" dirty="0"/>
          </a:p>
          <a:p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  <p:grpSp>
        <p:nvGrpSpPr>
          <p:cNvPr id="14" name="Группа 13"/>
          <p:cNvGrpSpPr/>
          <p:nvPr/>
        </p:nvGrpSpPr>
        <p:grpSpPr>
          <a:xfrm>
            <a:off x="3374442" y="3419606"/>
            <a:ext cx="2496314" cy="2319786"/>
            <a:chOff x="2315329" y="875631"/>
            <a:chExt cx="1343033" cy="992604"/>
          </a:xfrm>
        </p:grpSpPr>
        <p:sp>
          <p:nvSpPr>
            <p:cNvPr id="15" name="Скругленный прямоугольник 14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0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 smtClean="0">
                  <a:solidFill>
                    <a:schemeClr val="bg1"/>
                  </a:solidFill>
                </a:rPr>
                <a:t>Анализ и ведение заказов ТОРО</a:t>
              </a:r>
              <a:endParaRPr lang="ru-RU" sz="1600" kern="12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2" name="Прямая со стрелкой 21"/>
          <p:cNvCxnSpPr/>
          <p:nvPr/>
        </p:nvCxnSpPr>
        <p:spPr>
          <a:xfrm>
            <a:off x="973446" y="4593762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4249657" y="3118217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IW38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1000464" y="4130029"/>
            <a:ext cx="2346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Заказ в статусе СГПЛ</a:t>
            </a:r>
            <a:endParaRPr lang="ru-RU" sz="1200" dirty="0"/>
          </a:p>
        </p:txBody>
      </p:sp>
      <p:cxnSp>
        <p:nvCxnSpPr>
          <p:cNvPr id="25" name="Прямая со стрелкой 24"/>
          <p:cNvCxnSpPr/>
          <p:nvPr/>
        </p:nvCxnSpPr>
        <p:spPr>
          <a:xfrm>
            <a:off x="5870756" y="3991778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924792" y="3345447"/>
            <a:ext cx="2346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Заказ с комментариями возвращен в статус ПЛАН и отправлен на корректировку</a:t>
            </a:r>
            <a:endParaRPr lang="ru-RU" sz="1200" dirty="0"/>
          </a:p>
        </p:txBody>
      </p:sp>
      <p:sp>
        <p:nvSpPr>
          <p:cNvPr id="6" name="TextBox 5"/>
          <p:cNvSpPr txBox="1"/>
          <p:nvPr/>
        </p:nvSpPr>
        <p:spPr>
          <a:xfrm>
            <a:off x="2922814" y="5671448"/>
            <a:ext cx="3298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Старший планировщик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Прямая со стрелкой 12"/>
          <p:cNvCxnSpPr/>
          <p:nvPr/>
        </p:nvCxnSpPr>
        <p:spPr>
          <a:xfrm>
            <a:off x="5870756" y="5123893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897774" y="4711617"/>
            <a:ext cx="2346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Заказ со статусом ССПЛ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286525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«Согласование заказа ТОРО Главным специалистом»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4484" y="1039295"/>
            <a:ext cx="865091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Главный специалист </a:t>
            </a:r>
            <a:r>
              <a:rPr lang="ru-RU" sz="1400" dirty="0" err="1"/>
              <a:t>ТОиР</a:t>
            </a:r>
            <a:r>
              <a:rPr lang="ru-RU" sz="1400" dirty="0"/>
              <a:t> БЕ ГОК выбирает в </a:t>
            </a:r>
            <a:r>
              <a:rPr lang="ru-RU" sz="1400" dirty="0" smtClean="0"/>
              <a:t>системе заказы </a:t>
            </a:r>
            <a:r>
              <a:rPr lang="ru-RU" sz="1400" dirty="0"/>
              <a:t>ТОРО, с пользовательским статусом ССПЛ </a:t>
            </a:r>
            <a:r>
              <a:rPr lang="ru-RU" sz="1400" dirty="0" smtClean="0"/>
              <a:t>– «согласовано </a:t>
            </a:r>
            <a:r>
              <a:rPr lang="ru-RU" sz="1400" dirty="0"/>
              <a:t>старшим планировщиком </a:t>
            </a:r>
            <a:r>
              <a:rPr lang="ru-RU" sz="1400" dirty="0" err="1" smtClean="0"/>
              <a:t>ТОиР</a:t>
            </a:r>
            <a:r>
              <a:rPr lang="ru-RU" sz="1400" dirty="0" smtClean="0"/>
              <a:t>», </a:t>
            </a:r>
            <a:r>
              <a:rPr lang="ru-RU" sz="1400" dirty="0"/>
              <a:t>проверяет корректность </a:t>
            </a:r>
            <a:r>
              <a:rPr lang="ru-RU" sz="1400" dirty="0" smtClean="0"/>
              <a:t>планирования. При </a:t>
            </a:r>
            <a:r>
              <a:rPr lang="ru-RU" sz="1400" dirty="0"/>
              <a:t>отсутствии замечаний согласовывает заказы ТОРО путем установки статуса СГГС </a:t>
            </a:r>
            <a:r>
              <a:rPr lang="ru-RU" sz="1400" dirty="0" smtClean="0"/>
              <a:t>– «согласовано </a:t>
            </a:r>
            <a:r>
              <a:rPr lang="ru-RU" sz="1400" dirty="0"/>
              <a:t>главным </a:t>
            </a:r>
            <a:r>
              <a:rPr lang="ru-RU" sz="1400" dirty="0" smtClean="0"/>
              <a:t>специалистом».</a:t>
            </a:r>
          </a:p>
          <a:p>
            <a:r>
              <a:rPr lang="ru-RU" sz="1400" dirty="0"/>
              <a:t>В случае выявления замечаний Главный специалист </a:t>
            </a:r>
            <a:r>
              <a:rPr lang="ru-RU" sz="1400" dirty="0" err="1"/>
              <a:t>ТОиР</a:t>
            </a:r>
            <a:r>
              <a:rPr lang="ru-RU" sz="1400" dirty="0"/>
              <a:t> БЕ ГОК </a:t>
            </a:r>
            <a:r>
              <a:rPr lang="ru-RU" sz="1400" dirty="0" smtClean="0"/>
              <a:t>возвращает </a:t>
            </a:r>
            <a:r>
              <a:rPr lang="ru-RU" sz="1400" dirty="0"/>
              <a:t>заказ ТОРО на корректировку Планировщику </a:t>
            </a:r>
            <a:r>
              <a:rPr lang="ru-RU" sz="1400" dirty="0" err="1"/>
              <a:t>ТОиР</a:t>
            </a:r>
            <a:r>
              <a:rPr lang="ru-RU" sz="1400" dirty="0"/>
              <a:t> БЕ ГОК, устанавливая статус ПЛАН – «планируется» и добавляя комментарии в подробный текст</a:t>
            </a:r>
            <a:r>
              <a:rPr lang="ru-RU" sz="1400" dirty="0" smtClean="0"/>
              <a:t>.</a:t>
            </a:r>
            <a:endParaRPr lang="ru-RU" sz="1400" dirty="0"/>
          </a:p>
        </p:txBody>
      </p:sp>
      <p:grpSp>
        <p:nvGrpSpPr>
          <p:cNvPr id="14" name="Группа 13"/>
          <p:cNvGrpSpPr/>
          <p:nvPr/>
        </p:nvGrpSpPr>
        <p:grpSpPr>
          <a:xfrm>
            <a:off x="3341785" y="2710538"/>
            <a:ext cx="2496314" cy="2319786"/>
            <a:chOff x="2315329" y="875631"/>
            <a:chExt cx="1343033" cy="992604"/>
          </a:xfrm>
        </p:grpSpPr>
        <p:sp>
          <p:nvSpPr>
            <p:cNvPr id="15" name="Скругленный прямоугольник 14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0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>
                  <a:solidFill>
                    <a:schemeClr val="bg1"/>
                  </a:solidFill>
                </a:rPr>
                <a:t>Анализ и ведение заказов ТОРО</a:t>
              </a:r>
              <a:endParaRPr lang="ru-RU" sz="16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2" name="Прямая со стрелкой 21"/>
          <p:cNvCxnSpPr/>
          <p:nvPr/>
        </p:nvCxnSpPr>
        <p:spPr>
          <a:xfrm>
            <a:off x="94078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4217000" y="2409149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IW38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936545" y="3494663"/>
            <a:ext cx="2346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Заказ в статусе ССПЛ</a:t>
            </a:r>
            <a:endParaRPr lang="ru-RU" sz="1200" dirty="0"/>
          </a:p>
        </p:txBody>
      </p:sp>
      <p:sp>
        <p:nvSpPr>
          <p:cNvPr id="6" name="TextBox 5"/>
          <p:cNvSpPr txBox="1"/>
          <p:nvPr/>
        </p:nvSpPr>
        <p:spPr>
          <a:xfrm>
            <a:off x="3028949" y="4962380"/>
            <a:ext cx="3069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Главный специалист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9" name="Прямая со стрелкой 18"/>
          <p:cNvCxnSpPr/>
          <p:nvPr/>
        </p:nvCxnSpPr>
        <p:spPr>
          <a:xfrm>
            <a:off x="5838099" y="3443843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892135" y="2797512"/>
            <a:ext cx="2346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Заказ с комментариями возвращен в статус ПЛАН и отправлен на корректировку</a:t>
            </a:r>
            <a:endParaRPr lang="ru-RU" sz="1200" dirty="0"/>
          </a:p>
        </p:txBody>
      </p:sp>
      <p:cxnSp>
        <p:nvCxnSpPr>
          <p:cNvPr id="23" name="Прямая со стрелкой 22"/>
          <p:cNvCxnSpPr/>
          <p:nvPr/>
        </p:nvCxnSpPr>
        <p:spPr>
          <a:xfrm>
            <a:off x="5838099" y="4575958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865117" y="4163682"/>
            <a:ext cx="2346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Заказ со статусом СГГС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943753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«Деблокирование заказа ТОРО»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4484" y="1039295"/>
            <a:ext cx="8650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Старший планировщик </a:t>
            </a:r>
            <a:r>
              <a:rPr lang="ru-RU" sz="1400" dirty="0" err="1"/>
              <a:t>ТОиР</a:t>
            </a:r>
            <a:r>
              <a:rPr lang="ru-RU" sz="1400" dirty="0"/>
              <a:t> БЕ выбирает в системе </a:t>
            </a:r>
            <a:r>
              <a:rPr lang="ru-RU" sz="1400" dirty="0" smtClean="0"/>
              <a:t>заказы </a:t>
            </a:r>
            <a:r>
              <a:rPr lang="ru-RU" sz="1400" dirty="0"/>
              <a:t>ТОРО, с пользовательским статусом СГГС – </a:t>
            </a:r>
            <a:r>
              <a:rPr lang="ru-RU" sz="1400" dirty="0" smtClean="0"/>
              <a:t>«согласовано </a:t>
            </a:r>
            <a:r>
              <a:rPr lang="ru-RU" sz="1400" dirty="0"/>
              <a:t>главным </a:t>
            </a:r>
            <a:r>
              <a:rPr lang="ru-RU" sz="1400" dirty="0" smtClean="0"/>
              <a:t>специалистом». </a:t>
            </a:r>
            <a:r>
              <a:rPr lang="ru-RU" sz="1400" dirty="0"/>
              <a:t>При отсутствии замечаний деблокирует заказы ТОРО, при этом их системный статус изменяется на ДЕБЛ </a:t>
            </a:r>
            <a:r>
              <a:rPr lang="ru-RU" sz="1400" dirty="0" smtClean="0"/>
              <a:t>– «деблокирован».</a:t>
            </a:r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  <p:grpSp>
        <p:nvGrpSpPr>
          <p:cNvPr id="14" name="Группа 13"/>
          <p:cNvGrpSpPr/>
          <p:nvPr/>
        </p:nvGrpSpPr>
        <p:grpSpPr>
          <a:xfrm>
            <a:off x="3341785" y="2710538"/>
            <a:ext cx="2496314" cy="2319786"/>
            <a:chOff x="2315329" y="875631"/>
            <a:chExt cx="1343033" cy="992604"/>
          </a:xfrm>
        </p:grpSpPr>
        <p:sp>
          <p:nvSpPr>
            <p:cNvPr id="15" name="Скругленный прямоугольник 14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0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>
                  <a:solidFill>
                    <a:schemeClr val="bg1"/>
                  </a:solidFill>
                </a:rPr>
                <a:t>Анализ и ведение заказов ТОРО</a:t>
              </a:r>
              <a:endParaRPr lang="ru-RU" sz="16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2" name="Прямая со стрелкой 21"/>
          <p:cNvCxnSpPr/>
          <p:nvPr/>
        </p:nvCxnSpPr>
        <p:spPr>
          <a:xfrm>
            <a:off x="94078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4217000" y="2409149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IW38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940789" y="3420961"/>
            <a:ext cx="2346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Заказ в статусе СГГС</a:t>
            </a:r>
            <a:endParaRPr lang="ru-RU" sz="1200" dirty="0"/>
          </a:p>
        </p:txBody>
      </p:sp>
      <p:sp>
        <p:nvSpPr>
          <p:cNvPr id="13" name="TextBox 12"/>
          <p:cNvSpPr txBox="1"/>
          <p:nvPr/>
        </p:nvSpPr>
        <p:spPr>
          <a:xfrm>
            <a:off x="2890157" y="4962380"/>
            <a:ext cx="3298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Старший планировщик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4048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dirty="0" smtClean="0"/>
              <a:t>Обучающие видеоролики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9212811"/>
              </p:ext>
            </p:extLst>
          </p:nvPr>
        </p:nvGraphicFramePr>
        <p:xfrm>
          <a:off x="195386" y="1248586"/>
          <a:ext cx="8802310" cy="3645339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007128"/>
                <a:gridCol w="2305375"/>
                <a:gridCol w="2489807"/>
              </a:tblGrid>
              <a:tr h="542821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Название</a:t>
                      </a:r>
                      <a:r>
                        <a:rPr lang="ru-RU" sz="1200" baseline="0" dirty="0" smtClean="0"/>
                        <a:t> функции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Режим обучения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Режим упражнения для Инициатора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70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Анализ сообщений ТОРО в соответствии с приоритетом</a:t>
                      </a:r>
                      <a:endParaRPr lang="ru-RU" sz="1200" dirty="0" smtClean="0">
                        <a:solidFill>
                          <a:srgbClr val="595959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79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Анализ и изменение планового заказа ТОРО </a:t>
                      </a:r>
                      <a:endParaRPr lang="ru-RU" sz="1200" dirty="0" smtClean="0">
                        <a:solidFill>
                          <a:srgbClr val="595959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51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Формирование нового заказа ТОРО по данным сообщения ТОРО</a:t>
                      </a:r>
                      <a:endParaRPr lang="ru-RU" sz="1200" dirty="0" smtClean="0">
                        <a:solidFill>
                          <a:srgbClr val="595959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6283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Корректировка заказа ТОРО</a:t>
                      </a:r>
                      <a:endParaRPr lang="ru-RU" sz="1200" dirty="0" smtClean="0">
                        <a:solidFill>
                          <a:srgbClr val="595959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227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Присвоение заказа к СПП-элементу</a:t>
                      </a:r>
                      <a:endParaRPr lang="ru-RU" sz="1200" dirty="0" smtClean="0">
                        <a:solidFill>
                          <a:srgbClr val="595959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652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Анализ лимитов на СПП-элементе</a:t>
                      </a:r>
                      <a:endParaRPr lang="ru-RU" sz="1200" dirty="0" smtClean="0">
                        <a:solidFill>
                          <a:srgbClr val="595959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651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Согласование заказа на внеплановые работы</a:t>
                      </a:r>
                      <a:endParaRPr lang="ru-RU" sz="1200" dirty="0" smtClean="0">
                        <a:solidFill>
                          <a:srgbClr val="595959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651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Согласование заказа ТОРО Главным специалистом</a:t>
                      </a:r>
                      <a:endParaRPr lang="ru-RU" sz="1200" dirty="0" smtClean="0">
                        <a:solidFill>
                          <a:srgbClr val="595959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6358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Деблокирование заказа ТОРО</a:t>
                      </a:r>
                      <a:endParaRPr lang="ru-RU" sz="1200" dirty="0" smtClean="0">
                        <a:solidFill>
                          <a:srgbClr val="595959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6046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179881" y="386806"/>
            <a:ext cx="7927975" cy="410926"/>
          </a:xfrm>
        </p:spPr>
        <p:txBody>
          <a:bodyPr/>
          <a:lstStyle/>
          <a:p>
            <a:r>
              <a:rPr lang="ru-RU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Ключевые транзакции</a:t>
            </a:r>
            <a:r>
              <a:rPr lang="en-US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ru-RU" sz="18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процесса «</a:t>
            </a:r>
            <a:r>
              <a:rPr lang="ru-RU" sz="1800" dirty="0"/>
              <a:t>Анализ технического состояния производственных активов</a:t>
            </a:r>
            <a:r>
              <a:rPr lang="ru-RU" sz="18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»</a:t>
            </a:r>
            <a:endParaRPr lang="ru-RU" sz="18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="" xmlns:a16="http://schemas.microsoft.com/office/drawing/2014/main" id="{2AD28F94-C432-4660-9220-FF53A770BA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590753"/>
              </p:ext>
            </p:extLst>
          </p:nvPr>
        </p:nvGraphicFramePr>
        <p:xfrm>
          <a:off x="277682" y="1745478"/>
          <a:ext cx="8628574" cy="2360613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8628574">
                  <a:extLst>
                    <a:ext uri="{9D8B030D-6E8A-4147-A177-3AD203B41FA5}">
                      <a16:colId xmlns="" xmlns:a16="http://schemas.microsoft.com/office/drawing/2014/main" val="3700845562"/>
                    </a:ext>
                  </a:extLst>
                </a:gridCol>
              </a:tblGrid>
              <a:tr h="581343">
                <a:tc>
                  <a:txBody>
                    <a:bodyPr/>
                    <a:lstStyle/>
                    <a:p>
                      <a:pPr algn="l"/>
                      <a:r>
                        <a:rPr kumimoji="0" lang="ru-RU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1. </a:t>
                      </a:r>
                      <a:r>
                        <a:rPr kumimoji="0" lang="ru-RU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Анализ и ведение сообщений</a:t>
                      </a:r>
                      <a:endParaRPr lang="ru-RU" sz="1600" dirty="0" smtClean="0">
                        <a:solidFill>
                          <a:srgbClr val="595959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IW2</a:t>
                      </a: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8 </a:t>
                      </a: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– </a:t>
                      </a: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Анализ и ведение сообщений</a:t>
                      </a:r>
                      <a:endParaRPr kumimoji="0" lang="ru-RU" sz="16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917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815643292"/>
                  </a:ext>
                </a:extLst>
              </a:tr>
              <a:tr h="59599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2. </a:t>
                      </a:r>
                      <a:r>
                        <a:rPr kumimoji="0" lang="ru-RU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Создание заказа на основе сообщения</a:t>
                      </a:r>
                      <a:endParaRPr kumimoji="0" lang="ru-RU" sz="16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IW</a:t>
                      </a: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34</a:t>
                      </a: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– </a:t>
                      </a: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Заказ ТОРО для сообщения ТОРО</a:t>
                      </a:r>
                      <a:endParaRPr kumimoji="0" lang="ru-RU" sz="16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917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427895380"/>
                  </a:ext>
                </a:extLst>
              </a:tr>
              <a:tr h="60415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3. </a:t>
                      </a:r>
                      <a:r>
                        <a:rPr kumimoji="0" lang="ru-RU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Изменение заказа</a:t>
                      </a:r>
                      <a:endParaRPr kumimoji="0" lang="en-US" sz="16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IW</a:t>
                      </a: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32</a:t>
                      </a: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– </a:t>
                      </a: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Изменение </a:t>
                      </a: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заказа ТОРО</a:t>
                      </a:r>
                      <a:endParaRPr kumimoji="0" lang="ru-RU" sz="16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91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4. </a:t>
                      </a:r>
                      <a:r>
                        <a:rPr kumimoji="0" lang="ru-RU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Анализ и ведение заказов</a:t>
                      </a:r>
                      <a:endParaRPr kumimoji="0" lang="en-US" sz="16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IW38 </a:t>
                      </a: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– </a:t>
                      </a: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Анализ </a:t>
                      </a: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и ведение заказов ТОРО</a:t>
                      </a:r>
                      <a:endParaRPr kumimoji="0" lang="ru-RU" sz="16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91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9246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9903329750A3B44499F5D2E787C86944" ma:contentTypeVersion="0" ma:contentTypeDescription="Создание документа." ma:contentTypeScope="" ma:versionID="bb8435fbffccf5a4c924888fb1f4e1b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76d57dbf9a77af284536b0872d26941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38B5284-4F25-453C-8235-20B9D019EAC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F974C5F2-EB3C-42DA-802D-F2BCA964531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A8D3441-DF26-4C7E-9641-F6E293897DF1}">
  <ds:schemaRefs>
    <ds:schemaRef ds:uri="http://purl.org/dc/dcmitype/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112957</TotalTime>
  <Words>2118</Words>
  <Application>Microsoft Office PowerPoint</Application>
  <PresentationFormat>Экран (4:3)</PresentationFormat>
  <Paragraphs>246</Paragraphs>
  <Slides>24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31" baseType="lpstr">
      <vt:lpstr>Arial</vt:lpstr>
      <vt:lpstr>Calibri</vt:lpstr>
      <vt:lpstr>Calibri Body</vt:lpstr>
      <vt:lpstr>Calibri Light</vt:lpstr>
      <vt:lpstr>Verdana</vt:lpstr>
      <vt:lpstr>Wingdings</vt:lpstr>
      <vt:lpstr>Тема Office</vt:lpstr>
      <vt:lpstr>Инструктаж по функциональному направлению «ТОиР»</vt:lpstr>
      <vt:lpstr>Внедрение пилота и стабилизация</vt:lpstr>
      <vt:lpstr>Презентация PowerPoint</vt:lpstr>
      <vt:lpstr>Презентация PowerPoint</vt:lpstr>
      <vt:lpstr>Презентация PowerPoint</vt:lpstr>
      <vt:lpstr>Внедрение пилота и стабилизация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Tis</dc:creator>
  <cp:lastModifiedBy>Medvedev Maxim</cp:lastModifiedBy>
  <cp:revision>4451</cp:revision>
  <cp:lastPrinted>2018-04-09T09:22:20Z</cp:lastPrinted>
  <dcterms:created xsi:type="dcterms:W3CDTF">2015-07-14T13:53:28Z</dcterms:created>
  <dcterms:modified xsi:type="dcterms:W3CDTF">2019-10-21T08:26:43Z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  <property fmtid="{D5CDD505-2E9C-101B-9397-08002B2CF9AE}" pid="3" name="ContentTypeId">
    <vt:lpwstr>0x0101009903329750A3B44499F5D2E787C86944</vt:lpwstr>
  </property>
</Properties>
</file>