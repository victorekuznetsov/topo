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6"/>
  </p:notesMasterIdLst>
  <p:handoutMasterIdLst>
    <p:handoutMasterId r:id="rId47"/>
  </p:handoutMasterIdLst>
  <p:sldIdLst>
    <p:sldId id="1389" r:id="rId5"/>
    <p:sldId id="1571" r:id="rId6"/>
    <p:sldId id="1476" r:id="rId7"/>
    <p:sldId id="1477" r:id="rId8"/>
    <p:sldId id="1572" r:id="rId9"/>
    <p:sldId id="1479" r:id="rId10"/>
    <p:sldId id="1539" r:id="rId11"/>
    <p:sldId id="1540" r:id="rId12"/>
    <p:sldId id="1541" r:id="rId13"/>
    <p:sldId id="1542" r:id="rId14"/>
    <p:sldId id="1482" r:id="rId15"/>
    <p:sldId id="1481" r:id="rId16"/>
    <p:sldId id="1483" r:id="rId17"/>
    <p:sldId id="1545" r:id="rId18"/>
    <p:sldId id="1552" r:id="rId19"/>
    <p:sldId id="1553" r:id="rId20"/>
    <p:sldId id="1554" r:id="rId21"/>
    <p:sldId id="1555" r:id="rId22"/>
    <p:sldId id="1556" r:id="rId23"/>
    <p:sldId id="1557" r:id="rId24"/>
    <p:sldId id="1573" r:id="rId25"/>
    <p:sldId id="1574" r:id="rId26"/>
    <p:sldId id="1575" r:id="rId27"/>
    <p:sldId id="1576" r:id="rId28"/>
    <p:sldId id="1577" r:id="rId29"/>
    <p:sldId id="1578" r:id="rId30"/>
    <p:sldId id="1558" r:id="rId31"/>
    <p:sldId id="1559" r:id="rId32"/>
    <p:sldId id="1560" r:id="rId33"/>
    <p:sldId id="1561" r:id="rId34"/>
    <p:sldId id="1562" r:id="rId35"/>
    <p:sldId id="1563" r:id="rId36"/>
    <p:sldId id="1564" r:id="rId37"/>
    <p:sldId id="1565" r:id="rId38"/>
    <p:sldId id="1546" r:id="rId39"/>
    <p:sldId id="1566" r:id="rId40"/>
    <p:sldId id="1567" r:id="rId41"/>
    <p:sldId id="1568" r:id="rId42"/>
    <p:sldId id="1569" r:id="rId43"/>
    <p:sldId id="1543" r:id="rId44"/>
    <p:sldId id="1570" r:id="rId45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CC0C"/>
    <a:srgbClr val="FAC90B"/>
    <a:srgbClr val="19938A"/>
    <a:srgbClr val="FBC90B"/>
    <a:srgbClr val="C00937"/>
    <a:srgbClr val="B8B8B8"/>
    <a:srgbClr val="595959"/>
    <a:srgbClr val="C80000"/>
    <a:srgbClr val="642235"/>
    <a:srgbClr val="FCC9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69" autoAdjust="0"/>
    <p:restoredTop sz="47442" autoAdjust="0"/>
  </p:normalViewPr>
  <p:slideViewPr>
    <p:cSldViewPr snapToGrid="0" showGuides="1">
      <p:cViewPr varScale="1">
        <p:scale>
          <a:sx n="100" d="100"/>
          <a:sy n="100" d="100"/>
        </p:scale>
        <p:origin x="864" y="62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90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22.11.2020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22.11.2020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help.sap.com/saphelp_470/helpdata/ru/3c/abb1d2413911d1893d0000e8323c4f/content.htm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help.sap.com/saphelp_470/helpdata/ru/3c/abaf12413911d1893d0000e8323c4f/content.htm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6869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9512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640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Техническое место (ТМ) – это информационный объект, предназначенный для описания относительно постоянного во времени места установки технического объекта или группировки технических объектов по функциональному, технологическому или организационному принципу.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Техническому месту может соответствовать атрибут проектно-конструкторской или технологической документации, такой как: Номер установки, Технологическая позиция, Позиция установки, Канал измерения, Диспетчерское наименование.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Важной особенностью ТМ является функция отражения монтажа/демонтажа единицы оборудования на ТМ, что позволяет сохранять в системе историю перемещений ЕО между ТМ.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ТМ имеет уникальный код, позволяющий однозначно идентифицировать позицию установки ЕО.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2372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Единицы оборудования (ЕО) – отдельные объекты, которые подлежат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качестве самостоятельных единиц. ЕО отражает данные и характеристики конкретного объекта, эксплуатируемого на предприятии, для которого является необходимым отслеживание жизненного цикла, включающего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приобретение;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ввод в эксплуатацию;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выполнение обслуживания и ремонта;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на склад/в обменный фонд;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между местами установки;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продление срока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 из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консервация;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утилизация.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6147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3263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Технологические карты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Технологическая карта содержит перечень мероприятий (состав работ) и информацию о последовательности их выполнения, а также перечень необходимых ресурсов, запчастей и материалов.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ТК разрабатывается для конкретного оборудования или группы схожих моделей.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общем случае ТК должна содержать следующую информацию: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вид, тип, марка, модель и основные характеристики оборудования, для которого разработана ТК;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вид, периодичность и состав выполняемых работ; 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трудоемкость, численность и разряд рабочих, выполняющих операции на данном оборудовании;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нормы расхода запасных частей и материалов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инструменты и оснастка, используемые при выполнении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оборудования; 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контролируемые и измеряемые характеристики, их граничные значения;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условия безопасности при выполнении работ.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системе технологические карты/инструкции ТОРО используются для стандартизации последовательности выполнения операций ТОРО и эффективного планирования мероприятий ТОРО.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технологической карте/инструкции ТОРО содержится перечень операций и периодичность их выполнения, трудоемкость, перечень ТМЦ и ресурсы, необходимые для проведения работ ТОРО.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 технологической карте указана стратегия ТОРО, то устанавливается зависимость того, какая операция ТК или ТК целиком выполняются при определенном виде работ.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Технологические карты ТОРО/инструкции ТОРО используются как при планировании предупредительных мероприятий, так и при создании Заказов ТОРО.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системе используются следующие типы технологических карт ТОРО: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 «E» – технологические карты для ЕО;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 «T» – технологические карты для ТМ;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 «A» – инструкции ТОРО.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ТК для ЕО и ТМ используются для уникальных технических объектов. Инструкция ТОРО является типовой ТК для технических объектов, имеющих одинаковую модель оборудования, и могут быть связаны с группой технологических карт.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8447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Стратегии предупредительного ТОРО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Стратегия предупредительного ТОРО в системе определяет правила выполнения планируемых мероприятий ТОРО: последовательность и периодичность выполнения работ, состав операций, цикл работ, временные границы допустимого начала и окончания мероприятия.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Информация из стратегии используется в технологических картах и в планах предупредительного ТОРО, для определения работ, которые требуется выполнить при разных видах обслуживания или ремонта и срока их выполнения.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Централизованный норматив (инструкция ТОРО на модель) имеет одну стратегию ТОРО, но в зависимости от условий эксплуатации и требований завода изготовителя необходимо иметь соответствующий выбор стратегий обслуживания оборудования с учетом разных условий эксплуатации для ЕО, входящих в одну модель (централизованная ТК).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Допускается формирование индивидуальных стратегий ТОРО для ЕО из типовой стратегии на модель, используя «Коэффициент изменения цикла плана» и «Коэффициент изменения цикла позиции плана». Возможны следующие варианты формирования стратегий: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Введение в инструкцию ТОРО дополнительного перечня счетчиков группы ТК;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Формирование отдельных нормативов (инструкций ТОРО) с учетом стратегий в рамках одной модели;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Обеспечение оборудования индивидуальной стратегий за счет формирования дополнительных моделей (одна модель – одна стратегия);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Использование инструкций ТОРО без жесткой связи «Оборудование-Модель-Норматив» (один норматив – одна стратегия);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учета условий эксплуатации используется локальный норматив на ЕО (ТК ЕО).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системе используются стратегии предупредительного ТОРО двух видов – «по календарю» и «по наработке». В первом случае работы выполняются через установленные промежутки календарного времени между ремонтами, единицей измерения периодичности устанавливаются годы, месяцы, недели или дни, во втором случае – через установленные значения наработки оборудования (по достижении определенных фактических значений счетчиков наработки), единицей измерения наработки могут являться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мото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-часы, километры пробега, пуски и т.п.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Единицей стратегии ТОРО является пакет мероприятий предупредительного ТОРО. Пакет мероприятий предупредительного ТОРО в стратегии ТОРО имеет индивидуальный код, периодичность и соотносится с отдельным видом работ. У каждого пакета есть уровень иерархии. Уровень иерархии определяет, на основании какого пакета необходимо выполнять работы, если плановый срок выполнения пришелся на одну дату.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 пакетов мероприятий предупредительного ТОРО в системе ведётся вручную и содержит 2 символа. Если вид работ является «номерным», т.е. содержит порядковый номер (ТО-1, ТО-2), то при кодировке пакета работ необходимо использовать первую букву вида работ и номер работ по порядку.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741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предназначены для формирования годового плана работ по ремонту и обслуживанию технических объектов на основании ведущихся в системе стратегий и технологических карт.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описывают периодичность выполнения регламентных работ, объемы и виды работ, выполняемых на технических объектах, а также указывают необходимые ресурсы для проведения работ. 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устанавливают связь между стратегиями предупредительного ТОРО, технологическими картами и техническими объектами.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Используются два типа плана предупредительного ТОРО: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на заказах ТОРО;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на сообщениях ТОРО.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требуется выполнить простое предупредительное ТОРО, для которого достаточен один цикл предупредительного ТОРО, можно работать с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планами отдельного цикла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План отдельного цикла является наиболее простым видом плана ТОРО. Для создания такого плана и точно определяется один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цикл предупредительного ТОРО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основе работ или времени, в котором указывается интервал, в течение которого план ТОРО должен быть выполнен. Такой план может применяться, например, для периодических испытаний или проверок работоспособности технических объектов.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может создаваться индивидуально для каждого объекта обслуживания или сразу для группы объектов, если они обслуживаются одновременно по одной технологической карте.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состоит из двух составляющих: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Заголовок плана, определяющий общие данные для автоматического планирования (горизонт планирования, условия при которых работа будет запланирована, тип объекта отзыва и т.д.);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 или несколько позиций предупредительного ТОРО, которая определяет, какая технологическая карта и связанная с ней стратегия будет использоваться.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1246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/>
          <p:nvPr/>
        </p:nvSpPr>
        <p:spPr bwMode="gray">
          <a:xfrm>
            <a:off x="404260" y="2597903"/>
            <a:ext cx="8401069" cy="58477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ru-RU" sz="3200" dirty="0" smtClean="0">
                <a:solidFill>
                  <a:srgbClr val="FCC917"/>
                </a:solidFill>
              </a:rPr>
              <a:t>Название сценария</a:t>
            </a:r>
            <a:endParaRPr lang="en-US" sz="3200" dirty="0">
              <a:solidFill>
                <a:srgbClr val="FCC917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</a:t>
            </a:r>
            <a:r>
              <a:rPr lang="ru-RU" sz="4000" dirty="0" err="1" smtClean="0"/>
              <a:t>ТОиР</a:t>
            </a:r>
            <a:r>
              <a:rPr lang="ru-RU" sz="4000" dirty="0" smtClean="0"/>
              <a:t>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404261" y="3247334"/>
            <a:ext cx="7708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n>
                  <a:solidFill>
                    <a:srgbClr val="FAC90B"/>
                  </a:solidFill>
                </a:ln>
                <a:solidFill>
                  <a:srgbClr val="FAC90B"/>
                </a:solidFill>
              </a:rPr>
              <a:t>Ведение НСИ </a:t>
            </a:r>
            <a:r>
              <a:rPr lang="ru-RU" sz="2400" dirty="0" err="1" smtClean="0">
                <a:ln>
                  <a:solidFill>
                    <a:srgbClr val="FAC90B"/>
                  </a:solidFill>
                </a:ln>
                <a:solidFill>
                  <a:srgbClr val="FAC90B"/>
                </a:solidFill>
              </a:rPr>
              <a:t>ТОиР</a:t>
            </a:r>
            <a:r>
              <a:rPr lang="ru-RU" sz="2400" dirty="0" smtClean="0">
                <a:ln>
                  <a:solidFill>
                    <a:srgbClr val="FAC90B"/>
                  </a:solidFill>
                </a:ln>
                <a:solidFill>
                  <a:srgbClr val="FAC90B"/>
                </a:solidFill>
              </a:rPr>
              <a:t> (Технологические </a:t>
            </a:r>
            <a:r>
              <a:rPr lang="ru-RU" sz="2400" dirty="0">
                <a:ln>
                  <a:solidFill>
                    <a:srgbClr val="FAC90B"/>
                  </a:solidFill>
                </a:ln>
                <a:solidFill>
                  <a:srgbClr val="FAC90B"/>
                </a:solidFill>
              </a:rPr>
              <a:t>карты, Стратегии предупредительного ТОРО, Планы ТОРО)</a:t>
            </a: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62040" y="3830045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275" y="3812198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xmlns="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EE5D4648-FA46-435D-8C88-B69916011E23}"/>
              </a:ext>
            </a:extLst>
          </p:cNvPr>
          <p:cNvCxnSpPr>
            <a:cxnSpLocks/>
            <a:stCxn id="63" idx="2"/>
            <a:endCxn id="43" idx="1"/>
          </p:cNvCxnSpPr>
          <p:nvPr/>
        </p:nvCxnSpPr>
        <p:spPr>
          <a:xfrm rot="16200000" flipH="1">
            <a:off x="1282877" y="3886015"/>
            <a:ext cx="482292" cy="5425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46" idx="1"/>
          </p:cNvCxnSpPr>
          <p:nvPr/>
        </p:nvCxnSpPr>
        <p:spPr>
          <a:xfrm rot="16200000" flipH="1">
            <a:off x="1054823" y="4114070"/>
            <a:ext cx="919154" cy="5232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xmlns="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480137" y="3688755"/>
            <a:ext cx="87772" cy="5425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xmlns="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60135" y="4202268"/>
            <a:ext cx="1073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Энергетики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63985" y="4610664"/>
            <a:ext cx="1134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Метрология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71594" y="507998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48" idx="1"/>
          </p:cNvCxnSpPr>
          <p:nvPr/>
        </p:nvCxnSpPr>
        <p:spPr>
          <a:xfrm rot="16200000" flipH="1">
            <a:off x="847264" y="4321629"/>
            <a:ext cx="1327039" cy="5160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37235" y="5497486"/>
            <a:ext cx="1568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Пожарная охрана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60135" y="5952259"/>
            <a:ext cx="6662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err="1" smtClean="0">
                <a:solidFill>
                  <a:prstClr val="black"/>
                </a:solidFill>
              </a:rPr>
              <a:t>АГиТО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43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275" y="4206718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76028" y="4643580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8794" y="5051465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8794" y="5482959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7912" y="5914453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80192" y="6352059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37235" y="6416651"/>
            <a:ext cx="1253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Эксплуатация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54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50" idx="1"/>
          </p:cNvCxnSpPr>
          <p:nvPr/>
        </p:nvCxnSpPr>
        <p:spPr>
          <a:xfrm rot="16200000" flipH="1">
            <a:off x="631517" y="4537376"/>
            <a:ext cx="1758533" cy="5160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51" idx="1"/>
          </p:cNvCxnSpPr>
          <p:nvPr/>
        </p:nvCxnSpPr>
        <p:spPr>
          <a:xfrm rot="16200000" flipH="1">
            <a:off x="415329" y="4753564"/>
            <a:ext cx="2190027" cy="5151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52" idx="1"/>
          </p:cNvCxnSpPr>
          <p:nvPr/>
        </p:nvCxnSpPr>
        <p:spPr>
          <a:xfrm rot="16200000" flipH="1">
            <a:off x="202666" y="4966227"/>
            <a:ext cx="2627633" cy="5274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8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xmlns="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99229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:a16="http://schemas.microsoft.com/office/drawing/2014/main" xmlns="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951765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180357" y="1293879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9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3592" y="1276032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178452" y="1666102"/>
            <a:ext cx="1073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Энергетики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182302" y="2074498"/>
            <a:ext cx="1134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Метрология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189911" y="2543822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178452" y="3416093"/>
            <a:ext cx="6662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err="1" smtClean="0">
                <a:solidFill>
                  <a:prstClr val="black"/>
                </a:solidFill>
              </a:rPr>
              <a:t>АГиТО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5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3592" y="1670552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94345" y="2107414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87111" y="2515299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87111" y="2946793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86229" y="3378287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98509" y="3815893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155552" y="3880485"/>
            <a:ext cx="1253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Эксплуатация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189911" y="2977491"/>
            <a:ext cx="1568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Пожарная охрана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93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735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Технические места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043" y="970056"/>
            <a:ext cx="7126313" cy="4918967"/>
          </a:xfrm>
          <a:prstGeom prst="rect">
            <a:avLst/>
          </a:prstGeom>
        </p:spPr>
      </p:pic>
      <p:sp>
        <p:nvSpPr>
          <p:cNvPr id="24" name="Пятиугольник 23"/>
          <p:cNvSpPr/>
          <p:nvPr/>
        </p:nvSpPr>
        <p:spPr>
          <a:xfrm rot="5400000">
            <a:off x="1176555" y="303456"/>
            <a:ext cx="426611" cy="2605397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Технические</a:t>
            </a:r>
            <a:r>
              <a:rPr kumimoji="0" lang="ru-RU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места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87162" y="1819461"/>
            <a:ext cx="260539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/>
              <a:t>Структурированный список </a:t>
            </a:r>
            <a:r>
              <a:rPr lang="ru-RU" sz="1200" dirty="0" smtClean="0"/>
              <a:t>объектов, описывающий </a:t>
            </a:r>
            <a:r>
              <a:rPr lang="ru-RU" sz="1200" dirty="0"/>
              <a:t>производственные активы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Структурируются </a:t>
            </a:r>
            <a:r>
              <a:rPr lang="ru-RU" sz="1200" dirty="0"/>
              <a:t>на основе </a:t>
            </a:r>
            <a:r>
              <a:rPr lang="ru-RU" sz="1200" dirty="0" smtClean="0"/>
              <a:t>критериев: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относящихся </a:t>
            </a:r>
            <a:r>
              <a:rPr lang="ru-RU" sz="1200" dirty="0"/>
              <a:t>к </a:t>
            </a:r>
            <a:r>
              <a:rPr lang="ru-RU" sz="1200" dirty="0" smtClean="0"/>
              <a:t>процессу;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пространственных;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функциональных</a:t>
            </a:r>
            <a:endParaRPr lang="ru-RU" sz="1200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Содержит </a:t>
            </a:r>
            <a:r>
              <a:rPr lang="ru-RU" sz="1200" dirty="0"/>
              <a:t>только недвижимые объекты ремонта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Содержит информацию о 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видах оборудования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принадлежности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степени важности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ответственных лицах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Связаны </a:t>
            </a:r>
            <a:r>
              <a:rPr lang="ru-RU" sz="1200" dirty="0"/>
              <a:t>со структурой учета затрат</a:t>
            </a:r>
          </a:p>
          <a:p>
            <a:pPr marL="285750" lvl="1" indent="-285750">
              <a:buFont typeface="Arial" pitchFamily="34" charset="0"/>
              <a:buChar char="•"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17994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ятиугольник 7"/>
          <p:cNvSpPr/>
          <p:nvPr/>
        </p:nvSpPr>
        <p:spPr>
          <a:xfrm rot="5400000">
            <a:off x="1252674" y="227336"/>
            <a:ext cx="426611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7162" y="1819461"/>
            <a:ext cx="27576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Объекты</a:t>
            </a:r>
            <a:r>
              <a:rPr lang="ru-RU" sz="1200" dirty="0"/>
              <a:t>, которые подлежат </a:t>
            </a:r>
            <a:r>
              <a:rPr lang="ru-RU" sz="1200" dirty="0" err="1"/>
              <a:t>ТОиР</a:t>
            </a:r>
            <a:r>
              <a:rPr lang="ru-RU" sz="1200" dirty="0"/>
              <a:t> в качестве самостоятельных единиц</a:t>
            </a:r>
            <a:r>
              <a:rPr lang="ru-RU" sz="1200" dirty="0" smtClean="0"/>
              <a:t>.</a:t>
            </a:r>
          </a:p>
          <a:p>
            <a:pPr lvl="0"/>
            <a:r>
              <a:rPr lang="ru-RU" sz="1200" dirty="0" smtClean="0"/>
              <a:t> </a:t>
            </a:r>
            <a:endParaRPr lang="ru-RU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В структуре </a:t>
            </a:r>
            <a:r>
              <a:rPr lang="ru-RU" sz="1200" dirty="0"/>
              <a:t>о</a:t>
            </a:r>
            <a:r>
              <a:rPr lang="ru-RU" sz="1200" dirty="0" smtClean="0"/>
              <a:t>пределяет </a:t>
            </a:r>
            <a:r>
              <a:rPr lang="ru-RU" sz="1200" dirty="0"/>
              <a:t>иерархическое место объекта в связи со справочником технических мест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Описывает технические характеристики объекта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Содержит информацию о функциональном назначении оборудования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справочником основных средств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структурой учета затрат</a:t>
            </a:r>
          </a:p>
          <a:p>
            <a:pPr marL="285750" lvl="0" indent="-285750"/>
            <a:endParaRPr lang="ru-RU" sz="1400" dirty="0"/>
          </a:p>
          <a:p>
            <a:pPr marL="0" lvl="1"/>
            <a:endParaRPr lang="ru-RU" sz="1400" dirty="0"/>
          </a:p>
        </p:txBody>
      </p:sp>
      <p:pic>
        <p:nvPicPr>
          <p:cNvPr id="113" name="Рисунок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082" y="3406379"/>
            <a:ext cx="6147169" cy="3333133"/>
          </a:xfrm>
          <a:prstGeom prst="rect">
            <a:avLst/>
          </a:prstGeom>
        </p:spPr>
      </p:pic>
      <p:pic>
        <p:nvPicPr>
          <p:cNvPr id="115" name="Рисунок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084" y="1111744"/>
            <a:ext cx="2937432" cy="217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51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Рабочие места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Пятиугольник 15"/>
          <p:cNvSpPr/>
          <p:nvPr/>
        </p:nvSpPr>
        <p:spPr>
          <a:xfrm rot="5400000">
            <a:off x="1281458" y="116665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Рабочие места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0" y="1835831"/>
            <a:ext cx="293751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1200" dirty="0"/>
              <a:t>Рабочее место – организационная </a:t>
            </a:r>
            <a:r>
              <a:rPr lang="ru-RU" sz="1200" dirty="0" smtClean="0"/>
              <a:t>единица </a:t>
            </a:r>
            <a:r>
              <a:rPr lang="en-US" sz="1200" dirty="0" smtClean="0"/>
              <a:t>SAP S/4 HANA </a:t>
            </a:r>
            <a:r>
              <a:rPr lang="ru-RU" sz="1200" dirty="0" smtClean="0"/>
              <a:t>соответствующая </a:t>
            </a:r>
            <a:r>
              <a:rPr lang="ru-RU" sz="1200" dirty="0"/>
              <a:t>конкретному структурному подразделению или машине (механизму). </a:t>
            </a:r>
            <a:endParaRPr lang="en-US" sz="12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1200" dirty="0" smtClean="0"/>
          </a:p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Рабочие </a:t>
            </a:r>
            <a:r>
              <a:rPr lang="ru-RU" sz="1200" dirty="0"/>
              <a:t>места подразделяются на </a:t>
            </a:r>
            <a:r>
              <a:rPr lang="ru-RU" sz="1200" dirty="0" smtClean="0"/>
              <a:t>ответственные</a:t>
            </a:r>
            <a:r>
              <a:rPr lang="en-US" sz="1200" dirty="0" smtClean="0"/>
              <a:t> </a:t>
            </a:r>
            <a:r>
              <a:rPr lang="ru-RU" sz="1200" dirty="0" smtClean="0"/>
              <a:t>и выполняющие рабочие места</a:t>
            </a:r>
            <a:r>
              <a:rPr lang="en-US" sz="1200" dirty="0" smtClean="0"/>
              <a:t> (</a:t>
            </a:r>
            <a:r>
              <a:rPr lang="ru-RU" sz="1200" dirty="0" smtClean="0"/>
              <a:t>представлены в виде иерархии рабочих мест)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ru-RU" sz="1200" dirty="0" smtClean="0"/>
              <a:t>Ответственное </a:t>
            </a:r>
            <a:r>
              <a:rPr lang="ru-RU" sz="1200" dirty="0"/>
              <a:t>рабочее место –это подразделение, отвечающее за исправное техническое состояние объекта по направлениям</a:t>
            </a:r>
            <a:r>
              <a:rPr lang="ru-RU" sz="1200" dirty="0" smtClean="0"/>
              <a:t>. . </a:t>
            </a:r>
            <a:endParaRPr lang="ru-RU" sz="1200" dirty="0"/>
          </a:p>
          <a:p>
            <a:pPr marL="171450" lvl="0" indent="-1714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ru-RU" sz="1200" dirty="0" smtClean="0"/>
              <a:t>Выполняющее </a:t>
            </a:r>
            <a:r>
              <a:rPr lang="ru-RU" sz="1200" dirty="0"/>
              <a:t>рабочее место – это рабочее место, выполняющее работы по </a:t>
            </a:r>
            <a:r>
              <a:rPr lang="ru-RU" sz="1200" dirty="0" err="1"/>
              <a:t>ТОиР</a:t>
            </a:r>
            <a:r>
              <a:rPr lang="ru-RU" sz="1200" dirty="0"/>
              <a:t> (это собственное подразделение-исполнитель работ или подрядчик- сторонняя организация). </a:t>
            </a:r>
            <a:endParaRPr lang="ru-RU" sz="1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681" y="1079289"/>
            <a:ext cx="5945906" cy="562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832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Точки измерений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1281458" y="116665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Точки измерений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880" y="1772726"/>
            <a:ext cx="293751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О</a:t>
            </a:r>
            <a:r>
              <a:rPr lang="ru-RU" sz="1200" dirty="0" smtClean="0"/>
              <a:t>бъекты </a:t>
            </a:r>
            <a:r>
              <a:rPr lang="ru-RU" sz="1200" dirty="0"/>
              <a:t>в системе </a:t>
            </a:r>
            <a:r>
              <a:rPr lang="en-US" sz="1200" dirty="0"/>
              <a:t>SAP S</a:t>
            </a:r>
            <a:r>
              <a:rPr lang="ru-RU" sz="1200" dirty="0"/>
              <a:t>/4</a:t>
            </a:r>
            <a:r>
              <a:rPr lang="en-US" sz="1200" dirty="0"/>
              <a:t>HANA</a:t>
            </a:r>
            <a:r>
              <a:rPr lang="ru-RU" sz="1200" dirty="0"/>
              <a:t>, используемые для регистрации параметров, меняющихся во времени и характеризующих техническое состояние объекта ТОРО (технического места или единицы оборудования).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Измеряемый параметр может являться как </a:t>
            </a:r>
            <a:r>
              <a:rPr lang="ru-RU" sz="1200" dirty="0" smtClean="0"/>
              <a:t>количественной величиной </a:t>
            </a:r>
            <a:r>
              <a:rPr lang="ru-RU" sz="1200" dirty="0"/>
              <a:t>(наработка, температура и пр.), так и </a:t>
            </a:r>
            <a:r>
              <a:rPr lang="ru-RU" sz="1200" dirty="0" smtClean="0"/>
              <a:t>качественной </a:t>
            </a:r>
            <a:r>
              <a:rPr lang="ru-RU" sz="1200" dirty="0"/>
              <a:t>величиной (список предопределенных символьных значений, логический тип – да/нет).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 Точка измерения присваивается конкретному объекту структуры (техническом месту или единице оборудования.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Точки измерения могут фиксировать показания с других точек измерения, </a:t>
            </a:r>
            <a:r>
              <a:rPr lang="ru-RU" sz="1200" dirty="0" err="1" smtClean="0"/>
              <a:t>т.о</a:t>
            </a:r>
            <a:r>
              <a:rPr lang="ru-RU" sz="1200" dirty="0" smtClean="0"/>
              <a:t>. осуществляется передача показаний в системе от вышестоящего узла к нижестоящему (например от самосвала к двигателю).</a:t>
            </a:r>
          </a:p>
          <a:p>
            <a:pPr lvl="0"/>
            <a:endParaRPr lang="ru-RU" sz="1200" dirty="0" smtClean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519" y="1772726"/>
            <a:ext cx="5958831" cy="211528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308" y="4086871"/>
            <a:ext cx="4903061" cy="238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03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Технологические карты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1719741" y="-18452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Технологическая карта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9819" y="1771927"/>
            <a:ext cx="324263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Технологическая карта (ТК) содержит перечень отдельных мероприятий </a:t>
            </a:r>
            <a:r>
              <a:rPr lang="ru-RU" sz="1000" dirty="0" err="1"/>
              <a:t>ТОиР</a:t>
            </a:r>
            <a:r>
              <a:rPr lang="ru-RU" sz="1000" dirty="0"/>
              <a:t> (состав работ) и информацию о последовательности их выполнения, а также содержит информацию о трудозатратах, материалах, запасных частях и требуемых инструментах, необходимых для выполнения работ</a:t>
            </a:r>
            <a:r>
              <a:rPr lang="ru-RU" sz="1000" dirty="0" smtClean="0"/>
              <a:t>.</a:t>
            </a:r>
          </a:p>
          <a:p>
            <a:pPr fontAlgn="t"/>
            <a:endParaRPr lang="ru-RU" sz="1000" dirty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ТК разрабатывается для конкретного оборудования или группы схожих моделей.</a:t>
            </a:r>
          </a:p>
          <a:p>
            <a:pPr fontAlgn="t"/>
            <a:endParaRPr lang="ru-RU" sz="10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В общем случае ТК должна содержать следующую информацию: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вид, тип, марка, модель и основные характеристики оборудования, для которого разработана ТК;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вид, периодичность и состав выполняемых работ; 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трудоемкость, численность и разряд рабочих, выполняющих операции на данном оборудовании;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нормы расхода запасных частей и материалов на </a:t>
            </a:r>
            <a:r>
              <a:rPr lang="ru-RU" sz="1000" dirty="0" err="1"/>
              <a:t>ТОиР</a:t>
            </a:r>
            <a:r>
              <a:rPr lang="ru-RU" sz="1000" dirty="0"/>
              <a:t>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инструменты и оснастка, используемые при выполнении </a:t>
            </a:r>
            <a:r>
              <a:rPr lang="ru-RU" sz="1000" dirty="0" err="1"/>
              <a:t>ТОиР</a:t>
            </a:r>
            <a:r>
              <a:rPr lang="ru-RU" sz="1000" dirty="0"/>
              <a:t> оборудования; 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контролируемые и измеряемые характеристики, их граничные значения;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условия безопасности при выполнении работ.</a:t>
            </a:r>
          </a:p>
          <a:p>
            <a:pPr fontAlgn="t"/>
            <a:endParaRPr lang="ru-RU" sz="10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И</a:t>
            </a:r>
            <a:r>
              <a:rPr lang="ru-RU" sz="1000" dirty="0" smtClean="0"/>
              <a:t>спользуются </a:t>
            </a:r>
            <a:r>
              <a:rPr lang="ru-RU" sz="1000" dirty="0"/>
              <a:t>следующие типы технологических карт ТОРО: </a:t>
            </a:r>
          </a:p>
          <a:p>
            <a:pPr marL="228600" lvl="0" indent="-228600" fontAlgn="t">
              <a:buFont typeface="Wingdings" panose="05000000000000000000" pitchFamily="2" charset="2"/>
              <a:buChar char="Ø"/>
            </a:pPr>
            <a:r>
              <a:rPr lang="ru-RU" sz="1000" dirty="0"/>
              <a:t>тип «E» – технологические карты для ЕО;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тип «T» – технологические карты для ТМ;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тип «A» – инструкции ТОРО</a:t>
            </a:r>
            <a:r>
              <a:rPr lang="ru-RU" sz="1000" dirty="0" smtClean="0"/>
              <a:t>.</a:t>
            </a:r>
            <a:endParaRPr lang="ru-RU" sz="1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457" y="1771927"/>
            <a:ext cx="5580233" cy="400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91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Стратегия ТОРО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1371397" y="-18052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Стратегия ТОРО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880" y="1772726"/>
            <a:ext cx="47985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Стратегия предупредительного ТОРО в системе </a:t>
            </a:r>
            <a:r>
              <a:rPr lang="en-US" sz="1000" dirty="0" smtClean="0"/>
              <a:t>SAP S/4 HANA </a:t>
            </a:r>
            <a:r>
              <a:rPr lang="ru-RU" sz="1000" dirty="0" smtClean="0"/>
              <a:t>определяет </a:t>
            </a:r>
            <a:r>
              <a:rPr lang="ru-RU" sz="1000" dirty="0"/>
              <a:t>структуру ремонтного цикла объекта - правила выполнения планируемых мероприятий ТОРО: последовательность и периодичность выполнения работ, цикл работ, временные границы допустимого начала и окончания </a:t>
            </a:r>
            <a:r>
              <a:rPr lang="ru-RU" sz="1000" dirty="0" smtClean="0"/>
              <a:t>мероприятия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Информация из стратегии используется в технологических картах и в планах предупредительного ТОРО, для определения работ, которые требуется выполнить при разных видах обслуживания или ремонта и срока их выполнения.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Определены стратегии </a:t>
            </a:r>
            <a:r>
              <a:rPr lang="ru-RU" sz="1000" dirty="0"/>
              <a:t>предупредительного ТОРО двух видов – «по календарю» и «по наработке</a:t>
            </a:r>
            <a:r>
              <a:rPr lang="ru-RU" sz="1000" dirty="0" smtClean="0"/>
              <a:t>».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Единицей стратегии ТОРО является пакет мероприятий предупредительного ТОРО. Пакет мероприятий предупредительного ТОРО в стратегии ТОРО имеет индивидуальный код, периодичность и соотносится с отдельным видом работ. У каждого пакета есть уровень иерархии. Уровень иерархии определяет, на основании какого пакета необходимо выполнять работы, если плановый срок выполнения пришелся на одну дату. </a:t>
            </a:r>
          </a:p>
          <a:p>
            <a:endParaRPr lang="ru-RU" sz="12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127" y="1152521"/>
            <a:ext cx="2403332" cy="316860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80" y="5242237"/>
            <a:ext cx="8644806" cy="8027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4824" y="4800542"/>
            <a:ext cx="3490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Линейка обслуживания в рамках стратегии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677967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Планы ТОРО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2459971" y="-18452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Планы ТОРО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9818" y="1771927"/>
            <a:ext cx="856363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600" dirty="0" smtClean="0"/>
              <a:t>Планы предупредительного ТОРО предназначены для формирования годового плана работ по ремонту и обслуживанию технических объектов на основании ведущихся в системе стратегий и технологических карт.</a:t>
            </a:r>
          </a:p>
          <a:p>
            <a:pPr fontAlgn="t"/>
            <a:endParaRPr lang="ru-RU" sz="1600" dirty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600" dirty="0"/>
              <a:t>Планы предупредительного ТОРО описывают периодичность выполнения регламентных работ, объемы и виды работ, выполняемых на технических объектах, а также указывают необходимые ресурсы для проведения работ. </a:t>
            </a:r>
          </a:p>
          <a:p>
            <a:pPr fontAlgn="t"/>
            <a:endParaRPr lang="ru-RU" sz="16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600" dirty="0" smtClean="0"/>
              <a:t>Предусматривается два </a:t>
            </a:r>
            <a:r>
              <a:rPr lang="ru-RU" sz="1600" dirty="0"/>
              <a:t>типа плана предупредительного ТОРО: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600" dirty="0"/>
              <a:t>План предупредительного ТОРО на заказах ТОРО;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600" dirty="0"/>
              <a:t>План предупредительного ТОРО на сообщениях ТОРО.</a:t>
            </a:r>
          </a:p>
          <a:p>
            <a:pPr fontAlgn="t"/>
            <a:endParaRPr lang="ru-RU" sz="16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600" dirty="0"/>
              <a:t>План предупредительного ТОРО состоит из двух составляющих: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600" dirty="0"/>
              <a:t>Заголовок плана, определяющий общие данные для автоматического планирования (горизонт планирования, условия при которых работа будет запланирована, тип объекта отзыва и т.д.);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600" dirty="0"/>
              <a:t>Одна или несколько позиций предупредительного ТОРО, которая определяет, какая технологическая карта и связанная с ней стратегия будет использоваться.</a:t>
            </a:r>
          </a:p>
          <a:p>
            <a:pPr fontAlgn="t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85613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процесса «Ведение локальных технологических карт»</a:t>
            </a:r>
            <a:endParaRPr lang="ru-RU" sz="2000" dirty="0"/>
          </a:p>
        </p:txBody>
      </p:sp>
      <p:sp>
        <p:nvSpPr>
          <p:cNvPr id="4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374548" y="-2027311"/>
            <a:ext cx="2457450" cy="8687757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Инициатор заявки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498598" y="964722"/>
            <a:ext cx="2209348" cy="8687756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Технический специалист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07450" y="4892433"/>
            <a:ext cx="1749599" cy="91167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на достаточность данных в заявке и созданных </a:t>
            </a:r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каталогов кодов ТОРО 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11" name="Соединительная линия уступом 10"/>
          <p:cNvCxnSpPr>
            <a:stCxn id="38" idx="2"/>
            <a:endCxn id="10" idx="0"/>
          </p:cNvCxnSpPr>
          <p:nvPr/>
        </p:nvCxnSpPr>
        <p:spPr>
          <a:xfrm rot="5400000">
            <a:off x="708223" y="3813095"/>
            <a:ext cx="2153366" cy="531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Скругленный прямоугольник 24"/>
          <p:cNvSpPr/>
          <p:nvPr/>
        </p:nvSpPr>
        <p:spPr>
          <a:xfrm>
            <a:off x="3438462" y="4892432"/>
            <a:ext cx="1644067" cy="91167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Согласование наряда Техническим специалистом НСИ</a:t>
            </a:r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3438461" y="1713132"/>
            <a:ext cx="1644068" cy="114019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заявки на ошибки и возможное дублирование каталогов </a:t>
            </a:r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кодов ТОРО 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7275909" y="1746474"/>
            <a:ext cx="1469183" cy="107350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и подтверждение выполнения заявки </a:t>
            </a:r>
          </a:p>
        </p:txBody>
      </p:sp>
      <p:cxnSp>
        <p:nvCxnSpPr>
          <p:cNvPr id="30" name="Соединительная линия уступом 29"/>
          <p:cNvCxnSpPr>
            <a:stCxn id="10" idx="3"/>
            <a:endCxn id="25" idx="1"/>
          </p:cNvCxnSpPr>
          <p:nvPr/>
        </p:nvCxnSpPr>
        <p:spPr>
          <a:xfrm flipV="1">
            <a:off x="2657049" y="5348271"/>
            <a:ext cx="781413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Скругленный прямоугольник 37"/>
          <p:cNvSpPr/>
          <p:nvPr/>
        </p:nvSpPr>
        <p:spPr>
          <a:xfrm>
            <a:off x="918072" y="1827390"/>
            <a:ext cx="1738977" cy="91167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Создание/изменение технологической карты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41" name="Соединительная линия уступом 40"/>
          <p:cNvCxnSpPr>
            <a:stCxn id="25" idx="0"/>
            <a:endCxn id="26" idx="2"/>
          </p:cNvCxnSpPr>
          <p:nvPr/>
        </p:nvCxnSpPr>
        <p:spPr>
          <a:xfrm rot="16200000" flipV="1">
            <a:off x="3240941" y="3872876"/>
            <a:ext cx="2039110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ная линия уступом 43"/>
          <p:cNvCxnSpPr>
            <a:stCxn id="26" idx="3"/>
            <a:endCxn id="27" idx="1"/>
          </p:cNvCxnSpPr>
          <p:nvPr/>
        </p:nvCxnSpPr>
        <p:spPr>
          <a:xfrm>
            <a:off x="5082529" y="2283227"/>
            <a:ext cx="2193380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ная линия уступом 47"/>
          <p:cNvCxnSpPr>
            <a:stCxn id="18" idx="3"/>
            <a:endCxn id="27" idx="2"/>
          </p:cNvCxnSpPr>
          <p:nvPr/>
        </p:nvCxnSpPr>
        <p:spPr>
          <a:xfrm flipV="1">
            <a:off x="7557398" y="2819981"/>
            <a:ext cx="453103" cy="2527804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5913331" y="4891946"/>
            <a:ext cx="1644067" cy="91167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cs typeface="Arial" panose="020B0604020202020204" pitchFamily="34" charset="0"/>
              </a:rPr>
              <a:t>Изменение статуса технологической карты</a:t>
            </a:r>
            <a:endParaRPr lang="ru-RU" sz="1200" dirty="0">
              <a:cs typeface="Arial" panose="020B0604020202020204" pitchFamily="34" charset="0"/>
            </a:endParaRPr>
          </a:p>
        </p:txBody>
      </p:sp>
      <p:cxnSp>
        <p:nvCxnSpPr>
          <p:cNvPr id="20" name="Соединительная линия уступом 19"/>
          <p:cNvCxnSpPr>
            <a:stCxn id="25" idx="3"/>
            <a:endCxn id="18" idx="1"/>
          </p:cNvCxnSpPr>
          <p:nvPr/>
        </p:nvCxnSpPr>
        <p:spPr>
          <a:xfrm flipV="1">
            <a:off x="5082529" y="5347785"/>
            <a:ext cx="830802" cy="48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865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«Создания технологической карты»</a:t>
            </a:r>
            <a:endParaRPr lang="ru-RU" sz="2000" dirty="0"/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87680" y="1181100"/>
            <a:ext cx="812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анализа необходимости создания технологической карты (ТК)</a:t>
            </a:r>
            <a:r>
              <a:rPr lang="en-US" dirty="0" smtClean="0"/>
              <a:t> </a:t>
            </a:r>
            <a:r>
              <a:rPr lang="ru-RU" dirty="0" smtClean="0"/>
              <a:t>Инициатором заявки НСИ.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239315" y="2121001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6" name="Прямая со стрелкой 5"/>
          <p:cNvCxnSpPr/>
          <p:nvPr/>
        </p:nvCxnSpPr>
        <p:spPr>
          <a:xfrm>
            <a:off x="1110553" y="3280894"/>
            <a:ext cx="2128762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5735629" y="3280894"/>
            <a:ext cx="204508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35629" y="2542230"/>
            <a:ext cx="18537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Технологическая карта сохранена с статусом  1- создание</a:t>
            </a:r>
            <a:endParaRPr lang="ru-RU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33368" y="2542230"/>
            <a:ext cx="22016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Проведен анализ необходимости создания технологической карты</a:t>
            </a:r>
            <a:endParaRPr lang="ru-RU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3239315" y="2121001"/>
            <a:ext cx="2496314" cy="23197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Создание технологической карты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7680" y="4471843"/>
            <a:ext cx="7966363" cy="142240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ru-RU" dirty="0" smtClean="0"/>
              <a:t>Инициатором заявки НСИ заполняется карточка технологической карты необходимыми данными. После создания технологической карты Инициатор </a:t>
            </a:r>
            <a:r>
              <a:rPr lang="ru-RU" dirty="0"/>
              <a:t>заявки НСИ оправляет в службу </a:t>
            </a:r>
            <a:r>
              <a:rPr lang="ru-RU" dirty="0" smtClean="0"/>
              <a:t>НСИ код группы </a:t>
            </a:r>
            <a:r>
              <a:rPr lang="ru-RU" dirty="0" err="1" smtClean="0"/>
              <a:t>техкарт</a:t>
            </a:r>
            <a:r>
              <a:rPr lang="ru-RU" dirty="0" smtClean="0"/>
              <a:t> и счетчик созданной </a:t>
            </a:r>
            <a:r>
              <a:rPr lang="ru-RU" dirty="0" err="1" smtClean="0"/>
              <a:t>техкарты</a:t>
            </a:r>
            <a:r>
              <a:rPr lang="ru-RU" dirty="0" smtClean="0"/>
              <a:t>, </a:t>
            </a:r>
            <a:r>
              <a:rPr lang="ru-RU" dirty="0"/>
              <a:t>для согласования. Подробно процесс работы </a:t>
            </a:r>
            <a:r>
              <a:rPr lang="en-US" dirty="0"/>
              <a:t>c </a:t>
            </a:r>
            <a:r>
              <a:rPr lang="ru-RU" dirty="0"/>
              <a:t>заявками НСИ 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 smtClean="0">
                <a:hlinkClick r:id="rId2" action="ppaction://hlinksldjump"/>
              </a:rPr>
              <a:t>».</a:t>
            </a:r>
            <a:endParaRPr lang="ru-RU" dirty="0" smtClean="0"/>
          </a:p>
          <a:p>
            <a:pPr algn="just"/>
            <a:r>
              <a:rPr lang="ru-RU" dirty="0" smtClean="0"/>
              <a:t>Также добавлена возможность автоматической отправки заявки в Полюс.Сервис при сохранении технологической карты со статусом 1 или 5.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5179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«Изменение технологической карты»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87680" y="1181100"/>
            <a:ext cx="812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анализа необходимости изменения технологической карты (ТК)</a:t>
            </a:r>
            <a:r>
              <a:rPr lang="en-US" dirty="0" smtClean="0"/>
              <a:t> </a:t>
            </a:r>
            <a:r>
              <a:rPr lang="ru-RU" dirty="0" smtClean="0"/>
              <a:t>Инициатором заявки НСИ.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239315" y="2121001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6" name="Прямая со стрелкой 5"/>
          <p:cNvCxnSpPr/>
          <p:nvPr/>
        </p:nvCxnSpPr>
        <p:spPr>
          <a:xfrm>
            <a:off x="5735629" y="3280894"/>
            <a:ext cx="237759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856211" y="3280894"/>
            <a:ext cx="2383104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39315" y="2121001"/>
            <a:ext cx="2496314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Изменение технологической карты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6249" y="2542230"/>
            <a:ext cx="23608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Проведен анализ необходимости </a:t>
            </a:r>
            <a:r>
              <a:rPr lang="ru-RU" sz="1400" dirty="0" smtClean="0"/>
              <a:t>изменения технологической </a:t>
            </a:r>
            <a:r>
              <a:rPr lang="ru-RU" sz="1400" dirty="0"/>
              <a:t>карты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5629" y="2326787"/>
            <a:ext cx="21282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Технологическая карта сохранена с статусом  </a:t>
            </a:r>
          </a:p>
          <a:p>
            <a:r>
              <a:rPr lang="ru-RU" sz="1400" dirty="0" smtClean="0"/>
              <a:t>5- Деблокировано </a:t>
            </a:r>
          </a:p>
          <a:p>
            <a:r>
              <a:rPr lang="ru-RU" sz="1400" dirty="0" smtClean="0"/>
              <a:t>(В процессе изменения)</a:t>
            </a:r>
            <a:endParaRPr lang="ru-RU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504290" y="4734357"/>
            <a:ext cx="7966363" cy="142240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 smtClean="0"/>
              <a:t>Инициатором заявки НСИ вносятся в карточку технологической карты необходимые изменения. После изменения технологической карты Инициатор </a:t>
            </a:r>
            <a:r>
              <a:rPr lang="ru-RU" dirty="0"/>
              <a:t>заявки НСИ оправляет в службу </a:t>
            </a:r>
            <a:r>
              <a:rPr lang="ru-RU" dirty="0" smtClean="0"/>
              <a:t>НСИ код группы </a:t>
            </a:r>
            <a:r>
              <a:rPr lang="ru-RU" dirty="0" err="1" smtClean="0"/>
              <a:t>техкарт</a:t>
            </a:r>
            <a:r>
              <a:rPr lang="ru-RU" dirty="0" smtClean="0"/>
              <a:t> и счетчик измененной </a:t>
            </a:r>
            <a:r>
              <a:rPr lang="ru-RU" dirty="0" err="1" smtClean="0"/>
              <a:t>техкарты</a:t>
            </a:r>
            <a:r>
              <a:rPr lang="ru-RU" dirty="0" smtClean="0"/>
              <a:t>, </a:t>
            </a:r>
            <a:r>
              <a:rPr lang="ru-RU" dirty="0"/>
              <a:t>для согласования. Подробно процесс работы </a:t>
            </a:r>
            <a:r>
              <a:rPr lang="en-US" dirty="0"/>
              <a:t>c </a:t>
            </a:r>
            <a:r>
              <a:rPr lang="ru-RU" dirty="0"/>
              <a:t>заявками НСИ 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 smtClean="0">
                <a:hlinkClick r:id="rId2" action="ppaction://hlinksldjump"/>
              </a:rPr>
              <a:t>».</a:t>
            </a:r>
            <a:endParaRPr lang="ru-RU" dirty="0" smtClean="0"/>
          </a:p>
          <a:p>
            <a:r>
              <a:rPr lang="ru-RU" dirty="0"/>
              <a:t>Также добавлена возможность автоматической отправки заявки в Полюс.Сервис при сохранении технологической карты со статусом 1 или 5.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3318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«Проверка на достаточность данных и дубли»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87680" y="1181100"/>
            <a:ext cx="812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заявки НСИ Техническим специалистом НСИ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167942" y="1831044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>
            <a:off x="955964" y="2990936"/>
            <a:ext cx="2211978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6" idx="3"/>
          </p:cNvCxnSpPr>
          <p:nvPr/>
        </p:nvCxnSpPr>
        <p:spPr>
          <a:xfrm flipV="1">
            <a:off x="5664256" y="2990936"/>
            <a:ext cx="2386029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39829" y="2388048"/>
            <a:ext cx="2128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Получение заявки НСИ</a:t>
            </a:r>
            <a:endParaRPr lang="ru-R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3167942" y="1812931"/>
            <a:ext cx="2496314" cy="23342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Проверяются данные в заявке НСИ и анализируются ранее </a:t>
            </a:r>
            <a:r>
              <a:rPr lang="ru-RU" dirty="0" smtClean="0">
                <a:solidFill>
                  <a:schemeClr val="bg1"/>
                </a:solidFill>
              </a:rPr>
              <a:t>созданные технологические карты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19920" y="2162101"/>
            <a:ext cx="2256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Произведен анализ списка технологических карт</a:t>
            </a:r>
            <a:endParaRPr lang="ru-RU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637272" y="4150830"/>
            <a:ext cx="81229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Технический специалист НСИ запускает отчет и производит анализ  технологических карт указанных в заявке и созданных ранее. Если в заявке НСИ указаны технологические  карты дублирующие ранее созданные или в карточке технологической карты недостаточно данных, то заявка отклоняется. Дублирующая технологическая карта помечается для удаления (Устанавливается метка удаления). В случае, если технологическая карта создана корректно, то заявка переводится в статус «Согласовано» (вне системный шаг) и Технический специалист НСИ приступает к выполнению заявки (изменение статуса технологической карты). </a:t>
            </a:r>
            <a:r>
              <a:rPr lang="ru-RU" sz="1600" dirty="0"/>
              <a:t>Подробно процесс </a:t>
            </a:r>
            <a:r>
              <a:rPr lang="ru-RU" sz="1600" dirty="0" smtClean="0"/>
              <a:t>работы </a:t>
            </a:r>
            <a:r>
              <a:rPr lang="en-US" sz="1600" dirty="0"/>
              <a:t>c </a:t>
            </a:r>
            <a:r>
              <a:rPr lang="ru-RU" sz="1600" dirty="0" smtClean="0"/>
              <a:t>заявками НСИ </a:t>
            </a:r>
            <a:r>
              <a:rPr lang="ru-RU" sz="1600" dirty="0"/>
              <a:t>описан в </a:t>
            </a:r>
            <a:r>
              <a:rPr lang="ru-RU" sz="1600" dirty="0">
                <a:hlinkClick r:id="rId2" action="ppaction://hlinksldjump"/>
              </a:rPr>
              <a:t>«Инструкции </a:t>
            </a:r>
            <a:r>
              <a:rPr lang="en-US" sz="1600" dirty="0" err="1">
                <a:hlinkClick r:id="rId2" action="ppaction://hlinksldjump"/>
              </a:rPr>
              <a:t>Naumen</a:t>
            </a:r>
            <a:r>
              <a:rPr lang="en-US" sz="1600" dirty="0">
                <a:hlinkClick r:id="rId2" action="ppaction://hlinksldjump"/>
              </a:rPr>
              <a:t> SD</a:t>
            </a:r>
            <a:r>
              <a:rPr lang="ru-RU" sz="1600" dirty="0" smtClean="0">
                <a:hlinkClick r:id="rId2" action="ppaction://hlinksldjump"/>
              </a:rPr>
              <a:t>».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745048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«Изменение статуса технологической карты»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23703" y="1105593"/>
            <a:ext cx="8096596" cy="923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 smtClean="0"/>
              <a:t>Данный шаг выполняется после выполнения проверки на достаточность данных и дубли. Технический специалист НСИ переходит на изменение технологической карты и устанавливает статус 5 - Деблокировано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192880" y="2321495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TextBox 5"/>
          <p:cNvSpPr txBox="1"/>
          <p:nvPr/>
        </p:nvSpPr>
        <p:spPr>
          <a:xfrm>
            <a:off x="3192880" y="2321495"/>
            <a:ext cx="2496314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Изменение статуса технологической карты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7" name="Прямая со стрелкой 6"/>
          <p:cNvCxnSpPr>
            <a:endCxn id="6" idx="1"/>
          </p:cNvCxnSpPr>
          <p:nvPr/>
        </p:nvCxnSpPr>
        <p:spPr>
          <a:xfrm>
            <a:off x="968433" y="3481386"/>
            <a:ext cx="2224447" cy="2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stCxn id="6" idx="3"/>
          </p:cNvCxnSpPr>
          <p:nvPr/>
        </p:nvCxnSpPr>
        <p:spPr>
          <a:xfrm flipV="1">
            <a:off x="5689194" y="3481203"/>
            <a:ext cx="2299337" cy="185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55964" y="2650389"/>
            <a:ext cx="24855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Проверка на достаточность данных и дубли проведена</a:t>
            </a:r>
            <a:endParaRPr lang="ru-RU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5653448" y="2896428"/>
            <a:ext cx="2260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Статус технологической карты изменен</a:t>
            </a:r>
            <a:endParaRPr lang="ru-RU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561803" y="4871259"/>
            <a:ext cx="80584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изменения статуса технологической карты, Технический специалист НСИ устанавливает статус заявки «Выполнено» (вне системный шаг), после чего информирует Инициатора заявки НСИ по почте о внесении изменений в </a:t>
            </a:r>
            <a:r>
              <a:rPr lang="en-US" dirty="0" smtClean="0"/>
              <a:t>SAP</a:t>
            </a:r>
            <a:r>
              <a:rPr lang="ru-RU" dirty="0" smtClean="0"/>
              <a:t>.</a:t>
            </a:r>
            <a:r>
              <a:rPr lang="ru-RU" dirty="0"/>
              <a:t> 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r>
              <a:rPr lang="ru-RU" dirty="0"/>
              <a:t>Также добавлена возможность автоматической отправки заявки в Полюс.Сервис при сохранении технологической карты со статусом 1 или 5.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0454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Описание шага  «</a:t>
            </a:r>
            <a:r>
              <a:rPr lang="ru-RU" dirty="0"/>
              <a:t>Проверка заявки НСИ на ошибки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30778" y="1172095"/>
            <a:ext cx="7290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отклоненной заявки Техническим специалистом НСИ с комментариями.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290730" y="2169265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6" name="Прямая со стрелкой 5"/>
          <p:cNvCxnSpPr/>
          <p:nvPr/>
        </p:nvCxnSpPr>
        <p:spPr>
          <a:xfrm>
            <a:off x="1388168" y="3326062"/>
            <a:ext cx="1902562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5787044" y="3326062"/>
            <a:ext cx="1902562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90730" y="2169265"/>
            <a:ext cx="2496313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Анализ отклоненной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8602" y="2574961"/>
            <a:ext cx="17997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Получение отклоненной заявки НСИ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787043" y="2771795"/>
            <a:ext cx="1878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Анализ произведен, ошибки исправлены</a:t>
            </a:r>
            <a:endParaRPr lang="ru-RU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606829" y="4746902"/>
            <a:ext cx="80882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заявка была отклонена по причине ошибки или недостаточности данных, то Инициатор корректирует заявку и направляет в службу НСИ заявку повторно. Если заявку отклонили по причине того, что техническое место уже было создано ранее, то Инициатор формирует отчет и убеждается в этом, после чего переходит к следующему шагу.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4529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«Подтверждение выполнения заявки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73330" y="985315"/>
            <a:ext cx="8005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в следующих случаях: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После уведомления Инициатора заявки НСИ о выполнении заявки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 случае обнаружения в отклоненной заявке ранее созданной единицы оборудования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290730" y="2052488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6" name="Прямая со стрелкой 5"/>
          <p:cNvCxnSpPr>
            <a:stCxn id="5" idx="3"/>
          </p:cNvCxnSpPr>
          <p:nvPr/>
        </p:nvCxnSpPr>
        <p:spPr>
          <a:xfrm>
            <a:off x="5787044" y="3212381"/>
            <a:ext cx="1902562" cy="3296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>
            <a:endCxn id="5" idx="1"/>
          </p:cNvCxnSpPr>
          <p:nvPr/>
        </p:nvCxnSpPr>
        <p:spPr>
          <a:xfrm flipV="1">
            <a:off x="955964" y="3212381"/>
            <a:ext cx="2334766" cy="8189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90730" y="2052488"/>
            <a:ext cx="2496314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Проверка выполнения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67631" y="2258274"/>
            <a:ext cx="2111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Оповещение о выполнении заявки НСИ/ анализ отклоненной заявки НСИ</a:t>
            </a:r>
            <a:endParaRPr lang="ru-RU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5787044" y="2735327"/>
            <a:ext cx="1720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Подтверждение выполнения заявки</a:t>
            </a:r>
            <a:endParaRPr lang="ru-RU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586046" y="4403120"/>
            <a:ext cx="8179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получения оповещения по  почте о выполнении заявки НСИ, Инициатор формирует отчет и производит проверку выполненных изменений в </a:t>
            </a:r>
            <a:r>
              <a:rPr lang="en-US" dirty="0" smtClean="0"/>
              <a:t>SAP</a:t>
            </a:r>
            <a:r>
              <a:rPr lang="ru-RU" dirty="0" smtClean="0"/>
              <a:t>, проверяет изменение статуса</a:t>
            </a:r>
            <a:r>
              <a:rPr lang="en-US" dirty="0" smtClean="0"/>
              <a:t> </a:t>
            </a:r>
            <a:r>
              <a:rPr lang="ru-RU" dirty="0" smtClean="0"/>
              <a:t>технологической карты, после чего подтверждает выполнение заявки НСИ. В случае обнаружения, </a:t>
            </a:r>
            <a:r>
              <a:rPr lang="ru-RU" dirty="0"/>
              <a:t>при выполнении шага «Проверка заявки НСИ на ошибки»</a:t>
            </a:r>
            <a:r>
              <a:rPr lang="ru-RU" dirty="0" smtClean="0"/>
              <a:t> в заявке НСИ технологической карты, которая дублирует ранее созданную, то производит подтверждение выполнения заявки.</a:t>
            </a:r>
            <a:r>
              <a:rPr lang="ru-RU" dirty="0"/>
              <a:t> 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380415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Описание процесса «Ведение стратегий ТОРО»</a:t>
            </a:r>
            <a:endParaRPr lang="ru-RU" dirty="0"/>
          </a:p>
        </p:txBody>
      </p:sp>
      <p:sp>
        <p:nvSpPr>
          <p:cNvPr id="4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646547" y="-2454625"/>
            <a:ext cx="1877880" cy="8918906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Инициатор заявки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480815" y="-291085"/>
            <a:ext cx="2209348" cy="8918902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Технический специалист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6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4036684" y="1461451"/>
            <a:ext cx="1097607" cy="8918904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Методолог </a:t>
            </a:r>
            <a:r>
              <a:rPr lang="ru-RU" sz="1200" b="1" dirty="0" err="1" smtClean="0">
                <a:solidFill>
                  <a:srgbClr val="595959"/>
                </a:solidFill>
                <a:cs typeface="Arial" panose="020B0604020202020204" pitchFamily="34" charset="0"/>
              </a:rPr>
              <a:t>ТОиР</a:t>
            </a:r>
            <a:endParaRPr lang="ru-RU" sz="1200" b="1" dirty="0" smtClean="0">
              <a:solidFill>
                <a:srgbClr val="595959"/>
              </a:solidFill>
              <a:cs typeface="Arial" panose="020B0604020202020204" pitchFamily="34" charset="0"/>
            </a:endParaRPr>
          </a:p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(Централизованный)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53666" y="1548989"/>
            <a:ext cx="1738977" cy="91167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Создание заявки НСИ</a:t>
            </a:r>
          </a:p>
        </p:txBody>
      </p:sp>
      <p:cxnSp>
        <p:nvCxnSpPr>
          <p:cNvPr id="8" name="Соединительная линия уступом 7"/>
          <p:cNvCxnSpPr>
            <a:stCxn id="7" idx="2"/>
            <a:endCxn id="9" idx="0"/>
          </p:cNvCxnSpPr>
          <p:nvPr/>
        </p:nvCxnSpPr>
        <p:spPr>
          <a:xfrm rot="5400000">
            <a:off x="691355" y="3090086"/>
            <a:ext cx="1261221" cy="238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Скругленный прямоугольник 8"/>
          <p:cNvSpPr/>
          <p:nvPr/>
        </p:nvSpPr>
        <p:spPr>
          <a:xfrm>
            <a:off x="445974" y="3721887"/>
            <a:ext cx="1749599" cy="91167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на достаточность данных в заявке и созданных </a:t>
            </a:r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стратегий ТОРО 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2515510" y="3721886"/>
            <a:ext cx="1644067" cy="91167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Согласование наряда Техническим специалистом НСИ</a:t>
            </a:r>
          </a:p>
        </p:txBody>
      </p:sp>
      <p:cxnSp>
        <p:nvCxnSpPr>
          <p:cNvPr id="14" name="Соединительная линия уступом 13"/>
          <p:cNvCxnSpPr>
            <a:stCxn id="9" idx="3"/>
            <a:endCxn id="13" idx="1"/>
          </p:cNvCxnSpPr>
          <p:nvPr/>
        </p:nvCxnSpPr>
        <p:spPr>
          <a:xfrm flipV="1">
            <a:off x="2195573" y="4177725"/>
            <a:ext cx="319937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Скругленный прямоугольник 16"/>
          <p:cNvSpPr/>
          <p:nvPr/>
        </p:nvSpPr>
        <p:spPr>
          <a:xfrm>
            <a:off x="3605770" y="5490221"/>
            <a:ext cx="1490333" cy="88202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Согласование наряда Методологом </a:t>
            </a:r>
          </a:p>
        </p:txBody>
      </p:sp>
      <p:cxnSp>
        <p:nvCxnSpPr>
          <p:cNvPr id="18" name="Соединительная линия уступом 17"/>
          <p:cNvCxnSpPr>
            <a:stCxn id="13" idx="2"/>
            <a:endCxn id="17" idx="1"/>
          </p:cNvCxnSpPr>
          <p:nvPr/>
        </p:nvCxnSpPr>
        <p:spPr>
          <a:xfrm rot="16200000" flipH="1">
            <a:off x="2822822" y="5148286"/>
            <a:ext cx="1297671" cy="268226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Скругленный прямоугольник 20"/>
          <p:cNvSpPr/>
          <p:nvPr/>
        </p:nvSpPr>
        <p:spPr>
          <a:xfrm>
            <a:off x="5450613" y="3307514"/>
            <a:ext cx="1738977" cy="44550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>
                <a:cs typeface="Arial" panose="020B0604020202020204" pitchFamily="34" charset="0"/>
              </a:rPr>
              <a:t>Создание </a:t>
            </a:r>
            <a:r>
              <a:rPr lang="ru-RU" sz="1200" dirty="0" smtClean="0">
                <a:cs typeface="Arial" panose="020B0604020202020204" pitchFamily="34" charset="0"/>
              </a:rPr>
              <a:t>Стратегии ТОРО</a:t>
            </a:r>
            <a:endParaRPr lang="ru-RU" sz="1200" dirty="0">
              <a:cs typeface="Arial" panose="020B0604020202020204" pitchFamily="34" charset="0"/>
            </a:endParaRP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5450613" y="4533108"/>
            <a:ext cx="1738977" cy="44550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>
                <a:cs typeface="Arial" panose="020B0604020202020204" pitchFamily="34" charset="0"/>
              </a:rPr>
              <a:t>Изменение </a:t>
            </a:r>
            <a:r>
              <a:rPr lang="ru-RU" sz="1200" dirty="0" smtClean="0">
                <a:cs typeface="Arial" panose="020B0604020202020204" pitchFamily="34" charset="0"/>
              </a:rPr>
              <a:t>стратегии ТОРО</a:t>
            </a:r>
            <a:endParaRPr lang="ru-RU" sz="1200" dirty="0">
              <a:cs typeface="Arial" panose="020B0604020202020204" pitchFamily="34" charset="0"/>
            </a:endParaRPr>
          </a:p>
        </p:txBody>
      </p:sp>
      <p:cxnSp>
        <p:nvCxnSpPr>
          <p:cNvPr id="23" name="Соединительная линия уступом 22"/>
          <p:cNvCxnSpPr>
            <a:stCxn id="17" idx="3"/>
            <a:endCxn id="21" idx="1"/>
          </p:cNvCxnSpPr>
          <p:nvPr/>
        </p:nvCxnSpPr>
        <p:spPr>
          <a:xfrm flipV="1">
            <a:off x="5096103" y="3530265"/>
            <a:ext cx="354510" cy="240097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ная линия уступом 25"/>
          <p:cNvCxnSpPr>
            <a:stCxn id="17" idx="3"/>
            <a:endCxn id="22" idx="1"/>
          </p:cNvCxnSpPr>
          <p:nvPr/>
        </p:nvCxnSpPr>
        <p:spPr>
          <a:xfrm flipV="1">
            <a:off x="5096103" y="4755859"/>
            <a:ext cx="354510" cy="117537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Скругленный прямоугольник 28"/>
          <p:cNvSpPr/>
          <p:nvPr/>
        </p:nvSpPr>
        <p:spPr>
          <a:xfrm>
            <a:off x="7473001" y="3803622"/>
            <a:ext cx="1469183" cy="72948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Оповещение инициатора о выполнении заявки НСИ</a:t>
            </a:r>
          </a:p>
        </p:txBody>
      </p:sp>
      <p:cxnSp>
        <p:nvCxnSpPr>
          <p:cNvPr id="30" name="Соединительная линия уступом 29"/>
          <p:cNvCxnSpPr>
            <a:stCxn id="21" idx="3"/>
            <a:endCxn id="29" idx="1"/>
          </p:cNvCxnSpPr>
          <p:nvPr/>
        </p:nvCxnSpPr>
        <p:spPr>
          <a:xfrm>
            <a:off x="7189590" y="3530265"/>
            <a:ext cx="283411" cy="6381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Соединительная линия уступом 33"/>
          <p:cNvCxnSpPr>
            <a:stCxn id="22" idx="3"/>
            <a:endCxn id="29" idx="1"/>
          </p:cNvCxnSpPr>
          <p:nvPr/>
        </p:nvCxnSpPr>
        <p:spPr>
          <a:xfrm flipV="1">
            <a:off x="7189590" y="4168365"/>
            <a:ext cx="283411" cy="58749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Скругленный прямоугольник 40"/>
          <p:cNvSpPr/>
          <p:nvPr/>
        </p:nvSpPr>
        <p:spPr>
          <a:xfrm>
            <a:off x="7467234" y="1515880"/>
            <a:ext cx="1469183" cy="107350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и подтверждение выполнения заявки </a:t>
            </a:r>
          </a:p>
        </p:txBody>
      </p:sp>
      <p:cxnSp>
        <p:nvCxnSpPr>
          <p:cNvPr id="57" name="Соединительная линия уступом 56"/>
          <p:cNvCxnSpPr>
            <a:stCxn id="17" idx="0"/>
            <a:endCxn id="13" idx="3"/>
          </p:cNvCxnSpPr>
          <p:nvPr/>
        </p:nvCxnSpPr>
        <p:spPr>
          <a:xfrm rot="16200000" flipV="1">
            <a:off x="3599009" y="4738293"/>
            <a:ext cx="1312496" cy="191360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Скругленный прямоугольник 59"/>
          <p:cNvSpPr/>
          <p:nvPr/>
        </p:nvSpPr>
        <p:spPr>
          <a:xfrm>
            <a:off x="2515509" y="1482487"/>
            <a:ext cx="1644068" cy="114019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заявки на ошибки и возможное дублирование </a:t>
            </a:r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стратегий ТОРО 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61" name="Соединительная линия уступом 60"/>
          <p:cNvCxnSpPr>
            <a:stCxn id="13" idx="0"/>
            <a:endCxn id="60" idx="2"/>
          </p:cNvCxnSpPr>
          <p:nvPr/>
        </p:nvCxnSpPr>
        <p:spPr>
          <a:xfrm rot="16200000" flipV="1">
            <a:off x="2787940" y="3172281"/>
            <a:ext cx="1099209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Соединительная линия уступом 63"/>
          <p:cNvCxnSpPr>
            <a:stCxn id="60" idx="3"/>
            <a:endCxn id="41" idx="1"/>
          </p:cNvCxnSpPr>
          <p:nvPr/>
        </p:nvCxnSpPr>
        <p:spPr>
          <a:xfrm>
            <a:off x="4159577" y="2052582"/>
            <a:ext cx="3307657" cy="5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Соединительная линия уступом 88"/>
          <p:cNvCxnSpPr>
            <a:stCxn id="29" idx="0"/>
            <a:endCxn id="41" idx="2"/>
          </p:cNvCxnSpPr>
          <p:nvPr/>
        </p:nvCxnSpPr>
        <p:spPr>
          <a:xfrm rot="16200000" flipV="1">
            <a:off x="7597593" y="3193621"/>
            <a:ext cx="1214235" cy="576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318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«Проверка на достаточность данных и дубли»</a:t>
            </a:r>
            <a:endParaRPr lang="ru-RU" sz="2000" dirty="0"/>
          </a:p>
        </p:txBody>
      </p:sp>
      <p:grpSp>
        <p:nvGrpSpPr>
          <p:cNvPr id="4" name="Группа 3"/>
          <p:cNvGrpSpPr/>
          <p:nvPr/>
        </p:nvGrpSpPr>
        <p:grpSpPr>
          <a:xfrm>
            <a:off x="3405048" y="1865394"/>
            <a:ext cx="2496314" cy="2319786"/>
            <a:chOff x="2311907" y="846559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1907" y="846559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Проверяются данные в заявке НСИ и анализируются ранее созданные стратегии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87680" y="1181100"/>
            <a:ext cx="8122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заявки НСИ в формате </a:t>
            </a:r>
            <a:r>
              <a:rPr lang="en-US" dirty="0" smtClean="0"/>
              <a:t>Excel</a:t>
            </a:r>
            <a:r>
              <a:rPr lang="ru-RU" dirty="0" smtClean="0"/>
              <a:t> файла</a:t>
            </a:r>
            <a:endParaRPr lang="ru-RU" dirty="0"/>
          </a:p>
        </p:txBody>
      </p:sp>
      <p:cxnSp>
        <p:nvCxnSpPr>
          <p:cNvPr id="8" name="Прямая со стрелкой 7"/>
          <p:cNvCxnSpPr>
            <a:endCxn id="5" idx="1"/>
          </p:cNvCxnSpPr>
          <p:nvPr/>
        </p:nvCxnSpPr>
        <p:spPr>
          <a:xfrm>
            <a:off x="1421476" y="3025287"/>
            <a:ext cx="1983572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5" idx="3"/>
          </p:cNvCxnSpPr>
          <p:nvPr/>
        </p:nvCxnSpPr>
        <p:spPr>
          <a:xfrm flipV="1">
            <a:off x="5901362" y="3024955"/>
            <a:ext cx="1983572" cy="332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51739" y="2428213"/>
            <a:ext cx="2128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Получение заявки НСИ</a:t>
            </a:r>
            <a:endParaRPr lang="ru-R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5901362" y="2401418"/>
            <a:ext cx="1913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Произведен анализ стратегий ТОРО</a:t>
            </a:r>
            <a:endParaRPr lang="ru-RU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589383" y="4321067"/>
            <a:ext cx="82969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Если в заявке НСИ указано недостаточно данных для создания/изменения </a:t>
            </a:r>
            <a:r>
              <a:rPr lang="ru-RU" dirty="0" smtClean="0"/>
              <a:t>стратегии ТОРО или стратегия уже была создана </a:t>
            </a:r>
            <a:r>
              <a:rPr lang="ru-RU" dirty="0"/>
              <a:t>ранее, то данные позиции заявки отклоняются. В случае, если данные в заявке НСИ указаны корректно и </a:t>
            </a:r>
            <a:r>
              <a:rPr lang="ru-RU" dirty="0" smtClean="0"/>
              <a:t>стратегия ТОРО ранее </a:t>
            </a:r>
            <a:r>
              <a:rPr lang="ru-RU" dirty="0"/>
              <a:t>не </a:t>
            </a:r>
            <a:r>
              <a:rPr lang="ru-RU" dirty="0" smtClean="0"/>
              <a:t>создавалась</a:t>
            </a:r>
            <a:r>
              <a:rPr lang="ru-RU" dirty="0"/>
              <a:t>, Технический специалист НСИ согласует заявку (вне системный шаг) </a:t>
            </a:r>
            <a:r>
              <a:rPr lang="ru-RU" dirty="0" smtClean="0"/>
              <a:t>и направляет заявку на согласование Методологом </a:t>
            </a:r>
            <a:r>
              <a:rPr lang="ru-RU" dirty="0" err="1" smtClean="0"/>
              <a:t>ТОиР</a:t>
            </a:r>
            <a:r>
              <a:rPr lang="ru-RU" dirty="0" smtClean="0"/>
              <a:t>. </a:t>
            </a:r>
            <a:r>
              <a:rPr lang="ru-RU" dirty="0"/>
              <a:t>Подробно процесс согласования и работы </a:t>
            </a:r>
            <a:r>
              <a:rPr lang="en-US" dirty="0"/>
              <a:t>c </a:t>
            </a:r>
            <a:r>
              <a:rPr lang="ru-RU" dirty="0"/>
              <a:t>заявками НСИ 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3527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«Согласование заявки НСИ Методологом»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122218"/>
            <a:ext cx="7364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проведения проверки заявки НСИ Техническим специалистом НСИ </a:t>
            </a:r>
          </a:p>
          <a:p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3439402" y="2157783"/>
            <a:ext cx="2496314" cy="2319786"/>
            <a:chOff x="2311907" y="846559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1907" y="846559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Проверяются данные в заявке НСИ и анализируются ранее созданные стратегии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Прямая со стрелкой 7"/>
          <p:cNvCxnSpPr/>
          <p:nvPr/>
        </p:nvCxnSpPr>
        <p:spPr>
          <a:xfrm>
            <a:off x="1286947" y="3317676"/>
            <a:ext cx="2152455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5935716" y="3317676"/>
            <a:ext cx="1739568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78274" y="2579012"/>
            <a:ext cx="18953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Заявка проверена Техническим специалистом НСИ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996113" y="2579012"/>
            <a:ext cx="16791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Заявка согласована/ заявка отклонена</a:t>
            </a:r>
            <a:endParaRPr lang="ru-RU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473825" y="4605251"/>
            <a:ext cx="81049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Методолог </a:t>
            </a:r>
            <a:r>
              <a:rPr lang="ru-RU" dirty="0" err="1" smtClean="0"/>
              <a:t>ТОиР</a:t>
            </a:r>
            <a:r>
              <a:rPr lang="ru-RU" dirty="0" smtClean="0"/>
              <a:t> просматривает стратегии ТОРО и определяет необходимость создания новых стратегий ТОРО. В случае согласования Методологом </a:t>
            </a:r>
            <a:r>
              <a:rPr lang="ru-RU" dirty="0" err="1" smtClean="0"/>
              <a:t>ТОиР</a:t>
            </a:r>
            <a:r>
              <a:rPr lang="ru-RU" dirty="0" smtClean="0"/>
              <a:t> заявки НСИ, заявка отправляется Техническому специалисту для внесения изменений. Если заявка НСИ отклоняется Методологом </a:t>
            </a:r>
            <a:r>
              <a:rPr lang="ru-RU" dirty="0" err="1" smtClean="0"/>
              <a:t>ТОиР</a:t>
            </a:r>
            <a:r>
              <a:rPr lang="ru-RU" dirty="0" smtClean="0"/>
              <a:t>, заявка с комментариями возвращается Техническому специалисту НСИ, для отправки Инициатору.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61222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«Создание/изменение стратегий ТОРО»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474470" y="1210503"/>
            <a:ext cx="6568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согласования заявки НСИ Методологом </a:t>
            </a:r>
            <a:r>
              <a:rPr lang="ru-RU" dirty="0" err="1" smtClean="0"/>
              <a:t>ТОиР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372320" y="2118530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8" name="Прямая со стрелкой 7"/>
          <p:cNvCxnSpPr>
            <a:endCxn id="7" idx="1"/>
          </p:cNvCxnSpPr>
          <p:nvPr/>
        </p:nvCxnSpPr>
        <p:spPr>
          <a:xfrm>
            <a:off x="1474470" y="3278423"/>
            <a:ext cx="1897850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7" idx="3"/>
          </p:cNvCxnSpPr>
          <p:nvPr/>
        </p:nvCxnSpPr>
        <p:spPr>
          <a:xfrm>
            <a:off x="5868634" y="3278423"/>
            <a:ext cx="1679322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52216" y="2457166"/>
            <a:ext cx="16466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 </a:t>
            </a:r>
            <a:r>
              <a:rPr lang="ru-RU" sz="1400" dirty="0" smtClean="0"/>
              <a:t>Заявка НСИ согласована Методологом НСИ</a:t>
            </a:r>
            <a:endParaRPr lang="ru-RU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3372320" y="2118531"/>
            <a:ext cx="2496313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Создание/изменение стратегий ТОРО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68633" y="2703387"/>
            <a:ext cx="1679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Стратегии ТОРО созданы/изменены</a:t>
            </a:r>
            <a:endParaRPr lang="ru-RU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750223" y="4648196"/>
            <a:ext cx="80169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</a:t>
            </a:r>
            <a:r>
              <a:rPr lang="en-US" dirty="0" smtClean="0"/>
              <a:t> </a:t>
            </a:r>
            <a:r>
              <a:rPr lang="ru-RU" dirty="0" smtClean="0"/>
              <a:t>после внесения изменений в </a:t>
            </a:r>
            <a:r>
              <a:rPr lang="en-US" dirty="0" smtClean="0"/>
              <a:t>SAP</a:t>
            </a:r>
            <a:r>
              <a:rPr lang="ru-RU" dirty="0" smtClean="0"/>
              <a:t>, Технический специалист НСИ устанавливает статус заявки «Выполнено» (вне системный шаг), после чего информирует Инициатора заявки НСИ по почте о внесении изменений в </a:t>
            </a:r>
            <a:r>
              <a:rPr lang="en-US" dirty="0" smtClean="0"/>
              <a:t>SAP</a:t>
            </a:r>
            <a:r>
              <a:rPr lang="ru-RU" dirty="0" smtClean="0"/>
              <a:t>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5340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Описание шага «Анализ отклоненной заявки НСИ»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05840" y="1263535"/>
            <a:ext cx="7290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отклоненной заявки Техническим специалистом НСИ с комментариями.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90730" y="2169265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TextBox 6"/>
          <p:cNvSpPr txBox="1"/>
          <p:nvPr/>
        </p:nvSpPr>
        <p:spPr>
          <a:xfrm>
            <a:off x="3290730" y="2169265"/>
            <a:ext cx="2494928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Анализ отклоненной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1388168" y="3327610"/>
            <a:ext cx="1902562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V="1">
            <a:off x="5785658" y="3327610"/>
            <a:ext cx="1931476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13875" y="2506148"/>
            <a:ext cx="17997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Получение отклоненной заявки НСИ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862779" y="2721592"/>
            <a:ext cx="1878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Анализ произведен, ошибки исправлены</a:t>
            </a:r>
            <a:endParaRPr lang="ru-RU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606829" y="4662556"/>
            <a:ext cx="80882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заявка была отклонена по причине ошибки или недостаточности данных, то Инициатор корректирует заявку и направляет в службу НСИ заявку повторно. Если заявку отклонили по причине того, что стратегия ТОРО уже была создана ранее, то Инициатор просматривает список стратегий ТОРО и убеждается в этом, после чего переходит к следующему шагу.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 smtClean="0">
                <a:hlinkClick r:id="rId2" action="ppaction://hlinksldjump"/>
              </a:rPr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8509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«Подтверждение выполнения заявки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86047" y="996716"/>
            <a:ext cx="8005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в следующих случаях: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После уведомления Инициатора заявки НСИ о выполнении заявки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 случае обнаружения в отклоненной заявке ранее созданных кодов/групп кодов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239315" y="2121001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6" name="Прямая со стрелкой 5"/>
          <p:cNvCxnSpPr/>
          <p:nvPr/>
        </p:nvCxnSpPr>
        <p:spPr>
          <a:xfrm flipV="1">
            <a:off x="1127883" y="3280894"/>
            <a:ext cx="2111432" cy="17243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5735629" y="3280894"/>
            <a:ext cx="204508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33650" y="2138245"/>
            <a:ext cx="2496313" cy="2319785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Проверка выполнения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5051" y="2318165"/>
            <a:ext cx="2111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Оповещение о выполнении заявки НСИ/ анализ отклоненной заявки НСИ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5729963" y="2719202"/>
            <a:ext cx="1720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Подтверждение выполнения заявки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86047" y="4534974"/>
            <a:ext cx="81797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получения оповещения по  почте о выполнении заявки НСИ, Инициатор просматривает  стратегии ТОРО и производит проверку выполненных изменений в </a:t>
            </a:r>
            <a:r>
              <a:rPr lang="en-US" dirty="0" smtClean="0"/>
              <a:t>SAP</a:t>
            </a:r>
            <a:r>
              <a:rPr lang="ru-RU" dirty="0" smtClean="0"/>
              <a:t>, после чего подтверждает выполнение заявки НСИ. В случае обнаружения, </a:t>
            </a:r>
            <a:r>
              <a:rPr lang="ru-RU" dirty="0"/>
              <a:t>при выполнении шага «Проверка заявки НСИ на ошибки»</a:t>
            </a:r>
            <a:r>
              <a:rPr lang="ru-RU" dirty="0" smtClean="0"/>
              <a:t> в заявке НСИ ранее созданных стратегий ТОРО, то производит подтверждение выполнения заявки.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263687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>
          <a:xfrm>
            <a:off x="159642" y="538125"/>
            <a:ext cx="7927975" cy="410926"/>
          </a:xfrm>
        </p:spPr>
        <p:txBody>
          <a:bodyPr/>
          <a:lstStyle/>
          <a:p>
            <a:r>
              <a:rPr lang="ru-RU" sz="1800" dirty="0" smtClean="0"/>
              <a:t>Описание процесса «Ведение централизованных технологических карт»</a:t>
            </a:r>
            <a:endParaRPr lang="ru-RU" sz="1800" dirty="0"/>
          </a:p>
        </p:txBody>
      </p:sp>
      <p:sp>
        <p:nvSpPr>
          <p:cNvPr id="4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374548" y="-2027311"/>
            <a:ext cx="2457450" cy="8687757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Инициатор заявки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702133" y="116792"/>
            <a:ext cx="1802282" cy="8687756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Технический специалист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07450" y="4052375"/>
            <a:ext cx="1749599" cy="91167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на достаточность данных в заявке и созданных </a:t>
            </a:r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каталогов кодов ТОРО 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11" name="Соединительная линия уступом 10"/>
          <p:cNvCxnSpPr>
            <a:stCxn id="38" idx="2"/>
            <a:endCxn id="10" idx="0"/>
          </p:cNvCxnSpPr>
          <p:nvPr/>
        </p:nvCxnSpPr>
        <p:spPr>
          <a:xfrm rot="5400000">
            <a:off x="1128252" y="3393066"/>
            <a:ext cx="1313308" cy="531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Скругленный прямоугольник 24"/>
          <p:cNvSpPr/>
          <p:nvPr/>
        </p:nvSpPr>
        <p:spPr>
          <a:xfrm>
            <a:off x="3438462" y="4052376"/>
            <a:ext cx="1644067" cy="91167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Согласование наряда Техническим специалистом НСИ</a:t>
            </a:r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3438461" y="1713132"/>
            <a:ext cx="1644068" cy="114019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заявки на ошибки и возможное дублирование каталогов </a:t>
            </a:r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кодов ТОРО 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7275909" y="1746474"/>
            <a:ext cx="1469183" cy="107350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и подтверждение выполнения заявки </a:t>
            </a:r>
          </a:p>
        </p:txBody>
      </p:sp>
      <p:cxnSp>
        <p:nvCxnSpPr>
          <p:cNvPr id="30" name="Соединительная линия уступом 29"/>
          <p:cNvCxnSpPr>
            <a:stCxn id="10" idx="3"/>
            <a:endCxn id="25" idx="1"/>
          </p:cNvCxnSpPr>
          <p:nvPr/>
        </p:nvCxnSpPr>
        <p:spPr>
          <a:xfrm>
            <a:off x="2657049" y="4508214"/>
            <a:ext cx="781413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Скругленный прямоугольник 37"/>
          <p:cNvSpPr/>
          <p:nvPr/>
        </p:nvSpPr>
        <p:spPr>
          <a:xfrm>
            <a:off x="918072" y="1827390"/>
            <a:ext cx="1738977" cy="91167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Создание/изменение технологической карты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41" name="Соединительная линия уступом 40"/>
          <p:cNvCxnSpPr>
            <a:stCxn id="25" idx="0"/>
            <a:endCxn id="26" idx="2"/>
          </p:cNvCxnSpPr>
          <p:nvPr/>
        </p:nvCxnSpPr>
        <p:spPr>
          <a:xfrm rot="16200000" flipV="1">
            <a:off x="3660969" y="3452848"/>
            <a:ext cx="1199054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ная линия уступом 43"/>
          <p:cNvCxnSpPr>
            <a:stCxn id="26" idx="3"/>
            <a:endCxn id="27" idx="1"/>
          </p:cNvCxnSpPr>
          <p:nvPr/>
        </p:nvCxnSpPr>
        <p:spPr>
          <a:xfrm>
            <a:off x="5082529" y="2283227"/>
            <a:ext cx="2193380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ная линия уступом 47"/>
          <p:cNvCxnSpPr>
            <a:stCxn id="33" idx="3"/>
            <a:endCxn id="27" idx="2"/>
          </p:cNvCxnSpPr>
          <p:nvPr/>
        </p:nvCxnSpPr>
        <p:spPr>
          <a:xfrm flipV="1">
            <a:off x="7849721" y="2819981"/>
            <a:ext cx="160780" cy="1604698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4004810" y="1616398"/>
            <a:ext cx="1196928" cy="868775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Методолог </a:t>
            </a:r>
            <a:r>
              <a:rPr lang="ru-RU" sz="1200" b="1" dirty="0" err="1" smtClean="0">
                <a:solidFill>
                  <a:srgbClr val="595959"/>
                </a:solidFill>
                <a:cs typeface="Arial" panose="020B0604020202020204" pitchFamily="34" charset="0"/>
              </a:rPr>
              <a:t>ТОиР</a:t>
            </a:r>
            <a:endParaRPr lang="ru-RU" sz="1200" b="1" dirty="0" smtClean="0">
              <a:solidFill>
                <a:srgbClr val="595959"/>
              </a:solidFill>
              <a:cs typeface="Arial" panose="020B0604020202020204" pitchFamily="34" charset="0"/>
            </a:endParaRPr>
          </a:p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(Централизованный)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4516790" y="5563453"/>
            <a:ext cx="1490333" cy="91167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Согласование наряда Методологом </a:t>
            </a:r>
          </a:p>
        </p:txBody>
      </p:sp>
      <p:cxnSp>
        <p:nvCxnSpPr>
          <p:cNvPr id="23" name="Соединительная линия уступом 22"/>
          <p:cNvCxnSpPr>
            <a:stCxn id="25" idx="2"/>
            <a:endCxn id="21" idx="1"/>
          </p:cNvCxnSpPr>
          <p:nvPr/>
        </p:nvCxnSpPr>
        <p:spPr>
          <a:xfrm rot="16200000" flipH="1">
            <a:off x="3861024" y="5363526"/>
            <a:ext cx="1055238" cy="256294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/>
          <p:cNvCxnSpPr>
            <a:stCxn id="21" idx="0"/>
            <a:endCxn id="25" idx="3"/>
          </p:cNvCxnSpPr>
          <p:nvPr/>
        </p:nvCxnSpPr>
        <p:spPr>
          <a:xfrm rot="16200000" flipV="1">
            <a:off x="4644624" y="4946120"/>
            <a:ext cx="1055238" cy="179428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Скругленный прямоугольник 32"/>
          <p:cNvSpPr/>
          <p:nvPr/>
        </p:nvSpPr>
        <p:spPr>
          <a:xfrm>
            <a:off x="6359388" y="3968840"/>
            <a:ext cx="1490333" cy="91167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cs typeface="Arial" panose="020B0604020202020204" pitchFamily="34" charset="0"/>
              </a:rPr>
              <a:t>Изменение статуса технологической карты</a:t>
            </a:r>
            <a:endParaRPr lang="ru-RU" sz="1200" dirty="0">
              <a:cs typeface="Arial" panose="020B0604020202020204" pitchFamily="34" charset="0"/>
            </a:endParaRPr>
          </a:p>
        </p:txBody>
      </p:sp>
      <p:cxnSp>
        <p:nvCxnSpPr>
          <p:cNvPr id="35" name="Соединительная линия уступом 34"/>
          <p:cNvCxnSpPr>
            <a:stCxn id="21" idx="3"/>
            <a:endCxn id="33" idx="1"/>
          </p:cNvCxnSpPr>
          <p:nvPr/>
        </p:nvCxnSpPr>
        <p:spPr>
          <a:xfrm flipV="1">
            <a:off x="6007123" y="4424679"/>
            <a:ext cx="352265" cy="159461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773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«Создания технологической карты»</a:t>
            </a:r>
            <a:endParaRPr lang="ru-RU" sz="2000" dirty="0"/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87680" y="1181100"/>
            <a:ext cx="812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анализа необходимости создания технологической карты (ТК)</a:t>
            </a:r>
            <a:r>
              <a:rPr lang="en-US" dirty="0" smtClean="0"/>
              <a:t> </a:t>
            </a:r>
            <a:r>
              <a:rPr lang="ru-RU" dirty="0" smtClean="0"/>
              <a:t>Инициатором заявки НСИ.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239315" y="2121001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6" name="Прямая со стрелкой 5"/>
          <p:cNvCxnSpPr/>
          <p:nvPr/>
        </p:nvCxnSpPr>
        <p:spPr>
          <a:xfrm>
            <a:off x="1110553" y="3280894"/>
            <a:ext cx="2128762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5735629" y="3280894"/>
            <a:ext cx="204508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35629" y="2542230"/>
            <a:ext cx="18537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Технологическая карта сохранена с статусом  1- создание</a:t>
            </a:r>
            <a:endParaRPr lang="ru-RU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33368" y="2542230"/>
            <a:ext cx="22016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Проведен анализ необходимости создания технологической карты</a:t>
            </a:r>
            <a:endParaRPr lang="ru-RU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3239315" y="2121001"/>
            <a:ext cx="2496314" cy="23197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Создание технологической карты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7681" y="4862015"/>
            <a:ext cx="7966363" cy="142240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 smtClean="0"/>
              <a:t>Инициатором заявки НСИ заполняется карточка технологической карты необходимыми данными. После создания технологической карты Инициатор </a:t>
            </a:r>
            <a:r>
              <a:rPr lang="ru-RU" dirty="0"/>
              <a:t>заявки НСИ оправляет в службу </a:t>
            </a:r>
            <a:r>
              <a:rPr lang="ru-RU" dirty="0" smtClean="0"/>
              <a:t>НСИ код группы </a:t>
            </a:r>
            <a:r>
              <a:rPr lang="ru-RU" dirty="0" err="1" smtClean="0"/>
              <a:t>техкарт</a:t>
            </a:r>
            <a:r>
              <a:rPr lang="ru-RU" dirty="0" smtClean="0"/>
              <a:t> и счетчик созданной </a:t>
            </a:r>
            <a:r>
              <a:rPr lang="ru-RU" dirty="0" err="1" smtClean="0"/>
              <a:t>техкарты</a:t>
            </a:r>
            <a:r>
              <a:rPr lang="ru-RU" dirty="0" smtClean="0"/>
              <a:t>, </a:t>
            </a:r>
            <a:r>
              <a:rPr lang="ru-RU" dirty="0"/>
              <a:t>для согласования. Подробно процесс работы </a:t>
            </a:r>
            <a:r>
              <a:rPr lang="en-US" dirty="0"/>
              <a:t>c </a:t>
            </a:r>
            <a:r>
              <a:rPr lang="ru-RU" dirty="0"/>
              <a:t>заявками НСИ 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2477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«Изменение технологической карты»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87680" y="1181100"/>
            <a:ext cx="812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анализа необходимости изменения технологической карты (ТК)</a:t>
            </a:r>
            <a:r>
              <a:rPr lang="en-US" dirty="0" smtClean="0"/>
              <a:t> </a:t>
            </a:r>
            <a:r>
              <a:rPr lang="ru-RU" dirty="0" smtClean="0"/>
              <a:t>Инициатором заявки НСИ.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239315" y="2121001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6" name="Прямая со стрелкой 5"/>
          <p:cNvCxnSpPr/>
          <p:nvPr/>
        </p:nvCxnSpPr>
        <p:spPr>
          <a:xfrm>
            <a:off x="5735629" y="3280894"/>
            <a:ext cx="237759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856211" y="3280894"/>
            <a:ext cx="2383104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39315" y="2121001"/>
            <a:ext cx="2496314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Изменение технологической карты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6249" y="2542230"/>
            <a:ext cx="23608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Проведен анализ необходимости </a:t>
            </a:r>
            <a:r>
              <a:rPr lang="ru-RU" sz="1400" dirty="0" smtClean="0"/>
              <a:t>изменения технологической </a:t>
            </a:r>
            <a:r>
              <a:rPr lang="ru-RU" sz="1400" dirty="0"/>
              <a:t>карты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5629" y="2326787"/>
            <a:ext cx="21282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Технологическая карта сохранена с статусом  </a:t>
            </a:r>
          </a:p>
          <a:p>
            <a:r>
              <a:rPr lang="ru-RU" sz="1400" dirty="0" smtClean="0"/>
              <a:t>5- Деблокировано </a:t>
            </a:r>
          </a:p>
          <a:p>
            <a:r>
              <a:rPr lang="ru-RU" sz="1400" dirty="0" smtClean="0"/>
              <a:t>(В процессе изменения)</a:t>
            </a:r>
            <a:endParaRPr lang="ru-RU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504290" y="4734357"/>
            <a:ext cx="7966363" cy="142240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 smtClean="0"/>
              <a:t>Инициатором заявки НСИ вносятся в карточку технологической карты необходимые изменения. После изменения технологической карты Инициатор </a:t>
            </a:r>
            <a:r>
              <a:rPr lang="ru-RU" dirty="0"/>
              <a:t>заявки НСИ оправляет в службу </a:t>
            </a:r>
            <a:r>
              <a:rPr lang="ru-RU" dirty="0" smtClean="0"/>
              <a:t>НСИ код группы </a:t>
            </a:r>
            <a:r>
              <a:rPr lang="ru-RU" dirty="0" err="1" smtClean="0"/>
              <a:t>техкарт</a:t>
            </a:r>
            <a:r>
              <a:rPr lang="ru-RU" dirty="0" smtClean="0"/>
              <a:t> и счетчик измененной </a:t>
            </a:r>
            <a:r>
              <a:rPr lang="ru-RU" dirty="0" err="1" smtClean="0"/>
              <a:t>техкарты</a:t>
            </a:r>
            <a:r>
              <a:rPr lang="ru-RU" dirty="0" smtClean="0"/>
              <a:t>, </a:t>
            </a:r>
            <a:r>
              <a:rPr lang="ru-RU" dirty="0"/>
              <a:t>для согласования. Подробно процесс работы </a:t>
            </a:r>
            <a:r>
              <a:rPr lang="en-US" dirty="0"/>
              <a:t>c </a:t>
            </a:r>
            <a:r>
              <a:rPr lang="ru-RU" dirty="0"/>
              <a:t>заявками НСИ 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60843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«Проверка на достаточность данных и дубли»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87680" y="1181100"/>
            <a:ext cx="812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заявки НСИ Техническим специалистом НСИ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167942" y="1831044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>
            <a:off x="955964" y="2990936"/>
            <a:ext cx="2211978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6" idx="3"/>
          </p:cNvCxnSpPr>
          <p:nvPr/>
        </p:nvCxnSpPr>
        <p:spPr>
          <a:xfrm flipV="1">
            <a:off x="5664256" y="2990936"/>
            <a:ext cx="2386029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39829" y="2388048"/>
            <a:ext cx="2128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Получение заявки НСИ</a:t>
            </a:r>
            <a:endParaRPr lang="ru-R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3167942" y="1812931"/>
            <a:ext cx="2496314" cy="23342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Проверяются данные в заявке НСИ и анализируются ранее </a:t>
            </a:r>
            <a:r>
              <a:rPr lang="ru-RU" dirty="0" smtClean="0">
                <a:solidFill>
                  <a:schemeClr val="bg1"/>
                </a:solidFill>
              </a:rPr>
              <a:t>созданные технологические карты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19920" y="2162101"/>
            <a:ext cx="2256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Произведен анализ списка технологических карт</a:t>
            </a:r>
            <a:endParaRPr lang="ru-RU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637272" y="4150830"/>
            <a:ext cx="812292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Технический специалист НСИ запускает отчет и производит анализ  технологических карт указанных в заявке и созданных ранее. Если в заявке НСИ указаны технологические  карты дублирующие ранее созданные или в карточке технологической карты недостаточно данных, то заявка отклоняется. Дублирующая технологическая карта помечается для удаления (Устанавливается метка удаления). В случае, если технологическая карта создана корректно, то заявка переводится в статус «Согласовано» (вне системный шаг) и направляет заявку на согласование Методологом </a:t>
            </a:r>
            <a:r>
              <a:rPr lang="ru-RU" sz="1600" dirty="0" err="1" smtClean="0"/>
              <a:t>ТОиР</a:t>
            </a:r>
            <a:r>
              <a:rPr lang="ru-RU" sz="1600" dirty="0" smtClean="0"/>
              <a:t>. Подробно </a:t>
            </a:r>
            <a:r>
              <a:rPr lang="ru-RU" sz="1600" dirty="0"/>
              <a:t>процесс </a:t>
            </a:r>
            <a:r>
              <a:rPr lang="ru-RU" sz="1600" dirty="0" smtClean="0"/>
              <a:t>работы </a:t>
            </a:r>
            <a:r>
              <a:rPr lang="en-US" sz="1600" dirty="0"/>
              <a:t>c </a:t>
            </a:r>
            <a:r>
              <a:rPr lang="ru-RU" sz="1600" dirty="0" smtClean="0"/>
              <a:t>заявками НСИ </a:t>
            </a:r>
            <a:r>
              <a:rPr lang="ru-RU" sz="1600" dirty="0"/>
              <a:t>описан в </a:t>
            </a:r>
            <a:r>
              <a:rPr lang="ru-RU" sz="1600" dirty="0">
                <a:hlinkClick r:id="rId2" action="ppaction://hlinksldjump"/>
              </a:rPr>
              <a:t>«Инструкции </a:t>
            </a:r>
            <a:r>
              <a:rPr lang="en-US" sz="1600" dirty="0" err="1">
                <a:hlinkClick r:id="rId2" action="ppaction://hlinksldjump"/>
              </a:rPr>
              <a:t>Naumen</a:t>
            </a:r>
            <a:r>
              <a:rPr lang="en-US" sz="1600" dirty="0">
                <a:hlinkClick r:id="rId2" action="ppaction://hlinksldjump"/>
              </a:rPr>
              <a:t> SD</a:t>
            </a:r>
            <a:r>
              <a:rPr lang="ru-RU" sz="1600" dirty="0" smtClean="0">
                <a:hlinkClick r:id="rId2" action="ppaction://hlinksldjump"/>
              </a:rPr>
              <a:t>».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002560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«Согласование заявки НСИ Методологом»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122218"/>
            <a:ext cx="7364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проведения проверки заявки НСИ Техническим специалистом НСИ </a:t>
            </a:r>
          </a:p>
          <a:p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066664" y="1939822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6" name="Прямая со стрелкой 5"/>
          <p:cNvCxnSpPr>
            <a:endCxn id="5" idx="1"/>
          </p:cNvCxnSpPr>
          <p:nvPr/>
        </p:nvCxnSpPr>
        <p:spPr>
          <a:xfrm>
            <a:off x="1008828" y="3099715"/>
            <a:ext cx="205783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>
            <a:stCxn id="17" idx="3"/>
          </p:cNvCxnSpPr>
          <p:nvPr/>
        </p:nvCxnSpPr>
        <p:spPr>
          <a:xfrm>
            <a:off x="5562978" y="3068009"/>
            <a:ext cx="170234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0096" y="2357162"/>
            <a:ext cx="18953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Заявка проверена Техническим специалистом НСИ</a:t>
            </a:r>
            <a:endParaRPr lang="ru-RU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5516376" y="2329345"/>
            <a:ext cx="16791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Заявка согласована/ заявка отклонена</a:t>
            </a:r>
            <a:endParaRPr lang="ru-RU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3106763" y="1908116"/>
            <a:ext cx="2456215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Проверяются данные в заявке НСИ и анализируются ранее созданные технологические карты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6583" y="4298112"/>
            <a:ext cx="79045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Методолог </a:t>
            </a:r>
            <a:r>
              <a:rPr lang="ru-RU" dirty="0" err="1" smtClean="0"/>
              <a:t>ТОиР</a:t>
            </a:r>
            <a:r>
              <a:rPr lang="ru-RU" dirty="0" smtClean="0"/>
              <a:t>  анализирует список технологических карт и определяет необходимость создания новых технологических карт. В случае согласования Методологом </a:t>
            </a:r>
            <a:r>
              <a:rPr lang="ru-RU" dirty="0" err="1" smtClean="0"/>
              <a:t>ТОиР</a:t>
            </a:r>
            <a:r>
              <a:rPr lang="ru-RU" dirty="0" smtClean="0"/>
              <a:t> заявки НСИ, заявка отправляется Техническому специалисту для внесения изменений. Если заявка НСИ отклоняется Методологом, заявка с комментариями возвращается Техническому специалисту НСИ, для отправки Инициатору.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 smtClean="0">
                <a:hlinkClick r:id="rId2" action="ppaction://hlinksldjump"/>
              </a:rPr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05521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«Изменение статуса технологической карты»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23703" y="1105593"/>
            <a:ext cx="8096596" cy="923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 smtClean="0"/>
              <a:t>Данный шаг выполняется после выполнения проверки на достаточность данных и дубли. Технический специалист НСИ переходит на изменение технологической карты и устанавливает статус 5 - Деблокировано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192880" y="2321495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TextBox 5"/>
          <p:cNvSpPr txBox="1"/>
          <p:nvPr/>
        </p:nvSpPr>
        <p:spPr>
          <a:xfrm>
            <a:off x="3192880" y="2321495"/>
            <a:ext cx="2496314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Изменение статуса технологической карты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7" name="Прямая со стрелкой 6"/>
          <p:cNvCxnSpPr>
            <a:endCxn id="6" idx="1"/>
          </p:cNvCxnSpPr>
          <p:nvPr/>
        </p:nvCxnSpPr>
        <p:spPr>
          <a:xfrm>
            <a:off x="814647" y="3481203"/>
            <a:ext cx="2378233" cy="185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stCxn id="6" idx="3"/>
          </p:cNvCxnSpPr>
          <p:nvPr/>
        </p:nvCxnSpPr>
        <p:spPr>
          <a:xfrm flipV="1">
            <a:off x="5689194" y="3481203"/>
            <a:ext cx="2299337" cy="185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2750" y="2896243"/>
            <a:ext cx="2335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Согласование заявки НСИ методологом </a:t>
            </a:r>
            <a:r>
              <a:rPr lang="ru-RU" sz="1600" dirty="0" err="1" smtClean="0"/>
              <a:t>ТОиР</a:t>
            </a:r>
            <a:endParaRPr lang="ru-RU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5653448" y="2896428"/>
            <a:ext cx="2260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Статус технологической карты изменен</a:t>
            </a:r>
            <a:endParaRPr lang="ru-RU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561803" y="4871259"/>
            <a:ext cx="80584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изменения статуса технологической карты, Технический специалист НСИ устанавливает статус заявки «Выполнено» (вне системный шаг), после чего информирует Инициатора заявки НСИ по почте о внесении изменений в </a:t>
            </a:r>
            <a:r>
              <a:rPr lang="en-US" dirty="0" smtClean="0"/>
              <a:t>SAP</a:t>
            </a:r>
            <a:r>
              <a:rPr lang="ru-RU" dirty="0" smtClean="0"/>
              <a:t>.</a:t>
            </a:r>
            <a:r>
              <a:rPr lang="ru-RU" dirty="0"/>
              <a:t> 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46478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Описание шага  «</a:t>
            </a:r>
            <a:r>
              <a:rPr lang="ru-RU" dirty="0"/>
              <a:t>Проверка заявки НСИ на ошибки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30778" y="1172095"/>
            <a:ext cx="7290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отклоненной заявки Техническим специалистом НСИ с комментариями.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290730" y="2169265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6" name="Прямая со стрелкой 5"/>
          <p:cNvCxnSpPr/>
          <p:nvPr/>
        </p:nvCxnSpPr>
        <p:spPr>
          <a:xfrm>
            <a:off x="1388168" y="3326062"/>
            <a:ext cx="1902562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5787044" y="3326062"/>
            <a:ext cx="1902562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90730" y="2169265"/>
            <a:ext cx="2496313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Анализ отклоненной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8602" y="2574961"/>
            <a:ext cx="17997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Получение отклоненной заявки НСИ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787043" y="2771795"/>
            <a:ext cx="1878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Анализ произведен, ошибки исправлены</a:t>
            </a:r>
            <a:endParaRPr lang="ru-RU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606829" y="4746902"/>
            <a:ext cx="80882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заявка была отклонена по причине ошибки или недостаточности данных, то Инициатор корректирует заявку и направляет в службу НСИ заявку повторно. Если заявку отклонили по причине того, что техническое место уже было создано ранее, то Инициатор формирует отчет и убеждается в этом, после чего переходит к следующему шагу.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0814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«Подтверждение выполнения заявки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73330" y="985315"/>
            <a:ext cx="8005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в следующих случаях: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После уведомления Инициатора заявки НСИ о выполнении заявки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 случае обнаружения в отклоненной заявке ранее созданной единицы оборудования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290730" y="2052488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6" name="Прямая со стрелкой 5"/>
          <p:cNvCxnSpPr>
            <a:stCxn id="5" idx="3"/>
          </p:cNvCxnSpPr>
          <p:nvPr/>
        </p:nvCxnSpPr>
        <p:spPr>
          <a:xfrm>
            <a:off x="5787044" y="3212381"/>
            <a:ext cx="1902562" cy="3296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>
            <a:endCxn id="5" idx="1"/>
          </p:cNvCxnSpPr>
          <p:nvPr/>
        </p:nvCxnSpPr>
        <p:spPr>
          <a:xfrm flipV="1">
            <a:off x="955964" y="3212381"/>
            <a:ext cx="2334766" cy="8189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90730" y="2052488"/>
            <a:ext cx="2496314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Проверка выполнения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67631" y="2258274"/>
            <a:ext cx="2111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Оповещение о выполнении заявки НСИ/ анализ отклоненной заявки НСИ</a:t>
            </a:r>
            <a:endParaRPr lang="ru-RU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5787044" y="2735327"/>
            <a:ext cx="1720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Подтверждение выполнения заявки</a:t>
            </a:r>
            <a:endParaRPr lang="ru-RU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586046" y="4403120"/>
            <a:ext cx="8179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получения оповещения по  почте о выполнении заявки НСИ, Инициатор формирует отчет и производит проверку выполненных изменений в </a:t>
            </a:r>
            <a:r>
              <a:rPr lang="en-US" dirty="0" smtClean="0"/>
              <a:t>SAP</a:t>
            </a:r>
            <a:r>
              <a:rPr lang="ru-RU" dirty="0" smtClean="0"/>
              <a:t>, проверяет изменение статуса</a:t>
            </a:r>
            <a:r>
              <a:rPr lang="en-US" dirty="0" smtClean="0"/>
              <a:t> </a:t>
            </a:r>
            <a:r>
              <a:rPr lang="ru-RU" dirty="0" smtClean="0"/>
              <a:t>технологической карты, после чего подтверждает выполнение заявки НСИ. В случае обнаружения, </a:t>
            </a:r>
            <a:r>
              <a:rPr lang="ru-RU" dirty="0"/>
              <a:t>при выполнении шага «Проверка заявки НСИ на ошибки»</a:t>
            </a:r>
            <a:r>
              <a:rPr lang="ru-RU" dirty="0" smtClean="0"/>
              <a:t> в заявке НСИ технологической карты, которая дублирует ранее созданную, то производит подтверждение выполнения заявки.</a:t>
            </a:r>
            <a:r>
              <a:rPr lang="ru-RU" dirty="0"/>
              <a:t> 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5857093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Описание процесса «Ведение планов ППР»</a:t>
            </a:r>
            <a:endParaRPr lang="ru-RU" dirty="0"/>
          </a:p>
        </p:txBody>
      </p:sp>
      <p:sp>
        <p:nvSpPr>
          <p:cNvPr id="4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374548" y="-2027311"/>
            <a:ext cx="2457450" cy="8687757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Инициатор заявки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498598" y="964722"/>
            <a:ext cx="2209348" cy="8687756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Технический специалист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918072" y="1827390"/>
            <a:ext cx="1738977" cy="91167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Создание заявки НСИ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18072" y="4852760"/>
            <a:ext cx="1749599" cy="91167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на достаточность данных в заявке </a:t>
            </a:r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и созданных ранее планов ППР 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11" name="Соединительная линия уступом 10"/>
          <p:cNvCxnSpPr>
            <a:endCxn id="10" idx="0"/>
          </p:cNvCxnSpPr>
          <p:nvPr/>
        </p:nvCxnSpPr>
        <p:spPr>
          <a:xfrm rot="16200000" flipH="1">
            <a:off x="733371" y="3793259"/>
            <a:ext cx="2113692" cy="531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3438462" y="4892432"/>
            <a:ext cx="1644067" cy="91167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Согласование наряда Техническим специалистом НСИ</a:t>
            </a:r>
          </a:p>
        </p:txBody>
      </p:sp>
      <p:cxnSp>
        <p:nvCxnSpPr>
          <p:cNvPr id="13" name="Соединительная линия уступом 12"/>
          <p:cNvCxnSpPr/>
          <p:nvPr/>
        </p:nvCxnSpPr>
        <p:spPr>
          <a:xfrm flipV="1">
            <a:off x="2657049" y="5348271"/>
            <a:ext cx="781413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Скругленный прямоугольник 13"/>
          <p:cNvSpPr/>
          <p:nvPr/>
        </p:nvSpPr>
        <p:spPr>
          <a:xfrm>
            <a:off x="3438461" y="1713132"/>
            <a:ext cx="1644068" cy="114019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заявки на ошибки и возможное </a:t>
            </a:r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дублирование планов ППР 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15" name="Соединительная линия уступом 14"/>
          <p:cNvCxnSpPr/>
          <p:nvPr/>
        </p:nvCxnSpPr>
        <p:spPr>
          <a:xfrm rot="16200000" flipV="1">
            <a:off x="3240941" y="3872876"/>
            <a:ext cx="2039110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Скругленный прямоугольник 15"/>
          <p:cNvSpPr/>
          <p:nvPr/>
        </p:nvSpPr>
        <p:spPr>
          <a:xfrm>
            <a:off x="7275909" y="1746474"/>
            <a:ext cx="1469183" cy="107350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и подтверждение выполнения заявки </a:t>
            </a:r>
          </a:p>
        </p:txBody>
      </p:sp>
      <p:cxnSp>
        <p:nvCxnSpPr>
          <p:cNvPr id="17" name="Соединительная линия уступом 16"/>
          <p:cNvCxnSpPr/>
          <p:nvPr/>
        </p:nvCxnSpPr>
        <p:spPr>
          <a:xfrm>
            <a:off x="5082529" y="2283227"/>
            <a:ext cx="2193380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ная линия уступом 17"/>
          <p:cNvCxnSpPr>
            <a:stCxn id="19" idx="3"/>
          </p:cNvCxnSpPr>
          <p:nvPr/>
        </p:nvCxnSpPr>
        <p:spPr>
          <a:xfrm flipV="1">
            <a:off x="7550151" y="2859655"/>
            <a:ext cx="531364" cy="2486342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Скругленный прямоугольник 18"/>
          <p:cNvSpPr/>
          <p:nvPr/>
        </p:nvSpPr>
        <p:spPr>
          <a:xfrm>
            <a:off x="5795495" y="4887884"/>
            <a:ext cx="1754656" cy="91622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cs typeface="Arial" panose="020B0604020202020204" pitchFamily="34" charset="0"/>
              </a:rPr>
              <a:t>Создание/изменение планов ППР</a:t>
            </a:r>
            <a:endParaRPr lang="ru-RU" sz="1200" dirty="0">
              <a:cs typeface="Arial" panose="020B0604020202020204" pitchFamily="34" charset="0"/>
            </a:endParaRPr>
          </a:p>
        </p:txBody>
      </p:sp>
      <p:cxnSp>
        <p:nvCxnSpPr>
          <p:cNvPr id="21" name="Соединительная линия уступом 20"/>
          <p:cNvCxnSpPr>
            <a:stCxn id="12" idx="3"/>
            <a:endCxn id="19" idx="1"/>
          </p:cNvCxnSpPr>
          <p:nvPr/>
        </p:nvCxnSpPr>
        <p:spPr>
          <a:xfrm flipV="1">
            <a:off x="5082529" y="5345997"/>
            <a:ext cx="712966" cy="227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0723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«Проверка на достаточность данных и дубли»</a:t>
            </a:r>
            <a:endParaRPr lang="ru-R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487680" y="1181100"/>
            <a:ext cx="8122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заявки НСИ в формате </a:t>
            </a:r>
            <a:r>
              <a:rPr lang="en-US" dirty="0" smtClean="0"/>
              <a:t>Excel</a:t>
            </a:r>
            <a:r>
              <a:rPr lang="ru-RU" dirty="0" smtClean="0"/>
              <a:t> файла</a:t>
            </a:r>
            <a:endParaRPr lang="ru-RU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3405048" y="1782725"/>
            <a:ext cx="2496314" cy="2319786"/>
            <a:chOff x="2311907" y="846559"/>
            <a:chExt cx="1343033" cy="992604"/>
          </a:xfrm>
        </p:grpSpPr>
        <p:sp>
          <p:nvSpPr>
            <p:cNvPr id="7" name="Скругленный прямоугольник 6"/>
            <p:cNvSpPr/>
            <p:nvPr/>
          </p:nvSpPr>
          <p:spPr>
            <a:xfrm>
              <a:off x="2311907" y="846559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Проверяются данные в заявке НСИ и анализируются ранее созданные Планы ППР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9" name="Прямая со стрелкой 8"/>
          <p:cNvCxnSpPr>
            <a:endCxn id="7" idx="1"/>
          </p:cNvCxnSpPr>
          <p:nvPr/>
        </p:nvCxnSpPr>
        <p:spPr>
          <a:xfrm flipV="1">
            <a:off x="1113613" y="2942618"/>
            <a:ext cx="2291435" cy="896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stCxn id="7" idx="3"/>
          </p:cNvCxnSpPr>
          <p:nvPr/>
        </p:nvCxnSpPr>
        <p:spPr>
          <a:xfrm>
            <a:off x="5901362" y="2942618"/>
            <a:ext cx="1962478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76286" y="2340993"/>
            <a:ext cx="2128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Получение заявки НСИ</a:t>
            </a:r>
            <a:endParaRPr lang="ru-R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5901362" y="2357843"/>
            <a:ext cx="2316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Произведен анализ планов ППР</a:t>
            </a:r>
            <a:endParaRPr lang="ru-RU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487680" y="4317954"/>
            <a:ext cx="81229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Если в заявке НСИ указано недостаточно данных для плана ППР или план уже был создан ранее, то данные позиции заявки отклоняются. В случае, если данные в заявке НСИ указаны корректно, то Технический специалист НСИ устанавливает статус заявки «Согласовано» и приступает к выполнению заявки. В случае если заявка была отклонена, Технический специалист НСИ возвращает заявку Инициатору на д</a:t>
            </a:r>
            <a:r>
              <a:rPr lang="ru-RU" sz="1600" dirty="0"/>
              <a:t>оработку. Подробно процесс </a:t>
            </a:r>
            <a:r>
              <a:rPr lang="ru-RU" sz="1600" dirty="0" smtClean="0"/>
              <a:t>работы </a:t>
            </a:r>
            <a:r>
              <a:rPr lang="en-US" sz="1600" dirty="0"/>
              <a:t>c </a:t>
            </a:r>
            <a:r>
              <a:rPr lang="ru-RU" sz="1600" dirty="0" smtClean="0"/>
              <a:t>заявками НСИ </a:t>
            </a:r>
            <a:r>
              <a:rPr lang="ru-RU" sz="1600" dirty="0"/>
              <a:t>описан в </a:t>
            </a:r>
            <a:r>
              <a:rPr lang="ru-RU" sz="1600" dirty="0">
                <a:hlinkClick r:id="rId2" action="ppaction://hlinksldjump"/>
              </a:rPr>
              <a:t>«Инструкции </a:t>
            </a:r>
            <a:r>
              <a:rPr lang="en-US" sz="1600" dirty="0" err="1">
                <a:hlinkClick r:id="rId2" action="ppaction://hlinksldjump"/>
              </a:rPr>
              <a:t>Naumen</a:t>
            </a:r>
            <a:r>
              <a:rPr lang="en-US" sz="1600" dirty="0">
                <a:hlinkClick r:id="rId2" action="ppaction://hlinksldjump"/>
              </a:rPr>
              <a:t> SD</a:t>
            </a:r>
            <a:r>
              <a:rPr lang="ru-RU" sz="1600" dirty="0">
                <a:hlinkClick r:id="rId2" action="ppaction://hlinksldjump"/>
              </a:rPr>
              <a:t>».</a:t>
            </a:r>
            <a:endParaRPr lang="ru-RU" sz="1600" dirty="0"/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240777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Описание шага «Создание/изменение плана ППР»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73826" y="1172095"/>
            <a:ext cx="822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выполнения проверки на достаточность данных и дубли. </a:t>
            </a:r>
            <a:endParaRPr lang="ru-RU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3238793" y="2041714"/>
            <a:ext cx="2496314" cy="2319786"/>
            <a:chOff x="2311907" y="846559"/>
            <a:chExt cx="1343033" cy="992604"/>
          </a:xfrm>
        </p:grpSpPr>
        <p:sp>
          <p:nvSpPr>
            <p:cNvPr id="7" name="Скругленный прямоугольник 6"/>
            <p:cNvSpPr/>
            <p:nvPr/>
          </p:nvSpPr>
          <p:spPr>
            <a:xfrm>
              <a:off x="2311907" y="846559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kern="1200" dirty="0" smtClean="0">
                  <a:solidFill>
                    <a:schemeClr val="bg1"/>
                  </a:solidFill>
                </a:rPr>
                <a:t>Создание/изменение планов ППР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9" name="Прямая со стрелкой 8"/>
          <p:cNvCxnSpPr>
            <a:endCxn id="7" idx="1"/>
          </p:cNvCxnSpPr>
          <p:nvPr/>
        </p:nvCxnSpPr>
        <p:spPr>
          <a:xfrm>
            <a:off x="947358" y="3201607"/>
            <a:ext cx="2291435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stCxn id="7" idx="3"/>
          </p:cNvCxnSpPr>
          <p:nvPr/>
        </p:nvCxnSpPr>
        <p:spPr>
          <a:xfrm>
            <a:off x="5735107" y="3201607"/>
            <a:ext cx="2291435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7358" y="2370610"/>
            <a:ext cx="22437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Проверка на достаточность данных и дубли</a:t>
            </a:r>
            <a:endParaRPr lang="ru-RU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5860473" y="2540882"/>
            <a:ext cx="2036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План ППР создан/изменен</a:t>
            </a:r>
            <a:endParaRPr lang="ru-R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777240" y="4584788"/>
            <a:ext cx="77800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создания/изменения всех планов ППР из заявки НСИ Технический специалист НСИ устанавливает статус заявки «Выполнено», после чего информирует Инициатора заявки НСИ по почте о внесении изменений в </a:t>
            </a:r>
            <a:r>
              <a:rPr lang="en-US" dirty="0" smtClean="0"/>
              <a:t>SAP</a:t>
            </a:r>
            <a:r>
              <a:rPr lang="ru-RU" dirty="0" smtClean="0"/>
              <a:t>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07551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«Проверка заявки НСИ на ошибки»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005840" y="1263535"/>
            <a:ext cx="7290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отклоненной заявки Техническим специалистом НСИ с комментариями.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90730" y="2169265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TextBox 6"/>
          <p:cNvSpPr txBox="1"/>
          <p:nvPr/>
        </p:nvSpPr>
        <p:spPr>
          <a:xfrm>
            <a:off x="3290730" y="2169265"/>
            <a:ext cx="2494928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Анализ отклоненной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1388168" y="3327610"/>
            <a:ext cx="1902562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V="1">
            <a:off x="5785658" y="3327610"/>
            <a:ext cx="1931476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39582" y="2522774"/>
            <a:ext cx="17997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Получение отклоненной заявки НСИ</a:t>
            </a:r>
            <a:endParaRPr lang="ru-RU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5838458" y="2630496"/>
            <a:ext cx="1878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Анализ произведен, ошибки исправлены</a:t>
            </a:r>
            <a:endParaRPr lang="ru-RU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606829" y="4746902"/>
            <a:ext cx="80882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заявка была отклонена по причине ошибки или недостаточности данных для создания плана ППР, то Инициатор корректирует заявку и направляет в службу НСИ заявку повторно. Если заявку отклонили по причине того, что рабочее место уже было создано ранее, то Инициатор формирует отчет и убеждается в этом, после чего переходит к следующему шагу.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4160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«Подтверждение выполнения заявки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73331" y="1188720"/>
            <a:ext cx="8005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в следующих случаях: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После уведомления Инициатора заявки НСИ о выполнении заявки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 случае обнаружения в отклоненной заявке ранее созданных  рабочих мест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226448" y="2102079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TextBox 5"/>
          <p:cNvSpPr txBox="1"/>
          <p:nvPr/>
        </p:nvSpPr>
        <p:spPr>
          <a:xfrm>
            <a:off x="3226448" y="2127306"/>
            <a:ext cx="2501979" cy="2293590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Проверка выполнения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7" name="Прямая со стрелкой 6"/>
          <p:cNvCxnSpPr>
            <a:endCxn id="6" idx="1"/>
          </p:cNvCxnSpPr>
          <p:nvPr/>
        </p:nvCxnSpPr>
        <p:spPr>
          <a:xfrm>
            <a:off x="1120681" y="3271112"/>
            <a:ext cx="2105767" cy="2989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stCxn id="6" idx="3"/>
          </p:cNvCxnSpPr>
          <p:nvPr/>
        </p:nvCxnSpPr>
        <p:spPr>
          <a:xfrm flipV="1">
            <a:off x="5728427" y="3262658"/>
            <a:ext cx="2111432" cy="11443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15016" y="2315492"/>
            <a:ext cx="2111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Оповещение о выполнении заявки НСИ/ анализ отклоненной заявки НСИ</a:t>
            </a:r>
            <a:endParaRPr lang="ru-RU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5779565" y="2710174"/>
            <a:ext cx="1720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Подтверждение выполнения заявки</a:t>
            </a:r>
            <a:endParaRPr lang="ru-RU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498764" y="4411893"/>
            <a:ext cx="8179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получения оповещения по  почте о выполнении заявки НСИ, Инициатор формирует отчет и производит проверку выполненных изменений в </a:t>
            </a:r>
            <a:r>
              <a:rPr lang="en-US" dirty="0" smtClean="0"/>
              <a:t>SAP</a:t>
            </a:r>
            <a:r>
              <a:rPr lang="ru-RU" dirty="0" smtClean="0"/>
              <a:t>, при необходимости просматривает карточку каждого плана ППР, после чего подтверждает выполнение заявки НСИ. В случае обнаружения, </a:t>
            </a:r>
            <a:r>
              <a:rPr lang="ru-RU" dirty="0"/>
              <a:t>при выполнении шага «Проверка заявки НСИ на ошибки»</a:t>
            </a:r>
            <a:r>
              <a:rPr lang="ru-RU" dirty="0" smtClean="0"/>
              <a:t> в заявке НСИ плана ППР, которое уже создано, то производит подтверждение выполнения заявки. Подробно </a:t>
            </a:r>
            <a:r>
              <a:rPr lang="ru-RU" dirty="0"/>
              <a:t>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2881468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Ключевые транзакции курса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776644"/>
              </p:ext>
            </p:extLst>
          </p:nvPr>
        </p:nvGraphicFramePr>
        <p:xfrm>
          <a:off x="259394" y="1088967"/>
          <a:ext cx="8685100" cy="538427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63071">
                  <a:extLst>
                    <a:ext uri="{9D8B030D-6E8A-4147-A177-3AD203B41FA5}">
                      <a16:colId xmlns:a16="http://schemas.microsoft.com/office/drawing/2014/main" xmlns="" val="345924206"/>
                    </a:ext>
                  </a:extLst>
                </a:gridCol>
                <a:gridCol w="7922029">
                  <a:extLst>
                    <a:ext uri="{9D8B030D-6E8A-4147-A177-3AD203B41FA5}">
                      <a16:colId xmlns:a16="http://schemas.microsoft.com/office/drawing/2014/main" xmlns="" val="2393840651"/>
                    </a:ext>
                  </a:extLst>
                </a:gridCol>
              </a:tblGrid>
              <a:tr h="5177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/>
                        <a:t>№/П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Перечень ключевых транзакций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79729297"/>
                  </a:ext>
                </a:extLst>
              </a:tr>
              <a:tr h="1327663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Ведение стратегий ТОРО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IP1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Создание/изменение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стратегий ТОРО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IP12 –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Просмотр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стратегий ТОРО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63445479"/>
                  </a:ext>
                </a:extLst>
              </a:tr>
              <a:tr h="2307889"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Ведение </a:t>
                      </a:r>
                      <a:r>
                        <a:rPr kumimoji="0" lang="ru-RU" sz="18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техкарт</a:t>
                      </a:r>
                      <a:endParaRPr kumimoji="0" lang="ru-RU" sz="1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IA11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IA12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IA13 –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Создание/изменение/просмотр </a:t>
                      </a:r>
                      <a:r>
                        <a:rPr kumimoji="0" lang="ru-RU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техкарты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для технического места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IA01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IA02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IA03 – 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Создание/изменение/просмотр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ru-RU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техкарты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для единицы оборудования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IA05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IA06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IA07 -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Создание/изменение/просмотр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инструкции ТОРО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IA09 – 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списка </a:t>
                      </a:r>
                      <a:r>
                        <a:rPr kumimoji="0" lang="ru-RU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техкарт</a:t>
                      </a:r>
                      <a:endParaRPr kumimoji="0" lang="ru-RU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16537663"/>
                  </a:ext>
                </a:extLst>
              </a:tr>
              <a:tr h="1230959"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Ведение планов ППР</a:t>
                      </a:r>
                      <a:endParaRPr kumimoji="0" lang="ru-RU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IP42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IP02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IP03 -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Создание/изменение/просмотр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планов ППР</a:t>
                      </a: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IP16 – 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списка планов ППР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7284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2153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Инструкции по работе с заявками НСИ в </a:t>
            </a:r>
            <a:r>
              <a:rPr lang="en-US" dirty="0" err="1" smtClean="0"/>
              <a:t>Naumen</a:t>
            </a:r>
            <a:r>
              <a:rPr lang="en-US" dirty="0" smtClean="0"/>
              <a:t> SD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2232134"/>
              </p:ext>
            </p:extLst>
          </p:nvPr>
        </p:nvGraphicFramePr>
        <p:xfrm>
          <a:off x="5361043" y="2859578"/>
          <a:ext cx="2649290" cy="2235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Документ" showAsIcon="1" r:id="rId3" imgW="914400" imgH="771480" progId="Word.Document.12">
                  <p:embed/>
                </p:oleObj>
              </mc:Choice>
              <mc:Fallback>
                <p:oleObj name="Документ" showAsIcon="1" r:id="rId3" imgW="914400" imgH="771480" progId="Word.Document.12">
                  <p:embed/>
                  <p:pic>
                    <p:nvPicPr>
                      <p:cNvPr id="5" name="Объект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1043" y="2859578"/>
                        <a:ext cx="2649290" cy="22353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735723"/>
              </p:ext>
            </p:extLst>
          </p:nvPr>
        </p:nvGraphicFramePr>
        <p:xfrm>
          <a:off x="1088969" y="2936466"/>
          <a:ext cx="2393398" cy="2006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Документ" showAsIcon="1" r:id="rId5" imgW="914400" imgH="771480" progId="Word.Document.12">
                  <p:embed/>
                </p:oleObj>
              </mc:Choice>
              <mc:Fallback>
                <p:oleObj name="Документ" showAsIcon="1" r:id="rId5" imgW="914400" imgH="771480" progId="Word.Document.12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8969" y="2936466"/>
                        <a:ext cx="2393398" cy="20065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27936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8D3441-DF26-4C7E-9641-F6E293897DF1}">
  <ds:schemaRefs>
    <ds:schemaRef ds:uri="http://purl.org/dc/elements/1.1/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101010</TotalTime>
  <Words>5462</Words>
  <Application>Microsoft Office PowerPoint</Application>
  <PresentationFormat>Экран (4:3)</PresentationFormat>
  <Paragraphs>473</Paragraphs>
  <Slides>41</Slides>
  <Notes>9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9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Документ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Kalashnikova Ekaterina</cp:lastModifiedBy>
  <cp:revision>4261</cp:revision>
  <cp:lastPrinted>2018-04-09T09:22:20Z</cp:lastPrinted>
  <dcterms:created xsi:type="dcterms:W3CDTF">2015-07-14T13:53:28Z</dcterms:created>
  <dcterms:modified xsi:type="dcterms:W3CDTF">2020-11-22T06:06:57Z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