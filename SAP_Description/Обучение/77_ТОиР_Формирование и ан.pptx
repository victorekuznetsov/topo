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1523" r:id="rId5"/>
    <p:sldId id="1417" r:id="rId6"/>
    <p:sldId id="1514" r:id="rId7"/>
    <p:sldId id="1515" r:id="rId8"/>
    <p:sldId id="1516" r:id="rId9"/>
    <p:sldId id="1517" r:id="rId10"/>
    <p:sldId id="1414" r:id="rId11"/>
    <p:sldId id="1524" r:id="rId12"/>
    <p:sldId id="1525" r:id="rId13"/>
    <p:sldId id="1413" r:id="rId14"/>
    <p:sldId id="1440" r:id="rId15"/>
    <p:sldId id="1522" r:id="rId16"/>
    <p:sldId id="1519" r:id="rId17"/>
    <p:sldId id="1520" r:id="rId18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8B8"/>
    <a:srgbClr val="C00937"/>
    <a:srgbClr val="595959"/>
    <a:srgbClr val="EAEFF7"/>
    <a:srgbClr val="19938A"/>
    <a:srgbClr val="FAC90B"/>
    <a:srgbClr val="F6CC0C"/>
    <a:srgbClr val="FBC90B"/>
    <a:srgbClr val="C80000"/>
    <a:srgbClr val="642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74555" autoAdjust="0"/>
  </p:normalViewPr>
  <p:slideViewPr>
    <p:cSldViewPr snapToGrid="0" showGuides="1">
      <p:cViewPr varScale="1">
        <p:scale>
          <a:sx n="86" d="100"/>
          <a:sy n="86" d="100"/>
        </p:scale>
        <p:origin x="1344" y="84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07.11.2019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07.11.2019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8086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269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059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904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Справочник материалов в системе SAP S/4 содержит информацию обо всех материалах, которые производятся, закупаются, хранятся и продаются Компанией. Он являются главным источником данных о материале. Эти данные хранятся в отдельных основных записях материалов (ОЗМ).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терминологии системы SAP S/4 под материалами понимается сырьё, комплектующие, полуфабрикаты, готовая продукция, вспомогательные и расходные материалы, оборудование, а так же услуги.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записи материалов имеют иерархическое представление с точки зрения организационной структуры предприятия. Т.е. часть данных о материале действительна и определяется для всего манданта, часть определяется на уровне конкретного завода, часть на уровне склада и т.д.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104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Разделитель 2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535" y="655411"/>
            <a:ext cx="7886700" cy="1325563"/>
          </a:xfrm>
        </p:spPr>
        <p:txBody>
          <a:bodyPr>
            <a:normAutofit/>
          </a:bodyPr>
          <a:lstStyle>
            <a:lvl1pPr>
              <a:defRPr sz="3800">
                <a:solidFill>
                  <a:srgbClr val="FCC917"/>
                </a:solidFill>
                <a:latin typeface="Calibri Body"/>
              </a:defRPr>
            </a:lvl1pPr>
          </a:lstStyle>
          <a:p>
            <a:r>
              <a:rPr lang="ru-RU" sz="3800" b="1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ЗАГОЛОВОК</a:t>
            </a:r>
            <a: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СЛАЙДА-РАЗДЕЛИТЕЛЯ</a:t>
            </a:r>
            <a:endParaRPr lang="en-US" sz="3800" b="1" dirty="0">
              <a:solidFill>
                <a:srgbClr val="FCC917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35" y="6161497"/>
            <a:ext cx="2190375" cy="49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9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498837" y="2714596"/>
            <a:ext cx="7940712" cy="917124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br>
              <a:rPr lang="ru-RU" sz="4000" dirty="0" smtClean="0"/>
            </a:br>
            <a:r>
              <a:rPr lang="ru-RU" sz="4000" dirty="0"/>
              <a:t/>
            </a:r>
            <a:br>
              <a:rPr lang="ru-RU" sz="4000" dirty="0"/>
            </a:br>
            <a:r>
              <a:rPr lang="ru-RU" sz="3100" b="0" dirty="0"/>
              <a:t>77_ТОиР «Формирование и анализ отчетности по бюджетам ТОиР»</a:t>
            </a:r>
            <a:endParaRPr lang="en-US" sz="3100" b="0" dirty="0"/>
          </a:p>
        </p:txBody>
      </p:sp>
    </p:spTree>
    <p:extLst>
      <p:ext uri="{BB962C8B-B14F-4D97-AF65-F5344CB8AC3E}">
        <p14:creationId xmlns:p14="http://schemas.microsoft.com/office/powerpoint/2010/main" val="140389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+mn-lt"/>
              </a:rPr>
              <a:t>Основные элементы организационной структуры ТОиР </a:t>
            </a:r>
            <a:r>
              <a:rPr lang="en-US" sz="3600" dirty="0" smtClean="0">
                <a:latin typeface="+mn-lt"/>
              </a:rPr>
              <a:t>S/4 HANA</a:t>
            </a:r>
            <a:endParaRPr lang="ru-RU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95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8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91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7277313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0EB108F-8424-4885-8B36-CC49655393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4111" y="2376296"/>
            <a:ext cx="854520" cy="5723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136347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4493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28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Основные справочники ТОиР (НСИ)</a:t>
            </a:r>
            <a:endParaRPr lang="ru-RU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358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Технические места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763" y="1427249"/>
            <a:ext cx="7470438" cy="4918967"/>
          </a:xfrm>
          <a:prstGeom prst="rect">
            <a:avLst/>
          </a:prstGeom>
        </p:spPr>
      </p:pic>
      <p:sp>
        <p:nvSpPr>
          <p:cNvPr id="24" name="Пятиугольник 23"/>
          <p:cNvSpPr/>
          <p:nvPr/>
        </p:nvSpPr>
        <p:spPr>
          <a:xfrm rot="5400000">
            <a:off x="1409473" y="268952"/>
            <a:ext cx="426611" cy="2605397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Технические</a:t>
            </a:r>
            <a:r>
              <a:rPr kumimoji="0" lang="ru-RU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места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320080" y="1784957"/>
            <a:ext cx="260539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Структурированный список </a:t>
            </a:r>
            <a:r>
              <a:rPr lang="ru-RU" sz="1200" dirty="0" smtClean="0"/>
              <a:t>объектов, описывающий </a:t>
            </a:r>
            <a:r>
              <a:rPr lang="ru-RU" sz="1200" dirty="0"/>
              <a:t>производственные активы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Структурируются </a:t>
            </a:r>
            <a:r>
              <a:rPr lang="ru-RU" sz="1200" dirty="0"/>
              <a:t>на основе </a:t>
            </a:r>
            <a:r>
              <a:rPr lang="ru-RU" sz="1200" dirty="0" smtClean="0"/>
              <a:t>критериев: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1200" dirty="0" smtClean="0"/>
              <a:t>относящихся </a:t>
            </a:r>
            <a:r>
              <a:rPr lang="ru-RU" sz="1200" dirty="0"/>
              <a:t>к </a:t>
            </a:r>
            <a:r>
              <a:rPr lang="ru-RU" sz="1200" dirty="0" smtClean="0"/>
              <a:t>процессу;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1200" dirty="0" smtClean="0"/>
              <a:t>пространственных;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1200" dirty="0"/>
              <a:t>функциональных</a:t>
            </a:r>
            <a:endParaRPr lang="ru-RU" sz="1200" dirty="0" smtClean="0"/>
          </a:p>
          <a:p>
            <a:pPr marL="742950" lvl="1" indent="-285750">
              <a:buFont typeface="Arial" pitchFamily="34" charset="0"/>
              <a:buChar char="•"/>
            </a:pPr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Содержит </a:t>
            </a:r>
            <a:r>
              <a:rPr lang="ru-RU" sz="1200" dirty="0"/>
              <a:t>только недвижимые объекты ремонта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Содержит информацию о </a:t>
            </a:r>
          </a:p>
          <a:p>
            <a:pPr marL="806450" lvl="1" indent="-285750">
              <a:buFont typeface="Arial" pitchFamily="34" charset="0"/>
              <a:buChar char="•"/>
            </a:pPr>
            <a:r>
              <a:rPr lang="ru-RU" sz="1200" dirty="0"/>
              <a:t>видах оборудования</a:t>
            </a:r>
          </a:p>
          <a:p>
            <a:pPr marL="806450" lvl="1" indent="-285750">
              <a:buFont typeface="Arial" pitchFamily="34" charset="0"/>
              <a:buChar char="•"/>
            </a:pPr>
            <a:r>
              <a:rPr lang="ru-RU" sz="1200" dirty="0"/>
              <a:t>принадлежности</a:t>
            </a:r>
          </a:p>
          <a:p>
            <a:pPr marL="806450" lvl="1" indent="-285750">
              <a:buFont typeface="Arial" pitchFamily="34" charset="0"/>
              <a:buChar char="•"/>
            </a:pPr>
            <a:r>
              <a:rPr lang="ru-RU" sz="1200" dirty="0"/>
              <a:t>степени важности</a:t>
            </a:r>
          </a:p>
          <a:p>
            <a:pPr marL="806450" lvl="1" indent="-285750">
              <a:buFont typeface="Arial" pitchFamily="34" charset="0"/>
              <a:buChar char="•"/>
            </a:pPr>
            <a:r>
              <a:rPr lang="ru-RU" sz="1200" dirty="0"/>
              <a:t>ответственных лицах</a:t>
            </a:r>
          </a:p>
          <a:p>
            <a:pPr marL="806450" lvl="1" indent="-285750">
              <a:buFont typeface="Arial" pitchFamily="34" charset="0"/>
              <a:buChar char="•"/>
            </a:pPr>
            <a:endParaRPr lang="ru-RU" sz="1200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ru-RU" sz="1200" dirty="0" smtClean="0"/>
              <a:t>Связаны </a:t>
            </a:r>
            <a:r>
              <a:rPr lang="ru-RU" sz="1200" dirty="0"/>
              <a:t>со структурой учета затрат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6812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347560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82048" y="1819461"/>
            <a:ext cx="275763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Описывает объекты движимого имущества</a:t>
            </a:r>
          </a:p>
          <a:p>
            <a:pPr marL="285750" indent="-285750">
              <a:buFont typeface="Arial" pitchFamily="34" charset="0"/>
              <a:buChar char="•"/>
            </a:pPr>
            <a:endParaRPr lang="ru-RU" sz="1200" dirty="0"/>
          </a:p>
          <a:p>
            <a:pPr marL="285750" indent="-285750">
              <a:buFont typeface="Arial" pitchFamily="34" charset="0"/>
              <a:buChar char="•"/>
            </a:pPr>
            <a:r>
              <a:rPr lang="ru-RU" sz="1200" dirty="0"/>
              <a:t>Определяет иерархическое место объекта в связи со справочником технических мест</a:t>
            </a:r>
          </a:p>
          <a:p>
            <a:pPr marL="285750" lvl="0" indent="-285750"/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/>
            <a:endParaRPr lang="ru-RU" sz="1200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ru-RU" sz="1200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Arial" pitchFamily="34" charset="0"/>
              <a:buChar char="•"/>
            </a:pPr>
            <a:endParaRPr lang="ru-RU" sz="1200" dirty="0"/>
          </a:p>
          <a:p>
            <a:pPr marL="285750" lvl="1" indent="-285750">
              <a:buFont typeface="Arial" pitchFamily="34" charset="0"/>
              <a:buChar char="•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82" y="3406379"/>
            <a:ext cx="6147169" cy="3333133"/>
          </a:xfrm>
          <a:prstGeom prst="rect">
            <a:avLst/>
          </a:prstGeom>
        </p:spPr>
      </p:pic>
      <p:pic>
        <p:nvPicPr>
          <p:cNvPr id="115" name="Рисунок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238" y="1111744"/>
            <a:ext cx="2937432" cy="217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3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549481" y="655410"/>
            <a:ext cx="78867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>
                <a:solidFill>
                  <a:srgbClr val="FCC917"/>
                </a:solidFill>
                <a:latin typeface="Calibri Body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latin typeface="+mn-lt"/>
              </a:rPr>
              <a:t>Описание процесса</a:t>
            </a:r>
            <a:endParaRPr lang="ru-RU" sz="36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481" y="1318192"/>
            <a:ext cx="8420783" cy="14381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800" dirty="0">
                <a:solidFill>
                  <a:srgbClr val="FCC917"/>
                </a:solidFill>
              </a:rPr>
              <a:t>Ресурсное планирование ТОРО (</a:t>
            </a:r>
            <a:r>
              <a:rPr lang="en-US" sz="2800" dirty="0">
                <a:solidFill>
                  <a:srgbClr val="FCC917"/>
                </a:solidFill>
              </a:rPr>
              <a:t>MRS)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35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1469FE8E-5BB1-4604-ACC9-D700C2511D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9772" y="295958"/>
            <a:ext cx="8289383" cy="410926"/>
          </a:xfrm>
        </p:spPr>
        <p:txBody>
          <a:bodyPr/>
          <a:lstStyle/>
          <a:p>
            <a:r>
              <a:rPr lang="ru-RU" dirty="0"/>
              <a:t>Планирование и исполнение воздействий на производственные активы</a:t>
            </a:r>
          </a:p>
          <a:p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3407893" y="3646130"/>
            <a:ext cx="2496314" cy="1839000"/>
            <a:chOff x="2315329" y="875631"/>
            <a:chExt cx="1343033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/>
              <a:r>
                <a:rPr lang="ru-RU" sz="1600" dirty="0"/>
                <a:t>Отчет "Планирование и исполнение воздействий на производственные активы"</a:t>
              </a:r>
            </a:p>
          </p:txBody>
        </p:sp>
      </p:grpSp>
      <p:cxnSp>
        <p:nvCxnSpPr>
          <p:cNvPr id="8" name="Прямая со стрелкой 7"/>
          <p:cNvCxnSpPr/>
          <p:nvPr/>
        </p:nvCxnSpPr>
        <p:spPr>
          <a:xfrm flipV="1">
            <a:off x="5904207" y="4552502"/>
            <a:ext cx="2532426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724618" y="4552502"/>
            <a:ext cx="2687326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2462" y="4048980"/>
            <a:ext cx="2268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</a:rPr>
              <a:t>Данные с ограничениями с селекционного экрана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47116" y="3769109"/>
            <a:ext cx="26051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solidFill>
                  <a:srgbClr val="595959"/>
                </a:solidFill>
              </a:defRPr>
            </a:lvl1pPr>
          </a:lstStyle>
          <a:p>
            <a:r>
              <a:rPr lang="ru-RU" dirty="0"/>
              <a:t>Отчет "Планирование и исполнение воздействий на производственные активы"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710" y="1128938"/>
            <a:ext cx="84172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На селекционном экране выбираются данные: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Номер единицы оборудования;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Техническое место;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Финансовый год;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Период с и по;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Планирующий завод;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Номер заказа ТОРО;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Этап согласования заказа.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710" y="5870835"/>
            <a:ext cx="8417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Данные отчета являются актуальными, обновляются в режиме реального времени.</a:t>
            </a:r>
            <a:endParaRPr lang="ru-RU" sz="1400" dirty="0" smtClean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75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1469FE8E-5BB1-4604-ACC9-D700C2511D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Балансировка </a:t>
            </a:r>
            <a:r>
              <a:rPr lang="ru-RU" dirty="0"/>
              <a:t>мощностей ВПС по Подразделению</a:t>
            </a:r>
          </a:p>
          <a:p>
            <a:endParaRPr lang="ru-RU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3467758" y="3545450"/>
            <a:ext cx="2496314" cy="1805235"/>
            <a:chOff x="2315329" y="875631"/>
            <a:chExt cx="1343033" cy="992604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Скругленный прямоугольник 4"/>
            <p:cNvSpPr/>
            <p:nvPr/>
          </p:nvSpPr>
          <p:spPr>
            <a:xfrm>
              <a:off x="2344401" y="924289"/>
              <a:ext cx="1284889" cy="9148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/>
              <a:r>
                <a:rPr lang="ru-RU" sz="1600" dirty="0"/>
                <a:t>Отчет "Бюджет воздействий"</a:t>
              </a:r>
            </a:p>
          </p:txBody>
        </p:sp>
      </p:grpSp>
      <p:cxnSp>
        <p:nvCxnSpPr>
          <p:cNvPr id="16" name="Прямая со стрелкой 15"/>
          <p:cNvCxnSpPr/>
          <p:nvPr/>
        </p:nvCxnSpPr>
        <p:spPr>
          <a:xfrm>
            <a:off x="5964072" y="4485920"/>
            <a:ext cx="2515694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890808" y="4466222"/>
            <a:ext cx="2581001" cy="1969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14058" y="4117046"/>
            <a:ext cx="2761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1400">
                <a:solidFill>
                  <a:srgbClr val="595959"/>
                </a:solidFill>
              </a:defRPr>
            </a:lvl1pPr>
          </a:lstStyle>
          <a:p>
            <a:r>
              <a:rPr lang="ru-RU" dirty="0"/>
              <a:t>Отчет "Бюджет воздействий"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808" y="3901603"/>
            <a:ext cx="2268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</a:rPr>
              <a:t>Данные с ограничениями с селекционного экрана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3084" y="1077179"/>
            <a:ext cx="841722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На селекционном экране выбираются данные: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Номер единицы оборудования;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Техническое место;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Финансовый год;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Период проводки;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Завод расположения объекта ТОРО;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Завод планирующий ТОиР;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Номер СПП-элемента;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Номер заказа;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Группа планирования;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Статус заказа.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710" y="5870835"/>
            <a:ext cx="8417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Данные отчета являются актуальными, обновляются в режиме реального времени.</a:t>
            </a:r>
            <a:endParaRPr lang="ru-RU" sz="1400" dirty="0" smtClean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01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62894"/>
              </p:ext>
            </p:extLst>
          </p:nvPr>
        </p:nvGraphicFramePr>
        <p:xfrm>
          <a:off x="195386" y="1248586"/>
          <a:ext cx="8802310" cy="299301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24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767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6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Отчет "Планирование и исполнение воздействий на производственные активы"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6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Отчет "Бюджет воздействий"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60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0430" y="404059"/>
            <a:ext cx="8118730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2000" dirty="0"/>
              <a:t>Ресурсное планирование ТОРО (</a:t>
            </a:r>
            <a:r>
              <a:rPr lang="en-US" sz="2000" dirty="0"/>
              <a:t>MRS</a:t>
            </a:r>
            <a:r>
              <a:rPr lang="en-US" sz="2000" dirty="0" smtClean="0"/>
              <a:t>)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37662"/>
              </p:ext>
            </p:extLst>
          </p:nvPr>
        </p:nvGraphicFramePr>
        <p:xfrm>
          <a:off x="552090" y="2392460"/>
          <a:ext cx="7931471" cy="153649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931471">
                  <a:extLst>
                    <a:ext uri="{9D8B030D-6E8A-4147-A177-3AD203B41FA5}">
                      <a16:colId xmlns:a16="http://schemas.microsoft.com/office/drawing/2014/main" val="3700845562"/>
                    </a:ext>
                  </a:extLst>
                </a:gridCol>
              </a:tblGrid>
              <a:tr h="7672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Отчет «Планирование и исполнение воздействий на производственные активы»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ZPM_M01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43292"/>
                  </a:ext>
                </a:extLst>
              </a:tr>
              <a:tr h="7135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 startAt="2"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Отчет «Бюджет воздействий»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ZPM_M05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4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1554A3-8C25-4C50-B7A3-25A7D2237738}"/>
</file>

<file path=customXml/itemProps2.xml><?xml version="1.0" encoding="utf-8"?>
<ds:datastoreItem xmlns:ds="http://schemas.openxmlformats.org/officeDocument/2006/customXml" ds:itemID="{EA8D3441-DF26-4C7E-9641-F6E293897DF1}"/>
</file>

<file path=customXml/itemProps3.xml><?xml version="1.0" encoding="utf-8"?>
<ds:datastoreItem xmlns:ds="http://schemas.openxmlformats.org/officeDocument/2006/customXml" ds:itemID="{F974C5F2-EB3C-42DA-802D-F2BCA964531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105643</TotalTime>
  <Words>1259</Words>
  <Application>Microsoft Office PowerPoint</Application>
  <PresentationFormat>Экран (4:3)</PresentationFormat>
  <Paragraphs>169</Paragraphs>
  <Slides>14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  77_ТОиР «Формирование и анализ отчетности по бюджетам ТОиР»</vt:lpstr>
      <vt:lpstr>Основные элементы организационной структуры ТОиР S/4 HANA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Основные справочники ТОиР (НСИ)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kalashnikovaen</cp:lastModifiedBy>
  <cp:revision>4209</cp:revision>
  <cp:lastPrinted>2018-04-09T09:22:20Z</cp:lastPrinted>
  <dcterms:created xsi:type="dcterms:W3CDTF">2015-07-14T13:53:28Z</dcterms:created>
  <dcterms:modified xsi:type="dcterms:W3CDTF">2019-11-07T10:31:20Z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