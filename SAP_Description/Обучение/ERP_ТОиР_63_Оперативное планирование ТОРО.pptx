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5"/>
  </p:notesMasterIdLst>
  <p:handoutMasterIdLst>
    <p:handoutMasterId r:id="rId56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728" r:id="rId11"/>
    <p:sldId id="1729" r:id="rId12"/>
    <p:sldId id="1730" r:id="rId13"/>
    <p:sldId id="1681" r:id="rId14"/>
    <p:sldId id="1682" r:id="rId15"/>
    <p:sldId id="1668" r:id="rId16"/>
    <p:sldId id="1736" r:id="rId17"/>
    <p:sldId id="1731" r:id="rId18"/>
    <p:sldId id="1740" r:id="rId19"/>
    <p:sldId id="1737" r:id="rId20"/>
    <p:sldId id="1738" r:id="rId21"/>
    <p:sldId id="1739" r:id="rId22"/>
    <p:sldId id="1745" r:id="rId23"/>
    <p:sldId id="1746" r:id="rId24"/>
    <p:sldId id="1747" r:id="rId25"/>
    <p:sldId id="1748" r:id="rId26"/>
    <p:sldId id="1749" r:id="rId27"/>
    <p:sldId id="1750" r:id="rId28"/>
    <p:sldId id="1751" r:id="rId29"/>
    <p:sldId id="1752" r:id="rId30"/>
    <p:sldId id="1753" r:id="rId31"/>
    <p:sldId id="1754" r:id="rId32"/>
    <p:sldId id="1756" r:id="rId33"/>
    <p:sldId id="1743" r:id="rId34"/>
    <p:sldId id="1744" r:id="rId35"/>
    <p:sldId id="1742" r:id="rId36"/>
    <p:sldId id="1733" r:id="rId37"/>
    <p:sldId id="1690" r:id="rId38"/>
    <p:sldId id="1691" r:id="rId39"/>
    <p:sldId id="1692" r:id="rId40"/>
    <p:sldId id="1758" r:id="rId41"/>
    <p:sldId id="1759" r:id="rId42"/>
    <p:sldId id="1760" r:id="rId43"/>
    <p:sldId id="1761" r:id="rId44"/>
    <p:sldId id="1762" r:id="rId45"/>
    <p:sldId id="1763" r:id="rId46"/>
    <p:sldId id="1764" r:id="rId47"/>
    <p:sldId id="1765" r:id="rId48"/>
    <p:sldId id="1766" r:id="rId49"/>
    <p:sldId id="1767" r:id="rId50"/>
    <p:sldId id="1768" r:id="rId51"/>
    <p:sldId id="1769" r:id="rId52"/>
    <p:sldId id="1770" r:id="rId53"/>
    <p:sldId id="1673" r:id="rId54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171"/>
    <a:srgbClr val="C3C3C3"/>
    <a:srgbClr val="FFFFFF"/>
    <a:srgbClr val="FBC90B"/>
    <a:srgbClr val="FCC917"/>
    <a:srgbClr val="FFD966"/>
    <a:srgbClr val="FFF7E0"/>
    <a:srgbClr val="FAC90B"/>
    <a:srgbClr val="F6CC0C"/>
    <a:srgbClr val="199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89" d="100"/>
          <a:sy n="89" d="100"/>
        </p:scale>
        <p:origin x="739" y="67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25.11.2019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25.11.2019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help.sap.com/saphelp_470/helpdata/ru/3c/abb1d2413911d1893d0000e8323c4f/content.htm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help.sap.com/saphelp_470/helpdata/ru/3c/abaf12413911d1893d0000e8323c4f/content.htm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предназначены для формирования годового плана работ по ремонту и обслуживанию технических объектов на основании ведущихся в системе стратегий и технологических карт.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описывают периодичность выполнения регламентных работ, объемы и виды работ, выполняемых на технических объектах, а также указывают необходимые ресурсы для проведения работ. 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устанавливают связь между стратегиями предупредительного ТОРО, технологическими картами и техническими объектами.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Используются два типа плана предупредительного ТОРО: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на заказах ТОРО;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на сообщениях ТОРО.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требуется выполнить простое предупредительное ТОРО, для которого достаточен один цикл предупредительного ТОРО, можно работать с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планами отдельного цикла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План отдельного цикла является наиболее простым видом плана ТОРО. Для создания такого плана и точно определяется один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цикл предупредительного ТОРО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основе работ или времени, в котором указывается интервал, в течение которого план ТОРО должен быть выполнен. Такой план может применяться, например, для периодических испытаний или проверок работоспособности технических объектов.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может создаваться индивидуально для каждого объекта обслуживания или сразу для группы объектов, если они обслуживаются одновременно по одной технологической карте.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состоит из двух составляющих: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Заголовок плана, определяющий общие данные для автоматического планирования (горизонт планирования, условия при которых работа будет запланирована, тип объекта отзыва и т.д.);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 или несколько позиций предупредительного ТОРО, которая определяет, какая технологическая карта и связанная с ней стратегия будет использоваться.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9774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6" y="2726829"/>
            <a:ext cx="8520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FCC917"/>
                </a:solidFill>
              </a:rPr>
              <a:t>63</a:t>
            </a:r>
            <a:r>
              <a:rPr lang="en-US" sz="2800" dirty="0" smtClean="0">
                <a:solidFill>
                  <a:srgbClr val="FCC917"/>
                </a:solidFill>
              </a:rPr>
              <a:t>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«Оперативное планирование ТОРО»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="" xmlns:a16="http://schemas.microsoft.com/office/drawing/2014/main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="" xmlns:a16="http://schemas.microsoft.com/office/drawing/2014/main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="" xmlns:a16="http://schemas.microsoft.com/office/drawing/2014/main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=""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="" xmlns:a16="http://schemas.microsoft.com/office/drawing/2014/main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=""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="" xmlns:a16="http://schemas.microsoft.com/office/drawing/2014/main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=""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=""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="" xmlns:a16="http://schemas.microsoft.com/office/drawing/2014/main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="" xmlns:a16="http://schemas.microsoft.com/office/drawing/2014/main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="" xmlns:a16="http://schemas.microsoft.com/office/drawing/2014/main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="" xmlns:a16="http://schemas.microsoft.com/office/drawing/2014/main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=""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=""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=""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Планы ТОРО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2459971" y="-18452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Планы ТОРО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9818" y="1771927"/>
            <a:ext cx="5521381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 smtClean="0"/>
              <a:t>Планы предупредительного ТОРО предназначены для формирования годового плана работ по ремонту и обслуживанию технических объектов на основании ведущихся в системе стратегий и технологических карт.</a:t>
            </a:r>
          </a:p>
          <a:p>
            <a:pPr fontAlgn="t"/>
            <a:endParaRPr lang="ru-RU" sz="1200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/>
              <a:t>Планы предупредительного ТОРО описывают периодичность выполнения регламентных работ, объемы и виды работ, выполняемых на технических объектах, а также указывают необходимые ресурсы для проведения работ. </a:t>
            </a:r>
          </a:p>
          <a:p>
            <a:pPr fontAlgn="t"/>
            <a:endParaRPr lang="ru-RU" sz="12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 smtClean="0"/>
              <a:t>Предусматривается два </a:t>
            </a:r>
            <a:r>
              <a:rPr lang="ru-RU" sz="1200" dirty="0"/>
              <a:t>типа плана предупредительного ТОРО: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План предупредительного ТОРО на заказах ТОРО;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План предупредительного ТОРО на сообщениях ТОРО.</a:t>
            </a:r>
          </a:p>
          <a:p>
            <a:pPr fontAlgn="t"/>
            <a:endParaRPr lang="ru-RU" sz="12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/>
              <a:t>План предупредительного ТОРО состоит из двух составляющих: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Заголовок плана, определяющий общие данные для автоматического планирования (горизонт планирования, условия при которых работа будет запланирована, тип объекта отзыва и т.д.);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Одна или несколько позиций предупредительного ТОРО, которая определяет, какая технологическая карта и связанная с ней стратегия будет использоваться.</a:t>
            </a:r>
          </a:p>
          <a:p>
            <a:pPr fontAlgn="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583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</a:t>
            </a: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6" y="1405946"/>
            <a:ext cx="8756781" cy="460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ТОРО. Виды заказов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0" y="1266239"/>
            <a:ext cx="8570235" cy="48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8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643832"/>
            <a:ext cx="8725213" cy="32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0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ТОРО. Виды сообщений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284402"/>
            <a:ext cx="8734738" cy="40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7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«Оперативное (месячное) планирование воздействий на 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35999" y="2908173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cxnSp>
        <p:nvCxnSpPr>
          <p:cNvPr id="31" name="Прямая соединительная линия 30"/>
          <p:cNvCxnSpPr>
            <a:endCxn id="39" idx="1"/>
          </p:cNvCxnSpPr>
          <p:nvPr/>
        </p:nvCxnSpPr>
        <p:spPr>
          <a:xfrm>
            <a:off x="81831" y="4126420"/>
            <a:ext cx="184221" cy="102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15619" y="1099215"/>
            <a:ext cx="862293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Группа 24"/>
          <p:cNvGrpSpPr/>
          <p:nvPr/>
        </p:nvGrpSpPr>
        <p:grpSpPr>
          <a:xfrm>
            <a:off x="1625999" y="3681107"/>
            <a:ext cx="1208314" cy="890628"/>
            <a:chOff x="103199" y="808239"/>
            <a:chExt cx="916520" cy="682828"/>
          </a:xfrm>
        </p:grpSpPr>
        <p:sp>
          <p:nvSpPr>
            <p:cNvPr id="27" name="Скругленный прямоугольник 2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Формирование план-графика воздействий на ПА на месяц</a:t>
              </a:r>
              <a:endParaRPr lang="ru-RU" sz="1050" kern="1200" dirty="0"/>
            </a:p>
          </p:txBody>
        </p:sp>
      </p:grpSp>
      <p:grpSp>
        <p:nvGrpSpPr>
          <p:cNvPr id="35" name="Группа 34"/>
          <p:cNvGrpSpPr/>
          <p:nvPr/>
        </p:nvGrpSpPr>
        <p:grpSpPr>
          <a:xfrm>
            <a:off x="266052" y="3682133"/>
            <a:ext cx="1132381" cy="890632"/>
            <a:chOff x="103199" y="808239"/>
            <a:chExt cx="916520" cy="682828"/>
          </a:xfrm>
        </p:grpSpPr>
        <p:sp>
          <p:nvSpPr>
            <p:cNvPr id="39" name="Скругленный прямоугольник 3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Актуализация сроков плановых заказов по наработке/состоянию</a:t>
              </a:r>
              <a:endParaRPr lang="ru-RU" sz="1050" kern="1200" dirty="0"/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3005814" y="3681107"/>
            <a:ext cx="1208314" cy="890628"/>
            <a:chOff x="103199" y="808239"/>
            <a:chExt cx="916520" cy="682828"/>
          </a:xfrm>
        </p:grpSpPr>
        <p:sp>
          <p:nvSpPr>
            <p:cNvPr id="84" name="Скругленный прямоугольник 83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5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900" dirty="0"/>
                <a:t>Проверка доступности МТР по запланированным на месяц воздействиям на ПА</a:t>
              </a:r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4385629" y="3681107"/>
            <a:ext cx="1208314" cy="890628"/>
            <a:chOff x="103199" y="808239"/>
            <a:chExt cx="916520" cy="682828"/>
          </a:xfrm>
        </p:grpSpPr>
        <p:sp>
          <p:nvSpPr>
            <p:cNvPr id="87" name="Скругленный прямоугольник 8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8" name="Скругленный прямоугольник 4"/>
            <p:cNvSpPr txBox="1"/>
            <p:nvPr/>
          </p:nvSpPr>
          <p:spPr>
            <a:xfrm>
              <a:off x="157754" y="845000"/>
              <a:ext cx="807409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900" dirty="0"/>
                <a:t>Замена МТР в заказах, проверка </a:t>
              </a:r>
              <a:r>
                <a:rPr lang="ru-RU" sz="900" dirty="0" smtClean="0"/>
                <a:t>доступности</a:t>
              </a:r>
              <a:r>
                <a:rPr lang="en-US" sz="900" dirty="0" smtClean="0"/>
                <a:t>, </a:t>
              </a:r>
              <a:r>
                <a:rPr lang="ru-RU" sz="900" dirty="0" smtClean="0"/>
                <a:t>формирование запроса на </a:t>
              </a:r>
              <a:r>
                <a:rPr lang="ru-RU" sz="900" dirty="0" err="1" smtClean="0"/>
                <a:t>перерезервирование</a:t>
              </a:r>
              <a:endParaRPr lang="ru-RU" sz="900" dirty="0"/>
            </a:p>
          </p:txBody>
        </p:sp>
      </p:grpSp>
      <p:grpSp>
        <p:nvGrpSpPr>
          <p:cNvPr id="89" name="Группа 88"/>
          <p:cNvGrpSpPr/>
          <p:nvPr/>
        </p:nvGrpSpPr>
        <p:grpSpPr>
          <a:xfrm>
            <a:off x="5821509" y="3681107"/>
            <a:ext cx="1208314" cy="890628"/>
            <a:chOff x="103199" y="808239"/>
            <a:chExt cx="916520" cy="682828"/>
          </a:xfrm>
        </p:grpSpPr>
        <p:sp>
          <p:nvSpPr>
            <p:cNvPr id="90" name="Скругленный прямоугольник 89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1" name="Скругленный прямоугольник 4"/>
            <p:cNvSpPr txBox="1"/>
            <p:nvPr/>
          </p:nvSpPr>
          <p:spPr>
            <a:xfrm>
              <a:off x="157754" y="845000"/>
              <a:ext cx="807409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100" dirty="0"/>
                <a:t>Балансировка ресурсов собственного персонала</a:t>
              </a:r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7240068" y="3681108"/>
            <a:ext cx="1208314" cy="890628"/>
            <a:chOff x="103199" y="808239"/>
            <a:chExt cx="916520" cy="682828"/>
          </a:xfrm>
        </p:grpSpPr>
        <p:sp>
          <p:nvSpPr>
            <p:cNvPr id="93" name="Скругленный прямоугольник 9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4" name="Скругленный прямоугольник 4"/>
            <p:cNvSpPr txBox="1"/>
            <p:nvPr/>
          </p:nvSpPr>
          <p:spPr>
            <a:xfrm>
              <a:off x="157754" y="845000"/>
              <a:ext cx="807409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00" dirty="0"/>
                <a:t>Принятие решения о необходимости корректировки сроков или замены исполнителя</a:t>
              </a:r>
            </a:p>
          </p:txBody>
        </p:sp>
      </p:grpSp>
      <p:cxnSp>
        <p:nvCxnSpPr>
          <p:cNvPr id="95" name="Прямая соединительная линия 94"/>
          <p:cNvCxnSpPr>
            <a:stCxn id="39" idx="3"/>
            <a:endCxn id="27" idx="1"/>
          </p:cNvCxnSpPr>
          <p:nvPr/>
        </p:nvCxnSpPr>
        <p:spPr>
          <a:xfrm flipV="1">
            <a:off x="1398433" y="4126421"/>
            <a:ext cx="227566" cy="102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единительная линия 95"/>
          <p:cNvCxnSpPr>
            <a:stCxn id="27" idx="3"/>
            <a:endCxn id="84" idx="1"/>
          </p:cNvCxnSpPr>
          <p:nvPr/>
        </p:nvCxnSpPr>
        <p:spPr>
          <a:xfrm>
            <a:off x="2834313" y="4126421"/>
            <a:ext cx="1715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единительная линия 96"/>
          <p:cNvCxnSpPr>
            <a:stCxn id="84" idx="3"/>
            <a:endCxn id="87" idx="1"/>
          </p:cNvCxnSpPr>
          <p:nvPr/>
        </p:nvCxnSpPr>
        <p:spPr>
          <a:xfrm>
            <a:off x="4214128" y="4126421"/>
            <a:ext cx="1715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/>
          <p:cNvCxnSpPr>
            <a:stCxn id="87" idx="3"/>
            <a:endCxn id="90" idx="1"/>
          </p:cNvCxnSpPr>
          <p:nvPr/>
        </p:nvCxnSpPr>
        <p:spPr>
          <a:xfrm>
            <a:off x="5593943" y="4126421"/>
            <a:ext cx="22756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>
            <a:stCxn id="90" idx="3"/>
            <a:endCxn id="93" idx="1"/>
          </p:cNvCxnSpPr>
          <p:nvPr/>
        </p:nvCxnSpPr>
        <p:spPr>
          <a:xfrm>
            <a:off x="7029823" y="4126421"/>
            <a:ext cx="210245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>
            <a:stCxn id="93" idx="3"/>
          </p:cNvCxnSpPr>
          <p:nvPr/>
        </p:nvCxnSpPr>
        <p:spPr>
          <a:xfrm flipV="1">
            <a:off x="8448382" y="4126420"/>
            <a:ext cx="433660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«Оперативное (месячное) планирование воздействий на 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5298641" y="2865041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cxnSp>
        <p:nvCxnSpPr>
          <p:cNvPr id="31" name="Прямая соединительная линия 30"/>
          <p:cNvCxnSpPr>
            <a:endCxn id="39" idx="1"/>
          </p:cNvCxnSpPr>
          <p:nvPr/>
        </p:nvCxnSpPr>
        <p:spPr>
          <a:xfrm>
            <a:off x="1674393" y="4040156"/>
            <a:ext cx="184221" cy="102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15619" y="1099215"/>
            <a:ext cx="862293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Группа 24"/>
          <p:cNvGrpSpPr/>
          <p:nvPr/>
        </p:nvGrpSpPr>
        <p:grpSpPr>
          <a:xfrm>
            <a:off x="3218561" y="3594843"/>
            <a:ext cx="1208314" cy="890628"/>
            <a:chOff x="103199" y="808239"/>
            <a:chExt cx="916520" cy="682828"/>
          </a:xfrm>
        </p:grpSpPr>
        <p:sp>
          <p:nvSpPr>
            <p:cNvPr id="27" name="Скругленный прямоугольник 2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Замена исполнителя</a:t>
              </a:r>
            </a:p>
          </p:txBody>
        </p:sp>
      </p:grpSp>
      <p:grpSp>
        <p:nvGrpSpPr>
          <p:cNvPr id="35" name="Группа 34"/>
          <p:cNvGrpSpPr/>
          <p:nvPr/>
        </p:nvGrpSpPr>
        <p:grpSpPr>
          <a:xfrm>
            <a:off x="1858614" y="3595869"/>
            <a:ext cx="1132381" cy="890632"/>
            <a:chOff x="103199" y="808239"/>
            <a:chExt cx="916520" cy="682828"/>
          </a:xfrm>
        </p:grpSpPr>
        <p:sp>
          <p:nvSpPr>
            <p:cNvPr id="39" name="Скругленный прямоугольник 3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Корректировка </a:t>
              </a:r>
              <a:r>
                <a:rPr lang="ru-RU" sz="1050" dirty="0"/>
                <a:t>сроков (в рамках планируемого месяца)</a:t>
              </a:r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4598376" y="3594843"/>
            <a:ext cx="1208314" cy="890628"/>
            <a:chOff x="103199" y="808239"/>
            <a:chExt cx="916520" cy="682828"/>
          </a:xfrm>
        </p:grpSpPr>
        <p:sp>
          <p:nvSpPr>
            <p:cNvPr id="84" name="Скругленный прямоугольник 83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5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00" dirty="0"/>
                <a:t>Ввод данных смет в заказы ТОРО и приложение скан-копии</a:t>
              </a:r>
            </a:p>
          </p:txBody>
        </p:sp>
      </p:grpSp>
      <p:grpSp>
        <p:nvGrpSpPr>
          <p:cNvPr id="89" name="Группа 88"/>
          <p:cNvGrpSpPr/>
          <p:nvPr/>
        </p:nvGrpSpPr>
        <p:grpSpPr>
          <a:xfrm>
            <a:off x="6106181" y="3594843"/>
            <a:ext cx="1208314" cy="890628"/>
            <a:chOff x="103199" y="808239"/>
            <a:chExt cx="916520" cy="682828"/>
          </a:xfrm>
        </p:grpSpPr>
        <p:sp>
          <p:nvSpPr>
            <p:cNvPr id="90" name="Скругленный прямоугольник 89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1" name="Скругленный прямоугольник 4"/>
            <p:cNvSpPr txBox="1"/>
            <p:nvPr/>
          </p:nvSpPr>
          <p:spPr>
            <a:xfrm>
              <a:off x="157754" y="845000"/>
              <a:ext cx="807409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900" dirty="0"/>
                <a:t>Выравнивание плана-графика воздействий на ПА со смежными службами на уровне подразделения</a:t>
              </a:r>
            </a:p>
          </p:txBody>
        </p:sp>
      </p:grpSp>
      <p:cxnSp>
        <p:nvCxnSpPr>
          <p:cNvPr id="95" name="Прямая соединительная линия 94"/>
          <p:cNvCxnSpPr>
            <a:stCxn id="39" idx="3"/>
            <a:endCxn id="27" idx="1"/>
          </p:cNvCxnSpPr>
          <p:nvPr/>
        </p:nvCxnSpPr>
        <p:spPr>
          <a:xfrm flipV="1">
            <a:off x="2990995" y="4040157"/>
            <a:ext cx="227566" cy="102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единительная линия 95"/>
          <p:cNvCxnSpPr>
            <a:stCxn id="27" idx="3"/>
            <a:endCxn id="84" idx="1"/>
          </p:cNvCxnSpPr>
          <p:nvPr/>
        </p:nvCxnSpPr>
        <p:spPr>
          <a:xfrm>
            <a:off x="4426875" y="4040157"/>
            <a:ext cx="1715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/>
          <p:cNvCxnSpPr>
            <a:stCxn id="84" idx="3"/>
            <a:endCxn id="90" idx="1"/>
          </p:cNvCxnSpPr>
          <p:nvPr/>
        </p:nvCxnSpPr>
        <p:spPr>
          <a:xfrm>
            <a:off x="5806690" y="4040157"/>
            <a:ext cx="29949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>
            <a:stCxn id="90" idx="3"/>
          </p:cNvCxnSpPr>
          <p:nvPr/>
        </p:nvCxnSpPr>
        <p:spPr>
          <a:xfrm>
            <a:off x="7314495" y="4040157"/>
            <a:ext cx="210245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13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процесса </a:t>
            </a:r>
            <a:r>
              <a:rPr lang="ru-RU" sz="1800" dirty="0" smtClean="0"/>
              <a:t>«Оперативное(месячное) планирование воздействий на 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3847601" y="4797922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8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61654" y="1064329"/>
            <a:ext cx="2063782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4884602" y="1067002"/>
            <a:ext cx="1194201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686294" y="1067002"/>
            <a:ext cx="119803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ПТО</a:t>
            </a:r>
          </a:p>
        </p:txBody>
      </p:sp>
      <p:sp>
        <p:nvSpPr>
          <p:cNvPr id="43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024208" y="1067002"/>
            <a:ext cx="125290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4" name="Группа 43"/>
          <p:cNvGrpSpPr/>
          <p:nvPr/>
        </p:nvGrpSpPr>
        <p:grpSpPr>
          <a:xfrm>
            <a:off x="1117349" y="3205849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45" name="Скругленный прямоугольник 44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Завершение подготовки плана-графика воздействий на ПА на месяц</a:t>
              </a:r>
              <a:endParaRPr lang="ru-RU" sz="1050" kern="1200" dirty="0"/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3179562" y="3205849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53" name="Скругленный прямоугольник 5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900" dirty="0"/>
                <a:t>Согласование плана-графика воздействий на ПА Старшим планировщиком</a:t>
              </a:r>
              <a:endParaRPr lang="ru-RU" sz="900" kern="1200" dirty="0"/>
            </a:p>
          </p:txBody>
        </p:sp>
      </p:grpSp>
      <p:cxnSp>
        <p:nvCxnSpPr>
          <p:cNvPr id="55" name="Прямая соединительная линия 54"/>
          <p:cNvCxnSpPr>
            <a:endCxn id="45" idx="1"/>
          </p:cNvCxnSpPr>
          <p:nvPr/>
        </p:nvCxnSpPr>
        <p:spPr>
          <a:xfrm>
            <a:off x="411398" y="3584544"/>
            <a:ext cx="70595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Группа 56"/>
          <p:cNvGrpSpPr/>
          <p:nvPr/>
        </p:nvGrpSpPr>
        <p:grpSpPr>
          <a:xfrm>
            <a:off x="5005506" y="3205849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58" name="Скругленный прямоугольник 5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800" dirty="0"/>
                <a:t>Согласование</a:t>
              </a:r>
              <a:r>
                <a:rPr lang="ru-RU" sz="800" b="1" dirty="0"/>
                <a:t> </a:t>
              </a:r>
              <a:r>
                <a:rPr lang="ru-RU" sz="800" dirty="0"/>
                <a:t>плана-графика воздействий на ПА Подразделения ГС</a:t>
              </a:r>
              <a:endParaRPr lang="ru-RU" sz="800" kern="1200" dirty="0"/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6809115" y="3205849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62" name="Скругленный прямоугольник 61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Согласование месячного плана-графика воздействий на ПА с ПТО</a:t>
              </a:r>
              <a:endParaRPr lang="ru-RU" sz="1050" kern="1200" dirty="0"/>
            </a:p>
          </p:txBody>
        </p:sp>
      </p:grpSp>
      <p:cxnSp>
        <p:nvCxnSpPr>
          <p:cNvPr id="32" name="Прямая соединительная линия 31"/>
          <p:cNvCxnSpPr>
            <a:stCxn id="45" idx="3"/>
            <a:endCxn id="53" idx="1"/>
          </p:cNvCxnSpPr>
          <p:nvPr/>
        </p:nvCxnSpPr>
        <p:spPr>
          <a:xfrm>
            <a:off x="2069741" y="3584544"/>
            <a:ext cx="110982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>
            <a:stCxn id="53" idx="3"/>
            <a:endCxn id="58" idx="1"/>
          </p:cNvCxnSpPr>
          <p:nvPr/>
        </p:nvCxnSpPr>
        <p:spPr>
          <a:xfrm>
            <a:off x="4131954" y="3584544"/>
            <a:ext cx="87355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59" idx="3"/>
            <a:endCxn id="62" idx="1"/>
          </p:cNvCxnSpPr>
          <p:nvPr/>
        </p:nvCxnSpPr>
        <p:spPr>
          <a:xfrm>
            <a:off x="5937117" y="3584544"/>
            <a:ext cx="87199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62" idx="3"/>
          </p:cNvCxnSpPr>
          <p:nvPr/>
        </p:nvCxnSpPr>
        <p:spPr>
          <a:xfrm>
            <a:off x="7761507" y="3584544"/>
            <a:ext cx="7303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Соединительная линия уступом 5"/>
          <p:cNvCxnSpPr>
            <a:stCxn id="53" idx="2"/>
            <a:endCxn id="45" idx="2"/>
          </p:cNvCxnSpPr>
          <p:nvPr/>
        </p:nvCxnSpPr>
        <p:spPr>
          <a:xfrm rot="5400000">
            <a:off x="2624652" y="2932133"/>
            <a:ext cx="12700" cy="2062213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Соединительная линия уступом 9"/>
          <p:cNvCxnSpPr>
            <a:stCxn id="58" idx="2"/>
            <a:endCxn id="45" idx="2"/>
          </p:cNvCxnSpPr>
          <p:nvPr/>
        </p:nvCxnSpPr>
        <p:spPr>
          <a:xfrm rot="5400000">
            <a:off x="3537624" y="2019161"/>
            <a:ext cx="12700" cy="3888157"/>
          </a:xfrm>
          <a:prstGeom prst="bentConnector3">
            <a:avLst>
              <a:gd name="adj1" fmla="val 8864173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>
            <a:stCxn id="62" idx="2"/>
            <a:endCxn id="45" idx="2"/>
          </p:cNvCxnSpPr>
          <p:nvPr/>
        </p:nvCxnSpPr>
        <p:spPr>
          <a:xfrm rot="5400000">
            <a:off x="4439428" y="1117356"/>
            <a:ext cx="12700" cy="5691766"/>
          </a:xfrm>
          <a:prstGeom prst="bentConnector3">
            <a:avLst>
              <a:gd name="adj1" fmla="val 17490567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89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«Оперативное (месячное) планирование воздействий на 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35999" y="2908173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15619" y="1099215"/>
            <a:ext cx="862293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3" name="Группа 82"/>
          <p:cNvGrpSpPr/>
          <p:nvPr/>
        </p:nvGrpSpPr>
        <p:grpSpPr>
          <a:xfrm>
            <a:off x="3747685" y="3474377"/>
            <a:ext cx="1208314" cy="890628"/>
            <a:chOff x="103199" y="808239"/>
            <a:chExt cx="916520" cy="682828"/>
          </a:xfrm>
        </p:grpSpPr>
        <p:sp>
          <p:nvSpPr>
            <p:cNvPr id="84" name="Скругленный прямоугольник 83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5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00" dirty="0"/>
                <a:t>Деблокирование заказов ТОРО</a:t>
              </a:r>
            </a:p>
          </p:txBody>
        </p:sp>
      </p:grpSp>
      <p:cxnSp>
        <p:nvCxnSpPr>
          <p:cNvPr id="96" name="Прямая соединительная линия 95"/>
          <p:cNvCxnSpPr>
            <a:endCxn id="84" idx="1"/>
          </p:cNvCxnSpPr>
          <p:nvPr/>
        </p:nvCxnSpPr>
        <p:spPr>
          <a:xfrm>
            <a:off x="3576184" y="3919691"/>
            <a:ext cx="1715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единительная линия 96"/>
          <p:cNvCxnSpPr>
            <a:stCxn id="84" idx="3"/>
          </p:cNvCxnSpPr>
          <p:nvPr/>
        </p:nvCxnSpPr>
        <p:spPr>
          <a:xfrm>
            <a:off x="4955999" y="3919691"/>
            <a:ext cx="1715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18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«Актуализация сроков плановых заказов по наработке/состоянию</a:t>
            </a:r>
          </a:p>
          <a:p>
            <a:pPr lvl="0"/>
            <a:r>
              <a:rPr lang="ru-RU" sz="1600" dirty="0" smtClean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Актуализация сроков плановых заказов по наработке/состоянию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3636698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Актуализированные по </a:t>
            </a:r>
            <a:r>
              <a:rPr lang="ru-RU" sz="1100" dirty="0" smtClean="0"/>
              <a:t>срокам заказы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 flipV="1">
            <a:off x="2165230" y="4144304"/>
            <a:ext cx="868346" cy="1969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14832" y="2201462"/>
            <a:ext cx="1829396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050" dirty="0"/>
              <a:t>Заказы ТОРО со статусом «УТВГ – утвержден в программе ремонтов, включен в годовой план» </a:t>
            </a:r>
          </a:p>
          <a:p>
            <a:pPr lvl="0"/>
            <a:r>
              <a:rPr lang="ru-RU" sz="1050" dirty="0"/>
              <a:t>Перенесенные заказы ТОРО со статусом «ПЛАН, МЕС – планируется, включен в месячный план-график»</a:t>
            </a:r>
          </a:p>
          <a:p>
            <a:pPr lvl="0"/>
            <a:r>
              <a:rPr lang="ru-RU" sz="1050" dirty="0"/>
              <a:t>Перенесенные заказы ТОРО со статусом «ПЛАН, НЕД – планируется, включен в недельный план-график»</a:t>
            </a:r>
          </a:p>
          <a:p>
            <a:pPr lvl="0"/>
            <a:r>
              <a:rPr lang="ru-RU" sz="1050" dirty="0"/>
              <a:t>Внеплановые заказы со статусом «ПЛАН, ССПЛ – планируется, согласовано старшим планировщиком </a:t>
            </a:r>
            <a:r>
              <a:rPr lang="ru-RU" sz="1050" dirty="0" err="1"/>
              <a:t>ТОиР</a:t>
            </a:r>
            <a:r>
              <a:rPr lang="ru-RU" sz="1050" dirty="0"/>
              <a:t>» </a:t>
            </a:r>
          </a:p>
          <a:p>
            <a:pPr lvl="0"/>
            <a:r>
              <a:rPr lang="ru-RU" sz="1050" dirty="0"/>
              <a:t>Заказы ТОРО со статусами «ПЛАН, НПРН – планируется, работы не приняты»</a:t>
            </a:r>
          </a:p>
          <a:p>
            <a:pPr lvl="0"/>
            <a:r>
              <a:rPr lang="ru-RU" sz="1050" dirty="0"/>
              <a:t>Заказы ТОРО со статусами «ПЛАН, ЧПДТ – планируется, частично подтверждено»</a:t>
            </a:r>
          </a:p>
          <a:p>
            <a:r>
              <a:rPr lang="ru-RU" sz="1050" dirty="0"/>
              <a:t>Заказы ТОРО со статусами «ПЛАН, УТВН – планируется, утвержден в недельном плане»</a:t>
            </a:r>
            <a:endParaRPr lang="ru-RU" sz="105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актуализирует сроки запланированных мероприятий на основе наработки оборудования.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79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«Формирование план-графика воздействий на ПА на </a:t>
            </a:r>
            <a:r>
              <a:rPr lang="ru-RU" sz="1600" dirty="0" smtClean="0"/>
              <a:t>месяц»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Формирование план-графика воздействий на ПА на месяц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4540" y="2924301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План-график воздействий на ПА на месяц </a:t>
            </a:r>
          </a:p>
          <a:p>
            <a:r>
              <a:rPr lang="ru-RU" sz="1100" dirty="0"/>
              <a:t>Заказ ТОРО со статусами «ПЛАН, </a:t>
            </a:r>
            <a:r>
              <a:rPr lang="ru-RU" sz="1100" dirty="0" smtClean="0"/>
              <a:t>МЕС </a:t>
            </a:r>
            <a:r>
              <a:rPr lang="ru-RU" sz="1100" dirty="0"/>
              <a:t>– планируется, включен в месячный </a:t>
            </a:r>
            <a:r>
              <a:rPr lang="ru-RU" sz="1100" dirty="0" smtClean="0"/>
              <a:t>план-график»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2044228" y="4131167"/>
            <a:ext cx="989348" cy="13137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14832" y="2355685"/>
            <a:ext cx="18293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000" dirty="0"/>
              <a:t>Заказы ТОРО со статусом «УТВГ – утвержден в программе ремонтов, включен в годовой план»</a:t>
            </a:r>
          </a:p>
          <a:p>
            <a:pPr lvl="0"/>
            <a:r>
              <a:rPr lang="ru-RU" sz="1000" dirty="0"/>
              <a:t>Перенесенные заказы ТОРО со статусом «ПЛАН, МЕС – планируется, включен в месячный план-график»</a:t>
            </a:r>
          </a:p>
          <a:p>
            <a:pPr lvl="0"/>
            <a:r>
              <a:rPr lang="ru-RU" sz="1000" dirty="0"/>
              <a:t>Перенесенные заказы ТОРО со статусом «ПЛАН, НЕД – планируется, включен в недельный план-график»</a:t>
            </a:r>
          </a:p>
          <a:p>
            <a:pPr lvl="0"/>
            <a:r>
              <a:rPr lang="ru-RU" sz="1000" dirty="0"/>
              <a:t>Внеплановые заказы со статусом «ПЛАН, ССПЛ, РАНГ – планируется, согласовано старшим планировщиком </a:t>
            </a:r>
            <a:r>
              <a:rPr lang="ru-RU" sz="1000" dirty="0" err="1"/>
              <a:t>ТОиР</a:t>
            </a:r>
            <a:r>
              <a:rPr lang="ru-RU" sz="1000" dirty="0"/>
              <a:t>, заказу присвоен ранг» </a:t>
            </a:r>
          </a:p>
          <a:p>
            <a:pPr lvl="0"/>
            <a:r>
              <a:rPr lang="ru-RU" sz="1000" dirty="0"/>
              <a:t>Заказы ТОРО со статусами «ПЛАН, НПРН – планируется, работы не приняты»</a:t>
            </a:r>
          </a:p>
          <a:p>
            <a:pPr lvl="0"/>
            <a:r>
              <a:rPr lang="ru-RU" sz="1000" dirty="0"/>
              <a:t>Заказы ТОРО со статусами «ПЛАН, ЧПДТ – планируется, частично подтверждено»</a:t>
            </a:r>
          </a:p>
          <a:p>
            <a:r>
              <a:rPr lang="ru-RU" sz="1000" dirty="0"/>
              <a:t>Заказы ТОРО со статусами «ПЛАН, УТВН – планируется, утвержден в недельном плане»</a:t>
            </a:r>
            <a:endParaRPr lang="ru-RU" sz="10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формирует план-график воздействий на ПА на планируемый месяц.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30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387146" cy="410926"/>
          </a:xfrm>
        </p:spPr>
        <p:txBody>
          <a:bodyPr/>
          <a:lstStyle/>
          <a:p>
            <a:pPr lvl="0" defTabSz="466725">
              <a:spcBef>
                <a:spcPct val="0"/>
              </a:spcBef>
              <a:spcAft>
                <a:spcPct val="35000"/>
              </a:spcAft>
            </a:pPr>
            <a:r>
              <a:rPr lang="ru-RU" sz="14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4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шагов </a:t>
            </a:r>
            <a:r>
              <a:rPr lang="ru-RU" sz="1400" dirty="0"/>
              <a:t>«Проверка доступности МТР по запланированным на месяц воздействиям на </a:t>
            </a:r>
            <a:r>
              <a:rPr lang="ru-RU" sz="1400" dirty="0" smtClean="0"/>
              <a:t>ПА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1400" dirty="0"/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Проверка доступности МТР по запланированным на месяц воздействиям на ПА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70653" y="3505893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/>
              <a:t>Оценена доступность материалов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63880" y="2867031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</a:t>
            </a:r>
            <a:r>
              <a:rPr lang="ru-RU" sz="1100" dirty="0" smtClean="0"/>
              <a:t>МЕС </a:t>
            </a:r>
            <a:r>
              <a:rPr lang="ru-RU" sz="1100" dirty="0"/>
              <a:t>– планируется, включен в месячный </a:t>
            </a:r>
            <a:r>
              <a:rPr lang="ru-RU" sz="1100" dirty="0" smtClean="0"/>
              <a:t>план-график» </a:t>
            </a:r>
            <a:endParaRPr lang="ru-RU" sz="1100" dirty="0"/>
          </a:p>
          <a:p>
            <a:pPr lvl="0"/>
            <a:r>
              <a:rPr lang="ru-RU" sz="1100" dirty="0"/>
              <a:t>Отчет «Анализ состояния ОФ»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анализирует доступность МТР по запланированным на месяц воздействиям на ПА, а также проверяет наличие установленных плановых цен МТР.</a:t>
            </a:r>
            <a:endParaRPr lang="ru-RU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5693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387146" cy="410926"/>
          </a:xfrm>
        </p:spPr>
        <p:txBody>
          <a:bodyPr/>
          <a:lstStyle/>
          <a:p>
            <a:pPr defTabSz="466725">
              <a:spcBef>
                <a:spcPct val="0"/>
              </a:spcBef>
              <a:spcAft>
                <a:spcPct val="35000"/>
              </a:spcAft>
            </a:pPr>
            <a:r>
              <a:rPr lang="ru-RU" sz="14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4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шагов </a:t>
            </a:r>
            <a:r>
              <a:rPr lang="ru-RU" sz="1400" dirty="0" smtClean="0"/>
              <a:t>«</a:t>
            </a:r>
            <a:r>
              <a:rPr lang="ru-RU" sz="1400" dirty="0"/>
              <a:t>Замена МТР в заказах, проверка </a:t>
            </a:r>
            <a:r>
              <a:rPr lang="ru-RU" sz="1400" dirty="0" smtClean="0"/>
              <a:t>доступности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1400" dirty="0"/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Замена МТР в заказах, проверка доступности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 flipV="1">
            <a:off x="5525839" y="4144304"/>
            <a:ext cx="1012984" cy="1969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40329" y="2429171"/>
            <a:ext cx="182939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</a:t>
            </a:r>
            <a:r>
              <a:rPr lang="ru-RU" sz="1100" dirty="0" smtClean="0"/>
              <a:t>МЕС </a:t>
            </a:r>
            <a:r>
              <a:rPr lang="ru-RU" sz="1100" dirty="0"/>
              <a:t>– планируется</a:t>
            </a:r>
            <a:r>
              <a:rPr lang="ru-RU" sz="1100" dirty="0" smtClean="0"/>
              <a:t>, </a:t>
            </a:r>
            <a:r>
              <a:rPr lang="ru-RU" sz="1100" dirty="0"/>
              <a:t>включен в месячный план-график» (МТР доступны)</a:t>
            </a:r>
          </a:p>
          <a:p>
            <a:pPr lvl="0"/>
            <a:r>
              <a:rPr lang="ru-RU" sz="1100" dirty="0"/>
              <a:t>Заказ ТОРО со статусами «ПЛАН, </a:t>
            </a:r>
            <a:r>
              <a:rPr lang="ru-RU" sz="1100" dirty="0" smtClean="0"/>
              <a:t>МЕС, </a:t>
            </a:r>
            <a:r>
              <a:rPr lang="ru-RU" sz="1100" dirty="0"/>
              <a:t>НМАТ – планируется, включен в месячный план-график</a:t>
            </a:r>
            <a:r>
              <a:rPr lang="ru-RU" sz="1100" dirty="0" smtClean="0"/>
              <a:t>, </a:t>
            </a:r>
            <a:r>
              <a:rPr lang="ru-RU" sz="1100" dirty="0"/>
              <a:t>нет материалов»</a:t>
            </a:r>
          </a:p>
          <a:p>
            <a:r>
              <a:rPr lang="ru-RU" sz="1100" dirty="0"/>
              <a:t>Заказ ТОРО со статусами «ПЛАН, МЕС</a:t>
            </a:r>
            <a:r>
              <a:rPr lang="ru-RU" sz="1100" dirty="0" smtClean="0"/>
              <a:t>, </a:t>
            </a:r>
            <a:r>
              <a:rPr lang="ru-RU" sz="1100" dirty="0"/>
              <a:t>МТРН – планируется, включен в месячный план-график</a:t>
            </a:r>
            <a:r>
              <a:rPr lang="ru-RU" sz="1100" dirty="0" smtClean="0"/>
              <a:t>, </a:t>
            </a:r>
            <a:r>
              <a:rPr lang="ru-RU" sz="1100" dirty="0"/>
              <a:t>МТР не оценены»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63417" y="3229391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</a:t>
            </a:r>
            <a:r>
              <a:rPr lang="ru-RU" sz="1100" dirty="0" smtClean="0"/>
              <a:t>МЕС </a:t>
            </a:r>
            <a:r>
              <a:rPr lang="ru-RU" sz="1100" dirty="0"/>
              <a:t>– планируется, включен в месячный </a:t>
            </a:r>
            <a:r>
              <a:rPr lang="ru-RU" sz="1100" dirty="0" smtClean="0"/>
              <a:t>план-график» </a:t>
            </a:r>
            <a:endParaRPr lang="ru-RU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анализирует доступность МТР по запланированным на месяц воздействиям на ПА, а также проверяет наличие установленных плановых цен МТР.</a:t>
            </a:r>
            <a:endParaRPr lang="ru-RU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0754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«Балансировка ресурсов собственного </a:t>
            </a:r>
            <a:r>
              <a:rPr lang="ru-RU" sz="1600" dirty="0" smtClean="0"/>
              <a:t>персонала»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50828" y="4101835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Балансировка ресурсов собственного персонала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43091" y="5181919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1178" y="3447939"/>
            <a:ext cx="182939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</a:t>
            </a:r>
            <a:r>
              <a:rPr lang="ru-RU" sz="1100" dirty="0" smtClean="0"/>
              <a:t>в статусах «ПЛАН», «ГОД», «БЛНС» </a:t>
            </a:r>
            <a:r>
              <a:rPr lang="ru-RU" sz="1100" dirty="0"/>
              <a:t>– планируется, заказ включен в годовую программу ППА, выполнена балансировка </a:t>
            </a:r>
            <a:r>
              <a:rPr lang="ru-RU" sz="1100" dirty="0" smtClean="0"/>
              <a:t>ресурсов</a:t>
            </a:r>
            <a:endParaRPr lang="ru-RU" sz="1100" dirty="0"/>
          </a:p>
          <a:p>
            <a:r>
              <a:rPr lang="ru-RU" sz="1100" dirty="0"/>
              <a:t>Годовая программа ППА </a:t>
            </a:r>
            <a:r>
              <a:rPr lang="ru-RU" sz="1100" dirty="0" smtClean="0"/>
              <a:t>Подразделения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200819" y="516222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67396" y="4218719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со статусами «ПЛАН, </a:t>
            </a:r>
            <a:r>
              <a:rPr lang="ru-RU" sz="1100" dirty="0" smtClean="0"/>
              <a:t>МЕС</a:t>
            </a:r>
            <a:r>
              <a:rPr lang="ru-RU" sz="1100" dirty="0"/>
              <a:t> </a:t>
            </a:r>
            <a:r>
              <a:rPr lang="ru-RU" sz="1100" dirty="0" smtClean="0"/>
              <a:t>– </a:t>
            </a:r>
            <a:r>
              <a:rPr lang="ru-RU" sz="1100" dirty="0"/>
              <a:t>планируется, включен в месячный </a:t>
            </a:r>
            <a:r>
              <a:rPr lang="ru-RU" sz="1100" dirty="0" smtClean="0"/>
              <a:t>план-график»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анализирует уровень загрузки </a:t>
            </a:r>
            <a:r>
              <a:rPr lang="ru-RU" sz="1400" dirty="0" smtClean="0"/>
              <a:t>персонала.</a:t>
            </a:r>
            <a:endParaRPr lang="ru-RU" sz="1400" dirty="0"/>
          </a:p>
          <a:p>
            <a:r>
              <a:rPr lang="ru-RU" sz="1400" dirty="0"/>
              <a:t>При выявлении недоступности исполнителей осуществляет балансировку ресурсов исполнителей. При невозможности балансировки ресурсов собственных исполнителей осуществляется замена на ресурсы подрядной организации (при возможности).</a:t>
            </a:r>
          </a:p>
          <a:p>
            <a:r>
              <a:rPr lang="ru-RU" sz="1400" dirty="0"/>
              <a:t>При невозможности замены исполнителей осуществляется корректировка срока заказов.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42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«Корректировка сроков (в рамках планируемого месяца)</a:t>
            </a:r>
            <a:r>
              <a:rPr lang="ru-RU" sz="1600" dirty="0" smtClean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50828" y="4101835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Корректировка сроков (в рамках планируемого месяца)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43091" y="5181919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1179" y="4392780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со статусами «ПЛАН, МЕС</a:t>
            </a:r>
            <a:r>
              <a:rPr lang="ru-RU" sz="1100" dirty="0" smtClean="0"/>
              <a:t>, </a:t>
            </a:r>
            <a:r>
              <a:rPr lang="ru-RU" sz="1100" dirty="0"/>
              <a:t>планируется, включен в месячный </a:t>
            </a:r>
            <a:r>
              <a:rPr lang="ru-RU" sz="1100" dirty="0" smtClean="0"/>
              <a:t>план-график»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2562045" y="5162221"/>
            <a:ext cx="48878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80799" y="3131790"/>
            <a:ext cx="1829396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МЕС, </a:t>
            </a:r>
            <a:r>
              <a:rPr lang="ru-RU" sz="1100" dirty="0" smtClean="0"/>
              <a:t>НМАТ </a:t>
            </a:r>
            <a:r>
              <a:rPr lang="ru-RU" sz="1100" dirty="0"/>
              <a:t>– планируется, включен в месячный </a:t>
            </a:r>
            <a:r>
              <a:rPr lang="ru-RU" sz="1100" dirty="0" smtClean="0"/>
              <a:t>план-график, </a:t>
            </a:r>
            <a:r>
              <a:rPr lang="ru-RU" sz="1100" dirty="0"/>
              <a:t>нет материалов»</a:t>
            </a:r>
          </a:p>
          <a:p>
            <a:pPr lvl="0"/>
            <a:r>
              <a:rPr lang="ru-RU" sz="1100" dirty="0"/>
              <a:t>Заказы ТОРО со статусами «ПЛАН, МЕС, </a:t>
            </a:r>
            <a:r>
              <a:rPr lang="ru-RU" sz="1100" dirty="0" smtClean="0"/>
              <a:t>ИСПК </a:t>
            </a:r>
            <a:r>
              <a:rPr lang="ru-RU" sz="1100" dirty="0"/>
              <a:t>– планируется, включен в месячный план-график, выполнена балансировка </a:t>
            </a:r>
            <a:r>
              <a:rPr lang="ru-RU" sz="1100" dirty="0" smtClean="0"/>
              <a:t>ресурсов, </a:t>
            </a:r>
            <a:r>
              <a:rPr lang="ru-RU" sz="1100" dirty="0"/>
              <a:t>требуется заменить исполнителей»</a:t>
            </a:r>
          </a:p>
          <a:p>
            <a:r>
              <a:rPr lang="ru-RU" sz="1100" dirty="0"/>
              <a:t>Заказ ТОРО со статусами «ПЛАН, МЕС</a:t>
            </a:r>
            <a:r>
              <a:rPr lang="ru-RU" sz="1100" dirty="0" smtClean="0"/>
              <a:t>, </a:t>
            </a:r>
            <a:r>
              <a:rPr lang="ru-RU" sz="1100" dirty="0"/>
              <a:t>МТРН – планируется, включен в месячный план-график</a:t>
            </a:r>
            <a:r>
              <a:rPr lang="ru-RU" sz="1100" dirty="0" smtClean="0"/>
              <a:t>, </a:t>
            </a:r>
            <a:r>
              <a:rPr lang="ru-RU" sz="1100" dirty="0"/>
              <a:t>МТР не оценены»</a:t>
            </a:r>
            <a:r>
              <a:rPr lang="ru-RU" sz="1100" dirty="0" smtClean="0"/>
              <a:t>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корректирует сроки заказов ТОРО с учетом ранга заказов ТОРО и повторно выполняет проверку доступности МТР.</a:t>
            </a:r>
          </a:p>
          <a:p>
            <a:r>
              <a:rPr lang="ru-RU" sz="1400" dirty="0"/>
              <a:t>При невозможности корректировки сроков в рамках планируемого месяца инициируется корректировка заказов.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83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«Замена исполнителя»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50828" y="4101835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Замена исполнителя</a:t>
              </a:r>
              <a:endParaRPr lang="ru-RU" sz="1600" dirty="0"/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43091" y="5181919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1179" y="4223502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со статусами «ПЛАН, МЕС, </a:t>
            </a:r>
            <a:r>
              <a:rPr lang="ru-RU" sz="1100" dirty="0" smtClean="0"/>
              <a:t>планируется</a:t>
            </a:r>
            <a:r>
              <a:rPr lang="ru-RU" sz="1100" dirty="0"/>
              <a:t>, включен в месячный </a:t>
            </a:r>
            <a:r>
              <a:rPr lang="ru-RU" sz="1100" dirty="0" smtClean="0"/>
              <a:t>план-график»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2579298" y="5162221"/>
            <a:ext cx="47153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25523" y="2869285"/>
            <a:ext cx="182939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МЕС</a:t>
            </a:r>
            <a:r>
              <a:rPr lang="ru-RU" sz="1100" dirty="0" smtClean="0"/>
              <a:t>, </a:t>
            </a:r>
            <a:r>
              <a:rPr lang="ru-RU" sz="1100" dirty="0"/>
              <a:t>ТРОС – планируется, включен в месячный план-график, </a:t>
            </a:r>
            <a:r>
              <a:rPr lang="ru-RU" sz="1100" dirty="0" smtClean="0"/>
              <a:t>требуется </a:t>
            </a:r>
            <a:r>
              <a:rPr lang="ru-RU" sz="1100" dirty="0" err="1"/>
              <a:t>осмечивание</a:t>
            </a:r>
            <a:r>
              <a:rPr lang="ru-RU" sz="1100" dirty="0"/>
              <a:t>»</a:t>
            </a:r>
          </a:p>
          <a:p>
            <a:pPr lvl="0"/>
            <a:r>
              <a:rPr lang="ru-RU" sz="1100" dirty="0"/>
              <a:t>Заказы ТОРО со статусами «ПЛАН, МЕС</a:t>
            </a:r>
            <a:r>
              <a:rPr lang="ru-RU" sz="1100" dirty="0" smtClean="0"/>
              <a:t>, </a:t>
            </a:r>
            <a:r>
              <a:rPr lang="ru-RU" sz="1100" dirty="0"/>
              <a:t>ИСПК – планируется, включен в месячный план-график, заказу присвоен ранг, требуется заменить исполнителей»</a:t>
            </a:r>
          </a:p>
          <a:p>
            <a:pPr lvl="0"/>
            <a:r>
              <a:rPr lang="ru-RU" sz="1100" dirty="0"/>
              <a:t>Заказ ТОРО со статусами «ПЛАН, МЕС</a:t>
            </a:r>
            <a:r>
              <a:rPr lang="ru-RU" sz="1100" dirty="0" smtClean="0"/>
              <a:t>, </a:t>
            </a:r>
            <a:r>
              <a:rPr lang="ru-RU" sz="1100" dirty="0"/>
              <a:t>НМАТ – планируется, включен в месячный план-график, </a:t>
            </a:r>
            <a:r>
              <a:rPr lang="ru-RU" sz="1100" dirty="0" smtClean="0"/>
              <a:t>нет </a:t>
            </a:r>
            <a:r>
              <a:rPr lang="ru-RU" sz="1100" dirty="0"/>
              <a:t>материалов»</a:t>
            </a:r>
          </a:p>
          <a:p>
            <a:pPr lvl="0"/>
            <a:r>
              <a:rPr lang="ru-RU" sz="1100" dirty="0"/>
              <a:t>Заказ ТОРО со статусами «ПЛАН, МЕС</a:t>
            </a:r>
            <a:r>
              <a:rPr lang="ru-RU" sz="1100" dirty="0" smtClean="0"/>
              <a:t>, </a:t>
            </a:r>
            <a:r>
              <a:rPr lang="ru-RU" sz="1100" dirty="0"/>
              <a:t>МТРН – планируется, включен в месячный план-график</a:t>
            </a:r>
            <a:r>
              <a:rPr lang="ru-RU" sz="1100" dirty="0" smtClean="0"/>
              <a:t>, </a:t>
            </a:r>
            <a:r>
              <a:rPr lang="ru-RU" sz="1100" dirty="0"/>
              <a:t>МТР не оценены</a:t>
            </a:r>
            <a:r>
              <a:rPr lang="ru-RU" sz="1100" dirty="0" smtClean="0"/>
              <a:t>»</a:t>
            </a:r>
            <a:endParaRPr lang="ru-RU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осуществляет замену исполнителей при возможности.</a:t>
            </a:r>
          </a:p>
          <a:p>
            <a:r>
              <a:rPr lang="ru-RU" sz="1400" dirty="0"/>
              <a:t>При необходимости формирования новой сметы по итогам замены </a:t>
            </a:r>
            <a:r>
              <a:rPr lang="ru-RU" sz="1400" dirty="0" smtClean="0"/>
              <a:t>исполнителей. </a:t>
            </a:r>
            <a:br>
              <a:rPr lang="ru-RU" sz="1400" dirty="0" smtClean="0"/>
            </a:br>
            <a:r>
              <a:rPr lang="ru-RU" sz="1400" dirty="0" smtClean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вводит полученные данные из смет в заказы ТОРО. </a:t>
            </a:r>
          </a:p>
          <a:p>
            <a:r>
              <a:rPr lang="ru-RU" sz="1400" dirty="0"/>
              <a:t>При невозможности замены исполнителей осуществляется корректировка заказа.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17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«Ввод данных смет в заказы ТОРО и приложение </a:t>
            </a:r>
            <a:r>
              <a:rPr lang="ru-RU" sz="1600" dirty="0" smtClean="0"/>
              <a:t>скан-копии»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2955938" y="2281661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Ввод данных смет в заказы ТОРО и приложение скан-копии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448201" y="3361745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68814" y="2084472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767171"/>
                </a:solidFill>
              </a:rPr>
              <a:t>Заказ ТОРО </a:t>
            </a:r>
            <a:r>
              <a:rPr lang="ru-RU" sz="1100" dirty="0" smtClean="0">
                <a:solidFill>
                  <a:srgbClr val="767171"/>
                </a:solidFill>
              </a:rPr>
              <a:t>в статусах «ПЛАН», «МЕС», «ОСМЧ» </a:t>
            </a:r>
            <a:r>
              <a:rPr lang="ru-RU" sz="1100" dirty="0">
                <a:solidFill>
                  <a:srgbClr val="767171"/>
                </a:solidFill>
              </a:rPr>
              <a:t>– планируется, заказ включен в </a:t>
            </a:r>
            <a:r>
              <a:rPr lang="ru-RU" sz="1100" dirty="0" smtClean="0">
                <a:solidFill>
                  <a:srgbClr val="767171"/>
                </a:solidFill>
              </a:rPr>
              <a:t>месячную </a:t>
            </a:r>
            <a:r>
              <a:rPr lang="ru-RU" sz="1100" dirty="0">
                <a:solidFill>
                  <a:srgbClr val="767171"/>
                </a:solidFill>
              </a:rPr>
              <a:t>программу ППА, заказ </a:t>
            </a:r>
            <a:r>
              <a:rPr lang="ru-RU" sz="1100" dirty="0" err="1">
                <a:solidFill>
                  <a:srgbClr val="767171"/>
                </a:solidFill>
              </a:rPr>
              <a:t>осмечен</a:t>
            </a:r>
            <a:r>
              <a:rPr lang="ru-RU" sz="1100" dirty="0" smtClean="0">
                <a:solidFill>
                  <a:srgbClr val="767171"/>
                </a:solidFill>
              </a:rPr>
              <a:t>)</a:t>
            </a:r>
            <a:endParaRPr lang="ru-RU" sz="1100" dirty="0">
              <a:solidFill>
                <a:srgbClr val="767171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2027208" y="3342047"/>
            <a:ext cx="92873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7194" y="2241748"/>
            <a:ext cx="1829396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solidFill>
                  <a:srgbClr val="595959"/>
                </a:solidFill>
              </a:rPr>
              <a:t>Заказ ТОРО </a:t>
            </a:r>
            <a:r>
              <a:rPr lang="ru-RU" sz="1050" dirty="0" smtClean="0">
                <a:solidFill>
                  <a:srgbClr val="595959"/>
                </a:solidFill>
              </a:rPr>
              <a:t>в статусах «ПЛАН», «МЕС», «ТРОС» </a:t>
            </a:r>
            <a:r>
              <a:rPr lang="ru-RU" sz="1050" dirty="0">
                <a:solidFill>
                  <a:srgbClr val="595959"/>
                </a:solidFill>
              </a:rPr>
              <a:t>– планируется, заказ включен в </a:t>
            </a:r>
            <a:r>
              <a:rPr lang="ru-RU" sz="1050" dirty="0" smtClean="0">
                <a:solidFill>
                  <a:srgbClr val="595959"/>
                </a:solidFill>
              </a:rPr>
              <a:t>месячную </a:t>
            </a:r>
            <a:r>
              <a:rPr lang="ru-RU" sz="1050" dirty="0">
                <a:solidFill>
                  <a:srgbClr val="595959"/>
                </a:solidFill>
              </a:rPr>
              <a:t>программу ППА, требуется </a:t>
            </a:r>
            <a:r>
              <a:rPr lang="ru-RU" sz="1050" dirty="0" err="1">
                <a:solidFill>
                  <a:srgbClr val="595959"/>
                </a:solidFill>
              </a:rPr>
              <a:t>осмечивание</a:t>
            </a:r>
            <a:r>
              <a:rPr lang="ru-RU" sz="1050" dirty="0">
                <a:solidFill>
                  <a:srgbClr val="595959"/>
                </a:solidFill>
              </a:rPr>
              <a:t>)</a:t>
            </a:r>
          </a:p>
          <a:p>
            <a:r>
              <a:rPr lang="ru-RU" sz="1050" dirty="0" smtClean="0">
                <a:solidFill>
                  <a:srgbClr val="595959"/>
                </a:solidFill>
              </a:rPr>
              <a:t>Плановая </a:t>
            </a:r>
            <a:r>
              <a:rPr lang="ru-RU" sz="1050" dirty="0">
                <a:solidFill>
                  <a:srgbClr val="595959"/>
                </a:solidFill>
              </a:rPr>
              <a:t>цена (системный документ)</a:t>
            </a:r>
          </a:p>
          <a:p>
            <a:r>
              <a:rPr lang="ru-RU" sz="1050" dirty="0">
                <a:solidFill>
                  <a:srgbClr val="595959"/>
                </a:solidFill>
              </a:rPr>
              <a:t>Смета (несистемный документ)</a:t>
            </a:r>
          </a:p>
          <a:p>
            <a:r>
              <a:rPr lang="ru-RU" sz="1050" dirty="0">
                <a:solidFill>
                  <a:srgbClr val="595959"/>
                </a:solidFill>
              </a:rPr>
              <a:t>ТКП (несистемный документ)</a:t>
            </a:r>
          </a:p>
          <a:p>
            <a:r>
              <a:rPr lang="ru-RU" sz="1050" dirty="0">
                <a:solidFill>
                  <a:srgbClr val="595959"/>
                </a:solidFill>
              </a:rPr>
              <a:t>Дефектная ведомость (несистемный документ)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на основании сметы вводит объем необходимых работ в заказ ТОРО на вкладке «Компоненты» в поле «Объем потребности», в поле «Количество» вводит общую плановую стоимость услуги, в поле «Единица измерения» указывается «СТМ – стоимость».</a:t>
            </a:r>
          </a:p>
        </p:txBody>
      </p:sp>
    </p:spTree>
    <p:extLst>
      <p:ext uri="{BB962C8B-B14F-4D97-AF65-F5344CB8AC3E}">
        <p14:creationId xmlns:p14="http://schemas.microsoft.com/office/powerpoint/2010/main" val="21329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«Выравнивание плана-графика воздействий на ПА со смежными службами на уровне подразделения</a:t>
            </a:r>
            <a:r>
              <a:rPr lang="ru-RU" sz="1600" dirty="0" smtClean="0"/>
              <a:t>» и «Балансировка ВПС по Подразделению»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2955938" y="2281661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Выравнивание плана-графика воздействий на ПА со смежными службами на уровне подразделения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448201" y="3361745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98210" y="1989582"/>
            <a:ext cx="182939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МЕС, РАНГ, СИНХ – планируется, включен в месячный план-график, заказу присвоен ранг, синхронизирован»</a:t>
            </a:r>
          </a:p>
          <a:p>
            <a:pPr lvl="0"/>
            <a:r>
              <a:rPr lang="ru-RU" sz="1100" dirty="0"/>
              <a:t>Заказ ТОРО со статусами «ПЛАН, МЕС, РАНГ, ВПС – планируется, включен в месячный план-график, заказу присвоен ранг, ВПС сбалансированы по подразделению»</a:t>
            </a:r>
          </a:p>
          <a:p>
            <a:pPr lvl="0"/>
            <a:r>
              <a:rPr lang="ru-RU" sz="1100" dirty="0"/>
              <a:t>Заказ ТОРО со статусами «ПЛАН, МЕС, РАНГ, ВПСС – планируется, включен в месячный план-график, заказу присвоен ранг, ВПС сбалансированы со смежными заказами»</a:t>
            </a:r>
          </a:p>
          <a:p>
            <a:r>
              <a:rPr lang="ru-RU" sz="1100" dirty="0"/>
              <a:t>Заказ ТОРО со статусами «ПЛАН, МЕС, РАНГ, ТРСХ – планируется, включен в месячный план-график, заказу присвоен ранг, требуется синхронизация»</a:t>
            </a:r>
            <a:endParaRPr lang="ru-RU" sz="1100" dirty="0">
              <a:solidFill>
                <a:srgbClr val="767171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2027208" y="3342047"/>
            <a:ext cx="92873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7194" y="2241748"/>
            <a:ext cx="1829396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Заказы ТОРО со статусами «ПЛАН, МЕС, РАНГ, БЛНС – планируется, включен в месячный план-график, заказу присвоен ранг, выполнена балансировка ресурсов»</a:t>
            </a:r>
            <a:endParaRPr lang="ru-RU" sz="105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Синхронизация план-графика воздействий на ПА различными службами на уровне подразделения при наличии заказов на критичное и высококритичное оборудование для снижения общего времени простоя ПА на время ремонта, а также проведение балансировки мощностей ВПС при необходимости.</a:t>
            </a:r>
          </a:p>
          <a:p>
            <a:r>
              <a:rPr lang="ru-RU" sz="1400" dirty="0"/>
              <a:t>При невозможности синхронизации плана-графика или балансировки ВПС инициируется корректировка заказов.</a:t>
            </a:r>
          </a:p>
        </p:txBody>
      </p:sp>
    </p:spTree>
    <p:extLst>
      <p:ext uri="{BB962C8B-B14F-4D97-AF65-F5344CB8AC3E}">
        <p14:creationId xmlns:p14="http://schemas.microsoft.com/office/powerpoint/2010/main" val="397556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88935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СГПЛ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</a:t>
            </a:r>
            <a:r>
              <a:rPr lang="ru-RU" sz="1600" dirty="0" smtClean="0"/>
              <a:t>оперативном(месячном) горизонте»</a:t>
            </a:r>
            <a:endParaRPr lang="ru-RU" sz="16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СГПЛ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</a:t>
              </a:r>
              <a:r>
                <a:rPr lang="ru-RU" sz="1600" dirty="0" smtClean="0"/>
                <a:t>оперативном(месячном) </a:t>
              </a:r>
              <a:r>
                <a:rPr lang="ru-RU" sz="1600" dirty="0"/>
                <a:t>горизонте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3455676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Установлен пользовательский статус </a:t>
            </a:r>
            <a:r>
              <a:rPr lang="ru-RU" sz="1100" dirty="0" smtClean="0">
                <a:solidFill>
                  <a:srgbClr val="595959"/>
                </a:solidFill>
              </a:rPr>
              <a:t>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ТОИР БЕ ГОК устанавливает на заказах ТОРО статус «СГПЛ – согласовано планировщиком», и извещает Старшего планировщика </a:t>
            </a:r>
            <a:r>
              <a:rPr lang="ru-RU" sz="1400" dirty="0" err="1"/>
              <a:t>ТОиР</a:t>
            </a:r>
            <a:r>
              <a:rPr lang="ru-RU" sz="1400" dirty="0"/>
              <a:t> БЕ ГОК о необходимости согласования плана-графика воздействий на ПА на следующий месяц.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46931" y="3682118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на согласование 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3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ССПЛ 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</a:t>
            </a:r>
            <a:r>
              <a:rPr lang="ru-RU" sz="1600" dirty="0" smtClean="0"/>
              <a:t>оперативном(месячном) </a:t>
            </a:r>
            <a:r>
              <a:rPr lang="ru-RU" sz="1600" dirty="0"/>
              <a:t>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ССПЛ 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</a:t>
              </a:r>
              <a:r>
                <a:rPr lang="ru-RU" sz="1600" dirty="0" smtClean="0"/>
                <a:t>оперативном(месячном) </a:t>
              </a:r>
              <a:r>
                <a:rPr lang="ru-RU" sz="1600" dirty="0"/>
                <a:t>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случае отсутствия замечаний, 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согласовывает месячный план-график воздействий на ПА и устанавливает соответствующий статус Заказа ТОРО («ССПЛ - </a:t>
            </a:r>
            <a:r>
              <a:rPr lang="ru-RU" sz="1400" dirty="0" err="1"/>
              <a:t>Cогласовано</a:t>
            </a:r>
            <a:r>
              <a:rPr lang="ru-RU" sz="1400" dirty="0"/>
              <a:t> старшим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»), после чего Заказы ТОРО блокируются для изменения/корректировок. </a:t>
            </a:r>
          </a:p>
        </p:txBody>
      </p:sp>
    </p:spTree>
    <p:extLst>
      <p:ext uri="{BB962C8B-B14F-4D97-AF65-F5344CB8AC3E}">
        <p14:creationId xmlns:p14="http://schemas.microsoft.com/office/powerpoint/2010/main" val="286572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СГГС Главным специалистом на </a:t>
            </a:r>
            <a:r>
              <a:rPr lang="ru-RU" sz="1600" dirty="0" smtClean="0"/>
              <a:t>оперативном(месячном) горизонте»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СГГС Главным специалистом на </a:t>
              </a:r>
              <a:r>
                <a:rPr lang="ru-RU" sz="1600" dirty="0" smtClean="0"/>
                <a:t>оперативном(месячном) </a:t>
              </a:r>
              <a:r>
                <a:rPr lang="ru-RU" sz="1600" dirty="0"/>
                <a:t>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«ССГС»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случае отсутствия замечаний, Главный специалист </a:t>
            </a:r>
            <a:r>
              <a:rPr lang="ru-RU" sz="1400" dirty="0" err="1"/>
              <a:t>ТОиР</a:t>
            </a:r>
            <a:r>
              <a:rPr lang="ru-RU" sz="1400" dirty="0"/>
              <a:t> БЕ ГОК согласует план-график воздействий на ПА, путем установки статуса «СГГС - согласовано главным специалистом». В случае наличия замечаний, устанавливает на заказах статус «КОРР – заказ требует корректировки». При этом происходит автоматическое сбрасывание статуса на «План - планируется»</a:t>
            </a:r>
          </a:p>
        </p:txBody>
      </p:sp>
    </p:spTree>
    <p:extLst>
      <p:ext uri="{BB962C8B-B14F-4D97-AF65-F5344CB8AC3E}">
        <p14:creationId xmlns:p14="http://schemas.microsoft.com/office/powerpoint/2010/main" val="241702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</a:t>
            </a:r>
            <a:r>
              <a:rPr lang="ru-RU" sz="1600" dirty="0" smtClean="0"/>
              <a:t>ПТОМ </a:t>
            </a:r>
            <a:r>
              <a:rPr lang="ru-RU" sz="1600" dirty="0"/>
              <a:t>Специалистом ПТО на </a:t>
            </a:r>
            <a:r>
              <a:rPr lang="ru-RU" sz="1600" dirty="0" smtClean="0"/>
              <a:t>оперативном(месячном) </a:t>
            </a:r>
            <a:r>
              <a:rPr lang="ru-RU" sz="1600" dirty="0"/>
              <a:t>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</a:t>
              </a:r>
              <a:r>
                <a:rPr lang="ru-RU" sz="1600" dirty="0" smtClean="0"/>
                <a:t>ПТОМ </a:t>
              </a:r>
              <a:r>
                <a:rPr lang="ru-RU" sz="1600" dirty="0"/>
                <a:t>Специалистом ПТО на </a:t>
              </a:r>
              <a:r>
                <a:rPr lang="ru-RU" sz="1600" dirty="0" smtClean="0"/>
                <a:t>оперативном(месячном) </a:t>
              </a:r>
              <a:r>
                <a:rPr lang="ru-RU" sz="1600" dirty="0"/>
                <a:t>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«СГГС»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«ПТОМ»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После утверждения плана-графика Главным специалистом </a:t>
            </a:r>
            <a:r>
              <a:rPr lang="ru-RU" sz="1400" dirty="0" err="1"/>
              <a:t>ТОиР</a:t>
            </a:r>
            <a:r>
              <a:rPr lang="ru-RU" sz="1400" dirty="0"/>
              <a:t> БЕ ГОК  специалист ПТО БЕ ГОК анализирует план-график воздействий на ПА на соответствие целевым КТГ, и при наличии замечаний фиксирует их в виде листа замечаний. Затем направляет по электронной почте лист замечаний предыдущим участникам согласования и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, который проводит соответствующие необходимые корректировки </a:t>
            </a:r>
            <a:r>
              <a:rPr lang="ru-RU" sz="1400" dirty="0" smtClean="0"/>
              <a:t>заказов, </a:t>
            </a:r>
            <a:r>
              <a:rPr lang="ru-RU" sz="1400" dirty="0"/>
              <a:t>после чего план-график проходит повторное согласование и утверждение.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040" y="5142741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При </a:t>
            </a:r>
            <a:r>
              <a:rPr lang="ru-RU" sz="1400" dirty="0"/>
              <a:t>отсутствии замечаний Специалист </a:t>
            </a:r>
            <a:r>
              <a:rPr lang="ru-RU" sz="1400" dirty="0" smtClean="0"/>
              <a:t>ПТО </a:t>
            </a:r>
            <a:r>
              <a:rPr lang="ru-RU" sz="1400" dirty="0"/>
              <a:t>производит массовое согласование заказов ТОРО на производственное оборудование, влияющее на производственную деятельность и устанавливает пользовательский статус без порядкового номера «ПТОГ – Согласование ПТО». </a:t>
            </a:r>
          </a:p>
        </p:txBody>
      </p:sp>
    </p:spTree>
    <p:extLst>
      <p:ext uri="{BB962C8B-B14F-4D97-AF65-F5344CB8AC3E}">
        <p14:creationId xmlns:p14="http://schemas.microsoft.com/office/powerpoint/2010/main" val="263844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«Деблокирование заказа ТОРО»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2955938" y="2281661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Деблокирование заказа ТОРО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448201" y="3361745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98210" y="2349604"/>
            <a:ext cx="18293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«УТВМ, МЕС, ДЕБЛ – утвержден в месячном план-графике, включен в месячный план-график, деблокировано»</a:t>
            </a:r>
          </a:p>
          <a:p>
            <a:r>
              <a:rPr lang="ru-RU" sz="1100" dirty="0"/>
              <a:t>Карточка РБП по незавершенным капитализируемым ремонтам (системный)</a:t>
            </a:r>
            <a:endParaRPr lang="ru-RU" sz="1100" dirty="0">
              <a:solidFill>
                <a:srgbClr val="767171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2027208" y="3342047"/>
            <a:ext cx="92873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96319" y="2407458"/>
            <a:ext cx="18293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000" dirty="0"/>
              <a:t>Заказ ТОРО со статусами «УТВМ, МЕС – утвержден в месячном план-графике, включен в месячный план-график»</a:t>
            </a:r>
            <a:endParaRPr lang="ru-RU" sz="10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проводит деблокирование заказов ТОРО.</a:t>
            </a:r>
          </a:p>
        </p:txBody>
      </p:sp>
    </p:spTree>
    <p:extLst>
      <p:ext uri="{BB962C8B-B14F-4D97-AF65-F5344CB8AC3E}">
        <p14:creationId xmlns:p14="http://schemas.microsoft.com/office/powerpoint/2010/main" val="291576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«Недельно-суточное планирование воздействий на 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3316663" y="2994438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15619" y="1099215"/>
            <a:ext cx="862293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Группа 24"/>
          <p:cNvGrpSpPr/>
          <p:nvPr/>
        </p:nvGrpSpPr>
        <p:grpSpPr>
          <a:xfrm>
            <a:off x="1886478" y="3767371"/>
            <a:ext cx="1208314" cy="890628"/>
            <a:chOff x="103199" y="808239"/>
            <a:chExt cx="916520" cy="682828"/>
          </a:xfrm>
        </p:grpSpPr>
        <p:sp>
          <p:nvSpPr>
            <p:cNvPr id="27" name="Скругленный прямоугольник 2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Календарное планирование планов на ЕТО</a:t>
              </a:r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3266293" y="3767372"/>
            <a:ext cx="1208314" cy="890628"/>
            <a:chOff x="103199" y="808239"/>
            <a:chExt cx="916520" cy="682828"/>
          </a:xfrm>
        </p:grpSpPr>
        <p:sp>
          <p:nvSpPr>
            <p:cNvPr id="87" name="Скругленный прямоугольник 8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8" name="Скругленный прямоугольник 4"/>
            <p:cNvSpPr txBox="1"/>
            <p:nvPr/>
          </p:nvSpPr>
          <p:spPr>
            <a:xfrm>
              <a:off x="157754" y="845000"/>
              <a:ext cx="807409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100" dirty="0"/>
                <a:t>Создание заказов на ЕТО из планов ТОРО</a:t>
              </a:r>
            </a:p>
          </p:txBody>
        </p:sp>
      </p:grpSp>
      <p:grpSp>
        <p:nvGrpSpPr>
          <p:cNvPr id="89" name="Группа 88"/>
          <p:cNvGrpSpPr/>
          <p:nvPr/>
        </p:nvGrpSpPr>
        <p:grpSpPr>
          <a:xfrm>
            <a:off x="4702173" y="3767372"/>
            <a:ext cx="1208314" cy="890628"/>
            <a:chOff x="103199" y="808239"/>
            <a:chExt cx="916520" cy="682828"/>
          </a:xfrm>
        </p:grpSpPr>
        <p:sp>
          <p:nvSpPr>
            <p:cNvPr id="90" name="Скругленный прямоугольник 89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1" name="Скругленный прямоугольник 4"/>
            <p:cNvSpPr txBox="1"/>
            <p:nvPr/>
          </p:nvSpPr>
          <p:spPr>
            <a:xfrm>
              <a:off x="157754" y="845000"/>
              <a:ext cx="807409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100" dirty="0"/>
                <a:t>Актуализация сроков плановых заказов по наработке/состоянию</a:t>
              </a:r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6120732" y="3767373"/>
            <a:ext cx="1208314" cy="890628"/>
            <a:chOff x="103199" y="808239"/>
            <a:chExt cx="916520" cy="682828"/>
          </a:xfrm>
        </p:grpSpPr>
        <p:sp>
          <p:nvSpPr>
            <p:cNvPr id="93" name="Скругленный прямоугольник 9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4" name="Скругленный прямоугольник 4"/>
            <p:cNvSpPr txBox="1"/>
            <p:nvPr/>
          </p:nvSpPr>
          <p:spPr>
            <a:xfrm>
              <a:off x="157754" y="845000"/>
              <a:ext cx="807409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00" dirty="0"/>
                <a:t>Формирование план-графика воздействий на ПА на неделю</a:t>
              </a:r>
            </a:p>
          </p:txBody>
        </p:sp>
      </p:grpSp>
      <p:cxnSp>
        <p:nvCxnSpPr>
          <p:cNvPr id="95" name="Прямая соединительная линия 94"/>
          <p:cNvCxnSpPr>
            <a:endCxn id="27" idx="1"/>
          </p:cNvCxnSpPr>
          <p:nvPr/>
        </p:nvCxnSpPr>
        <p:spPr>
          <a:xfrm flipV="1">
            <a:off x="1658912" y="4212685"/>
            <a:ext cx="227566" cy="102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единительная линия 96"/>
          <p:cNvCxnSpPr>
            <a:endCxn id="87" idx="1"/>
          </p:cNvCxnSpPr>
          <p:nvPr/>
        </p:nvCxnSpPr>
        <p:spPr>
          <a:xfrm>
            <a:off x="3094792" y="4212686"/>
            <a:ext cx="1715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/>
          <p:cNvCxnSpPr>
            <a:stCxn id="87" idx="3"/>
            <a:endCxn id="90" idx="1"/>
          </p:cNvCxnSpPr>
          <p:nvPr/>
        </p:nvCxnSpPr>
        <p:spPr>
          <a:xfrm>
            <a:off x="4474607" y="4212686"/>
            <a:ext cx="22756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>
            <a:stCxn id="90" idx="3"/>
            <a:endCxn id="93" idx="1"/>
          </p:cNvCxnSpPr>
          <p:nvPr/>
        </p:nvCxnSpPr>
        <p:spPr>
          <a:xfrm>
            <a:off x="5910487" y="4212686"/>
            <a:ext cx="210245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>
            <a:stCxn id="93" idx="3"/>
          </p:cNvCxnSpPr>
          <p:nvPr/>
        </p:nvCxnSpPr>
        <p:spPr>
          <a:xfrm flipV="1">
            <a:off x="7329046" y="4212685"/>
            <a:ext cx="433660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81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«Недельно-суточное планирование воздействий на 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35999" y="2908173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cxnSp>
        <p:nvCxnSpPr>
          <p:cNvPr id="31" name="Прямая соединительная линия 30"/>
          <p:cNvCxnSpPr>
            <a:endCxn id="39" idx="1"/>
          </p:cNvCxnSpPr>
          <p:nvPr/>
        </p:nvCxnSpPr>
        <p:spPr>
          <a:xfrm>
            <a:off x="81831" y="4126420"/>
            <a:ext cx="184221" cy="102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15619" y="1099215"/>
            <a:ext cx="862293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Группа 24"/>
          <p:cNvGrpSpPr/>
          <p:nvPr/>
        </p:nvGrpSpPr>
        <p:grpSpPr>
          <a:xfrm>
            <a:off x="1625999" y="3681107"/>
            <a:ext cx="1208314" cy="890628"/>
            <a:chOff x="103199" y="808239"/>
            <a:chExt cx="916520" cy="682828"/>
          </a:xfrm>
        </p:grpSpPr>
        <p:sp>
          <p:nvSpPr>
            <p:cNvPr id="27" name="Скругленный прямоугольник 2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Замена МТР в заказах ТОРО</a:t>
              </a:r>
            </a:p>
          </p:txBody>
        </p:sp>
      </p:grpSp>
      <p:grpSp>
        <p:nvGrpSpPr>
          <p:cNvPr id="35" name="Группа 34"/>
          <p:cNvGrpSpPr/>
          <p:nvPr/>
        </p:nvGrpSpPr>
        <p:grpSpPr>
          <a:xfrm>
            <a:off x="266052" y="3682133"/>
            <a:ext cx="1243571" cy="890632"/>
            <a:chOff x="103199" y="808239"/>
            <a:chExt cx="916520" cy="682828"/>
          </a:xfrm>
        </p:grpSpPr>
        <p:sp>
          <p:nvSpPr>
            <p:cNvPr id="39" name="Скругленный прямоугольник 3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Проверка доступности МТР по запланированным на неделю воздействиям</a:t>
              </a:r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3005814" y="3681107"/>
            <a:ext cx="1208314" cy="890628"/>
            <a:chOff x="103199" y="808239"/>
            <a:chExt cx="916520" cy="682828"/>
          </a:xfrm>
        </p:grpSpPr>
        <p:sp>
          <p:nvSpPr>
            <p:cNvPr id="84" name="Скругленный прямоугольник 83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5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900" dirty="0"/>
                <a:t>Балансировка ресурсов собственного персонала</a:t>
              </a:r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4385629" y="3681107"/>
            <a:ext cx="1208314" cy="890628"/>
            <a:chOff x="103199" y="808239"/>
            <a:chExt cx="916520" cy="682828"/>
          </a:xfrm>
        </p:grpSpPr>
        <p:sp>
          <p:nvSpPr>
            <p:cNvPr id="87" name="Скругленный прямоугольник 8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8" name="Скругленный прямоугольник 4"/>
            <p:cNvSpPr txBox="1"/>
            <p:nvPr/>
          </p:nvSpPr>
          <p:spPr>
            <a:xfrm>
              <a:off x="157754" y="845000"/>
              <a:ext cx="807409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100" dirty="0"/>
                <a:t>Принятие решение о корректировке сроков или замены исполнителя</a:t>
              </a:r>
            </a:p>
          </p:txBody>
        </p:sp>
      </p:grpSp>
      <p:grpSp>
        <p:nvGrpSpPr>
          <p:cNvPr id="89" name="Группа 88"/>
          <p:cNvGrpSpPr/>
          <p:nvPr/>
        </p:nvGrpSpPr>
        <p:grpSpPr>
          <a:xfrm>
            <a:off x="5993477" y="2790479"/>
            <a:ext cx="1208314" cy="890628"/>
            <a:chOff x="103199" y="808239"/>
            <a:chExt cx="916520" cy="682828"/>
          </a:xfrm>
        </p:grpSpPr>
        <p:sp>
          <p:nvSpPr>
            <p:cNvPr id="90" name="Скругленный прямоугольник 89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1" name="Скругленный прямоугольник 4"/>
            <p:cNvSpPr txBox="1"/>
            <p:nvPr/>
          </p:nvSpPr>
          <p:spPr>
            <a:xfrm>
              <a:off x="157754" y="845000"/>
              <a:ext cx="807409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100" dirty="0"/>
                <a:t>Корректировка сроков (в рамках планируемой недели)</a:t>
              </a:r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6065401" y="4377987"/>
            <a:ext cx="1208314" cy="890628"/>
            <a:chOff x="103199" y="808239"/>
            <a:chExt cx="916520" cy="682828"/>
          </a:xfrm>
        </p:grpSpPr>
        <p:sp>
          <p:nvSpPr>
            <p:cNvPr id="93" name="Скругленный прямоугольник 9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4" name="Скругленный прямоугольник 4"/>
            <p:cNvSpPr txBox="1"/>
            <p:nvPr/>
          </p:nvSpPr>
          <p:spPr>
            <a:xfrm>
              <a:off x="157754" y="845000"/>
              <a:ext cx="807409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00" dirty="0"/>
                <a:t>Замена исполнителя</a:t>
              </a:r>
            </a:p>
          </p:txBody>
        </p:sp>
      </p:grpSp>
      <p:cxnSp>
        <p:nvCxnSpPr>
          <p:cNvPr id="95" name="Прямая соединительная линия 94"/>
          <p:cNvCxnSpPr>
            <a:stCxn id="39" idx="3"/>
            <a:endCxn id="27" idx="1"/>
          </p:cNvCxnSpPr>
          <p:nvPr/>
        </p:nvCxnSpPr>
        <p:spPr>
          <a:xfrm flipV="1">
            <a:off x="1509623" y="4126421"/>
            <a:ext cx="116376" cy="102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единительная линия 95"/>
          <p:cNvCxnSpPr>
            <a:stCxn id="27" idx="3"/>
            <a:endCxn id="84" idx="1"/>
          </p:cNvCxnSpPr>
          <p:nvPr/>
        </p:nvCxnSpPr>
        <p:spPr>
          <a:xfrm>
            <a:off x="2834313" y="4126421"/>
            <a:ext cx="1715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единительная линия 96"/>
          <p:cNvCxnSpPr>
            <a:stCxn id="84" idx="3"/>
            <a:endCxn id="87" idx="1"/>
          </p:cNvCxnSpPr>
          <p:nvPr/>
        </p:nvCxnSpPr>
        <p:spPr>
          <a:xfrm>
            <a:off x="4214128" y="4126421"/>
            <a:ext cx="1715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>
            <a:stCxn id="93" idx="3"/>
          </p:cNvCxnSpPr>
          <p:nvPr/>
        </p:nvCxnSpPr>
        <p:spPr>
          <a:xfrm flipV="1">
            <a:off x="7273715" y="4823299"/>
            <a:ext cx="433660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92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«Недельно-суточное планирование воздействий на 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15619" y="1099215"/>
            <a:ext cx="862293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Группа 27"/>
          <p:cNvGrpSpPr/>
          <p:nvPr/>
        </p:nvGrpSpPr>
        <p:grpSpPr>
          <a:xfrm>
            <a:off x="2075964" y="3726612"/>
            <a:ext cx="1054505" cy="804201"/>
            <a:chOff x="103199" y="808239"/>
            <a:chExt cx="916520" cy="682828"/>
          </a:xfrm>
        </p:grpSpPr>
        <p:sp>
          <p:nvSpPr>
            <p:cNvPr id="29" name="Скругленный прямоугольник 2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800" dirty="0"/>
                <a:t>Ввод данных смет в заказы ТОРО и приложение скан-копии</a:t>
              </a:r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3746137" y="3725410"/>
            <a:ext cx="1054505" cy="804201"/>
            <a:chOff x="103199" y="808239"/>
            <a:chExt cx="916520" cy="682828"/>
          </a:xfrm>
        </p:grpSpPr>
        <p:sp>
          <p:nvSpPr>
            <p:cNvPr id="32" name="Скругленный прямоугольник 31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800" dirty="0"/>
                <a:t>Выравнивание плана-графика воздействий на ПА со смежными службами на уровне подразделения</a:t>
              </a:r>
            </a:p>
          </p:txBody>
        </p:sp>
      </p:grpSp>
      <p:grpSp>
        <p:nvGrpSpPr>
          <p:cNvPr id="37" name="Группа 36"/>
          <p:cNvGrpSpPr/>
          <p:nvPr/>
        </p:nvGrpSpPr>
        <p:grpSpPr>
          <a:xfrm>
            <a:off x="5416312" y="3725410"/>
            <a:ext cx="1054505" cy="804201"/>
            <a:chOff x="103199" y="808239"/>
            <a:chExt cx="916520" cy="682828"/>
          </a:xfrm>
        </p:grpSpPr>
        <p:sp>
          <p:nvSpPr>
            <p:cNvPr id="38" name="Скругленный прямоугольник 3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800" dirty="0" smtClean="0"/>
                <a:t>Определение необходимости формирования и согласования оперативного плана на неделю</a:t>
              </a:r>
              <a:endParaRPr lang="ru-RU" sz="800" kern="1200" dirty="0"/>
            </a:p>
          </p:txBody>
        </p:sp>
      </p:grpSp>
      <p:cxnSp>
        <p:nvCxnSpPr>
          <p:cNvPr id="3" name="Прямая соединительная линия 2"/>
          <p:cNvCxnSpPr>
            <a:stCxn id="29" idx="1"/>
          </p:cNvCxnSpPr>
          <p:nvPr/>
        </p:nvCxnSpPr>
        <p:spPr>
          <a:xfrm flipH="1" flipV="1">
            <a:off x="1580096" y="4127509"/>
            <a:ext cx="495868" cy="12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>
            <a:stCxn id="29" idx="3"/>
            <a:endCxn id="32" idx="1"/>
          </p:cNvCxnSpPr>
          <p:nvPr/>
        </p:nvCxnSpPr>
        <p:spPr>
          <a:xfrm flipV="1">
            <a:off x="3130469" y="4127511"/>
            <a:ext cx="615668" cy="120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>
            <a:stCxn id="32" idx="3"/>
          </p:cNvCxnSpPr>
          <p:nvPr/>
        </p:nvCxnSpPr>
        <p:spPr>
          <a:xfrm>
            <a:off x="4800642" y="4127511"/>
            <a:ext cx="615669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stCxn id="38" idx="3"/>
          </p:cNvCxnSpPr>
          <p:nvPr/>
        </p:nvCxnSpPr>
        <p:spPr>
          <a:xfrm flipV="1">
            <a:off x="6470817" y="4127509"/>
            <a:ext cx="559712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33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процесса </a:t>
            </a:r>
            <a:r>
              <a:rPr lang="ru-RU" sz="1800" dirty="0" smtClean="0"/>
              <a:t>«Недельно-суточное планирование воздействий на 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6303289" y="474246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8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86264" y="1089185"/>
            <a:ext cx="114731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2682095" y="1089185"/>
            <a:ext cx="1179482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932161" y="1089185"/>
            <a:ext cx="1226435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324018" y="1089185"/>
            <a:ext cx="128537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4" name="Группа 43"/>
          <p:cNvGrpSpPr/>
          <p:nvPr/>
        </p:nvGrpSpPr>
        <p:grpSpPr>
          <a:xfrm>
            <a:off x="165763" y="3232432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45" name="Скругленный прямоугольник 44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900" dirty="0"/>
                <a:t>Отметка о подготовке плана-графика на планируемую неделю</a:t>
              </a:r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1481237" y="3232432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53" name="Скругленный прямоугольник 5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900" dirty="0"/>
                <a:t>Согласование плана-графика старшим планировщиком</a:t>
              </a:r>
              <a:endParaRPr lang="ru-RU" sz="900" kern="1200" dirty="0"/>
            </a:p>
          </p:txBody>
        </p:sp>
      </p:grpSp>
      <p:cxnSp>
        <p:nvCxnSpPr>
          <p:cNvPr id="55" name="Прямая соединительная линия 54"/>
          <p:cNvCxnSpPr>
            <a:endCxn id="45" idx="1"/>
          </p:cNvCxnSpPr>
          <p:nvPr/>
        </p:nvCxnSpPr>
        <p:spPr>
          <a:xfrm>
            <a:off x="-210144" y="3611127"/>
            <a:ext cx="37590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45" idx="3"/>
            <a:endCxn id="54" idx="1"/>
          </p:cNvCxnSpPr>
          <p:nvPr/>
        </p:nvCxnSpPr>
        <p:spPr>
          <a:xfrm>
            <a:off x="1118155" y="3611127"/>
            <a:ext cx="38386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Группа 56"/>
          <p:cNvGrpSpPr/>
          <p:nvPr/>
        </p:nvGrpSpPr>
        <p:grpSpPr>
          <a:xfrm>
            <a:off x="2778779" y="3232432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58" name="Скругленный прямоугольник 5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00" dirty="0"/>
                <a:t>Согласование плана-графика воздействий на ПА с Главным специалистом</a:t>
              </a:r>
              <a:endParaRPr lang="ru-RU" sz="1000" kern="1200" dirty="0"/>
            </a:p>
          </p:txBody>
        </p:sp>
      </p:grpSp>
      <p:cxnSp>
        <p:nvCxnSpPr>
          <p:cNvPr id="60" name="Прямая соединительная линия 59"/>
          <p:cNvCxnSpPr>
            <a:stCxn id="53" idx="3"/>
            <a:endCxn id="58" idx="1"/>
          </p:cNvCxnSpPr>
          <p:nvPr/>
        </p:nvCxnSpPr>
        <p:spPr>
          <a:xfrm>
            <a:off x="2433629" y="3611127"/>
            <a:ext cx="3451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Группа 66"/>
          <p:cNvGrpSpPr/>
          <p:nvPr/>
        </p:nvGrpSpPr>
        <p:grpSpPr>
          <a:xfrm>
            <a:off x="4075798" y="3232432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68" name="Скругленный прямоугольник 6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9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800" dirty="0"/>
                <a:t>Отражение статуса утверждения недельного плана-графика воздействий на ПА</a:t>
              </a:r>
              <a:endParaRPr lang="ru-RU" sz="800" kern="1200" dirty="0"/>
            </a:p>
          </p:txBody>
        </p:sp>
      </p:grpSp>
      <p:cxnSp>
        <p:nvCxnSpPr>
          <p:cNvPr id="71" name="Прямая соединительная линия 70"/>
          <p:cNvCxnSpPr>
            <a:stCxn id="58" idx="3"/>
            <a:endCxn id="68" idx="1"/>
          </p:cNvCxnSpPr>
          <p:nvPr/>
        </p:nvCxnSpPr>
        <p:spPr>
          <a:xfrm>
            <a:off x="3731171" y="3611127"/>
            <a:ext cx="34462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Группа 24"/>
          <p:cNvGrpSpPr/>
          <p:nvPr/>
        </p:nvGrpSpPr>
        <p:grpSpPr>
          <a:xfrm>
            <a:off x="5278702" y="4605111"/>
            <a:ext cx="1314558" cy="735207"/>
            <a:chOff x="103199" y="808239"/>
            <a:chExt cx="916520" cy="682828"/>
          </a:xfrm>
        </p:grpSpPr>
        <p:sp>
          <p:nvSpPr>
            <p:cNvPr id="26" name="Скругленный прямоугольник 25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Принятие решения о переносе сроков заказов /корректировки заказов</a:t>
              </a:r>
              <a:endParaRPr lang="ru-RU" sz="1050" kern="1200" dirty="0"/>
            </a:p>
          </p:txBody>
        </p:sp>
      </p:grpSp>
      <p:grpSp>
        <p:nvGrpSpPr>
          <p:cNvPr id="29" name="Группа 28"/>
          <p:cNvGrpSpPr/>
          <p:nvPr/>
        </p:nvGrpSpPr>
        <p:grpSpPr>
          <a:xfrm>
            <a:off x="7299650" y="4582927"/>
            <a:ext cx="1067972" cy="779573"/>
            <a:chOff x="103199" y="808239"/>
            <a:chExt cx="916520" cy="682828"/>
          </a:xfrm>
        </p:grpSpPr>
        <p:sp>
          <p:nvSpPr>
            <p:cNvPr id="30" name="Скругленный прямоугольник 29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Корректировка состава и объема работ</a:t>
              </a:r>
              <a:endParaRPr lang="ru-RU" sz="1050" kern="1200" dirty="0"/>
            </a:p>
          </p:txBody>
        </p:sp>
      </p:grpSp>
      <p:sp>
        <p:nvSpPr>
          <p:cNvPr id="32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229180" y="1089185"/>
            <a:ext cx="3459086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Прямая соединительная линия 5"/>
          <p:cNvCxnSpPr>
            <a:stCxn id="26" idx="3"/>
            <a:endCxn id="30" idx="1"/>
          </p:cNvCxnSpPr>
          <p:nvPr/>
        </p:nvCxnSpPr>
        <p:spPr>
          <a:xfrm flipV="1">
            <a:off x="6593260" y="4972714"/>
            <a:ext cx="706390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>
            <a:stCxn id="30" idx="3"/>
          </p:cNvCxnSpPr>
          <p:nvPr/>
        </p:nvCxnSpPr>
        <p:spPr>
          <a:xfrm>
            <a:off x="8367622" y="4972714"/>
            <a:ext cx="508959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66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шагов </a:t>
            </a:r>
            <a:r>
              <a:rPr lang="ru-RU" sz="1600" dirty="0" smtClean="0"/>
              <a:t>«Календарное планирование планов на ЕТО» и «Создание заказов на ЕТО из планов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Календарное планирование планов на ЕТО</a:t>
              </a:r>
              <a:br>
                <a:rPr lang="ru-RU" sz="1600" dirty="0" smtClean="0"/>
              </a:br>
              <a:r>
                <a:rPr lang="ru-RU" sz="1600" dirty="0" smtClean="0"/>
                <a:t>Создание заказов на ЕТО из планов ТОРО</a:t>
              </a:r>
              <a:endParaRPr lang="ru-RU" sz="1600" dirty="0"/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3151861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Планировщик </a:t>
            </a:r>
            <a:r>
              <a:rPr lang="ru-RU" sz="1100" dirty="0" err="1"/>
              <a:t>ТОиР</a:t>
            </a:r>
            <a:r>
              <a:rPr lang="ru-RU" sz="1100" dirty="0"/>
              <a:t> осуществляет календарное планирование ЕТО и формирует заказы на ЕТО на планируемую неделю.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31199" y="3487542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Реестр планов ТОРО на ЕТО (актуальные нормативы) (системный)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осуществляет в системе календарное планирование (распределение сроков) ЕТО. По результатам календарного планирования в системе формируется реестр планов ТОРО с рассчитанными сроками проведения воздействий на ПА, на основе которых Планировщик </a:t>
            </a:r>
            <a:r>
              <a:rPr lang="ru-RU" sz="1400" dirty="0" err="1"/>
              <a:t>ТОиР</a:t>
            </a:r>
            <a:r>
              <a:rPr lang="ru-RU" sz="1400" dirty="0"/>
              <a:t> формирует заказы на ЕТО.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57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«Актуализация сроков плановых заказов по наработке»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Актуализация сроков плановых заказов по наработке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75848" y="2197842"/>
            <a:ext cx="18293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Актуализированные по срокам:</a:t>
            </a:r>
          </a:p>
          <a:p>
            <a:pPr lvl="0"/>
            <a:r>
              <a:rPr lang="ru-RU" sz="1100" dirty="0"/>
              <a:t>Заказы ТОРО со статусом «УТВМ, МЕС – утвержден на месячном горизонте, включен в месячный план-график»</a:t>
            </a:r>
          </a:p>
          <a:p>
            <a:pPr lvl="0"/>
            <a:r>
              <a:rPr lang="ru-RU" sz="1100" dirty="0"/>
              <a:t>Внеплановые заказы ТОРО со статусами «СГГС, ДЕБЛ – согласовано главным специалистом, деблокирован»</a:t>
            </a:r>
          </a:p>
          <a:p>
            <a:pPr lvl="0"/>
            <a:r>
              <a:rPr lang="ru-RU" sz="1100" dirty="0"/>
              <a:t>Заказы ТОРО со статусами «ПЛАН, НПРН – планируется, работы не приняты»</a:t>
            </a:r>
          </a:p>
          <a:p>
            <a:pPr lvl="0"/>
            <a:r>
              <a:rPr lang="ru-RU" sz="1100" dirty="0"/>
              <a:t>Заказы ТОРО со статусами «ПЛАН, ЧПДТ – планируется, частично подтверждено»</a:t>
            </a:r>
          </a:p>
          <a:p>
            <a:r>
              <a:rPr lang="ru-RU" sz="1100" dirty="0"/>
              <a:t>Заказы ТОРО со статусами «ПЛАН, УТВН – планируется, утвержден в недельном плане»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41851" y="2197842"/>
            <a:ext cx="182939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Заказы ТОРО со статусом «УТВМ, МЕС – утвержден на месячном горизонте, включен в месячный план-график»</a:t>
            </a:r>
          </a:p>
          <a:p>
            <a:pPr lvl="0"/>
            <a:r>
              <a:rPr lang="ru-RU" sz="1100" dirty="0"/>
              <a:t>Внеплановые заказы ТОРО со статусами «СГГС, ДЕБЛ – согласовано главным специалистом, деблокирован»</a:t>
            </a:r>
          </a:p>
          <a:p>
            <a:pPr lvl="0"/>
            <a:r>
              <a:rPr lang="ru-RU" sz="1100" dirty="0"/>
              <a:t>Заказы ТОРО со статусами «ПЛАН, НПРН – планируется, работы не приняты»</a:t>
            </a:r>
          </a:p>
          <a:p>
            <a:pPr lvl="0"/>
            <a:r>
              <a:rPr lang="ru-RU" sz="1100" dirty="0"/>
              <a:t>Заказы ТОРО со статусами «ПЛАН, ЧПДТ – планируется, частично подтверждено»</a:t>
            </a:r>
          </a:p>
          <a:p>
            <a:r>
              <a:rPr lang="ru-RU" sz="1100" dirty="0"/>
              <a:t>Заказы ТОРО со статусами «ПЛАН, УТВН – планируется, утвержден в недельном плане»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актуализирует сроки запланированных Заказов на основе наработки оборудования.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20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«Формирование план-графика воздействий на ПА на неделю»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Формирование план-графика воздействий на ПА на неделю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70191" y="2924301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со статусами «ПЛАН, НЕД – планируется, включен в недельный план-график»</a:t>
            </a:r>
          </a:p>
          <a:p>
            <a:r>
              <a:rPr lang="ru-RU" sz="1100" dirty="0"/>
              <a:t>План-график воздействий на ПА на неделю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0" y="2342388"/>
            <a:ext cx="18293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Актуализированные по срокам:</a:t>
            </a:r>
          </a:p>
          <a:p>
            <a:pPr lvl="0"/>
            <a:r>
              <a:rPr lang="ru-RU" sz="1100" dirty="0"/>
              <a:t>Заказы ТОРО со статусом «УТВМ, МЕС – утвержден на месячном горизонте, включен в месячный план-график»</a:t>
            </a:r>
          </a:p>
          <a:p>
            <a:pPr lvl="0"/>
            <a:r>
              <a:rPr lang="ru-RU" sz="1100" dirty="0"/>
              <a:t>Внеплановые заказы ТОРО со статусами «СГГС, ДЕБЛ – согласовано главным специалистом, деблокирован»</a:t>
            </a:r>
          </a:p>
          <a:p>
            <a:pPr lvl="0"/>
            <a:r>
              <a:rPr lang="ru-RU" sz="1100" dirty="0"/>
              <a:t>Заказы ТОРО со статусами «ПЛАН, НПРН – планируется, работы не приняты»</a:t>
            </a:r>
          </a:p>
          <a:p>
            <a:pPr lvl="0"/>
            <a:r>
              <a:rPr lang="ru-RU" sz="1100" dirty="0"/>
              <a:t>Заказы ТОРО со статусами «ПЛАН, ЧПДТ – планируется, частично подтверждено»</a:t>
            </a:r>
          </a:p>
          <a:p>
            <a:r>
              <a:rPr lang="ru-RU" sz="1100" dirty="0"/>
              <a:t>Заказы ТОРО со статусами «ПЛАН, УТВН – планируется, утвержден в недельном плане»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формирует в Системе план-график воздействий на ПА на неделю. Для этого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выбирает заказы на даты планируемой недели и формирует план-график воздействий на ПА на неделю с помощью «АРМ планировщика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».</a:t>
            </a:r>
            <a:b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</a:b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После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формирования плана-графика,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в «АРМ планировщика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» массово устанавливает статус «НЕД».</a:t>
            </a:r>
          </a:p>
        </p:txBody>
      </p:sp>
    </p:spTree>
    <p:extLst>
      <p:ext uri="{BB962C8B-B14F-4D97-AF65-F5344CB8AC3E}">
        <p14:creationId xmlns:p14="http://schemas.microsoft.com/office/powerpoint/2010/main" val="199886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«Проверка доступности МТР» и «Замена МТР в заказах»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Проверка доступности МТР</a:t>
              </a:r>
              <a:br>
                <a:rPr lang="ru-RU" sz="1600" dirty="0" smtClean="0"/>
              </a:br>
              <a:r>
                <a:rPr lang="ru-RU" sz="1600" dirty="0" smtClean="0"/>
                <a:t>Замена МТР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70191" y="2924301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со статусами «ПЛАН, НЕД – планируется, включен в недельный план-график»</a:t>
            </a:r>
          </a:p>
          <a:p>
            <a:r>
              <a:rPr lang="ru-RU" sz="1100" dirty="0"/>
              <a:t>План-график воздействий на ПА на неделю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34030" y="3229391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со статусами «ПЛАН, НЕД – планируется, включен в недельный план-график»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анализирует доступность МТР по запланированным на неделю воздействиям на ПА, а также проверяет наличие установленных плановых цен МТР.</a:t>
            </a:r>
          </a:p>
          <a:p>
            <a:r>
              <a:rPr lang="ru-RU" sz="1400" dirty="0"/>
              <a:t>При выявлении недоступности МТР осуществляется замена МТР на аналоги.</a:t>
            </a:r>
          </a:p>
          <a:p>
            <a:r>
              <a:rPr lang="ru-RU" sz="1400" dirty="0"/>
              <a:t>В случае невозможности замены на аналоги осуществляется </a:t>
            </a:r>
            <a:r>
              <a:rPr lang="ru-RU" sz="1400" dirty="0" err="1"/>
              <a:t>перерезервирование</a:t>
            </a:r>
            <a:r>
              <a:rPr lang="ru-RU" sz="1400" dirty="0"/>
              <a:t> МТР с других заказов с учетом приоритетов потребности.</a:t>
            </a:r>
          </a:p>
          <a:p>
            <a:r>
              <a:rPr lang="ru-RU" sz="1400" dirty="0"/>
              <a:t>При невозможности замены МТР, осуществляется корректировка срока заказов</a:t>
            </a:r>
            <a:r>
              <a:rPr lang="ru-RU" sz="1400" b="1" dirty="0"/>
              <a:t>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73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«Балансировка ресурсов собственного персонала»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Проверка доступности МТР</a:t>
              </a:r>
              <a:br>
                <a:rPr lang="ru-RU" sz="1600" dirty="0" smtClean="0"/>
              </a:br>
              <a:r>
                <a:rPr lang="ru-RU" sz="1600" dirty="0" smtClean="0"/>
                <a:t>Замена МТР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4604" y="2758788"/>
            <a:ext cx="1829396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НЕД, БЛНС – планируется, включен в недельный план-график, выполнена балансировка ресурсов»</a:t>
            </a:r>
          </a:p>
          <a:p>
            <a:pPr lvl="0"/>
            <a:r>
              <a:rPr lang="ru-RU" sz="1100" dirty="0"/>
              <a:t>Заказ ТОРО со статусами «ПЛАН, НЕД, ИСПК – планируется, включен в недельный план-график, требуется заменить исполнителей»</a:t>
            </a:r>
          </a:p>
          <a:p>
            <a:r>
              <a:rPr lang="ru-RU" sz="1100" dirty="0"/>
              <a:t>Заказ ТОРО со статусами «ПЛАН, НЕД, ТРОС – планируется, включен в недельный план-график, требуется </a:t>
            </a:r>
            <a:r>
              <a:rPr lang="ru-RU" sz="1100" dirty="0" err="1"/>
              <a:t>осмечивание</a:t>
            </a:r>
            <a:r>
              <a:rPr lang="ru-RU" sz="1100" dirty="0"/>
              <a:t>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34030" y="3229391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со статусами «ПЛАН, НЕД – планируется, включен в недельный план-график» 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назначает исполнителей на планируемые работы и анализирует уровень их загрузки.</a:t>
            </a:r>
          </a:p>
          <a:p>
            <a:r>
              <a:rPr lang="ru-RU" sz="1400" dirty="0"/>
              <a:t>При выявлении недоступности исполнителей осуществляет балансировку ресурсов исполнителей. При невозможности балансировки ресурсов собственных исполнителей осуществляется замена на ресурсы подрядной организации (при возможности).</a:t>
            </a:r>
          </a:p>
          <a:p>
            <a:r>
              <a:rPr lang="ru-RU" sz="1400" dirty="0"/>
              <a:t>При невозможности замены исполнителей осуществляется корректировка срока заказов.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86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«Балансировка ресурсов собственного персонала»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Балансировка ресурсов собственного персонала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4604" y="2758788"/>
            <a:ext cx="1829396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НЕД, БЛНС – планируется, включен в недельный план-график, выполнена балансировка ресурсов»</a:t>
            </a:r>
          </a:p>
          <a:p>
            <a:pPr lvl="0"/>
            <a:r>
              <a:rPr lang="ru-RU" sz="1100" dirty="0"/>
              <a:t>Заказ ТОРО со статусами «ПЛАН, НЕД, ИСПК – планируется, включен в недельный план-график, требуется заменить исполнителей»</a:t>
            </a:r>
          </a:p>
          <a:p>
            <a:r>
              <a:rPr lang="ru-RU" sz="1100" dirty="0"/>
              <a:t>Заказ ТОРО со статусами «ПЛАН, НЕД, ТРОС – планируется, включен в недельный план-график, требуется </a:t>
            </a:r>
            <a:r>
              <a:rPr lang="ru-RU" sz="1100" dirty="0" err="1"/>
              <a:t>осмечивание</a:t>
            </a:r>
            <a:r>
              <a:rPr lang="ru-RU" sz="1100" dirty="0"/>
              <a:t>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34030" y="3229391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со статусами «ПЛАН, НЕД – планируется, включен в недельный план-график» 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назначает исполнителей на планируемые работы и анализирует уровень их загрузки.</a:t>
            </a:r>
          </a:p>
          <a:p>
            <a:r>
              <a:rPr lang="ru-RU" sz="1400" dirty="0"/>
              <a:t>При выявлении недоступности исполнителей осуществляет балансировку ресурсов исполнителей. При невозможности балансировки ресурсов собственных исполнителей осуществляется замена на ресурсы подрядной организации (при возможности).</a:t>
            </a:r>
          </a:p>
          <a:p>
            <a:r>
              <a:rPr lang="ru-RU" sz="1400" dirty="0"/>
              <a:t>При невозможности замены исполнителей осуществляется корректировка срока заказов.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00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«Корректировка сроков (в рамках планируемой недели)</a:t>
            </a:r>
            <a:r>
              <a:rPr lang="ru-RU" sz="1600" dirty="0" smtClean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Балансировка ресурсов собственного персонала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19372" y="3309769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НЕД – планируется, включен в недельный план-график»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0" y="2743920"/>
            <a:ext cx="182939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Заказы ТОРО со статусами «ПЛАН, НЕД, ИСПК – планируется, включен в недельный план-график, требуется заменить исполнителей»</a:t>
            </a:r>
          </a:p>
          <a:p>
            <a:pPr lvl="0"/>
            <a:r>
              <a:rPr lang="ru-RU" sz="1100" dirty="0"/>
              <a:t>Заказ ТОРО со статусами «ПЛАН, НЕД, НМАТ – планируется, включен в недельный план-график, нет материалов»</a:t>
            </a:r>
          </a:p>
          <a:p>
            <a:r>
              <a:rPr lang="ru-RU" sz="1100" dirty="0"/>
              <a:t>Заказ ТОРО со статусами «ПЛАН, НЕД, МТРН – планируется, включен в недельный план-график, МТР не оценены»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корректирует сроки заказов и повторно выполняет проверку доступности ресурсов.</a:t>
            </a:r>
          </a:p>
          <a:p>
            <a:r>
              <a:rPr lang="ru-RU" sz="1400" dirty="0"/>
              <a:t>При невозможности корректировки сроков в рамках планируемой недели, инициируется корректировка заказов.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26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«Замена исполнителя</a:t>
            </a:r>
            <a:r>
              <a:rPr lang="ru-RU" sz="1600" dirty="0" smtClean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Замена исполнителя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19372" y="3309769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НЕД – планируется, включен в недельный план-график»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698" y="2294106"/>
            <a:ext cx="18293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НЕД, НМАТ – планируется, включен в недельный план-график, нет материалов»</a:t>
            </a:r>
          </a:p>
          <a:p>
            <a:r>
              <a:rPr lang="ru-RU" sz="1100" dirty="0"/>
              <a:t>Заказ ТОРО со статусами «ПЛАН, НЕД, МТРН – планируется, включен в недельный план-график, МТР не оценены»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осуществляет замену исполнителей в Заказах при возможности.</a:t>
            </a:r>
          </a:p>
          <a:p>
            <a:r>
              <a:rPr lang="ru-RU" sz="1400" dirty="0" smtClean="0"/>
              <a:t>При </a:t>
            </a:r>
            <a:r>
              <a:rPr lang="ru-RU" sz="1400" dirty="0"/>
              <a:t>невозможности замены исполнителей осуществляется корректировка заказа.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51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«Ввод данных смет в заказы ТОРО и приложение </a:t>
            </a:r>
            <a:r>
              <a:rPr lang="ru-RU" sz="1600" dirty="0" smtClean="0"/>
              <a:t>скан-копии»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2955938" y="2281661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Ввод данных смет в заказы ТОРО и приложение скан-копии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448201" y="3361745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68814" y="2084472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767171"/>
                </a:solidFill>
              </a:rPr>
              <a:t>Заказ ТОРО </a:t>
            </a:r>
            <a:r>
              <a:rPr lang="ru-RU" sz="1100" dirty="0" smtClean="0">
                <a:solidFill>
                  <a:srgbClr val="767171"/>
                </a:solidFill>
              </a:rPr>
              <a:t>в статусах «ПЛАН», «НЕД», «ОСМЧ» </a:t>
            </a:r>
            <a:r>
              <a:rPr lang="ru-RU" sz="1100" dirty="0">
                <a:solidFill>
                  <a:srgbClr val="767171"/>
                </a:solidFill>
              </a:rPr>
              <a:t>– планируется, заказ включен </a:t>
            </a:r>
            <a:r>
              <a:rPr lang="ru-RU" sz="1100" dirty="0" smtClean="0">
                <a:solidFill>
                  <a:srgbClr val="767171"/>
                </a:solidFill>
              </a:rPr>
              <a:t>в недельную </a:t>
            </a:r>
            <a:r>
              <a:rPr lang="ru-RU" sz="1100" dirty="0">
                <a:solidFill>
                  <a:srgbClr val="767171"/>
                </a:solidFill>
              </a:rPr>
              <a:t>программу ППА, заказ </a:t>
            </a:r>
            <a:r>
              <a:rPr lang="ru-RU" sz="1100" dirty="0" err="1">
                <a:solidFill>
                  <a:srgbClr val="767171"/>
                </a:solidFill>
              </a:rPr>
              <a:t>осмечен</a:t>
            </a:r>
            <a:r>
              <a:rPr lang="ru-RU" sz="1100" dirty="0" smtClean="0">
                <a:solidFill>
                  <a:srgbClr val="767171"/>
                </a:solidFill>
              </a:rPr>
              <a:t>)</a:t>
            </a:r>
            <a:endParaRPr lang="ru-RU" sz="1100" dirty="0">
              <a:solidFill>
                <a:srgbClr val="767171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2027208" y="3342047"/>
            <a:ext cx="92873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7194" y="2241748"/>
            <a:ext cx="1829396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solidFill>
                  <a:srgbClr val="595959"/>
                </a:solidFill>
              </a:rPr>
              <a:t>Заказ ТОРО </a:t>
            </a:r>
            <a:r>
              <a:rPr lang="ru-RU" sz="1050" dirty="0" smtClean="0">
                <a:solidFill>
                  <a:srgbClr val="595959"/>
                </a:solidFill>
              </a:rPr>
              <a:t>в статусах «ПЛАН», «НЕД», «ТРОС» </a:t>
            </a:r>
            <a:r>
              <a:rPr lang="ru-RU" sz="1050" dirty="0">
                <a:solidFill>
                  <a:srgbClr val="595959"/>
                </a:solidFill>
              </a:rPr>
              <a:t>– планируется, заказ включен в </a:t>
            </a:r>
            <a:r>
              <a:rPr lang="ru-RU" sz="1050" dirty="0" smtClean="0">
                <a:solidFill>
                  <a:srgbClr val="595959"/>
                </a:solidFill>
              </a:rPr>
              <a:t>недельную </a:t>
            </a:r>
            <a:r>
              <a:rPr lang="ru-RU" sz="1050" dirty="0">
                <a:solidFill>
                  <a:srgbClr val="595959"/>
                </a:solidFill>
              </a:rPr>
              <a:t>программу ППА, требуется </a:t>
            </a:r>
            <a:r>
              <a:rPr lang="ru-RU" sz="1050" dirty="0" err="1">
                <a:solidFill>
                  <a:srgbClr val="595959"/>
                </a:solidFill>
              </a:rPr>
              <a:t>осмечивание</a:t>
            </a:r>
            <a:r>
              <a:rPr lang="ru-RU" sz="1050" dirty="0">
                <a:solidFill>
                  <a:srgbClr val="595959"/>
                </a:solidFill>
              </a:rPr>
              <a:t>)</a:t>
            </a:r>
          </a:p>
          <a:p>
            <a:r>
              <a:rPr lang="ru-RU" sz="1050" dirty="0" smtClean="0">
                <a:solidFill>
                  <a:srgbClr val="595959"/>
                </a:solidFill>
              </a:rPr>
              <a:t>Плановая </a:t>
            </a:r>
            <a:r>
              <a:rPr lang="ru-RU" sz="1050" dirty="0">
                <a:solidFill>
                  <a:srgbClr val="595959"/>
                </a:solidFill>
              </a:rPr>
              <a:t>цена (системный документ)</a:t>
            </a:r>
          </a:p>
          <a:p>
            <a:r>
              <a:rPr lang="ru-RU" sz="1050" dirty="0">
                <a:solidFill>
                  <a:srgbClr val="595959"/>
                </a:solidFill>
              </a:rPr>
              <a:t>Смета (несистемный документ)</a:t>
            </a:r>
          </a:p>
          <a:p>
            <a:r>
              <a:rPr lang="ru-RU" sz="1050" dirty="0">
                <a:solidFill>
                  <a:srgbClr val="595959"/>
                </a:solidFill>
              </a:rPr>
              <a:t>ТКП (несистемный документ)</a:t>
            </a:r>
          </a:p>
          <a:p>
            <a:r>
              <a:rPr lang="ru-RU" sz="1050" dirty="0">
                <a:solidFill>
                  <a:srgbClr val="595959"/>
                </a:solidFill>
              </a:rPr>
              <a:t>Дефектная ведомость (несистемный документ)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на основании сметы вводит объем необходимых работ в заказ ТОРО на вкладке «Компоненты» в поле «Объем потребности», в поле «Количество» вводит общую плановую стоимость услуги, в поле «Единица измерения» указывается «СТМ – стоимость».</a:t>
            </a:r>
          </a:p>
        </p:txBody>
      </p:sp>
    </p:spTree>
    <p:extLst>
      <p:ext uri="{BB962C8B-B14F-4D97-AF65-F5344CB8AC3E}">
        <p14:creationId xmlns:p14="http://schemas.microsoft.com/office/powerpoint/2010/main" val="2988908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«</a:t>
            </a:r>
            <a:r>
              <a:rPr lang="ru-RU" sz="1600" dirty="0"/>
              <a:t>Выравнивание плана-графика воздействий на ПА со смежными службами на уровне </a:t>
            </a:r>
            <a:r>
              <a:rPr lang="ru-RU" sz="1600" dirty="0" smtClean="0"/>
              <a:t>подразделения» и «Балансировка ВПС»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Синхронизация со смежными службами</a:t>
              </a:r>
              <a:br>
                <a:rPr lang="ru-RU" sz="1600" dirty="0" smtClean="0"/>
              </a:br>
              <a:r>
                <a:rPr lang="ru-RU" sz="1600" dirty="0" smtClean="0"/>
                <a:t>Балансировка ВПС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987104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33117" y="2235209"/>
            <a:ext cx="1829396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НЕД, СИНХ – планируется, включен в недельный план-график, синхронизирован»</a:t>
            </a:r>
          </a:p>
          <a:p>
            <a:pPr lvl="0"/>
            <a:r>
              <a:rPr lang="ru-RU" sz="1100" dirty="0"/>
              <a:t>Заказ ТОРО со статусами «ПЛАН, НЕД, ТРСХ – планируется, включен в недельный план-график, заказу присвоен ранг, требуется синхронизация»</a:t>
            </a:r>
          </a:p>
          <a:p>
            <a:pPr lvl="0"/>
            <a:r>
              <a:rPr lang="ru-RU" sz="1100" dirty="0"/>
              <a:t>Заказ ТОРО со статусами «ПЛАН, НЕД, ВПС – планируется, включен в недельный план-график, заказу присвоен ранг, ВПС сбалансированы по подразделению»</a:t>
            </a:r>
          </a:p>
          <a:p>
            <a:r>
              <a:rPr lang="ru-RU" sz="1100" dirty="0"/>
              <a:t>Заказ ТОРО со статусами «ПЛАН, НЕД, ВПСС – планируется, включен в недельный план-график, заказу присвоен ранг, ВПС сбалансированы со смежными заказами»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13476" y="2884905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НЕД, БЛНС – планируется, включен в недельный план-график, выполнена балансировка ресурсов»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Синхронизация план-графика воздействий на ПА различными службами на уровне подразделения при наличии заказов на критичное и высококритичное оборудование для снижения общего времени простоя ПА на время ремонта, а также проведение балансировки мощностей ВПС при необходимости.</a:t>
            </a:r>
          </a:p>
          <a:p>
            <a:r>
              <a:rPr lang="ru-RU" sz="1400" dirty="0"/>
              <a:t>При невозможности синхронизации плана-графика или балансировки ВПС инициируется корректировка заказов.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96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«</a:t>
            </a:r>
            <a:r>
              <a:rPr lang="ru-RU" sz="1600" dirty="0"/>
              <a:t>Определение необходимости формирования и согласования оперативного плана на </a:t>
            </a:r>
            <a:r>
              <a:rPr lang="ru-RU" sz="1600" dirty="0" smtClean="0"/>
              <a:t>неделю»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Определение необходимости формирования и согласования оперативного плана на неделю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987104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93502" y="2884905"/>
            <a:ext cx="1829396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«НЕД, СГПЛ – отправлен на согласование Планировщиком </a:t>
            </a:r>
            <a:r>
              <a:rPr lang="ru-RU" sz="1100" dirty="0" err="1"/>
              <a:t>ТОиР</a:t>
            </a:r>
            <a:r>
              <a:rPr lang="ru-RU" sz="1100" dirty="0"/>
              <a:t>, включен в недельный план-график»</a:t>
            </a:r>
          </a:p>
          <a:p>
            <a:pPr lvl="0"/>
            <a:r>
              <a:rPr lang="ru-RU" sz="1100" dirty="0"/>
              <a:t>План-график воздействий на ПА на неделю (системный)</a:t>
            </a:r>
          </a:p>
          <a:p>
            <a:r>
              <a:rPr lang="ru-RU" sz="1100" dirty="0"/>
              <a:t>Подтверждение планируемого проведения ремонта для Производства (несистемный)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13476" y="2884905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НЕД – планируется,  включен в недельный план-график»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определяет необходимость формирования и согласования оперативного плана-графика на неделю. При необходимости формирования и согласования плана-графика, Планировщик </a:t>
            </a:r>
            <a:r>
              <a:rPr lang="ru-RU" sz="1400" dirty="0" err="1"/>
              <a:t>ТОиР</a:t>
            </a:r>
            <a:r>
              <a:rPr lang="ru-RU" sz="1400" dirty="0"/>
              <a:t> устанавливает на заказах статус «СГПЛ» и извещает Старшего планировщика </a:t>
            </a:r>
            <a:r>
              <a:rPr lang="ru-RU" sz="1400" dirty="0" err="1"/>
              <a:t>ТОиР</a:t>
            </a:r>
            <a:r>
              <a:rPr lang="ru-RU" sz="1400" dirty="0"/>
              <a:t> о необходимости согласования плана-графика воздействий на ПА на следующую неделю. </a:t>
            </a:r>
          </a:p>
          <a:p>
            <a:r>
              <a:rPr lang="ru-RU" sz="1400" dirty="0"/>
              <a:t>При ежесуточном планировании данный шаг не выполняется.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712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88935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СГПЛ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</a:t>
            </a:r>
            <a:r>
              <a:rPr lang="ru-RU" sz="1600" dirty="0" smtClean="0"/>
              <a:t>недельно-суточном горизонте»</a:t>
            </a:r>
            <a:endParaRPr lang="ru-RU" sz="16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СГПЛ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</a:t>
              </a:r>
              <a:r>
                <a:rPr lang="ru-RU" sz="1600" dirty="0" smtClean="0"/>
                <a:t>недельно-суточном горизонте</a:t>
              </a:r>
              <a:endParaRPr lang="ru-RU" sz="1600" dirty="0"/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3455676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Установлен пользовательский статус </a:t>
            </a:r>
            <a:r>
              <a:rPr lang="ru-RU" sz="1100" dirty="0" smtClean="0">
                <a:solidFill>
                  <a:srgbClr val="595959"/>
                </a:solidFill>
              </a:rPr>
              <a:t>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ТОИР БЕ ГОК устанавливает на заказах ТОРО статус «СГПЛ – согласовано планировщиком», и извещает Старшего планировщика </a:t>
            </a:r>
            <a:r>
              <a:rPr lang="ru-RU" sz="1400" dirty="0" err="1"/>
              <a:t>ТОиР</a:t>
            </a:r>
            <a:r>
              <a:rPr lang="ru-RU" sz="1400" dirty="0"/>
              <a:t> БЕ ГОК о необходимости согласования плана-графика воздействий на ПА </a:t>
            </a:r>
            <a:r>
              <a:rPr lang="ru-RU" sz="1400" dirty="0" smtClean="0"/>
              <a:t>на неделю.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46931" y="3682118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на согласование 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57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ССПЛ 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</a:t>
            </a:r>
            <a:r>
              <a:rPr lang="ru-RU" sz="1600" dirty="0" smtClean="0"/>
              <a:t>недельно-суточном </a:t>
            </a:r>
            <a:r>
              <a:rPr lang="ru-RU" sz="1600" dirty="0"/>
              <a:t>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ССПЛ 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</a:t>
              </a:r>
              <a:r>
                <a:rPr lang="ru-RU" sz="1600" dirty="0" smtClean="0"/>
                <a:t>недельно-суточном </a:t>
              </a:r>
              <a:r>
                <a:rPr lang="ru-RU" sz="1600" dirty="0"/>
                <a:t>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случае отсутствия замечаний, 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согласовывает недельный </a:t>
            </a:r>
            <a:r>
              <a:rPr lang="ru-RU" sz="1400" dirty="0"/>
              <a:t>план-график воздействий на ПА и устанавливает соответствующий статус Заказа ТОРО («ССПЛ - </a:t>
            </a:r>
            <a:r>
              <a:rPr lang="ru-RU" sz="1400" dirty="0" err="1"/>
              <a:t>Cогласовано</a:t>
            </a:r>
            <a:r>
              <a:rPr lang="ru-RU" sz="1400" dirty="0"/>
              <a:t> старшим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»), после чего Заказы ТОРО блокируются для изменения/корректировок. </a:t>
            </a:r>
          </a:p>
        </p:txBody>
      </p:sp>
    </p:spTree>
    <p:extLst>
      <p:ext uri="{BB962C8B-B14F-4D97-AF65-F5344CB8AC3E}">
        <p14:creationId xmlns:p14="http://schemas.microsoft.com/office/powerpoint/2010/main" val="274356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СГГС Главным специалистом на </a:t>
            </a:r>
            <a:r>
              <a:rPr lang="ru-RU" sz="1600" dirty="0" smtClean="0"/>
              <a:t>недельно-суточном горизонте»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СГГС Главным специалистом на </a:t>
              </a:r>
              <a:r>
                <a:rPr lang="ru-RU" sz="1600" dirty="0" smtClean="0"/>
                <a:t>недельно-суточном </a:t>
              </a:r>
              <a:r>
                <a:rPr lang="ru-RU" sz="1600" dirty="0"/>
                <a:t>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«ССГС»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случае отсутствия замечаний, Главный специалист </a:t>
            </a:r>
            <a:r>
              <a:rPr lang="ru-RU" sz="1400" dirty="0" err="1"/>
              <a:t>ТОиР</a:t>
            </a:r>
            <a:r>
              <a:rPr lang="ru-RU" sz="1400" dirty="0"/>
              <a:t> БЕ ГОК согласует план-график воздействий на ПА, путем установки статуса «СГГС - согласовано главным специалистом». В случае наличия замечаний, устанавливает на заказах статус «КОРР – заказ требует корректировки». При этом происходит автоматическое сбрасывание статуса на «План - планируется»</a:t>
            </a:r>
          </a:p>
        </p:txBody>
      </p:sp>
    </p:spTree>
    <p:extLst>
      <p:ext uri="{BB962C8B-B14F-4D97-AF65-F5344CB8AC3E}">
        <p14:creationId xmlns:p14="http://schemas.microsoft.com/office/powerpoint/2010/main" val="143520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</a:t>
            </a:r>
            <a:r>
              <a:rPr lang="ru-RU" sz="1600" dirty="0" smtClean="0"/>
              <a:t>УТВН </a:t>
            </a:r>
            <a:r>
              <a:rPr lang="ru-RU" sz="1600" dirty="0"/>
              <a:t>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</a:t>
            </a:r>
            <a:r>
              <a:rPr lang="ru-RU" sz="1600" dirty="0" smtClean="0"/>
              <a:t>недельно-суточном горизонте</a:t>
            </a:r>
            <a:r>
              <a:rPr lang="ru-RU" sz="1600" dirty="0"/>
              <a:t>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</a:t>
              </a:r>
              <a:r>
                <a:rPr lang="ru-RU" sz="1600" dirty="0" smtClean="0"/>
                <a:t>УТВН </a:t>
              </a:r>
              <a:r>
                <a:rPr lang="ru-RU" sz="1600" dirty="0"/>
                <a:t>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</a:t>
              </a:r>
              <a:r>
                <a:rPr lang="ru-RU" sz="1600" dirty="0" smtClean="0"/>
                <a:t>недельно-суточном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Согласованные заказы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«УТВН»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устанавливает </a:t>
            </a:r>
            <a:r>
              <a:rPr lang="ru-RU" sz="1400" dirty="0"/>
              <a:t>на заказах ТОРО статус «</a:t>
            </a:r>
            <a:r>
              <a:rPr lang="ru-RU" sz="1400" dirty="0" smtClean="0"/>
              <a:t>УТВН </a:t>
            </a:r>
            <a:r>
              <a:rPr lang="ru-RU" sz="1400" dirty="0"/>
              <a:t>- утвержден </a:t>
            </a:r>
            <a:r>
              <a:rPr lang="ru-RU" sz="1400" dirty="0" smtClean="0"/>
              <a:t>в недельном плане», </a:t>
            </a:r>
            <a:r>
              <a:rPr lang="ru-RU" sz="1400" dirty="0"/>
              <a:t>а при выявлении замечаний инициирует соответствующие корректировки (сроков, объемов работ). </a:t>
            </a:r>
          </a:p>
        </p:txBody>
      </p:sp>
    </p:spTree>
    <p:extLst>
      <p:ext uri="{BB962C8B-B14F-4D97-AF65-F5344CB8AC3E}">
        <p14:creationId xmlns:p14="http://schemas.microsoft.com/office/powerpoint/2010/main" val="11812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«</a:t>
            </a:r>
            <a:r>
              <a:rPr lang="ru-RU" sz="1600" dirty="0" smtClean="0"/>
              <a:t>Корректировка состава и объема работ»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Корректировка состава и объема работ</a:t>
              </a:r>
              <a:endParaRPr lang="ru-RU" sz="1600" dirty="0"/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987104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93502" y="2884905"/>
            <a:ext cx="182939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статусом «ПЛАН, НЕД – планируется, включен в недельный план-график» (перенесенные на следующий год)</a:t>
            </a:r>
          </a:p>
          <a:p>
            <a:pPr lvl="0"/>
            <a:r>
              <a:rPr lang="ru-RU" sz="1100" dirty="0"/>
              <a:t>Заказ ТОРО со статусами «ПЛАН, НЕД – планируется, включен в недельный план-график» (перенесенные на следующий месяц)</a:t>
            </a:r>
          </a:p>
          <a:p>
            <a:r>
              <a:rPr lang="ru-RU" sz="1100" dirty="0"/>
              <a:t>Заказ ТОРО со статусом «ПЛАН, НЕД – планируется, включен в недельный план-график»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79762" y="2212045"/>
            <a:ext cx="1829396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1100" dirty="0"/>
              <a:t>Заказ ТОРО со статусами «ПЛАН, НЕД, КОРР – планируется, включен в недельный план-график, заказ требует корректировки»</a:t>
            </a:r>
          </a:p>
          <a:p>
            <a:pPr lvl="0"/>
            <a:r>
              <a:rPr lang="ru-RU" sz="1100" dirty="0"/>
              <a:t>Заказ ТОРО со статусами «ПЛАН, НЕД, ТРСХ – планируется, включен в недельный план-график, требуется синхронизация»</a:t>
            </a:r>
          </a:p>
          <a:p>
            <a:pPr lvl="0"/>
            <a:r>
              <a:rPr lang="ru-RU" sz="1100" dirty="0"/>
              <a:t>Заказ ТОРО со статусами «ПЛАН, НЕД, ТРКБ – планируется, включен в недельный план-график, требуется корректировка бюджета» </a:t>
            </a:r>
          </a:p>
          <a:p>
            <a:r>
              <a:rPr lang="ru-RU" sz="1100" dirty="0"/>
              <a:t>Лист замечаний (несистемный)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осуществляет следующие действия:</a:t>
            </a:r>
          </a:p>
          <a:p>
            <a:pPr lvl="0"/>
            <a:r>
              <a:rPr lang="ru-RU" sz="1400" dirty="0"/>
              <a:t>перенос мероприятия на следующий год;</a:t>
            </a:r>
          </a:p>
          <a:p>
            <a:pPr lvl="0"/>
            <a:r>
              <a:rPr lang="ru-RU" sz="1400" dirty="0"/>
              <a:t>перенос выполнения заказа на другой месяц с предварительной корректировкой заказа;</a:t>
            </a:r>
          </a:p>
          <a:p>
            <a:r>
              <a:rPr lang="ru-RU" sz="1400" dirty="0"/>
              <a:t>корректировка заказов ТОРО по замечаниям.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40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«Регистрация технических параметров эксплуатации оборудования»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297816"/>
              </p:ext>
            </p:extLst>
          </p:nvPr>
        </p:nvGraphicFramePr>
        <p:xfrm>
          <a:off x="277682" y="1543505"/>
          <a:ext cx="8628574" cy="177766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:a16="http://schemas.microsoft.com/office/drawing/2014/main" xmlns="" val="3700845562"/>
                    </a:ext>
                  </a:extLst>
                </a:gridCol>
              </a:tblGrid>
              <a:tr h="3938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ZPM_PLAN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АРМ Планировщика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564329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IW38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заказов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2789538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CM04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Балансировка мощностей рабочего места</a:t>
                      </a: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3771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ZPM_IWBK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Отчет по проверке доступности материалов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30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8D3441-DF26-4C7E-9641-F6E293897DF1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109975</TotalTime>
  <Words>5377</Words>
  <Application>Microsoft Office PowerPoint</Application>
  <PresentationFormat>Экран (4:3)</PresentationFormat>
  <Paragraphs>432</Paragraphs>
  <Slides>50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7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Pronin Nikita</cp:lastModifiedBy>
  <cp:revision>4489</cp:revision>
  <cp:lastPrinted>2018-04-09T09:22:20Z</cp:lastPrinted>
  <dcterms:created xsi:type="dcterms:W3CDTF">2015-07-14T13:53:28Z</dcterms:created>
  <dcterms:modified xsi:type="dcterms:W3CDTF">2019-11-25T08:46:01Z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