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1389" r:id="rId5"/>
    <p:sldId id="1417" r:id="rId6"/>
    <p:sldId id="1531" r:id="rId7"/>
    <p:sldId id="1525" r:id="rId8"/>
    <p:sldId id="1530" r:id="rId9"/>
    <p:sldId id="1527" r:id="rId10"/>
    <p:sldId id="1529" r:id="rId11"/>
    <p:sldId id="1413" r:id="rId12"/>
    <p:sldId id="1440" r:id="rId13"/>
    <p:sldId id="1524" r:id="rId14"/>
    <p:sldId id="1519" r:id="rId15"/>
    <p:sldId id="1520" r:id="rId16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B8B8"/>
    <a:srgbClr val="C00937"/>
    <a:srgbClr val="595959"/>
    <a:srgbClr val="EAEFF7"/>
    <a:srgbClr val="19938A"/>
    <a:srgbClr val="FAC90B"/>
    <a:srgbClr val="F6CC0C"/>
    <a:srgbClr val="FBC90B"/>
    <a:srgbClr val="C80000"/>
    <a:srgbClr val="642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74555" autoAdjust="0"/>
  </p:normalViewPr>
  <p:slideViewPr>
    <p:cSldViewPr snapToGrid="0" showGuides="1">
      <p:cViewPr varScale="1">
        <p:scale>
          <a:sx n="89" d="100"/>
          <a:sy n="89" d="100"/>
        </p:scale>
        <p:origin x="1267" y="67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17.11.2020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17.11.2020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Разделитель 2">
    <p:bg>
      <p:bgPr>
        <a:solidFill>
          <a:srgbClr val="5959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8535" y="655411"/>
            <a:ext cx="7886700" cy="1325563"/>
          </a:xfrm>
        </p:spPr>
        <p:txBody>
          <a:bodyPr>
            <a:normAutofit/>
          </a:bodyPr>
          <a:lstStyle>
            <a:lvl1pPr>
              <a:defRPr sz="3800">
                <a:solidFill>
                  <a:srgbClr val="FCC917"/>
                </a:solidFill>
                <a:latin typeface="Calibri Body"/>
              </a:defRPr>
            </a:lvl1pPr>
          </a:lstStyle>
          <a:p>
            <a:r>
              <a:rPr lang="ru-RU" sz="3800" b="1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ЗАГОЛОВОК</a:t>
            </a: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ru-RU" sz="3800" b="1" baseline="0" dirty="0">
                <a:solidFill>
                  <a:srgbClr val="FCC917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СЛАЙДА-РАЗДЕЛИТЕЛЯ</a:t>
            </a:r>
            <a:endParaRPr lang="en-US" sz="3800" b="1" dirty="0">
              <a:solidFill>
                <a:srgbClr val="FCC917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35" y="6161497"/>
            <a:ext cx="2190375" cy="49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257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755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73658" y="2619706"/>
            <a:ext cx="7940712" cy="917124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br>
              <a:rPr lang="ru-RU" sz="4000" dirty="0" smtClean="0"/>
            </a:br>
            <a:r>
              <a:rPr lang="ru-RU" sz="4000" dirty="0"/>
              <a:t/>
            </a:r>
            <a:br>
              <a:rPr lang="ru-RU" sz="4000" dirty="0"/>
            </a:br>
            <a:r>
              <a:rPr lang="ru-RU" sz="3100" b="0" dirty="0"/>
              <a:t>80_ТОиР</a:t>
            </a:r>
            <a:r>
              <a:rPr lang="ru-RU" sz="3100" b="0" dirty="0" smtClean="0"/>
              <a:t> «Обработка списка заказов и списка сообщений»</a:t>
            </a:r>
            <a:endParaRPr lang="en-US" sz="3100" b="0" dirty="0"/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 smtClean="0">
                <a:latin typeface="+mn-lt"/>
              </a:rPr>
              <a:t>Основные элементы организационной структуры ТОиР </a:t>
            </a:r>
            <a:r>
              <a:rPr lang="en-US" sz="3600" dirty="0" smtClean="0">
                <a:latin typeface="+mn-lt"/>
              </a:rPr>
              <a:t>S/4 HANA</a:t>
            </a:r>
            <a:endParaRPr lang="ru-RU" sz="3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9958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2040" y="3830045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381219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  <a:endCxn id="43" idx="1"/>
          </p:cNvCxnSpPr>
          <p:nvPr/>
        </p:nvCxnSpPr>
        <p:spPr>
          <a:xfrm rot="16200000" flipH="1">
            <a:off x="1282877" y="3886015"/>
            <a:ext cx="48229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6" idx="1"/>
          </p:cNvCxnSpPr>
          <p:nvPr/>
        </p:nvCxnSpPr>
        <p:spPr>
          <a:xfrm rot="16200000" flipH="1">
            <a:off x="1054823" y="4114070"/>
            <a:ext cx="919154" cy="5232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480137" y="3688755"/>
            <a:ext cx="87772" cy="5425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4202268"/>
            <a:ext cx="10736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Энергетики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3985" y="4610664"/>
            <a:ext cx="11349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71594" y="5079988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48" idx="1"/>
          </p:cNvCxnSpPr>
          <p:nvPr/>
        </p:nvCxnSpPr>
        <p:spPr>
          <a:xfrm rot="16200000" flipH="1">
            <a:off x="847264" y="4321629"/>
            <a:ext cx="1327039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5497486"/>
            <a:ext cx="15684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Пожарная охрана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60135" y="5952259"/>
            <a:ext cx="6662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err="1" smtClean="0">
                <a:solidFill>
                  <a:prstClr val="black"/>
                </a:solidFill>
              </a:rPr>
              <a:t>АГиТО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4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275" y="4206718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6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76028" y="4643580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051465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0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8794" y="54829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67912" y="5914453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80192" y="6352059"/>
            <a:ext cx="141960" cy="3833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1937235" y="6416651"/>
            <a:ext cx="12538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Эксплуатация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5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0" idx="1"/>
          </p:cNvCxnSpPr>
          <p:nvPr/>
        </p:nvCxnSpPr>
        <p:spPr>
          <a:xfrm rot="16200000" flipH="1">
            <a:off x="631517" y="4537376"/>
            <a:ext cx="1758533" cy="516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1" idx="1"/>
          </p:cNvCxnSpPr>
          <p:nvPr/>
        </p:nvCxnSpPr>
        <p:spPr>
          <a:xfrm rot="16200000" flipH="1">
            <a:off x="415329" y="4753564"/>
            <a:ext cx="2190027" cy="5151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  <a:endCxn id="52" idx="1"/>
          </p:cNvCxnSpPr>
          <p:nvPr/>
        </p:nvCxnSpPr>
        <p:spPr>
          <a:xfrm rot="16200000" flipH="1">
            <a:off x="202666" y="4966227"/>
            <a:ext cx="2627633" cy="527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889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5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930837" y="2789725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6652582" y="2787140"/>
            <a:ext cx="12299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/>
          <p:cNvSpPr/>
          <p:nvPr/>
        </p:nvSpPr>
        <p:spPr>
          <a:xfrm>
            <a:off x="5421947" y="2787452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4198363" y="2788434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2182750" y="2787139"/>
            <a:ext cx="971784" cy="922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Прямоугольник 78"/>
          <p:cNvSpPr/>
          <p:nvPr/>
        </p:nvSpPr>
        <p:spPr>
          <a:xfrm>
            <a:off x="1254333" y="2779777"/>
            <a:ext cx="873618" cy="92955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sp>
        <p:nvSpPr>
          <p:cNvPr id="5" name="Блок-схема: ссылка на другую страницу 4"/>
          <p:cNvSpPr/>
          <p:nvPr/>
        </p:nvSpPr>
        <p:spPr>
          <a:xfrm>
            <a:off x="393192" y="1216152"/>
            <a:ext cx="8458200" cy="374904"/>
          </a:xfrm>
          <a:prstGeom prst="flowChartOffpageConnector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3635" y="2789658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2347" y="1792224"/>
            <a:ext cx="1007847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201846" y="180902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207581" y="1812572"/>
            <a:ext cx="950976" cy="527597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320823" y="179786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5507887" y="1801365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756968" y="180108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053711" y="179786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294561" y="3872484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2768465" y="3887266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4068993" y="3872484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5254114" y="3881541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6512373" y="3791929"/>
            <a:ext cx="999476" cy="837858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1473661" y="388106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7747048" y="387141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низ 33"/>
          <p:cNvSpPr/>
          <p:nvPr/>
        </p:nvSpPr>
        <p:spPr>
          <a:xfrm>
            <a:off x="452454" y="2328842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3253200" y="1201683"/>
            <a:ext cx="270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Виды заказов ТОРО</a:t>
            </a:r>
            <a:endParaRPr lang="ru-RU" b="1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-78440" y="1865354"/>
            <a:ext cx="123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APP1</a:t>
            </a:r>
          </a:p>
          <a:p>
            <a:pPr algn="ctr"/>
            <a:r>
              <a:rPr lang="ru-RU" sz="1000" dirty="0" smtClean="0"/>
              <a:t>ТОРО по ППР</a:t>
            </a:r>
            <a:endParaRPr lang="ru-RU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1186750" y="1801551"/>
            <a:ext cx="9992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Вил заказа </a:t>
            </a:r>
            <a:r>
              <a:rPr lang="en-US" sz="800" dirty="0" smtClean="0"/>
              <a:t>AVS1</a:t>
            </a:r>
          </a:p>
          <a:p>
            <a:pPr algn="ctr"/>
            <a:r>
              <a:rPr lang="ru-RU" sz="900" dirty="0" smtClean="0"/>
              <a:t>Внеплановое ТОРО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4626" y="1870371"/>
            <a:ext cx="11213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AVR1</a:t>
            </a:r>
            <a:endParaRPr lang="ru-RU" sz="800" dirty="0" smtClean="0"/>
          </a:p>
          <a:p>
            <a:pPr algn="ctr"/>
            <a:r>
              <a:rPr lang="ru-RU" sz="900" dirty="0" smtClean="0"/>
              <a:t>Аварийное ТОРО</a:t>
            </a:r>
          </a:p>
        </p:txBody>
      </p:sp>
      <p:sp>
        <p:nvSpPr>
          <p:cNvPr id="40" name="TextBox 39"/>
          <p:cNvSpPr txBox="1"/>
          <p:nvPr/>
        </p:nvSpPr>
        <p:spPr>
          <a:xfrm flipH="1">
            <a:off x="4275631" y="1757553"/>
            <a:ext cx="107384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ACR1</a:t>
            </a:r>
          </a:p>
          <a:p>
            <a:pPr algn="ctr"/>
            <a:r>
              <a:rPr lang="ru-RU" sz="900" dirty="0" smtClean="0"/>
              <a:t>Технический заказ ТОРО для ЦРММ</a:t>
            </a:r>
            <a:endParaRPr lang="ru-RU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5460687" y="1829461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AETG</a:t>
            </a:r>
          </a:p>
          <a:p>
            <a:pPr algn="ctr"/>
            <a:r>
              <a:rPr lang="ru-RU" sz="900" dirty="0" smtClean="0"/>
              <a:t>ЕТО на ГТК</a:t>
            </a:r>
            <a:endParaRPr lang="ru-RU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6667859" y="1870421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AETZ</a:t>
            </a:r>
          </a:p>
          <a:p>
            <a:pPr algn="ctr"/>
            <a:r>
              <a:rPr lang="ru-RU" sz="900" dirty="0" smtClean="0"/>
              <a:t>ЕТО на ЗИФ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5119" y="1892290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APB1</a:t>
            </a:r>
          </a:p>
          <a:p>
            <a:pPr algn="ctr"/>
            <a:r>
              <a:rPr lang="ru-RU" sz="900" dirty="0" smtClean="0"/>
              <a:t>Выполнение ЭПБ</a:t>
            </a:r>
            <a:endParaRPr lang="ru-RU" sz="900" dirty="0"/>
          </a:p>
        </p:txBody>
      </p:sp>
      <p:sp>
        <p:nvSpPr>
          <p:cNvPr id="44" name="TextBox 43"/>
          <p:cNvSpPr txBox="1"/>
          <p:nvPr/>
        </p:nvSpPr>
        <p:spPr>
          <a:xfrm>
            <a:off x="228556" y="3910333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APRO</a:t>
            </a:r>
          </a:p>
          <a:p>
            <a:pPr algn="ctr"/>
            <a:r>
              <a:rPr lang="ru-RU" sz="900" dirty="0" smtClean="0"/>
              <a:t>Прочие работы</a:t>
            </a:r>
            <a:endParaRPr lang="ru-RU" sz="900" dirty="0"/>
          </a:p>
        </p:txBody>
      </p:sp>
      <p:sp>
        <p:nvSpPr>
          <p:cNvPr id="45" name="TextBox 44"/>
          <p:cNvSpPr txBox="1"/>
          <p:nvPr/>
        </p:nvSpPr>
        <p:spPr>
          <a:xfrm>
            <a:off x="2676157" y="3887266"/>
            <a:ext cx="11355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ASR1</a:t>
            </a:r>
          </a:p>
          <a:p>
            <a:pPr algn="ctr"/>
            <a:r>
              <a:rPr lang="ru-RU" sz="900" dirty="0" smtClean="0"/>
              <a:t>Заказ на сервис по абонентской плате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8788" y="3917878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ATS1</a:t>
            </a:r>
          </a:p>
          <a:p>
            <a:pPr algn="ctr"/>
            <a:r>
              <a:rPr lang="ru-RU" sz="900" dirty="0" smtClean="0"/>
              <a:t>ТОРО по состоянию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1006" y="3901112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AV01</a:t>
            </a:r>
          </a:p>
          <a:p>
            <a:pPr algn="ctr"/>
            <a:r>
              <a:rPr lang="ru-RU" sz="900" dirty="0" smtClean="0"/>
              <a:t>Восстановление узлов</a:t>
            </a:r>
            <a:r>
              <a:rPr lang="en-US" sz="900" dirty="0" smtClean="0"/>
              <a:t>/</a:t>
            </a:r>
            <a:r>
              <a:rPr lang="ru-RU" sz="900" dirty="0" smtClean="0"/>
              <a:t>запчастей</a:t>
            </a:r>
            <a:endParaRPr lang="ru-RU" sz="900" dirty="0"/>
          </a:p>
        </p:txBody>
      </p:sp>
      <p:sp>
        <p:nvSpPr>
          <p:cNvPr id="48" name="TextBox 47"/>
          <p:cNvSpPr txBox="1"/>
          <p:nvPr/>
        </p:nvSpPr>
        <p:spPr>
          <a:xfrm>
            <a:off x="6461844" y="3881576"/>
            <a:ext cx="1100682" cy="63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AV02</a:t>
            </a:r>
          </a:p>
          <a:p>
            <a:pPr algn="ctr"/>
            <a:r>
              <a:rPr lang="ru-RU" sz="900" dirty="0" smtClean="0"/>
              <a:t>Восстановление узлов</a:t>
            </a:r>
            <a:r>
              <a:rPr lang="en-US" sz="900" dirty="0" smtClean="0"/>
              <a:t>/</a:t>
            </a:r>
            <a:r>
              <a:rPr lang="ru-RU" sz="900" dirty="0" smtClean="0"/>
              <a:t>запчастей (материалы ОФ)</a:t>
            </a:r>
            <a:endParaRPr lang="ru-RU" sz="900" dirty="0"/>
          </a:p>
        </p:txBody>
      </p:sp>
      <p:sp>
        <p:nvSpPr>
          <p:cNvPr id="49" name="TextBox 48"/>
          <p:cNvSpPr txBox="1"/>
          <p:nvPr/>
        </p:nvSpPr>
        <p:spPr>
          <a:xfrm>
            <a:off x="1364858" y="3964357"/>
            <a:ext cx="11461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ARP1</a:t>
            </a:r>
            <a:endParaRPr lang="ru-RU" sz="800" dirty="0" smtClean="0"/>
          </a:p>
          <a:p>
            <a:pPr algn="ctr"/>
            <a:r>
              <a:rPr lang="ru-RU" sz="900" dirty="0" smtClean="0"/>
              <a:t>Заказ на РПМ</a:t>
            </a:r>
            <a:endParaRPr lang="en-US" sz="900" dirty="0" smtClean="0"/>
          </a:p>
          <a:p>
            <a:pPr algn="ctr"/>
            <a:endParaRPr lang="ru-RU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7681594" y="3910333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ATU1</a:t>
            </a:r>
          </a:p>
          <a:p>
            <a:pPr algn="ctr"/>
            <a:r>
              <a:rPr lang="ru-RU" sz="900" dirty="0" smtClean="0"/>
              <a:t>Технический заказ ТОРО</a:t>
            </a:r>
          </a:p>
        </p:txBody>
      </p:sp>
      <p:sp>
        <p:nvSpPr>
          <p:cNvPr id="51" name="Стрелка вниз 50"/>
          <p:cNvSpPr/>
          <p:nvPr/>
        </p:nvSpPr>
        <p:spPr>
          <a:xfrm>
            <a:off x="1564662" y="2331720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 вниз 51"/>
          <p:cNvSpPr/>
          <p:nvPr/>
        </p:nvSpPr>
        <p:spPr>
          <a:xfrm>
            <a:off x="2576077" y="2347646"/>
            <a:ext cx="219000" cy="442645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низ 52"/>
          <p:cNvSpPr/>
          <p:nvPr/>
        </p:nvSpPr>
        <p:spPr>
          <a:xfrm>
            <a:off x="4674288" y="2342093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трелка вниз 53"/>
          <p:cNvSpPr/>
          <p:nvPr/>
        </p:nvSpPr>
        <p:spPr>
          <a:xfrm>
            <a:off x="5873875" y="2353343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низ 54"/>
          <p:cNvSpPr/>
          <p:nvPr/>
        </p:nvSpPr>
        <p:spPr>
          <a:xfrm>
            <a:off x="7122956" y="2353066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трелка вниз 55"/>
          <p:cNvSpPr/>
          <p:nvPr/>
        </p:nvSpPr>
        <p:spPr>
          <a:xfrm>
            <a:off x="8401996" y="2335425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трелка вниз 56"/>
          <p:cNvSpPr/>
          <p:nvPr/>
        </p:nvSpPr>
        <p:spPr>
          <a:xfrm>
            <a:off x="654799" y="4428357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Стрелка вниз 57"/>
          <p:cNvSpPr/>
          <p:nvPr/>
        </p:nvSpPr>
        <p:spPr>
          <a:xfrm>
            <a:off x="3107706" y="4435450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Стрелка вниз 58"/>
          <p:cNvSpPr/>
          <p:nvPr/>
        </p:nvSpPr>
        <p:spPr>
          <a:xfrm>
            <a:off x="1821131" y="4410318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трелка вниз 59"/>
          <p:cNvSpPr/>
          <p:nvPr/>
        </p:nvSpPr>
        <p:spPr>
          <a:xfrm>
            <a:off x="4447775" y="4418624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Стрелка вниз 60"/>
          <p:cNvSpPr/>
          <p:nvPr/>
        </p:nvSpPr>
        <p:spPr>
          <a:xfrm>
            <a:off x="5619188" y="4420441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Стрелка вниз 61"/>
          <p:cNvSpPr/>
          <p:nvPr/>
        </p:nvSpPr>
        <p:spPr>
          <a:xfrm>
            <a:off x="6878361" y="4652360"/>
            <a:ext cx="231860" cy="230685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Стрелка вниз 62"/>
          <p:cNvSpPr/>
          <p:nvPr/>
        </p:nvSpPr>
        <p:spPr>
          <a:xfrm>
            <a:off x="8109020" y="4418624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-37409" y="2835447"/>
            <a:ext cx="13187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планово-предупредительных работ</a:t>
            </a:r>
            <a:endParaRPr lang="ru-RU"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2157276" y="2997750"/>
            <a:ext cx="10325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аварийные ремонты</a:t>
            </a:r>
            <a:endParaRPr lang="ru-RU" sz="1000" dirty="0"/>
          </a:p>
        </p:txBody>
      </p:sp>
      <p:sp>
        <p:nvSpPr>
          <p:cNvPr id="68" name="TextBox 67"/>
          <p:cNvSpPr txBox="1"/>
          <p:nvPr/>
        </p:nvSpPr>
        <p:spPr>
          <a:xfrm>
            <a:off x="4187593" y="2805971"/>
            <a:ext cx="12207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Технический заказ для производства </a:t>
            </a:r>
            <a:r>
              <a:rPr lang="ru-RU" sz="1000" dirty="0"/>
              <a:t>деталей и изделий собственными силами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9776" y="2757875"/>
            <a:ext cx="1418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ежесменных технических обслуживаний на горно-транспортных комплексах</a:t>
            </a:r>
            <a:endParaRPr lang="ru-RU" sz="1000" dirty="0"/>
          </a:p>
        </p:txBody>
      </p:sp>
      <p:sp>
        <p:nvSpPr>
          <p:cNvPr id="70" name="TextBox 69"/>
          <p:cNvSpPr txBox="1"/>
          <p:nvPr/>
        </p:nvSpPr>
        <p:spPr>
          <a:xfrm>
            <a:off x="6531985" y="2754385"/>
            <a:ext cx="1512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ежесменных технических обслуживаний на золотоизвлекательных фабриках</a:t>
            </a:r>
            <a:endParaRPr lang="ru-RU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7899662" y="2780517"/>
            <a:ext cx="1279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работ по экологии и промышленной безопасности</a:t>
            </a:r>
            <a:endParaRPr lang="ru-RU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1281299" y="2850156"/>
            <a:ext cx="1312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000" dirty="0"/>
          </a:p>
        </p:txBody>
      </p:sp>
      <p:sp>
        <p:nvSpPr>
          <p:cNvPr id="86" name="Прямоугольник 85"/>
          <p:cNvSpPr/>
          <p:nvPr/>
        </p:nvSpPr>
        <p:spPr>
          <a:xfrm>
            <a:off x="7654286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рямоугольник 86"/>
          <p:cNvSpPr/>
          <p:nvPr/>
        </p:nvSpPr>
        <p:spPr>
          <a:xfrm>
            <a:off x="6384297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/>
          <p:cNvSpPr/>
          <p:nvPr/>
        </p:nvSpPr>
        <p:spPr>
          <a:xfrm>
            <a:off x="5125714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/>
          <p:cNvSpPr/>
          <p:nvPr/>
        </p:nvSpPr>
        <p:spPr>
          <a:xfrm>
            <a:off x="3868566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Прямоугольник 89"/>
          <p:cNvSpPr/>
          <p:nvPr/>
        </p:nvSpPr>
        <p:spPr>
          <a:xfrm>
            <a:off x="2607281" y="4896766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Прямоугольник 90"/>
          <p:cNvSpPr/>
          <p:nvPr/>
        </p:nvSpPr>
        <p:spPr>
          <a:xfrm>
            <a:off x="1343693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/>
          <p:cNvSpPr/>
          <p:nvPr/>
        </p:nvSpPr>
        <p:spPr>
          <a:xfrm>
            <a:off x="111986" y="4880155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/>
          <p:cNvSpPr txBox="1"/>
          <p:nvPr/>
        </p:nvSpPr>
        <p:spPr>
          <a:xfrm>
            <a:off x="189944" y="5096754"/>
            <a:ext cx="105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прочие работы</a:t>
            </a:r>
            <a:endParaRPr lang="ru-RU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2545029" y="4898333"/>
            <a:ext cx="13002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 smtClean="0"/>
              <a:t>Заказ ТОРО для </a:t>
            </a:r>
            <a:r>
              <a:rPr lang="ru-RU" sz="900" dirty="0"/>
              <a:t>планирования и учета </a:t>
            </a:r>
            <a:r>
              <a:rPr lang="ru-RU" sz="900" dirty="0" smtClean="0"/>
              <a:t>работ </a:t>
            </a:r>
            <a:r>
              <a:rPr lang="ru-RU" sz="900" dirty="0"/>
              <a:t>подрядных организаций, выполняемых работы по абонентской </a:t>
            </a:r>
            <a:r>
              <a:rPr lang="ru-RU" sz="900" dirty="0" smtClean="0"/>
              <a:t>плате</a:t>
            </a:r>
            <a:endParaRPr lang="ru-RU" sz="900" dirty="0"/>
          </a:p>
        </p:txBody>
      </p:sp>
      <p:sp>
        <p:nvSpPr>
          <p:cNvPr id="95" name="TextBox 94"/>
          <p:cNvSpPr txBox="1"/>
          <p:nvPr/>
        </p:nvSpPr>
        <p:spPr>
          <a:xfrm>
            <a:off x="3752986" y="4814764"/>
            <a:ext cx="14113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 smtClean="0"/>
              <a:t>Заказ ТОРО для планирования материалов разового потребления, услуг сторонних организаций и работ собственных подразделений</a:t>
            </a:r>
            <a:endParaRPr lang="ru-RU" sz="900" dirty="0"/>
          </a:p>
        </p:txBody>
      </p:sp>
      <p:sp>
        <p:nvSpPr>
          <p:cNvPr id="96" name="TextBox 95"/>
          <p:cNvSpPr txBox="1"/>
          <p:nvPr/>
        </p:nvSpPr>
        <p:spPr>
          <a:xfrm>
            <a:off x="5116229" y="5018745"/>
            <a:ext cx="1159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узлов обменного фонда</a:t>
            </a:r>
            <a:endParaRPr lang="ru-RU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6337420" y="4968621"/>
            <a:ext cx="13001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узлов обменного фонда, ведущихся как материалы</a:t>
            </a:r>
            <a:endParaRPr lang="ru-RU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7654286" y="4854733"/>
            <a:ext cx="126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работ, когда нормативы еще неизвестны и не разработаны</a:t>
            </a:r>
            <a:endParaRPr lang="ru-RU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1261075" y="5036443"/>
            <a:ext cx="1357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общие регулярно потребляемые материалы</a:t>
            </a:r>
            <a:endParaRPr lang="ru-RU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1226328" y="2926299"/>
            <a:ext cx="92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внеплановые работы</a:t>
            </a:r>
            <a:endParaRPr lang="ru-RU" sz="1000" dirty="0"/>
          </a:p>
        </p:txBody>
      </p:sp>
      <p:sp>
        <p:nvSpPr>
          <p:cNvPr id="76" name="Прямоугольник 75"/>
          <p:cNvSpPr/>
          <p:nvPr/>
        </p:nvSpPr>
        <p:spPr>
          <a:xfrm>
            <a:off x="3178581" y="2786054"/>
            <a:ext cx="971784" cy="922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3213609" y="1800281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/>
          <p:cNvSpPr txBox="1"/>
          <p:nvPr/>
        </p:nvSpPr>
        <p:spPr>
          <a:xfrm>
            <a:off x="3150654" y="1858080"/>
            <a:ext cx="11213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ADI1</a:t>
            </a:r>
          </a:p>
          <a:p>
            <a:pPr algn="ctr"/>
            <a:r>
              <a:rPr lang="ru-RU" sz="900" dirty="0" smtClean="0"/>
              <a:t>Диагностика</a:t>
            </a:r>
          </a:p>
        </p:txBody>
      </p:sp>
      <p:sp>
        <p:nvSpPr>
          <p:cNvPr id="85" name="Стрелка вниз 84"/>
          <p:cNvSpPr/>
          <p:nvPr/>
        </p:nvSpPr>
        <p:spPr>
          <a:xfrm>
            <a:off x="3582105" y="2335355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TextBox 99"/>
          <p:cNvSpPr txBox="1"/>
          <p:nvPr/>
        </p:nvSpPr>
        <p:spPr>
          <a:xfrm>
            <a:off x="3116108" y="2984305"/>
            <a:ext cx="1117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диагностические работы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2322068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82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930837" y="2789725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6652582" y="2787140"/>
            <a:ext cx="12299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2" name="Прямоугольник 81"/>
          <p:cNvSpPr/>
          <p:nvPr/>
        </p:nvSpPr>
        <p:spPr>
          <a:xfrm>
            <a:off x="5421947" y="2787452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4198363" y="2788434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0" name="Прямоугольник 79"/>
          <p:cNvSpPr/>
          <p:nvPr/>
        </p:nvSpPr>
        <p:spPr>
          <a:xfrm>
            <a:off x="2182750" y="2787139"/>
            <a:ext cx="971784" cy="922193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9" name="Прямоугольник 78"/>
          <p:cNvSpPr/>
          <p:nvPr/>
        </p:nvSpPr>
        <p:spPr>
          <a:xfrm>
            <a:off x="1254333" y="2779777"/>
            <a:ext cx="873618" cy="929556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ТОРО. Виды заказов ТОРО</a:t>
            </a:r>
            <a:endParaRPr lang="ru-RU" sz="2000" dirty="0"/>
          </a:p>
        </p:txBody>
      </p:sp>
      <p:sp>
        <p:nvSpPr>
          <p:cNvPr id="5" name="Блок-схема: ссылка на другую страницу 4"/>
          <p:cNvSpPr/>
          <p:nvPr/>
        </p:nvSpPr>
        <p:spPr>
          <a:xfrm>
            <a:off x="393192" y="1216152"/>
            <a:ext cx="8458200" cy="374904"/>
          </a:xfrm>
          <a:prstGeom prst="flowChartOffpageConnector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3635" y="2789658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/>
        </p:nvSpPr>
        <p:spPr>
          <a:xfrm>
            <a:off x="42347" y="1792224"/>
            <a:ext cx="1007847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1201846" y="180902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207581" y="1812572"/>
            <a:ext cx="950976" cy="527597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4320823" y="179786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/>
        </p:nvSpPr>
        <p:spPr>
          <a:xfrm>
            <a:off x="5507887" y="1801365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/>
        </p:nvSpPr>
        <p:spPr>
          <a:xfrm>
            <a:off x="6756968" y="180108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/>
          <p:cNvSpPr/>
          <p:nvPr/>
        </p:nvSpPr>
        <p:spPr>
          <a:xfrm>
            <a:off x="8053711" y="1797862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/>
          <p:cNvSpPr/>
          <p:nvPr/>
        </p:nvSpPr>
        <p:spPr>
          <a:xfrm>
            <a:off x="294561" y="3872484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/>
          <p:cNvSpPr/>
          <p:nvPr/>
        </p:nvSpPr>
        <p:spPr>
          <a:xfrm>
            <a:off x="2768465" y="3887266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/>
          <p:cNvSpPr/>
          <p:nvPr/>
        </p:nvSpPr>
        <p:spPr>
          <a:xfrm>
            <a:off x="4068993" y="3872484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/>
          <p:cNvSpPr/>
          <p:nvPr/>
        </p:nvSpPr>
        <p:spPr>
          <a:xfrm>
            <a:off x="5254114" y="3881541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/>
          <p:cNvSpPr/>
          <p:nvPr/>
        </p:nvSpPr>
        <p:spPr>
          <a:xfrm>
            <a:off x="6512373" y="3791929"/>
            <a:ext cx="999476" cy="837858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/>
          <p:cNvSpPr/>
          <p:nvPr/>
        </p:nvSpPr>
        <p:spPr>
          <a:xfrm>
            <a:off x="1473661" y="388106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/>
          <p:cNvSpPr/>
          <p:nvPr/>
        </p:nvSpPr>
        <p:spPr>
          <a:xfrm>
            <a:off x="7747048" y="3871418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Стрелка вниз 33"/>
          <p:cNvSpPr/>
          <p:nvPr/>
        </p:nvSpPr>
        <p:spPr>
          <a:xfrm>
            <a:off x="452454" y="2328842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TextBox 35"/>
          <p:cNvSpPr txBox="1"/>
          <p:nvPr/>
        </p:nvSpPr>
        <p:spPr>
          <a:xfrm>
            <a:off x="3253200" y="1201683"/>
            <a:ext cx="2705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Виды заказов ТОРО</a:t>
            </a:r>
            <a:endParaRPr lang="ru-RU" b="1" dirty="0"/>
          </a:p>
        </p:txBody>
      </p:sp>
      <p:sp>
        <p:nvSpPr>
          <p:cNvPr id="37" name="TextBox 36"/>
          <p:cNvSpPr txBox="1"/>
          <p:nvPr/>
        </p:nvSpPr>
        <p:spPr>
          <a:xfrm flipH="1">
            <a:off x="-78440" y="1865354"/>
            <a:ext cx="1233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APP1</a:t>
            </a:r>
          </a:p>
          <a:p>
            <a:pPr algn="ctr"/>
            <a:r>
              <a:rPr lang="ru-RU" sz="1000" dirty="0" smtClean="0"/>
              <a:t>ТОРО по ППР</a:t>
            </a:r>
            <a:endParaRPr lang="ru-RU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1186750" y="1801551"/>
            <a:ext cx="99922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Вил заказа </a:t>
            </a:r>
            <a:r>
              <a:rPr lang="en-US" sz="800" dirty="0" smtClean="0"/>
              <a:t>AVS1</a:t>
            </a:r>
          </a:p>
          <a:p>
            <a:pPr algn="ctr"/>
            <a:r>
              <a:rPr lang="ru-RU" sz="900" dirty="0" smtClean="0"/>
              <a:t>Внеплановое ТОРО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44626" y="1870371"/>
            <a:ext cx="11213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AVR1</a:t>
            </a:r>
            <a:endParaRPr lang="ru-RU" sz="800" dirty="0" smtClean="0"/>
          </a:p>
          <a:p>
            <a:pPr algn="ctr"/>
            <a:r>
              <a:rPr lang="ru-RU" sz="900" dirty="0" smtClean="0"/>
              <a:t>Аварийное ТОРО</a:t>
            </a:r>
          </a:p>
        </p:txBody>
      </p:sp>
      <p:sp>
        <p:nvSpPr>
          <p:cNvPr id="40" name="TextBox 39"/>
          <p:cNvSpPr txBox="1"/>
          <p:nvPr/>
        </p:nvSpPr>
        <p:spPr>
          <a:xfrm flipH="1">
            <a:off x="4275631" y="1757553"/>
            <a:ext cx="107384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ACR1</a:t>
            </a:r>
          </a:p>
          <a:p>
            <a:pPr algn="ctr"/>
            <a:r>
              <a:rPr lang="ru-RU" sz="900" dirty="0" smtClean="0"/>
              <a:t>Технический заказ ТОРО для ЦРММ</a:t>
            </a:r>
            <a:endParaRPr lang="ru-RU" sz="900" dirty="0"/>
          </a:p>
        </p:txBody>
      </p:sp>
      <p:sp>
        <p:nvSpPr>
          <p:cNvPr id="41" name="TextBox 40"/>
          <p:cNvSpPr txBox="1"/>
          <p:nvPr/>
        </p:nvSpPr>
        <p:spPr>
          <a:xfrm>
            <a:off x="5460687" y="1829461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AETG</a:t>
            </a:r>
          </a:p>
          <a:p>
            <a:pPr algn="ctr"/>
            <a:r>
              <a:rPr lang="ru-RU" sz="900" dirty="0" smtClean="0"/>
              <a:t>ЕТО на ГТК</a:t>
            </a:r>
            <a:endParaRPr lang="ru-RU" sz="900" dirty="0"/>
          </a:p>
        </p:txBody>
      </p:sp>
      <p:sp>
        <p:nvSpPr>
          <p:cNvPr id="42" name="TextBox 41"/>
          <p:cNvSpPr txBox="1"/>
          <p:nvPr/>
        </p:nvSpPr>
        <p:spPr>
          <a:xfrm>
            <a:off x="6667859" y="1870421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AETZ</a:t>
            </a:r>
          </a:p>
          <a:p>
            <a:pPr algn="ctr"/>
            <a:r>
              <a:rPr lang="ru-RU" sz="900" dirty="0" smtClean="0"/>
              <a:t>ЕТО на ЗИФ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85119" y="1892290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APB1</a:t>
            </a:r>
          </a:p>
          <a:p>
            <a:pPr algn="ctr"/>
            <a:r>
              <a:rPr lang="ru-RU" sz="900" dirty="0" smtClean="0"/>
              <a:t>Выполнение ЭПБ</a:t>
            </a:r>
            <a:endParaRPr lang="ru-RU" sz="900" dirty="0"/>
          </a:p>
        </p:txBody>
      </p:sp>
      <p:sp>
        <p:nvSpPr>
          <p:cNvPr id="44" name="TextBox 43"/>
          <p:cNvSpPr txBox="1"/>
          <p:nvPr/>
        </p:nvSpPr>
        <p:spPr>
          <a:xfrm>
            <a:off x="228556" y="3910333"/>
            <a:ext cx="107385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APRO</a:t>
            </a:r>
          </a:p>
          <a:p>
            <a:pPr algn="ctr"/>
            <a:r>
              <a:rPr lang="ru-RU" sz="900" dirty="0" smtClean="0"/>
              <a:t>Прочие работы</a:t>
            </a:r>
            <a:endParaRPr lang="ru-RU" sz="900" dirty="0"/>
          </a:p>
        </p:txBody>
      </p:sp>
      <p:sp>
        <p:nvSpPr>
          <p:cNvPr id="45" name="TextBox 44"/>
          <p:cNvSpPr txBox="1"/>
          <p:nvPr/>
        </p:nvSpPr>
        <p:spPr>
          <a:xfrm>
            <a:off x="2676157" y="3887266"/>
            <a:ext cx="113559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ASR1</a:t>
            </a:r>
          </a:p>
          <a:p>
            <a:pPr algn="ctr"/>
            <a:r>
              <a:rPr lang="ru-RU" sz="900" dirty="0" smtClean="0"/>
              <a:t>Заказ на сервис по абонентской плате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08788" y="3917878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ATS1</a:t>
            </a:r>
          </a:p>
          <a:p>
            <a:pPr algn="ctr"/>
            <a:r>
              <a:rPr lang="ru-RU" sz="900" dirty="0" smtClean="0"/>
              <a:t>ТОРО по состоянию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21006" y="3901112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AV01</a:t>
            </a:r>
          </a:p>
          <a:p>
            <a:pPr algn="ctr"/>
            <a:r>
              <a:rPr lang="ru-RU" sz="900" dirty="0" smtClean="0"/>
              <a:t>Восстановление узлов</a:t>
            </a:r>
            <a:r>
              <a:rPr lang="en-US" sz="900" dirty="0" smtClean="0"/>
              <a:t>/</a:t>
            </a:r>
            <a:r>
              <a:rPr lang="ru-RU" sz="900" dirty="0" smtClean="0"/>
              <a:t>запчастей</a:t>
            </a:r>
            <a:endParaRPr lang="ru-RU" sz="900" dirty="0"/>
          </a:p>
        </p:txBody>
      </p:sp>
      <p:sp>
        <p:nvSpPr>
          <p:cNvPr id="48" name="TextBox 47"/>
          <p:cNvSpPr txBox="1"/>
          <p:nvPr/>
        </p:nvSpPr>
        <p:spPr>
          <a:xfrm>
            <a:off x="6461844" y="3881576"/>
            <a:ext cx="1100682" cy="63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AV02</a:t>
            </a:r>
          </a:p>
          <a:p>
            <a:pPr algn="ctr"/>
            <a:r>
              <a:rPr lang="ru-RU" sz="900" dirty="0" smtClean="0"/>
              <a:t>Восстановление узлов</a:t>
            </a:r>
            <a:r>
              <a:rPr lang="en-US" sz="900" dirty="0" smtClean="0"/>
              <a:t>/</a:t>
            </a:r>
            <a:r>
              <a:rPr lang="ru-RU" sz="900" dirty="0" smtClean="0"/>
              <a:t>запчастей (материалы ОФ)</a:t>
            </a:r>
            <a:endParaRPr lang="ru-RU" sz="900" dirty="0"/>
          </a:p>
        </p:txBody>
      </p:sp>
      <p:sp>
        <p:nvSpPr>
          <p:cNvPr id="49" name="TextBox 48"/>
          <p:cNvSpPr txBox="1"/>
          <p:nvPr/>
        </p:nvSpPr>
        <p:spPr>
          <a:xfrm>
            <a:off x="1364858" y="3964357"/>
            <a:ext cx="11461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ARP1</a:t>
            </a:r>
            <a:endParaRPr lang="ru-RU" sz="800" dirty="0" smtClean="0"/>
          </a:p>
          <a:p>
            <a:pPr algn="ctr"/>
            <a:r>
              <a:rPr lang="ru-RU" sz="900" dirty="0" smtClean="0"/>
              <a:t>Заказ на РПМ</a:t>
            </a:r>
            <a:endParaRPr lang="en-US" sz="900" dirty="0" smtClean="0"/>
          </a:p>
          <a:p>
            <a:pPr algn="ctr"/>
            <a:endParaRPr lang="ru-RU" sz="900" dirty="0"/>
          </a:p>
        </p:txBody>
      </p:sp>
      <p:sp>
        <p:nvSpPr>
          <p:cNvPr id="50" name="TextBox 49"/>
          <p:cNvSpPr txBox="1"/>
          <p:nvPr/>
        </p:nvSpPr>
        <p:spPr>
          <a:xfrm>
            <a:off x="7681594" y="3910333"/>
            <a:ext cx="1073852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ATU1</a:t>
            </a:r>
          </a:p>
          <a:p>
            <a:pPr algn="ctr"/>
            <a:r>
              <a:rPr lang="ru-RU" sz="900" dirty="0" smtClean="0"/>
              <a:t>Технический заказ ТОРО</a:t>
            </a:r>
          </a:p>
        </p:txBody>
      </p:sp>
      <p:sp>
        <p:nvSpPr>
          <p:cNvPr id="51" name="Стрелка вниз 50"/>
          <p:cNvSpPr/>
          <p:nvPr/>
        </p:nvSpPr>
        <p:spPr>
          <a:xfrm>
            <a:off x="1564662" y="2331720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2" name="Стрелка вниз 51"/>
          <p:cNvSpPr/>
          <p:nvPr/>
        </p:nvSpPr>
        <p:spPr>
          <a:xfrm>
            <a:off x="2576077" y="2347646"/>
            <a:ext cx="219000" cy="442645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Стрелка вниз 52"/>
          <p:cNvSpPr/>
          <p:nvPr/>
        </p:nvSpPr>
        <p:spPr>
          <a:xfrm>
            <a:off x="4674288" y="2342093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Стрелка вниз 53"/>
          <p:cNvSpPr/>
          <p:nvPr/>
        </p:nvSpPr>
        <p:spPr>
          <a:xfrm>
            <a:off x="5873875" y="2353343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Стрелка вниз 54"/>
          <p:cNvSpPr/>
          <p:nvPr/>
        </p:nvSpPr>
        <p:spPr>
          <a:xfrm>
            <a:off x="7122956" y="2353066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Стрелка вниз 55"/>
          <p:cNvSpPr/>
          <p:nvPr/>
        </p:nvSpPr>
        <p:spPr>
          <a:xfrm>
            <a:off x="8401996" y="2335425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Стрелка вниз 56"/>
          <p:cNvSpPr/>
          <p:nvPr/>
        </p:nvSpPr>
        <p:spPr>
          <a:xfrm>
            <a:off x="654799" y="4428357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Стрелка вниз 57"/>
          <p:cNvSpPr/>
          <p:nvPr/>
        </p:nvSpPr>
        <p:spPr>
          <a:xfrm>
            <a:off x="3107706" y="4435450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Стрелка вниз 58"/>
          <p:cNvSpPr/>
          <p:nvPr/>
        </p:nvSpPr>
        <p:spPr>
          <a:xfrm>
            <a:off x="1821131" y="4410318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0" name="Стрелка вниз 59"/>
          <p:cNvSpPr/>
          <p:nvPr/>
        </p:nvSpPr>
        <p:spPr>
          <a:xfrm>
            <a:off x="4447775" y="4418624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Стрелка вниз 60"/>
          <p:cNvSpPr/>
          <p:nvPr/>
        </p:nvSpPr>
        <p:spPr>
          <a:xfrm>
            <a:off x="5619188" y="4420441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2" name="Стрелка вниз 61"/>
          <p:cNvSpPr/>
          <p:nvPr/>
        </p:nvSpPr>
        <p:spPr>
          <a:xfrm>
            <a:off x="6878361" y="4652360"/>
            <a:ext cx="231860" cy="230685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Стрелка вниз 62"/>
          <p:cNvSpPr/>
          <p:nvPr/>
        </p:nvSpPr>
        <p:spPr>
          <a:xfrm>
            <a:off x="8109020" y="4418624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TextBox 63"/>
          <p:cNvSpPr txBox="1"/>
          <p:nvPr/>
        </p:nvSpPr>
        <p:spPr>
          <a:xfrm>
            <a:off x="-37409" y="2835447"/>
            <a:ext cx="131870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планово-предупредительных работ</a:t>
            </a:r>
            <a:endParaRPr lang="ru-RU" sz="1000" dirty="0"/>
          </a:p>
        </p:txBody>
      </p:sp>
      <p:sp>
        <p:nvSpPr>
          <p:cNvPr id="67" name="TextBox 66"/>
          <p:cNvSpPr txBox="1"/>
          <p:nvPr/>
        </p:nvSpPr>
        <p:spPr>
          <a:xfrm>
            <a:off x="2157276" y="2997750"/>
            <a:ext cx="103253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аварийные ремонты</a:t>
            </a:r>
            <a:endParaRPr lang="ru-RU" sz="1000" dirty="0"/>
          </a:p>
        </p:txBody>
      </p:sp>
      <p:sp>
        <p:nvSpPr>
          <p:cNvPr id="68" name="TextBox 67"/>
          <p:cNvSpPr txBox="1"/>
          <p:nvPr/>
        </p:nvSpPr>
        <p:spPr>
          <a:xfrm>
            <a:off x="4187593" y="2805971"/>
            <a:ext cx="122075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Технический заказ для производства </a:t>
            </a:r>
            <a:r>
              <a:rPr lang="ru-RU" sz="1000" dirty="0"/>
              <a:t>деталей и изделий собственными силами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09776" y="2757875"/>
            <a:ext cx="14185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ежесменных технических обслуживаний на горно-транспортных комплексах</a:t>
            </a:r>
            <a:endParaRPr lang="ru-RU" sz="1000" dirty="0"/>
          </a:p>
        </p:txBody>
      </p:sp>
      <p:sp>
        <p:nvSpPr>
          <p:cNvPr id="70" name="TextBox 69"/>
          <p:cNvSpPr txBox="1"/>
          <p:nvPr/>
        </p:nvSpPr>
        <p:spPr>
          <a:xfrm>
            <a:off x="6531985" y="2754385"/>
            <a:ext cx="15126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ежесменных технических обслуживаний на золотоизвлекательных фабриках</a:t>
            </a:r>
            <a:endParaRPr lang="ru-RU" sz="1000" dirty="0"/>
          </a:p>
        </p:txBody>
      </p:sp>
      <p:sp>
        <p:nvSpPr>
          <p:cNvPr id="71" name="TextBox 70"/>
          <p:cNvSpPr txBox="1"/>
          <p:nvPr/>
        </p:nvSpPr>
        <p:spPr>
          <a:xfrm>
            <a:off x="7899662" y="2780517"/>
            <a:ext cx="1279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работ по экологии и промышленной безопасности</a:t>
            </a:r>
            <a:endParaRPr lang="ru-RU" sz="1000" dirty="0"/>
          </a:p>
        </p:txBody>
      </p:sp>
      <p:sp>
        <p:nvSpPr>
          <p:cNvPr id="75" name="TextBox 74"/>
          <p:cNvSpPr txBox="1"/>
          <p:nvPr/>
        </p:nvSpPr>
        <p:spPr>
          <a:xfrm>
            <a:off x="1281299" y="2850156"/>
            <a:ext cx="13127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ru-RU" sz="1000" dirty="0"/>
          </a:p>
        </p:txBody>
      </p:sp>
      <p:sp>
        <p:nvSpPr>
          <p:cNvPr id="86" name="Прямоугольник 85"/>
          <p:cNvSpPr/>
          <p:nvPr/>
        </p:nvSpPr>
        <p:spPr>
          <a:xfrm>
            <a:off x="7654286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7" name="Прямоугольник 86"/>
          <p:cNvSpPr/>
          <p:nvPr/>
        </p:nvSpPr>
        <p:spPr>
          <a:xfrm>
            <a:off x="6384297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8" name="Прямоугольник 87"/>
          <p:cNvSpPr/>
          <p:nvPr/>
        </p:nvSpPr>
        <p:spPr>
          <a:xfrm>
            <a:off x="5125714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9" name="Прямоугольник 88"/>
          <p:cNvSpPr/>
          <p:nvPr/>
        </p:nvSpPr>
        <p:spPr>
          <a:xfrm>
            <a:off x="3868566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0" name="Прямоугольник 89"/>
          <p:cNvSpPr/>
          <p:nvPr/>
        </p:nvSpPr>
        <p:spPr>
          <a:xfrm>
            <a:off x="2607281" y="4896766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1" name="Прямоугольник 90"/>
          <p:cNvSpPr/>
          <p:nvPr/>
        </p:nvSpPr>
        <p:spPr>
          <a:xfrm>
            <a:off x="1343693" y="4879880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2" name="Прямоугольник 91"/>
          <p:cNvSpPr/>
          <p:nvPr/>
        </p:nvSpPr>
        <p:spPr>
          <a:xfrm>
            <a:off x="111986" y="4880155"/>
            <a:ext cx="1178229" cy="931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3" name="TextBox 92"/>
          <p:cNvSpPr txBox="1"/>
          <p:nvPr/>
        </p:nvSpPr>
        <p:spPr>
          <a:xfrm>
            <a:off x="189944" y="5096754"/>
            <a:ext cx="10555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прочие работы</a:t>
            </a:r>
            <a:endParaRPr lang="ru-RU" sz="1000" dirty="0"/>
          </a:p>
        </p:txBody>
      </p:sp>
      <p:sp>
        <p:nvSpPr>
          <p:cNvPr id="94" name="TextBox 93"/>
          <p:cNvSpPr txBox="1"/>
          <p:nvPr/>
        </p:nvSpPr>
        <p:spPr>
          <a:xfrm>
            <a:off x="2545029" y="4898333"/>
            <a:ext cx="130029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 smtClean="0"/>
              <a:t>Заказ ТОРО для </a:t>
            </a:r>
            <a:r>
              <a:rPr lang="ru-RU" sz="900" dirty="0"/>
              <a:t>планирования и учета </a:t>
            </a:r>
            <a:r>
              <a:rPr lang="ru-RU" sz="900" dirty="0" smtClean="0"/>
              <a:t>работ </a:t>
            </a:r>
            <a:r>
              <a:rPr lang="ru-RU" sz="900" dirty="0"/>
              <a:t>подрядных организаций, выполняемых работы по абонентской </a:t>
            </a:r>
            <a:r>
              <a:rPr lang="ru-RU" sz="900" dirty="0" smtClean="0"/>
              <a:t>плате</a:t>
            </a:r>
            <a:endParaRPr lang="ru-RU" sz="900" dirty="0"/>
          </a:p>
        </p:txBody>
      </p:sp>
      <p:sp>
        <p:nvSpPr>
          <p:cNvPr id="95" name="TextBox 94"/>
          <p:cNvSpPr txBox="1"/>
          <p:nvPr/>
        </p:nvSpPr>
        <p:spPr>
          <a:xfrm>
            <a:off x="3752986" y="4814764"/>
            <a:ext cx="141139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900" dirty="0" smtClean="0"/>
              <a:t>Заказ ТОРО для планирования материалов разового потребления, услуг сторонних организаций и работ собственных подразделений</a:t>
            </a:r>
            <a:endParaRPr lang="ru-RU" sz="900" dirty="0"/>
          </a:p>
        </p:txBody>
      </p:sp>
      <p:sp>
        <p:nvSpPr>
          <p:cNvPr id="96" name="TextBox 95"/>
          <p:cNvSpPr txBox="1"/>
          <p:nvPr/>
        </p:nvSpPr>
        <p:spPr>
          <a:xfrm>
            <a:off x="5116229" y="5018745"/>
            <a:ext cx="1159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узлов обменного фонда</a:t>
            </a:r>
            <a:endParaRPr lang="ru-RU" sz="1000" dirty="0"/>
          </a:p>
        </p:txBody>
      </p:sp>
      <p:sp>
        <p:nvSpPr>
          <p:cNvPr id="97" name="TextBox 96"/>
          <p:cNvSpPr txBox="1"/>
          <p:nvPr/>
        </p:nvSpPr>
        <p:spPr>
          <a:xfrm>
            <a:off x="6337420" y="4968621"/>
            <a:ext cx="130011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узлов обменного фонда, ведущихся как материалы</a:t>
            </a:r>
            <a:endParaRPr lang="ru-RU" sz="1000" dirty="0"/>
          </a:p>
        </p:txBody>
      </p:sp>
      <p:sp>
        <p:nvSpPr>
          <p:cNvPr id="98" name="TextBox 97"/>
          <p:cNvSpPr txBox="1"/>
          <p:nvPr/>
        </p:nvSpPr>
        <p:spPr>
          <a:xfrm>
            <a:off x="7654286" y="4854733"/>
            <a:ext cx="1261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для планирования и учёта работ, когда нормативы еще неизвестны и не разработаны</a:t>
            </a:r>
            <a:endParaRPr lang="ru-RU" sz="1000" dirty="0"/>
          </a:p>
        </p:txBody>
      </p:sp>
      <p:sp>
        <p:nvSpPr>
          <p:cNvPr id="99" name="TextBox 98"/>
          <p:cNvSpPr txBox="1"/>
          <p:nvPr/>
        </p:nvSpPr>
        <p:spPr>
          <a:xfrm>
            <a:off x="1261075" y="5036443"/>
            <a:ext cx="13576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общие регулярно потребляемые материалы</a:t>
            </a:r>
            <a:endParaRPr lang="ru-RU" sz="1000" dirty="0"/>
          </a:p>
        </p:txBody>
      </p:sp>
      <p:sp>
        <p:nvSpPr>
          <p:cNvPr id="2" name="TextBox 1"/>
          <p:cNvSpPr txBox="1"/>
          <p:nvPr/>
        </p:nvSpPr>
        <p:spPr>
          <a:xfrm>
            <a:off x="1226328" y="2926299"/>
            <a:ext cx="928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внеплановые работы</a:t>
            </a:r>
            <a:endParaRPr lang="ru-RU" sz="1000" dirty="0"/>
          </a:p>
        </p:txBody>
      </p:sp>
      <p:sp>
        <p:nvSpPr>
          <p:cNvPr id="76" name="Прямоугольник 75"/>
          <p:cNvSpPr/>
          <p:nvPr/>
        </p:nvSpPr>
        <p:spPr>
          <a:xfrm>
            <a:off x="3178581" y="2786054"/>
            <a:ext cx="971784" cy="922598"/>
          </a:xfrm>
          <a:prstGeom prst="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3213609" y="1800281"/>
            <a:ext cx="950976" cy="539496"/>
          </a:xfrm>
          <a:prstGeom prst="rect">
            <a:avLst/>
          </a:prstGeom>
          <a:ln w="1905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8" name="TextBox 77"/>
          <p:cNvSpPr txBox="1"/>
          <p:nvPr/>
        </p:nvSpPr>
        <p:spPr>
          <a:xfrm>
            <a:off x="3150654" y="1858080"/>
            <a:ext cx="112137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800" dirty="0" smtClean="0"/>
              <a:t>Вид заказа </a:t>
            </a:r>
            <a:r>
              <a:rPr lang="en-US" sz="800" dirty="0" smtClean="0"/>
              <a:t>ADI1</a:t>
            </a:r>
          </a:p>
          <a:p>
            <a:pPr algn="ctr"/>
            <a:r>
              <a:rPr lang="ru-RU" sz="900" dirty="0" smtClean="0"/>
              <a:t>Диагностика</a:t>
            </a:r>
          </a:p>
        </p:txBody>
      </p:sp>
      <p:sp>
        <p:nvSpPr>
          <p:cNvPr id="85" name="Стрелка вниз 84"/>
          <p:cNvSpPr/>
          <p:nvPr/>
        </p:nvSpPr>
        <p:spPr>
          <a:xfrm>
            <a:off x="3582105" y="2335355"/>
            <a:ext cx="219000" cy="452628"/>
          </a:xfrm>
          <a:prstGeom prst="downArrow">
            <a:avLst/>
          </a:prstGeom>
          <a:solidFill>
            <a:schemeClr val="bg1"/>
          </a:solidFill>
          <a:ln w="1905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0" name="TextBox 99"/>
          <p:cNvSpPr txBox="1"/>
          <p:nvPr/>
        </p:nvSpPr>
        <p:spPr>
          <a:xfrm>
            <a:off x="3116108" y="2984305"/>
            <a:ext cx="1117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00" dirty="0" smtClean="0"/>
              <a:t>Заказ ТОРО на диагностические работы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440713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 txBox="1">
            <a:spLocks/>
          </p:cNvSpPr>
          <p:nvPr/>
        </p:nvSpPr>
        <p:spPr>
          <a:xfrm>
            <a:off x="549481" y="655410"/>
            <a:ext cx="7886700" cy="1325563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>
                <a:solidFill>
                  <a:srgbClr val="FCC917"/>
                </a:solidFill>
                <a:latin typeface="Calibri Body"/>
                <a:ea typeface="+mj-ea"/>
                <a:cs typeface="+mj-cs"/>
              </a:defRPr>
            </a:lvl1pPr>
          </a:lstStyle>
          <a:p>
            <a:r>
              <a:rPr lang="ru-RU" sz="3600" dirty="0" smtClean="0">
                <a:latin typeface="+mn-lt"/>
              </a:rPr>
              <a:t>Описание процесса</a:t>
            </a:r>
            <a:endParaRPr lang="ru-RU" sz="3600" dirty="0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9481" y="1318192"/>
            <a:ext cx="8420783" cy="14381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ru-RU" sz="2800" dirty="0">
                <a:solidFill>
                  <a:srgbClr val="FCC917"/>
                </a:solidFill>
              </a:rPr>
              <a:t>Обработка списка заказов и списка сообщений</a:t>
            </a:r>
          </a:p>
        </p:txBody>
      </p:sp>
    </p:spTree>
    <p:extLst>
      <p:ext uri="{BB962C8B-B14F-4D97-AF65-F5344CB8AC3E}">
        <p14:creationId xmlns:p14="http://schemas.microsoft.com/office/powerpoint/2010/main" val="3120335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Список сообщений ТОРО</a:t>
            </a:r>
            <a:endParaRPr lang="ru-RU" dirty="0"/>
          </a:p>
          <a:p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5806037" y="2476432"/>
            <a:ext cx="2496314" cy="1908117"/>
            <a:chOff x="2317508" y="904703"/>
            <a:chExt cx="1343033" cy="1029910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7508" y="942009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Работа со списком сообщений </a:t>
              </a:r>
              <a:r>
                <a:rPr lang="ru-RU" sz="1600" dirty="0" smtClean="0"/>
                <a:t>ТОРО</a:t>
              </a:r>
            </a:p>
            <a:p>
              <a:pPr algn="ctr"/>
              <a:endParaRPr lang="ru-RU" sz="1600" dirty="0"/>
            </a:p>
            <a:p>
              <a:pPr algn="ctr"/>
              <a:r>
                <a:rPr lang="ru-RU" sz="1600" dirty="0"/>
                <a:t>Доп. функции </a:t>
              </a:r>
              <a:r>
                <a:rPr lang="en-US" sz="1600" dirty="0"/>
                <a:t>IW28</a:t>
              </a:r>
              <a:endParaRPr lang="ru-RU" sz="1600" dirty="0"/>
            </a:p>
          </p:txBody>
        </p:sp>
      </p:grpSp>
      <p:cxnSp>
        <p:nvCxnSpPr>
          <p:cNvPr id="9" name="Прямая со стрелкой 8"/>
          <p:cNvCxnSpPr/>
          <p:nvPr/>
        </p:nvCxnSpPr>
        <p:spPr>
          <a:xfrm>
            <a:off x="671568" y="3778574"/>
            <a:ext cx="5134469" cy="17048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01691" y="1521351"/>
            <a:ext cx="507422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Ведение сообщений </a:t>
            </a:r>
            <a:r>
              <a:rPr lang="ru-RU" sz="1400" dirty="0" smtClean="0">
                <a:solidFill>
                  <a:srgbClr val="595959"/>
                </a:solidFill>
              </a:rPr>
              <a:t>ТОРО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Оперативное планирование </a:t>
            </a:r>
            <a:r>
              <a:rPr lang="ru-RU" sz="1400" dirty="0" smtClean="0">
                <a:solidFill>
                  <a:srgbClr val="595959"/>
                </a:solidFill>
              </a:rPr>
              <a:t>ТОРО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Управление внеплановыми воздействиями </a:t>
            </a:r>
            <a:r>
              <a:rPr lang="ru-RU" sz="1400" dirty="0" smtClean="0">
                <a:solidFill>
                  <a:srgbClr val="595959"/>
                </a:solidFill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Управление аварийными воздействиями </a:t>
            </a:r>
            <a:r>
              <a:rPr lang="ru-RU" sz="1400" dirty="0" smtClean="0">
                <a:solidFill>
                  <a:srgbClr val="595959"/>
                </a:solidFill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Регистрация технических параметров эксплуатации </a:t>
            </a:r>
            <a:r>
              <a:rPr lang="ru-RU" sz="1400" dirty="0" smtClean="0">
                <a:solidFill>
                  <a:srgbClr val="595959"/>
                </a:solidFill>
              </a:rPr>
              <a:t>оборудования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Выполнение и регистрация результатов диагностики </a:t>
            </a:r>
            <a:r>
              <a:rPr lang="ru-RU" sz="1400" dirty="0" smtClean="0">
                <a:solidFill>
                  <a:srgbClr val="595959"/>
                </a:solidFill>
              </a:rPr>
              <a:t>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Производство деталей и изделий собственными </a:t>
            </a:r>
            <a:r>
              <a:rPr lang="ru-RU" sz="1400" dirty="0" smtClean="0">
                <a:solidFill>
                  <a:srgbClr val="595959"/>
                </a:solidFill>
              </a:rPr>
              <a:t>силами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Формирование и потребление обменного </a:t>
            </a:r>
            <a:r>
              <a:rPr lang="ru-RU" sz="1400" dirty="0" smtClean="0">
                <a:solidFill>
                  <a:srgbClr val="595959"/>
                </a:solidFill>
              </a:rPr>
              <a:t>фонда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Учет времени в ремонте</a:t>
            </a:r>
            <a:endParaRPr lang="ru-RU" sz="1400" dirty="0" smtClean="0">
              <a:solidFill>
                <a:srgbClr val="595959"/>
              </a:solidFill>
            </a:endParaRPr>
          </a:p>
          <a:p>
            <a:endParaRPr lang="ru-RU" sz="1400" dirty="0" smtClean="0">
              <a:solidFill>
                <a:srgbClr val="59595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2455" y="4322813"/>
            <a:ext cx="829723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 по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надежности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Инициатор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Координатор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Обходчик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Оператор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Специалист по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диагностике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Специалист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ПТО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Технолог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400" dirty="0" smtClean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59394" y="1186388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Процессы, которые используют отчет: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1691" y="4052681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Роли в системе, которые используют отчет: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09344" y="2219425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3759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="" xmlns:a16="http://schemas.microsoft.com/office/drawing/2014/main" id="{1469FE8E-5BB1-4604-ACC9-D700C2511D5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Список заказов ТОРО</a:t>
            </a:r>
            <a:endParaRPr lang="ru-RU" dirty="0"/>
          </a:p>
          <a:p>
            <a:endParaRPr lang="ru-RU" dirty="0"/>
          </a:p>
        </p:txBody>
      </p:sp>
      <p:grpSp>
        <p:nvGrpSpPr>
          <p:cNvPr id="5" name="Группа 4"/>
          <p:cNvGrpSpPr/>
          <p:nvPr/>
        </p:nvGrpSpPr>
        <p:grpSpPr>
          <a:xfrm>
            <a:off x="5544764" y="2736229"/>
            <a:ext cx="2641146" cy="1839000"/>
            <a:chOff x="2276369" y="875631"/>
            <a:chExt cx="1420954" cy="992604"/>
          </a:xfrm>
        </p:grpSpPr>
        <p:sp>
          <p:nvSpPr>
            <p:cNvPr id="6" name="Скругленный прямоугольник 5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Скругленный прямоугольник 4"/>
            <p:cNvSpPr/>
            <p:nvPr/>
          </p:nvSpPr>
          <p:spPr>
            <a:xfrm>
              <a:off x="2276369" y="910440"/>
              <a:ext cx="1420954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/>
              <a:r>
                <a:rPr lang="ru-RU" sz="1600" dirty="0"/>
                <a:t>Работа со списком заказов </a:t>
              </a:r>
              <a:r>
                <a:rPr lang="ru-RU" sz="1600" dirty="0" smtClean="0"/>
                <a:t>ТОРО</a:t>
              </a:r>
            </a:p>
            <a:p>
              <a:pPr algn="ctr"/>
              <a:endParaRPr lang="ru-RU" sz="1600" dirty="0"/>
            </a:p>
            <a:p>
              <a:pPr algn="ctr"/>
              <a:r>
                <a:rPr lang="ru-RU" sz="1600" dirty="0"/>
                <a:t>Доп. функции </a:t>
              </a:r>
              <a:r>
                <a:rPr lang="en-US" sz="1600" dirty="0" smtClean="0"/>
                <a:t>IW38</a:t>
              </a:r>
            </a:p>
            <a:p>
              <a:pPr algn="ctr"/>
              <a:endParaRPr lang="en-US" sz="1600" dirty="0"/>
            </a:p>
            <a:p>
              <a:pPr algn="ctr"/>
              <a:r>
                <a:rPr lang="ru-RU" sz="1600" dirty="0"/>
                <a:t>Услуги сторонних организаций в заказах ТОРО</a:t>
              </a:r>
              <a:endParaRPr lang="en-US" sz="1600" dirty="0"/>
            </a:p>
          </p:txBody>
        </p:sp>
      </p:grpSp>
      <p:cxnSp>
        <p:nvCxnSpPr>
          <p:cNvPr id="9" name="Прямая со стрелкой 8"/>
          <p:cNvCxnSpPr/>
          <p:nvPr/>
        </p:nvCxnSpPr>
        <p:spPr>
          <a:xfrm>
            <a:off x="904431" y="3655729"/>
            <a:ext cx="4640333" cy="21335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2970" y="1486497"/>
            <a:ext cx="462590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Годовое планирование воздействий на </a:t>
            </a:r>
            <a:r>
              <a:rPr lang="ru-RU" sz="1400" dirty="0" smtClean="0">
                <a:solidFill>
                  <a:srgbClr val="595959"/>
                </a:solidFill>
              </a:rPr>
              <a:t>ПА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Планирование остановочных </a:t>
            </a:r>
            <a:r>
              <a:rPr lang="ru-RU" sz="1400" dirty="0" smtClean="0">
                <a:solidFill>
                  <a:srgbClr val="595959"/>
                </a:solidFill>
              </a:rPr>
              <a:t>ремонтов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Оперативное планирование </a:t>
            </a:r>
            <a:r>
              <a:rPr lang="ru-RU" sz="1400" dirty="0" smtClean="0">
                <a:solidFill>
                  <a:srgbClr val="595959"/>
                </a:solidFill>
              </a:rPr>
              <a:t>ТОРО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Выполнение и фактический учет ТОРО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Согласование заказов </a:t>
            </a:r>
            <a:r>
              <a:rPr lang="ru-RU" sz="1400" dirty="0" smtClean="0">
                <a:solidFill>
                  <a:srgbClr val="595959"/>
                </a:solidFill>
              </a:rPr>
              <a:t>ТОРО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Управление внеплановыми воздействиями </a:t>
            </a:r>
            <a:r>
              <a:rPr lang="ru-RU" sz="1400" dirty="0" smtClean="0">
                <a:solidFill>
                  <a:srgbClr val="595959"/>
                </a:solidFill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Управление аварийными воздействиями </a:t>
            </a:r>
            <a:r>
              <a:rPr lang="ru-RU" sz="1400" dirty="0" smtClean="0">
                <a:solidFill>
                  <a:srgbClr val="595959"/>
                </a:solidFill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Формирование и потребление обменного </a:t>
            </a:r>
            <a:r>
              <a:rPr lang="ru-RU" sz="1400" dirty="0" smtClean="0">
                <a:solidFill>
                  <a:srgbClr val="595959"/>
                </a:solidFill>
              </a:rPr>
              <a:t>фонда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</a:rPr>
              <a:t>Учет времени в ремонте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394" y="1133927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Процессы, которые используют отчет: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353" y="4338535"/>
            <a:ext cx="829723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Старший планировщик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Планировщик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Старший планировщик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ОР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Главный специалист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Инженер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ТОиР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Специалист </a:t>
            </a:r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ПТО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595959"/>
                </a:solidFill>
                <a:latin typeface="Calibri" panose="020F0502020204030204" pitchFamily="34" charset="0"/>
              </a:rPr>
              <a:t>Согласующий Технического комитета УО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60" y="3952877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solidFill>
                  <a:srgbClr val="595959"/>
                </a:solidFill>
                <a:latin typeface="Calibri" panose="020F0502020204030204" pitchFamily="34" charset="0"/>
              </a:rPr>
              <a:t>Роли в системе, которые используют отчет:</a:t>
            </a:r>
            <a:endParaRPr lang="ru-RU" sz="1400" dirty="0">
              <a:solidFill>
                <a:srgbClr val="595959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24539" y="2403551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4178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02430"/>
              </p:ext>
            </p:extLst>
          </p:nvPr>
        </p:nvGraphicFramePr>
        <p:xfrm>
          <a:off x="195386" y="1248586"/>
          <a:ext cx="8802310" cy="5247105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824523"/>
                <a:gridCol w="2487980"/>
                <a:gridCol w="2489807"/>
              </a:tblGrid>
              <a:tr h="997673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3337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Работа со списком сообщений ТОРО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6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Доп. функции </a:t>
                      </a: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IW28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7532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Работа со списком заказов ТОРО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120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Доп. функции </a:t>
                      </a:r>
                      <a:r>
                        <a:rPr 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IW38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088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Услуги сторонних организаций в заказах ТОРО</a:t>
                      </a:r>
                      <a:endParaRPr lang="ru-RU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607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77682" y="386806"/>
            <a:ext cx="8118730" cy="410926"/>
          </a:xfrm>
        </p:spPr>
        <p:txBody>
          <a:bodyPr/>
          <a:lstStyle/>
          <a:p>
            <a:r>
              <a:rPr lang="ru-RU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20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2000" dirty="0"/>
              <a:t>Обработка списка заказов и списка сообщений</a:t>
            </a:r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96284"/>
              </p:ext>
            </p:extLst>
          </p:nvPr>
        </p:nvGraphicFramePr>
        <p:xfrm>
          <a:off x="277682" y="1745478"/>
          <a:ext cx="8628574" cy="1340009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:a16="http://schemas.microsoft.com/office/drawing/2014/main" xmlns="" val="3700845562"/>
                    </a:ext>
                  </a:extLst>
                </a:gridCol>
              </a:tblGrid>
              <a:tr h="13400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Транзакции: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сообщений: список сообщений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сообщений: список сообщений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заказов ТОРО: список заказов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IW39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сообщений: список заказов</a:t>
                      </a:r>
                      <a:endParaRPr kumimoji="0" lang="en-US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815643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34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31CB8CC-FE9A-4FCB-9343-00FB8C37624D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107321</TotalTime>
  <Words>776</Words>
  <Application>Microsoft Office PowerPoint</Application>
  <PresentationFormat>Экран (4:3)</PresentationFormat>
  <Paragraphs>181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Body</vt:lpstr>
      <vt:lpstr>Calibri Light</vt:lpstr>
      <vt:lpstr>Verdana</vt:lpstr>
      <vt:lpstr>Тема Office</vt:lpstr>
      <vt:lpstr>Инструктаж по функциональному направлению «ТОиР»  80_ТОиР «Обработка списка заказов и списка сообщений»</vt:lpstr>
      <vt:lpstr>Основные элементы организационной структуры ТОиР S/4 HANA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Kalashnikova Ekaterina</cp:lastModifiedBy>
  <cp:revision>4215</cp:revision>
  <cp:lastPrinted>2018-04-09T09:22:20Z</cp:lastPrinted>
  <dcterms:created xsi:type="dcterms:W3CDTF">2015-07-14T13:53:28Z</dcterms:created>
  <dcterms:modified xsi:type="dcterms:W3CDTF">2020-11-18T09:46:00Z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