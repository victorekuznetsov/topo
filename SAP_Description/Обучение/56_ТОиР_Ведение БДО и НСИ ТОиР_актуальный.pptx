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53"/>
  </p:notesMasterIdLst>
  <p:handoutMasterIdLst>
    <p:handoutMasterId r:id="rId54"/>
  </p:handoutMasterIdLst>
  <p:sldIdLst>
    <p:sldId id="1389" r:id="rId5"/>
    <p:sldId id="1580" r:id="rId6"/>
    <p:sldId id="1581" r:id="rId7"/>
    <p:sldId id="1582" r:id="rId8"/>
    <p:sldId id="1583" r:id="rId9"/>
    <p:sldId id="1584" r:id="rId10"/>
    <p:sldId id="1664" r:id="rId11"/>
    <p:sldId id="1665" r:id="rId12"/>
    <p:sldId id="1666" r:id="rId13"/>
    <p:sldId id="1667" r:id="rId14"/>
    <p:sldId id="1668" r:id="rId15"/>
    <p:sldId id="1669" r:id="rId16"/>
    <p:sldId id="1460" r:id="rId17"/>
    <p:sldId id="1683" r:id="rId18"/>
    <p:sldId id="1684" r:id="rId19"/>
    <p:sldId id="1685" r:id="rId20"/>
    <p:sldId id="1686" r:id="rId21"/>
    <p:sldId id="1687" r:id="rId22"/>
    <p:sldId id="1461" r:id="rId23"/>
    <p:sldId id="1688" r:id="rId24"/>
    <p:sldId id="1689" r:id="rId25"/>
    <p:sldId id="1690" r:id="rId26"/>
    <p:sldId id="1691" r:id="rId27"/>
    <p:sldId id="1692" r:id="rId28"/>
    <p:sldId id="1457" r:id="rId29"/>
    <p:sldId id="1671" r:id="rId30"/>
    <p:sldId id="1672" r:id="rId31"/>
    <p:sldId id="1673" r:id="rId32"/>
    <p:sldId id="1674" r:id="rId33"/>
    <p:sldId id="1462" r:id="rId34"/>
    <p:sldId id="1675" r:id="rId35"/>
    <p:sldId id="1676" r:id="rId36"/>
    <p:sldId id="1678" r:id="rId37"/>
    <p:sldId id="1679" r:id="rId38"/>
    <p:sldId id="1458" r:id="rId39"/>
    <p:sldId id="1693" r:id="rId40"/>
    <p:sldId id="1694" r:id="rId41"/>
    <p:sldId id="1695" r:id="rId42"/>
    <p:sldId id="1696" r:id="rId43"/>
    <p:sldId id="1697" r:id="rId44"/>
    <p:sldId id="1459" r:id="rId45"/>
    <p:sldId id="1698" r:id="rId46"/>
    <p:sldId id="1699" r:id="rId47"/>
    <p:sldId id="1700" r:id="rId48"/>
    <p:sldId id="1701" r:id="rId49"/>
    <p:sldId id="1702" r:id="rId50"/>
    <p:sldId id="1652" r:id="rId51"/>
    <p:sldId id="1703" r:id="rId52"/>
  </p:sldIdLst>
  <p:sldSz cx="9144000" cy="6858000" type="screen4x3"/>
  <p:notesSz cx="6735763" cy="9866313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20" userDrawn="1">
          <p15:clr>
            <a:srgbClr val="A4A3A4"/>
          </p15:clr>
        </p15:guide>
        <p15:guide id="2" pos="295" userDrawn="1">
          <p15:clr>
            <a:srgbClr val="A4A3A4"/>
          </p15:clr>
        </p15:guide>
        <p15:guide id="3" pos="5465" userDrawn="1">
          <p15:clr>
            <a:srgbClr val="A4A3A4"/>
          </p15:clr>
        </p15:guide>
        <p15:guide id="4" pos="3061" userDrawn="1">
          <p15:clr>
            <a:srgbClr val="A4A3A4"/>
          </p15:clr>
        </p15:guide>
        <p15:guide id="5" pos="287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Чайка Ирина Николаевна" initials="ЧИН" lastIdx="1" clrIdx="0">
    <p:extLst>
      <p:ext uri="{19B8F6BF-5375-455C-9EA6-DF929625EA0E}">
        <p15:presenceInfo xmlns:p15="http://schemas.microsoft.com/office/powerpoint/2012/main" userId="S-1-5-21-4125628198-1674668921-3204586943-91972" providerId="AD"/>
      </p:ext>
    </p:extLst>
  </p:cmAuthor>
  <p:cmAuthor id="2" name="Nesterov, Ivan" initials="NI" lastIdx="1" clrIdx="1">
    <p:extLst>
      <p:ext uri="{19B8F6BF-5375-455C-9EA6-DF929625EA0E}">
        <p15:presenceInfo xmlns:p15="http://schemas.microsoft.com/office/powerpoint/2012/main" userId="S-1-5-21-74642-3284969411-2123768488-1208332" providerId="AD"/>
      </p:ext>
    </p:extLst>
  </p:cmAuthor>
  <p:cmAuthor id="3" name="Корнева Елена Александровна" initials="КЕА" lastIdx="2" clrIdx="2">
    <p:extLst>
      <p:ext uri="{19B8F6BF-5375-455C-9EA6-DF929625EA0E}">
        <p15:presenceInfo xmlns:p15="http://schemas.microsoft.com/office/powerpoint/2012/main" userId="S-1-5-21-4125628198-1674668921-3204586943-102375" providerId="AD"/>
      </p:ext>
    </p:extLst>
  </p:cmAuthor>
  <p:cmAuthor id="4" name="Александр" initials="А" lastIdx="1" clrIdx="3">
    <p:extLst>
      <p:ext uri="{19B8F6BF-5375-455C-9EA6-DF929625EA0E}">
        <p15:presenceInfo xmlns:p15="http://schemas.microsoft.com/office/powerpoint/2012/main" userId="Александр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C90B"/>
    <a:srgbClr val="FCC917"/>
    <a:srgbClr val="FFD966"/>
    <a:srgbClr val="FFF7E0"/>
    <a:srgbClr val="FAC90B"/>
    <a:srgbClr val="F6CC0C"/>
    <a:srgbClr val="19938A"/>
    <a:srgbClr val="C00937"/>
    <a:srgbClr val="B8B8B8"/>
    <a:srgbClr val="5959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17292A2E-F333-43FB-9621-5CBBE7FDCDCB}" styleName="Светлый стиль 2 — акцент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1E171933-4619-4E11-9A3F-F7608DF75F80}" styleName="Средний стиль 1 — акцент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Средний стиль 2 —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Средний стиль 2 —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Светлый стиль 1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799B23B-EC83-4686-B30A-512413B5E67A}" styleName="Светлый стиль 3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Светлый стиль 1 — акцент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7B26C5-4107-4FEC-AEDC-1716B250A1EF}" styleName="Светлый стиль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53" autoAdjust="0"/>
    <p:restoredTop sz="87093" autoAdjust="0"/>
  </p:normalViewPr>
  <p:slideViewPr>
    <p:cSldViewPr snapToGrid="0" showGuides="1">
      <p:cViewPr varScale="1">
        <p:scale>
          <a:sx n="89" d="100"/>
          <a:sy n="89" d="100"/>
        </p:scale>
        <p:origin x="1248" y="67"/>
      </p:cViewPr>
      <p:guideLst>
        <p:guide orient="horz" pos="4020"/>
        <p:guide pos="295"/>
        <p:guide pos="5465"/>
        <p:guide pos="3061"/>
        <p:guide pos="2877"/>
      </p:guideLst>
    </p:cSldViewPr>
  </p:slideViewPr>
  <p:outlineViewPr>
    <p:cViewPr>
      <p:scale>
        <a:sx n="33" d="100"/>
        <a:sy n="33" d="100"/>
      </p:scale>
      <p:origin x="0" y="-122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10" d="100"/>
        <a:sy n="110" d="100"/>
      </p:scale>
      <p:origin x="0" y="0"/>
    </p:cViewPr>
  </p:sorterViewPr>
  <p:notesViewPr>
    <p:cSldViewPr snapToGrid="0">
      <p:cViewPr varScale="1">
        <p:scale>
          <a:sx n="80" d="100"/>
          <a:sy n="80" d="100"/>
        </p:scale>
        <p:origin x="394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54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notesMaster" Target="notesMasters/notesMaster1.xml"/><Relationship Id="rId58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16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3.wmf"/><Relationship Id="rId1" Type="http://schemas.openxmlformats.org/officeDocument/2006/relationships/image" Target="../media/image22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14763" y="0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98B3E6-7D14-4828-917E-251E799EB6D3}" type="datetimeFigureOut">
              <a:rPr lang="ru-RU" smtClean="0"/>
              <a:t>16.11.2020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9371013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14763" y="9371013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825A57-54F6-47CC-8C31-8285844BAA91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481644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0.26178" units="1/cm"/>
          <inkml:channelProperty channel="Y" name="resolution" value="50.23256" units="1/cm"/>
          <inkml:channelProperty channel="T" name="resolution" value="1" units="1/dev"/>
        </inkml:channelProperties>
      </inkml:inkSource>
      <inkml:timestamp xml:id="ts0" timeString="2019-05-07T15:43:07.432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00650547-FCE6-4C9F-924D-FDAD7C07A1D4}" emma:medium="tactile" emma:mode="ink">
          <msink:context xmlns:msink="http://schemas.microsoft.com/ink/2010/main" type="writingRegion" rotatedBoundingBox="2932,9998 2947,9998 2947,10044 2932,10044"/>
        </emma:interpretation>
      </emma:emma>
    </inkml:annotationXML>
    <inkml:traceGroup>
      <inkml:annotationXML>
        <emma:emma xmlns:emma="http://www.w3.org/2003/04/emma" version="1.0">
          <emma:interpretation id="{4D413BF5-E76C-41CB-8FBE-6F59FA865CB4}" emma:medium="tactile" emma:mode="ink">
            <msink:context xmlns:msink="http://schemas.microsoft.com/ink/2010/main" type="paragraph" rotatedBoundingBox="2932,9998 2947,9998 2947,10044 2932,10044" alignmentLevel="1"/>
          </emma:interpretation>
        </emma:emma>
      </inkml:annotationXML>
      <inkml:traceGroup>
        <inkml:annotationXML>
          <emma:emma xmlns:emma="http://www.w3.org/2003/04/emma" version="1.0">
            <emma:interpretation id="{2912B46F-84C0-4E15-8744-C86480B7AB20}" emma:medium="tactile" emma:mode="ink">
              <msink:context xmlns:msink="http://schemas.microsoft.com/ink/2010/main" type="line" rotatedBoundingBox="2932,9998 2947,9998 2947,10044 2932,10044"/>
            </emma:interpretation>
          </emma:emma>
        </inkml:annotationXML>
        <inkml:traceGroup>
          <inkml:annotationXML>
            <emma:emma xmlns:emma="http://www.w3.org/2003/04/emma" version="1.0">
              <emma:interpretation id="{1F809A82-46CF-449C-9753-033BEF717237}" emma:medium="tactile" emma:mode="ink">
                <msink:context xmlns:msink="http://schemas.microsoft.com/ink/2010/main" type="inkWord" rotatedBoundingBox="2932,9998 2947,9998 2947,10044 2932,10044"/>
              </emma:interpretation>
              <emma:one-of disjunction-type="recognition" id="oneOf0">
                <emma:interpretation id="interp0" emma:lang="" emma:confidence="0">
                  <emma:literal>'</emma:literal>
                </emma:interpretation>
                <emma:interpretation id="interp1" emma:lang="" emma:confidence="0">
                  <emma:literal>.</emma:literal>
                </emma:interpretation>
                <emma:interpretation id="interp2" emma:lang="" emma:confidence="0">
                  <emma:literal>1</emma:literal>
                </emma:interpretation>
                <emma:interpretation id="interp3" emma:lang="" emma:confidence="0">
                  <emma:literal>/</emma:literal>
                </emma:interpretation>
                <emma:interpretation id="interp4" emma:lang="" emma:confidence="0">
                  <emma:literal>,</emma:literal>
                </emma:interpretation>
              </emma:one-of>
            </emma:emma>
          </inkml:annotationXML>
          <inkml:trace contextRef="#ctx0" brushRef="#br0">0 46 0,'0'-46'0</inkml:trace>
        </inkml:traceGroup>
      </inkml:traceGroup>
    </inkml:traceGroup>
  </inkml:traceGroup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15BFBE-1AB8-064D-92FF-01DC96DD8794}" type="datetimeFigureOut">
              <a:rPr lang="ru-RU" smtClean="0"/>
              <a:t>16.11.2020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901700" y="739775"/>
            <a:ext cx="4932363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r>
              <a:rPr lang="en-US" dirty="0"/>
              <a:t>j</a:t>
            </a:r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15373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A7C119-28D5-5342-8FDF-728EEBCB3E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681958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2"/>
            <a:r>
              <a:rPr lang="ru-RU" sz="1200" b="1" kern="1200" cap="all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 </a:t>
            </a:r>
            <a:r>
              <a:rPr lang="ru-RU" sz="1200" b="1" kern="1200" cap="all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РАСПОЛОЖЕНИЯ </a:t>
            </a:r>
            <a:r>
              <a:rPr lang="ru-RU" sz="1200" b="1" kern="1200" cap="all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ТЕХНических</a:t>
            </a:r>
            <a:r>
              <a:rPr lang="ru-RU" sz="1200" b="1" kern="1200" cap="all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Объектов</a:t>
            </a:r>
          </a:p>
          <a:p>
            <a:pPr lvl="2" algn="ctr"/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Определение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 расположения – организационная единица в системе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/4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HANA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на которой установлены и физически находятся технические объекты или объекты общего назначения (например, здания и сооружения) предприятия, подлежащие техническому обслуживанию и ремонту. Если планирование мероприятий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производится на самом заводе расположения технических объектов, то завод расположения технических объектов является одновременно и заводом, планирующим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Применение</a:t>
            </a:r>
            <a:endParaRPr lang="ru-RU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рамках реализации целевых бизнес-процессов Группы компаний Полюс заводы расположения предполагается создать для всех управляющих офисов, производственных заводов: ГТК,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золотоизвлекательных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фабрик и других заводов, где есть оборудование или здания и сооружения, подлежащие техническому обслуживанию и ремонту.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Заводы расположения создаются для логистических заводов: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Производственных и месторождений вспомогательного производства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Управляющих офисов – для зданий, сооружений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Перевалочных баз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Заводы расположения не создаются для логистических заводов: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аффинажных заводов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портов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заводов Полюс-Проекта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pPr lvl="3"/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Кодировка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Заводы расположения кодируются аналогично логистическим заводам.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Заводы кодируются как ХХ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NN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где ХХ – два первых символа кода БЕ, а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NN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последовательная нумерация (сначала цифрами, затем латинскими буквами). </a:t>
            </a:r>
          </a:p>
          <a:p>
            <a:r>
              <a:rPr lang="ru-RU" sz="120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Перечень заводов расположения приведен в Приложении № 1 к данному КД.</a:t>
            </a:r>
            <a:endParaRPr lang="ru-RU" sz="1200" i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7C119-28D5-5342-8FDF-728EEBCB3E7E}" type="slidenum">
              <a:rPr lang="ru-RU" smtClean="0"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31220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2"/>
            <a:r>
              <a:rPr lang="ru-RU" sz="1200" b="1" kern="1200" cap="all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 ПЛАНИРОВАНИЯ ТОРО</a:t>
            </a:r>
          </a:p>
          <a:p>
            <a:pPr lvl="2" algn="ctr"/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Определение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 планирования ТОРО – организационная единица в системе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/4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HANA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на которой планируются потребности в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а также планируется потребность в МТР и ведется учет остатков МТР. На заводе ведутся все данные, необходимые для технического обслуживания и ремонта оборудования, например, локальные технологические карты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и собираются затраты на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 планирования ТОРО присваивается одному логистическому заводу.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Применение</a:t>
            </a:r>
            <a:endParaRPr lang="ru-RU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рамках реализации целевых бизнес-процессов Группы компаний Полюс заводы планирования ТОРО предполагается создать для всех логистических заводов для МТР производственных площадок (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ГОКов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разрезов), перевалочных баз, управляющих офисов, и других заводов, где осуществляется планирование потребности в мероприятиях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рамках заводов планирования ТОРО осуществляется разделение полномочий между отдельными предприятиями, которые выполняют планирование мероприятий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Заводы планирования ТОРО один к одному соответствуют логистическим заводам и создаются для :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Заводов МТР (производственных площадок (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ГОКов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разрезов));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Перевалочных баз;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Управляющих офисов.</a:t>
            </a:r>
          </a:p>
          <a:p>
            <a:pPr lvl="3"/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Кодировка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Заводы планирования ТОРО кодируются аналогично логистическим заводам.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Заводы кодируются как ХХ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NN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где ХХ – два первых символа кода БЕ, а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NN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последовательная нумерация (сначала цифрами, затем латинскими буквами) пропуская аффинажные заводы XXXA. Сначала кодируются производственные заводы в последовательности: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золотоизвлекательные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фабрики, рудоуправления. После производственных кодируются остальные заводы: заводы МТР  (кроме основного), управляющие офисы и филиалы, и перевалочные базы. </a:t>
            </a:r>
          </a:p>
          <a:p>
            <a:r>
              <a:rPr lang="ru-RU" sz="120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Перечень заводов планирования ТОРО приведен в Приложении № 1 к данному КД.</a:t>
            </a:r>
            <a:endParaRPr lang="ru-RU" sz="1200" i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7C119-28D5-5342-8FDF-728EEBCB3E7E}" type="slidenum">
              <a:rPr lang="ru-RU" smtClean="0"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352948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2"/>
            <a:r>
              <a:rPr lang="ru-RU" sz="1200" b="1" kern="1200" cap="all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ГРУППА ПЛАНИРОВАНИЯ ТОРО</a:t>
            </a:r>
          </a:p>
          <a:p>
            <a:pPr lvl="2" algn="ctr"/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Определение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Группа планирования ТОРО - это элемент организационной структуры в системе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/4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HANA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который осуществляет планирование и организацию технического обслуживания и ремонта в рамках отдельного подразделения, службы, отдела, направления завода планирования ТОРО.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Применение</a:t>
            </a:r>
            <a:endParaRPr lang="ru-RU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рамках реализации целевых бизнес-процессов производства Группы компаний Полюс на заводах будут созданы группы планирования ТОРО в соответствии с направлениями деятельности служб и отделов, выполняющих планирование работ ТОРО, таких как: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Механики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  <a:endParaRPr lang="ru-RU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Электрики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  <a:endParaRPr lang="ru-RU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Метрологи/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КИПиА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  <a:endParaRPr lang="ru-RU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ЗИС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Одному заводу планирования ТОРО может соответствовать несколько групп планирования ТОРО в соответствии с направлениями деятельности по планированию работ ТОРО. На уровне группа планирования ТОРО выполняется разделение полномочий к объектам заказов ТОРО, к отчетности для более детального разграничения прав доступа в рамках подразделений и служб, выполняющих планирование мероприятий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vl="3"/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Кодировка</a:t>
            </a:r>
          </a:p>
          <a:p>
            <a:r>
              <a:rPr lang="ru-RU" sz="120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Группы планирования ТОРО кодируются длиной от 1 до 3 символов: XXX.</a:t>
            </a:r>
            <a:endParaRPr lang="ru-RU" sz="1200" i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рамках завода планирования ТОРО будут созданы группы планирования с трехсимвольными номерами: «100», «200» и т.д. </a:t>
            </a:r>
            <a:endParaRPr lang="ru-RU" sz="1200" i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Группа планирования ТОРО на каждому заводе планирования ТОРО будут кодироваться следующим образом:</a:t>
            </a:r>
            <a:endParaRPr lang="ru-RU" sz="1200" i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7C119-28D5-5342-8FDF-728EEBCB3E7E}" type="slidenum">
              <a:rPr lang="ru-RU" smtClean="0"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06288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Техническое место (ТМ) – это информационный объект, предназначенный для описания относительно постоянного во времени места установки технического объекта или группировки технических объектов по функциональному, технологическому или организационному принципу.</a:t>
            </a:r>
          </a:p>
          <a:p>
            <a:pPr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Техническому месту может соответствовать атрибут проектно-конструкторской или технологической документации, такой как: Номер установки, Технологическая позиция, Позиция установки, Канал измерения, Диспетчерское наименование.</a:t>
            </a:r>
          </a:p>
          <a:p>
            <a:pPr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Важной особенностью ТМ является функция отражения монтажа/демонтажа единицы оборудования на ТМ, что позволяет сохранять в системе историю перемещений ЕО между ТМ.</a:t>
            </a:r>
          </a:p>
          <a:p>
            <a:pPr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ТМ имеет уникальный код, позволяющий однозначно идентифицировать позицию установки ЕО.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7C119-28D5-5342-8FDF-728EEBCB3E7E}" type="slidenum">
              <a:rPr lang="ru-RU" smtClean="0"/>
              <a:t>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429101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Единицы оборудования (ЕО) – отдельные объекты, которые подлежат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качестве самостоятельных единиц. ЕО отражает данные и характеристики конкретного объекта, эксплуатируемого на предприятии, для которого является необходимым отслеживание жизненного цикла, включающего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приобретение;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ввод в эксплуатацию;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выполнение обслуживания и ремонта;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перемещение на склад/в обменный фонд;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перемещение между местами установки;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продление срока эксплуатации;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вывод из эксплуатации;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консервация;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утилизация.</a:t>
            </a:r>
          </a:p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7C119-28D5-5342-8FDF-728EEBCB3E7E}" type="slidenum">
              <a:rPr lang="ru-RU" smtClean="0"/>
              <a:t>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234806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7C119-28D5-5342-8FDF-728EEBCB3E7E}" type="slidenum">
              <a:rPr lang="ru-RU" smtClean="0"/>
              <a:t>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420547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7C119-28D5-5342-8FDF-728EEBCB3E7E}" type="slidenum">
              <a:rPr lang="ru-RU" smtClean="0"/>
              <a:t>11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449117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2"/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Описание объекта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Объект Каталог кодов ТОРО объединяет группы каталогов, содержащих, например, типовые отказы, типовые дефекты для определенного вида (класса) оборудования.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Каталоги ТОРО используются для ведения, единообразного определения и стандартизации информации..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Коды, которые используются для анализа, группируются согласно конкретным признакам в группы кодов. Таким признаком является, например, вид технического объекта (единицы оборудования или технического места).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Группы кодов объединяются в каталоги исходя из их содержимого. Эти каталоги идентифицируются по виду каталога (номеру или букве). В состав каталогов кодов ТОРО включаются различные комбинации видов каталогов с указанием используемых групп кодов.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Каталоги кодов ТОРО присваиваются техническим объектам (техническим местам и единицам оборудования) и документам измерений для классификации простоев, видов дефектов и других данных. Это позволяет использовать только присущие данному объекту коды, например, при описании дефекта в сообщениях ТОРО.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Возможна разработка индивидуальных каталогов ТОРО для конкретных видов технических мест и единиц оборудования. Такое решение позволит накапливать в системе формализованную информацию по состоянию, видам и частоте отказов, причинам отказов для конкретного объекта. Анализ такой информации позволит разрабатывать мероприятия по повышению надежности объекта и отслеживать их эффективность.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7C119-28D5-5342-8FDF-728EEBCB3E7E}" type="slidenum">
              <a:rPr lang="ru-RU" smtClean="0"/>
              <a:t>12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572384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9"/>
          <p:cNvSpPr/>
          <p:nvPr userDrawn="1"/>
        </p:nvSpPr>
        <p:spPr>
          <a:xfrm>
            <a:off x="0" y="0"/>
            <a:ext cx="9144000" cy="948807"/>
          </a:xfrm>
          <a:prstGeom prst="rect">
            <a:avLst/>
          </a:prstGeom>
          <a:solidFill>
            <a:srgbClr val="5959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itle 1"/>
          <p:cNvSpPr txBox="1">
            <a:spLocks/>
          </p:cNvSpPr>
          <p:nvPr userDrawn="1"/>
        </p:nvSpPr>
        <p:spPr>
          <a:xfrm>
            <a:off x="277161" y="586295"/>
            <a:ext cx="7380000" cy="3520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400" dirty="0">
                <a:solidFill>
                  <a:srgbClr val="FCC917"/>
                </a:solidFill>
                <a:latin typeface="+mn-lt"/>
                <a:cs typeface="Calibri" panose="020F0502020204030204" pitchFamily="34" charset="0"/>
              </a:rPr>
              <a:t>Повестка</a:t>
            </a:r>
            <a:endParaRPr lang="en-US" sz="2400" dirty="0">
              <a:solidFill>
                <a:srgbClr val="FCC917"/>
              </a:solidFill>
              <a:latin typeface="+mn-lt"/>
              <a:cs typeface="Calibri" panose="020F050202020403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39570" y="106695"/>
            <a:ext cx="1308543" cy="751976"/>
          </a:xfrm>
          <a:prstGeom prst="rect">
            <a:avLst/>
          </a:prstGeom>
        </p:spPr>
      </p:pic>
      <p:sp>
        <p:nvSpPr>
          <p:cNvPr id="11" name="Title 1"/>
          <p:cNvSpPr txBox="1">
            <a:spLocks/>
          </p:cNvSpPr>
          <p:nvPr userDrawn="1"/>
        </p:nvSpPr>
        <p:spPr>
          <a:xfrm>
            <a:off x="277665" y="130681"/>
            <a:ext cx="7380000" cy="3520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800" kern="1200" dirty="0" smtClean="0">
                <a:solidFill>
                  <a:schemeClr val="bg1"/>
                </a:solidFill>
                <a:latin typeface="+mj-lt"/>
                <a:ea typeface="+mj-ea"/>
                <a:cs typeface="Calibri" panose="020F0502020204030204" pitchFamily="34" charset="0"/>
              </a:rPr>
              <a:t>Внедрение «Пилота» и стабилизация решения</a:t>
            </a:r>
            <a:endParaRPr lang="en-US" sz="1800" kern="1200" dirty="0">
              <a:solidFill>
                <a:schemeClr val="bg1"/>
              </a:solidFill>
              <a:latin typeface="+mj-lt"/>
              <a:ea typeface="+mj-ea"/>
              <a:cs typeface="Calibri" panose="020F0502020204030204" pitchFamily="34" charset="0"/>
            </a:endParaRPr>
          </a:p>
        </p:txBody>
      </p:sp>
      <p:sp>
        <p:nvSpPr>
          <p:cNvPr id="12" name="Прямоугольник 1"/>
          <p:cNvSpPr/>
          <p:nvPr userDrawn="1"/>
        </p:nvSpPr>
        <p:spPr>
          <a:xfrm>
            <a:off x="8683619" y="6488668"/>
            <a:ext cx="42511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E2225EAA-A87D-4D00-A6EA-7D86A67873A6}" type="slidenum">
              <a:rPr lang="ru-RU" altLang="en-US" sz="1600" b="0" smtClean="0">
                <a:latin typeface="Calibri" pitchFamily="34" charset="0"/>
                <a:cs typeface="Arial" pitchFamily="34" charset="0"/>
              </a:rPr>
              <a:pPr/>
              <a:t>‹#›</a:t>
            </a:fld>
            <a:endParaRPr lang="ru-RU" sz="1600" b="0" dirty="0"/>
          </a:p>
        </p:txBody>
      </p:sp>
    </p:spTree>
    <p:extLst>
      <p:ext uri="{BB962C8B-B14F-4D97-AF65-F5344CB8AC3E}">
        <p14:creationId xmlns:p14="http://schemas.microsoft.com/office/powerpoint/2010/main" val="2812108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9"/>
          <p:cNvSpPr/>
          <p:nvPr userDrawn="1"/>
        </p:nvSpPr>
        <p:spPr>
          <a:xfrm>
            <a:off x="0" y="0"/>
            <a:ext cx="9144000" cy="948807"/>
          </a:xfrm>
          <a:prstGeom prst="rect">
            <a:avLst/>
          </a:prstGeom>
          <a:solidFill>
            <a:srgbClr val="5959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5" name="Content Placeholder 54"/>
          <p:cNvSpPr>
            <a:spLocks noGrp="1"/>
          </p:cNvSpPr>
          <p:nvPr>
            <p:ph sz="quarter" idx="13" hasCustomPrompt="1"/>
          </p:nvPr>
        </p:nvSpPr>
        <p:spPr>
          <a:xfrm>
            <a:off x="259394" y="1044992"/>
            <a:ext cx="8738281" cy="5059362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ru-RU" dirty="0"/>
              <a:t>Первый уровень</a:t>
            </a:r>
            <a:endParaRPr lang="en-US" dirty="0"/>
          </a:p>
          <a:p>
            <a:pPr lvl="1"/>
            <a:r>
              <a:rPr lang="ru-RU" dirty="0"/>
              <a:t>Второй уровень</a:t>
            </a:r>
            <a:endParaRPr lang="en-US" dirty="0"/>
          </a:p>
          <a:p>
            <a:pPr lvl="2"/>
            <a:r>
              <a:rPr lang="ru-RU" dirty="0"/>
              <a:t>Третий уровень</a:t>
            </a:r>
            <a:endParaRPr lang="en-US" dirty="0"/>
          </a:p>
          <a:p>
            <a:pPr lvl="3"/>
            <a:r>
              <a:rPr lang="ru-RU" dirty="0"/>
              <a:t>Четвертый уровень</a:t>
            </a:r>
            <a:endParaRPr lang="en-US" dirty="0"/>
          </a:p>
          <a:p>
            <a:pPr lvl="4"/>
            <a:r>
              <a:rPr lang="ru-RU" dirty="0"/>
              <a:t>Пятый уровень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39570" y="106695"/>
            <a:ext cx="1308543" cy="751976"/>
          </a:xfrm>
          <a:prstGeom prst="rect">
            <a:avLst/>
          </a:prstGeom>
        </p:spPr>
      </p:pic>
      <p:sp>
        <p:nvSpPr>
          <p:cNvPr id="10" name="Title 1"/>
          <p:cNvSpPr txBox="1">
            <a:spLocks/>
          </p:cNvSpPr>
          <p:nvPr userDrawn="1"/>
        </p:nvSpPr>
        <p:spPr>
          <a:xfrm>
            <a:off x="256645" y="130681"/>
            <a:ext cx="7380000" cy="3520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800" kern="1200" dirty="0" smtClean="0">
                <a:solidFill>
                  <a:schemeClr val="bg1"/>
                </a:solidFill>
                <a:latin typeface="+mj-lt"/>
                <a:ea typeface="+mj-ea"/>
                <a:cs typeface="Calibri" panose="020F0502020204030204" pitchFamily="34" charset="0"/>
              </a:rPr>
              <a:t>Внедрение «Пилота» и стабилизация решения</a:t>
            </a:r>
            <a:endParaRPr lang="en-US" sz="1800" kern="1200" dirty="0">
              <a:solidFill>
                <a:schemeClr val="bg1"/>
              </a:solidFill>
              <a:latin typeface="+mj-lt"/>
              <a:ea typeface="+mj-ea"/>
              <a:cs typeface="Calibri" panose="020F0502020204030204" pitchFamily="34" charset="0"/>
            </a:endParaRPr>
          </a:p>
        </p:txBody>
      </p:sp>
      <p:sp>
        <p:nvSpPr>
          <p:cNvPr id="11" name="Content Placeholder 57"/>
          <p:cNvSpPr>
            <a:spLocks noGrp="1"/>
          </p:cNvSpPr>
          <p:nvPr>
            <p:ph sz="quarter" idx="14" hasCustomPrompt="1"/>
          </p:nvPr>
        </p:nvSpPr>
        <p:spPr>
          <a:xfrm>
            <a:off x="259394" y="537881"/>
            <a:ext cx="7927975" cy="41092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rgbClr val="FCC917"/>
                </a:solidFill>
                <a:latin typeface="+mn-lt"/>
              </a:defRPr>
            </a:lvl1pPr>
          </a:lstStyle>
          <a:p>
            <a:pPr lvl="0"/>
            <a:r>
              <a:rPr lang="ru-RU" dirty="0"/>
              <a:t>Название слайда</a:t>
            </a:r>
          </a:p>
        </p:txBody>
      </p:sp>
      <p:sp>
        <p:nvSpPr>
          <p:cNvPr id="13" name="Прямоугольник 1"/>
          <p:cNvSpPr/>
          <p:nvPr userDrawn="1"/>
        </p:nvSpPr>
        <p:spPr>
          <a:xfrm>
            <a:off x="8683619" y="6488668"/>
            <a:ext cx="42511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E2225EAA-A87D-4D00-A6EA-7D86A67873A6}" type="slidenum">
              <a:rPr lang="ru-RU" altLang="en-US" sz="1600" b="0" smtClean="0">
                <a:latin typeface="+mn-lt"/>
                <a:cs typeface="Arial" pitchFamily="34" charset="0"/>
              </a:rPr>
              <a:pPr/>
              <a:t>‹#›</a:t>
            </a:fld>
            <a:endParaRPr lang="ru-RU" sz="1600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63941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Вертикальный заголовок и текст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 userDrawn="1"/>
        </p:nvSpPr>
        <p:spPr>
          <a:xfrm>
            <a:off x="-728132" y="1066799"/>
            <a:ext cx="592666" cy="567267"/>
          </a:xfrm>
          <a:prstGeom prst="rect">
            <a:avLst/>
          </a:prstGeom>
          <a:solidFill>
            <a:srgbClr val="FBC90B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ru-RU" dirty="0">
              <a:ln>
                <a:solidFill>
                  <a:srgbClr val="535756"/>
                </a:solidFill>
              </a:ln>
              <a:solidFill>
                <a:srgbClr val="F6CC0C"/>
              </a:solidFill>
            </a:endParaRPr>
          </a:p>
        </p:txBody>
      </p:sp>
      <p:sp>
        <p:nvSpPr>
          <p:cNvPr id="6" name="Прямоугольник 5"/>
          <p:cNvSpPr/>
          <p:nvPr userDrawn="1"/>
        </p:nvSpPr>
        <p:spPr>
          <a:xfrm>
            <a:off x="-728132" y="1820332"/>
            <a:ext cx="592666" cy="567267"/>
          </a:xfrm>
          <a:prstGeom prst="rect">
            <a:avLst/>
          </a:prstGeom>
          <a:solidFill>
            <a:srgbClr val="555859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ru-RU" dirty="0">
              <a:ln>
                <a:solidFill>
                  <a:srgbClr val="535756"/>
                </a:solidFill>
              </a:ln>
              <a:solidFill>
                <a:prstClr val="white"/>
              </a:solidFill>
            </a:endParaRPr>
          </a:p>
        </p:txBody>
      </p:sp>
      <p:sp>
        <p:nvSpPr>
          <p:cNvPr id="7" name="Прямоугольник 6"/>
          <p:cNvSpPr/>
          <p:nvPr userDrawn="1"/>
        </p:nvSpPr>
        <p:spPr>
          <a:xfrm>
            <a:off x="-728132" y="3005666"/>
            <a:ext cx="592666" cy="567267"/>
          </a:xfrm>
          <a:prstGeom prst="rect">
            <a:avLst/>
          </a:prstGeom>
          <a:solidFill>
            <a:srgbClr val="C00937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ru-RU" dirty="0">
              <a:ln>
                <a:solidFill>
                  <a:srgbClr val="535756"/>
                </a:solidFill>
              </a:ln>
              <a:solidFill>
                <a:srgbClr val="F6CC0C"/>
              </a:solidFill>
            </a:endParaRPr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-728132" y="3759199"/>
            <a:ext cx="592666" cy="567267"/>
          </a:xfrm>
          <a:prstGeom prst="rect">
            <a:avLst/>
          </a:prstGeom>
          <a:solidFill>
            <a:srgbClr val="00867E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ru-RU" dirty="0">
              <a:ln>
                <a:solidFill>
                  <a:srgbClr val="535756"/>
                </a:solidFill>
              </a:ln>
              <a:solidFill>
                <a:prstClr val="white"/>
              </a:solidFill>
            </a:endParaRPr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-728132" y="4512732"/>
            <a:ext cx="592666" cy="567267"/>
          </a:xfrm>
          <a:prstGeom prst="rect">
            <a:avLst/>
          </a:prstGeom>
          <a:solidFill>
            <a:srgbClr val="642235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ru-RU" dirty="0">
              <a:ln>
                <a:solidFill>
                  <a:srgbClr val="535756"/>
                </a:solidFill>
              </a:ln>
              <a:solidFill>
                <a:srgbClr val="F6CC0C"/>
              </a:solidFill>
            </a:endParaRPr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-728132" y="5266265"/>
            <a:ext cx="592666" cy="567267"/>
          </a:xfrm>
          <a:prstGeom prst="rect">
            <a:avLst/>
          </a:prstGeom>
          <a:solidFill>
            <a:srgbClr val="DB5505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ru-RU" dirty="0">
              <a:ln>
                <a:solidFill>
                  <a:srgbClr val="535756"/>
                </a:solidFill>
              </a:ln>
              <a:solidFill>
                <a:prstClr val="white"/>
              </a:solidFill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-677334" y="2992966"/>
            <a:ext cx="49106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192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9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55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-677334" y="1820332"/>
            <a:ext cx="49106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srgbClr val="FBC90B"/>
                </a:solidFill>
                <a:latin typeface="Calibri"/>
              </a:rPr>
              <a:t>85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srgbClr val="FBC90B"/>
                </a:solidFill>
                <a:latin typeface="Calibri"/>
              </a:rPr>
              <a:t>88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srgbClr val="FBC90B"/>
                </a:solidFill>
                <a:latin typeface="Calibri"/>
              </a:rPr>
              <a:t>89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-677334" y="3759199"/>
            <a:ext cx="49106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0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134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126</a:t>
            </a:r>
          </a:p>
        </p:txBody>
      </p:sp>
      <p:sp>
        <p:nvSpPr>
          <p:cNvPr id="14" name="TextBox 13"/>
          <p:cNvSpPr txBox="1"/>
          <p:nvPr userDrawn="1"/>
        </p:nvSpPr>
        <p:spPr>
          <a:xfrm>
            <a:off x="-677334" y="4496283"/>
            <a:ext cx="49106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100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34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53</a:t>
            </a:r>
          </a:p>
        </p:txBody>
      </p:sp>
      <p:sp>
        <p:nvSpPr>
          <p:cNvPr id="15" name="TextBox 14"/>
          <p:cNvSpPr txBox="1"/>
          <p:nvPr userDrawn="1"/>
        </p:nvSpPr>
        <p:spPr>
          <a:xfrm>
            <a:off x="-677334" y="5251933"/>
            <a:ext cx="49106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219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85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 userDrawn="1"/>
        </p:nvSpPr>
        <p:spPr>
          <a:xfrm>
            <a:off x="-677334" y="1048234"/>
            <a:ext cx="49106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srgbClr val="555859"/>
                </a:solidFill>
                <a:latin typeface="Calibri"/>
              </a:rPr>
              <a:t>251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srgbClr val="555859"/>
                </a:solidFill>
                <a:latin typeface="Calibri"/>
              </a:rPr>
              <a:t>201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srgbClr val="555859"/>
                </a:solidFill>
                <a:latin typeface="Calibri"/>
              </a:rPr>
              <a:t>11</a:t>
            </a:r>
          </a:p>
        </p:txBody>
      </p:sp>
      <p:pic>
        <p:nvPicPr>
          <p:cNvPr id="17" name="Picture 4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57388" y="108106"/>
            <a:ext cx="1697425" cy="975453"/>
          </a:xfrm>
          <a:prstGeom prst="rect">
            <a:avLst/>
          </a:prstGeom>
        </p:spPr>
      </p:pic>
      <p:sp>
        <p:nvSpPr>
          <p:cNvPr id="18" name="Title 1"/>
          <p:cNvSpPr>
            <a:spLocks noGrp="1"/>
          </p:cNvSpPr>
          <p:nvPr>
            <p:ph type="ctrTitle" hasCustomPrompt="1"/>
          </p:nvPr>
        </p:nvSpPr>
        <p:spPr>
          <a:xfrm>
            <a:off x="498838" y="1364019"/>
            <a:ext cx="7772400" cy="619941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algn="l" defTabSz="914400" rtl="0" eaLnBrk="1" latinLnBrk="0" hangingPunct="1">
              <a:defRPr lang="en-US" sz="3800" b="1" kern="1200" dirty="0">
                <a:solidFill>
                  <a:srgbClr val="FCC917"/>
                </a:solidFill>
                <a:latin typeface="+mn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ru-RU" dirty="0"/>
              <a:t>Название проекта </a:t>
            </a:r>
            <a:r>
              <a:rPr lang="en-US" dirty="0"/>
              <a:t>(Calibri bold 38)</a:t>
            </a:r>
          </a:p>
        </p:txBody>
      </p:sp>
      <p:sp>
        <p:nvSpPr>
          <p:cNvPr id="19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98838" y="2159317"/>
            <a:ext cx="6858000" cy="52001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lang="en-US" sz="2800" kern="1200" dirty="0">
                <a:solidFill>
                  <a:srgbClr val="FCC917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Тема презентации</a:t>
            </a:r>
            <a:r>
              <a:rPr lang="en-US" dirty="0"/>
              <a:t> (Calibri 28)</a:t>
            </a:r>
          </a:p>
        </p:txBody>
      </p:sp>
      <p:sp>
        <p:nvSpPr>
          <p:cNvPr id="20" name="Content Placeholder 9"/>
          <p:cNvSpPr>
            <a:spLocks noGrp="1"/>
          </p:cNvSpPr>
          <p:nvPr>
            <p:ph sz="quarter" idx="10" hasCustomPrompt="1"/>
          </p:nvPr>
        </p:nvSpPr>
        <p:spPr>
          <a:xfrm>
            <a:off x="498838" y="6003925"/>
            <a:ext cx="1143000" cy="2825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FCC917"/>
                </a:solidFill>
              </a:defRPr>
            </a:lvl1pPr>
          </a:lstStyle>
          <a:p>
            <a:pPr lvl="0"/>
            <a:r>
              <a:rPr lang="ru-RU" dirty="0" err="1"/>
              <a:t>чч.мм.гггг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82133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9"/>
          <p:cNvSpPr/>
          <p:nvPr userDrawn="1"/>
        </p:nvSpPr>
        <p:spPr>
          <a:xfrm>
            <a:off x="0" y="0"/>
            <a:ext cx="9144000" cy="948807"/>
          </a:xfrm>
          <a:prstGeom prst="rect">
            <a:avLst/>
          </a:prstGeom>
          <a:solidFill>
            <a:srgbClr val="5959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9394" y="96185"/>
            <a:ext cx="7886700" cy="441695"/>
          </a:xfrm>
        </p:spPr>
        <p:txBody>
          <a:bodyPr>
            <a:normAutofit/>
          </a:bodyPr>
          <a:lstStyle>
            <a:lvl1pPr>
              <a:defRPr sz="1800" b="1" baseline="0">
                <a:solidFill>
                  <a:schemeClr val="bg1"/>
                </a:solidFill>
                <a:latin typeface="Calibri Body"/>
              </a:defRPr>
            </a:lvl1pPr>
          </a:lstStyle>
          <a:p>
            <a:r>
              <a:rPr lang="ru-RU" dirty="0"/>
              <a:t>Наименование программы</a:t>
            </a:r>
            <a:r>
              <a:rPr lang="en-US" dirty="0"/>
              <a:t>/</a:t>
            </a:r>
            <a:r>
              <a:rPr lang="ru-RU" dirty="0"/>
              <a:t>Проекта</a:t>
            </a:r>
            <a:r>
              <a:rPr lang="en-US" dirty="0"/>
              <a:t>/</a:t>
            </a:r>
            <a:r>
              <a:rPr lang="ru-RU" dirty="0"/>
              <a:t> название презентации</a:t>
            </a:r>
            <a:endParaRPr lang="en-US" dirty="0"/>
          </a:p>
        </p:txBody>
      </p:sp>
      <p:sp>
        <p:nvSpPr>
          <p:cNvPr id="55" name="Content Placeholder 54"/>
          <p:cNvSpPr>
            <a:spLocks noGrp="1"/>
          </p:cNvSpPr>
          <p:nvPr>
            <p:ph sz="quarter" idx="13" hasCustomPrompt="1"/>
          </p:nvPr>
        </p:nvSpPr>
        <p:spPr>
          <a:xfrm>
            <a:off x="259394" y="1044992"/>
            <a:ext cx="8738281" cy="5059362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 dirty="0"/>
              <a:t>Первый уровень</a:t>
            </a:r>
            <a:endParaRPr lang="en-US" dirty="0"/>
          </a:p>
          <a:p>
            <a:pPr lvl="1"/>
            <a:r>
              <a:rPr lang="ru-RU" dirty="0"/>
              <a:t>Второй уровень</a:t>
            </a:r>
            <a:endParaRPr lang="en-US" dirty="0"/>
          </a:p>
          <a:p>
            <a:pPr lvl="2"/>
            <a:r>
              <a:rPr lang="ru-RU" dirty="0"/>
              <a:t>Третий уровень</a:t>
            </a:r>
            <a:endParaRPr lang="en-US" dirty="0"/>
          </a:p>
          <a:p>
            <a:pPr lvl="3"/>
            <a:r>
              <a:rPr lang="ru-RU" dirty="0"/>
              <a:t>Четвертый уровень</a:t>
            </a:r>
            <a:endParaRPr lang="en-US" dirty="0"/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8" name="Content Placeholder 57"/>
          <p:cNvSpPr>
            <a:spLocks noGrp="1"/>
          </p:cNvSpPr>
          <p:nvPr>
            <p:ph sz="quarter" idx="14" hasCustomPrompt="1"/>
          </p:nvPr>
        </p:nvSpPr>
        <p:spPr>
          <a:xfrm>
            <a:off x="259394" y="537881"/>
            <a:ext cx="7927975" cy="410926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rgbClr val="FCC917"/>
                </a:solidFill>
              </a:defRPr>
            </a:lvl1pPr>
          </a:lstStyle>
          <a:p>
            <a:pPr lvl="0"/>
            <a:r>
              <a:rPr lang="ru-RU" dirty="0"/>
              <a:t>Название слайда</a:t>
            </a:r>
          </a:p>
        </p:txBody>
      </p:sp>
      <p:sp>
        <p:nvSpPr>
          <p:cNvPr id="63" name="Slide Number Placeholder 62"/>
          <p:cNvSpPr>
            <a:spLocks noGrp="1"/>
          </p:cNvSpPr>
          <p:nvPr>
            <p:ph type="sldNum" sz="quarter" idx="17"/>
          </p:nvPr>
        </p:nvSpPr>
        <p:spPr>
          <a:xfrm>
            <a:off x="8562975" y="6343858"/>
            <a:ext cx="434700" cy="365125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fld id="{608ABF02-B19E-48F4-8CD1-E615EFE72681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39570" y="106695"/>
            <a:ext cx="1308543" cy="751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337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4949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4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4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" Target="slide4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" Target="slide4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" Target="slide4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" Target="slide4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" Target="slide4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" Target="slide4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" Target="slide4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" Target="slide4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" Target="slide48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" Target="slide4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" Target="slide4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" Target="slide4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" Target="slide4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" Target="slide48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" Target="slide48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" Target="slide48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" Target="slide4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" Target="slide4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" Target="slide48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" Target="slide48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" Target="slide48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" Target="slide48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" Target="slide48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3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2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/>
          <p:cNvSpPr/>
          <p:nvPr/>
        </p:nvSpPr>
        <p:spPr bwMode="gray">
          <a:xfrm>
            <a:off x="404260" y="2597903"/>
            <a:ext cx="8401069" cy="584775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r>
              <a:rPr lang="ru-RU" sz="3200" dirty="0" smtClean="0">
                <a:solidFill>
                  <a:srgbClr val="FCC917"/>
                </a:solidFill>
              </a:rPr>
              <a:t>Название сценария</a:t>
            </a:r>
            <a:endParaRPr lang="en-US" sz="3200" dirty="0">
              <a:solidFill>
                <a:srgbClr val="FCC917"/>
              </a:solidFill>
            </a:endParaRPr>
          </a:p>
        </p:txBody>
      </p:sp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330526" y="1636294"/>
            <a:ext cx="7940712" cy="665299"/>
          </a:xfrm>
        </p:spPr>
        <p:txBody>
          <a:bodyPr>
            <a:normAutofit fontScale="90000"/>
          </a:bodyPr>
          <a:lstStyle/>
          <a:p>
            <a:r>
              <a:rPr lang="ru-RU" sz="4000" dirty="0"/>
              <a:t>Инструктаж по функциональному направлению </a:t>
            </a:r>
            <a:r>
              <a:rPr lang="ru-RU" sz="4000" dirty="0" smtClean="0"/>
              <a:t>«ТОиР»</a:t>
            </a:r>
            <a:endParaRPr lang="en-US" sz="40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Рукописный ввод 2"/>
              <p14:cNvContentPartPr/>
              <p14:nvPr/>
            </p14:nvContentPartPr>
            <p14:xfrm>
              <a:off x="1055553" y="3599411"/>
              <a:ext cx="360" cy="16920"/>
            </p14:xfrm>
          </p:contentPart>
        </mc:Choice>
        <mc:Fallback xmlns="">
          <p:pic>
            <p:nvPicPr>
              <p:cNvPr id="3" name="Рукописный ввод 2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43673" y="3587531"/>
                <a:ext cx="24120" cy="40680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TextBox 10"/>
          <p:cNvSpPr txBox="1"/>
          <p:nvPr/>
        </p:nvSpPr>
        <p:spPr>
          <a:xfrm>
            <a:off x="404261" y="3247334"/>
            <a:ext cx="770896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n>
                  <a:solidFill>
                    <a:srgbClr val="FAC90B"/>
                  </a:solidFill>
                </a:ln>
                <a:solidFill>
                  <a:srgbClr val="FAC90B"/>
                </a:solidFill>
              </a:rPr>
              <a:t>Ведение НСИ ТОиР (Технические места/Единицы оборудования/Рабочие места/Каталоги </a:t>
            </a:r>
            <a:r>
              <a:rPr lang="ru-RU" sz="2400" dirty="0" smtClean="0">
                <a:ln>
                  <a:solidFill>
                    <a:srgbClr val="FAC90B"/>
                  </a:solidFill>
                </a:ln>
                <a:solidFill>
                  <a:srgbClr val="FAC90B"/>
                </a:solidFill>
              </a:rPr>
              <a:t>кодов/Точки измерения) </a:t>
            </a:r>
            <a:r>
              <a:rPr lang="ru-RU" sz="2400" dirty="0">
                <a:ln>
                  <a:solidFill>
                    <a:srgbClr val="FAC90B"/>
                  </a:solidFill>
                </a:ln>
                <a:solidFill>
                  <a:srgbClr val="FAC90B"/>
                </a:solidFill>
              </a:rPr>
              <a:t>и ведение </a:t>
            </a:r>
            <a:r>
              <a:rPr lang="ru-RU" sz="2400" dirty="0" smtClean="0">
                <a:ln>
                  <a:solidFill>
                    <a:srgbClr val="FAC90B"/>
                  </a:solidFill>
                </a:ln>
                <a:solidFill>
                  <a:srgbClr val="FAC90B"/>
                </a:solidFill>
              </a:rPr>
              <a:t>эксплуатационных </a:t>
            </a:r>
            <a:r>
              <a:rPr lang="ru-RU" sz="2400" dirty="0">
                <a:ln>
                  <a:solidFill>
                    <a:srgbClr val="FAC90B"/>
                  </a:solidFill>
                </a:ln>
                <a:solidFill>
                  <a:srgbClr val="FAC90B"/>
                </a:solidFill>
              </a:rPr>
              <a:t>характеристик оборудования</a:t>
            </a:r>
          </a:p>
        </p:txBody>
      </p:sp>
    </p:spTree>
    <p:extLst>
      <p:ext uri="{BB962C8B-B14F-4D97-AF65-F5344CB8AC3E}">
        <p14:creationId xmlns:p14="http://schemas.microsoft.com/office/powerpoint/2010/main" val="3069653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E7452D6-2931-4660-B72B-23BEE7756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1600" dirty="0" smtClean="0"/>
              <a:t>Внедрение пилота и </a:t>
            </a:r>
            <a:r>
              <a:rPr lang="ru-RU" sz="1600" dirty="0"/>
              <a:t>с</a:t>
            </a:r>
            <a:r>
              <a:rPr lang="ru-RU" sz="1600" dirty="0" smtClean="0"/>
              <a:t>табилизация</a:t>
            </a:r>
            <a:endParaRPr lang="ru-RU" sz="1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0BEA5EF0-EB5E-4271-800C-F8AFAECFA1F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ABF02-B19E-48F4-8CD1-E615EFE72681}" type="slidenum">
              <a:rPr lang="ru-RU" smtClean="0"/>
              <a:pPr/>
              <a:t>2</a:t>
            </a:fld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A1EF22C0-3D4C-46D3-9147-98A942E14074}"/>
              </a:ext>
            </a:extLst>
          </p:cNvPr>
          <p:cNvSpPr txBox="1"/>
          <p:nvPr/>
        </p:nvSpPr>
        <p:spPr>
          <a:xfrm>
            <a:off x="1015836" y="1251469"/>
            <a:ext cx="32930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  <a:latin typeface="Calibri" panose="020F0502020204030204"/>
              </a:rPr>
              <a:t>Планирующий </a:t>
            </a:r>
            <a:r>
              <a:rPr kumimoji="0" lang="ru-RU" sz="1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Завод (</a:t>
            </a:r>
            <a:r>
              <a:rPr lang="ru-RU" sz="1400" b="1" dirty="0" smtClean="0">
                <a:solidFill>
                  <a:prstClr val="black"/>
                </a:solidFill>
              </a:rPr>
              <a:t>МТР </a:t>
            </a:r>
            <a:r>
              <a:rPr lang="ru-RU" sz="1400" b="1" dirty="0" err="1" smtClean="0">
                <a:solidFill>
                  <a:prstClr val="black"/>
                </a:solidFill>
              </a:rPr>
              <a:t>Вернинское</a:t>
            </a:r>
            <a:r>
              <a:rPr lang="ru-RU" sz="1400" b="1" dirty="0">
                <a:solidFill>
                  <a:prstClr val="black"/>
                </a:solidFill>
              </a:rPr>
              <a:t>)</a:t>
            </a:r>
            <a:endParaRPr lang="ru-RU" sz="1400" b="1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8DF78CB0-8EFD-45BA-A2E3-EA62FA9534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393" y="1027906"/>
            <a:ext cx="756443" cy="75644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A03B924C-2E9B-49B1-86FF-0B5A577F2F13}"/>
              </a:ext>
            </a:extLst>
          </p:cNvPr>
          <p:cNvSpPr txBox="1"/>
          <p:nvPr/>
        </p:nvSpPr>
        <p:spPr>
          <a:xfrm>
            <a:off x="1626413" y="3390009"/>
            <a:ext cx="20717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457200">
              <a:defRPr/>
            </a:pPr>
            <a:r>
              <a:rPr lang="ru-RU" sz="1400" b="1" noProof="0" dirty="0" smtClean="0">
                <a:solidFill>
                  <a:prstClr val="black"/>
                </a:solidFill>
                <a:latin typeface="Calibri" panose="020F0502020204030204"/>
              </a:rPr>
              <a:t>Группа планирования</a:t>
            </a:r>
            <a:endParaRPr kumimoji="0" lang="ru-RU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28723BFB-ECB8-430E-84E0-DEE5BC0C26DA}"/>
              </a:ext>
            </a:extLst>
          </p:cNvPr>
          <p:cNvSpPr txBox="1"/>
          <p:nvPr/>
        </p:nvSpPr>
        <p:spPr>
          <a:xfrm>
            <a:off x="1962040" y="3830045"/>
            <a:ext cx="9847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</a:rPr>
              <a:t>Механики</a:t>
            </a:r>
            <a:endParaRPr lang="ru-RU" sz="1400" b="1" dirty="0">
              <a:solidFill>
                <a:prstClr val="black"/>
              </a:solidFill>
            </a:endParaRPr>
          </a:p>
        </p:txBody>
      </p:sp>
      <p:pic>
        <p:nvPicPr>
          <p:cNvPr id="21" name="Picture 11" descr="q7">
            <a:extLst>
              <a:ext uri="{FF2B5EF4-FFF2-40B4-BE49-F238E27FC236}">
                <a16:creationId xmlns:a16="http://schemas.microsoft.com/office/drawing/2014/main" xmlns="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95275" y="3812198"/>
            <a:ext cx="141960" cy="3833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xmlns="" id="{08327DC5-AA2B-464A-86E5-6C11A292CE6C}"/>
              </a:ext>
            </a:extLst>
          </p:cNvPr>
          <p:cNvCxnSpPr>
            <a:cxnSpLocks/>
            <a:stCxn id="9" idx="2"/>
            <a:endCxn id="63" idx="1"/>
          </p:cNvCxnSpPr>
          <p:nvPr/>
        </p:nvCxnSpPr>
        <p:spPr>
          <a:xfrm rot="16200000" flipH="1">
            <a:off x="-114176" y="2536139"/>
            <a:ext cx="1868954" cy="36537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xmlns="" id="{3A0F56DD-CF56-4F1A-ADC7-E0069D93ECD9}"/>
              </a:ext>
            </a:extLst>
          </p:cNvPr>
          <p:cNvCxnSpPr>
            <a:cxnSpLocks/>
            <a:stCxn id="9" idx="2"/>
            <a:endCxn id="61" idx="1"/>
          </p:cNvCxnSpPr>
          <p:nvPr/>
        </p:nvCxnSpPr>
        <p:spPr>
          <a:xfrm rot="16200000" flipH="1">
            <a:off x="381042" y="2040921"/>
            <a:ext cx="1114233" cy="60108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xmlns="" id="{EE5D4648-FA46-435D-8C88-B69916011E23}"/>
              </a:ext>
            </a:extLst>
          </p:cNvPr>
          <p:cNvCxnSpPr>
            <a:cxnSpLocks/>
            <a:stCxn id="63" idx="2"/>
            <a:endCxn id="43" idx="1"/>
          </p:cNvCxnSpPr>
          <p:nvPr/>
        </p:nvCxnSpPr>
        <p:spPr>
          <a:xfrm rot="16200000" flipH="1">
            <a:off x="1282877" y="3886015"/>
            <a:ext cx="482292" cy="54250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xmlns="" id="{3814E9AF-D996-4CA9-AB03-EAF3EEFC8983}"/>
              </a:ext>
            </a:extLst>
          </p:cNvPr>
          <p:cNvCxnSpPr>
            <a:cxnSpLocks/>
            <a:stCxn id="63" idx="2"/>
            <a:endCxn id="46" idx="1"/>
          </p:cNvCxnSpPr>
          <p:nvPr/>
        </p:nvCxnSpPr>
        <p:spPr>
          <a:xfrm rot="16200000" flipH="1">
            <a:off x="1054823" y="4114070"/>
            <a:ext cx="919154" cy="52325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xmlns="" id="{70BCBBD2-7604-446B-9BF1-6D8F3937AD04}"/>
              </a:ext>
            </a:extLst>
          </p:cNvPr>
          <p:cNvCxnSpPr>
            <a:cxnSpLocks/>
            <a:stCxn id="63" idx="2"/>
            <a:endCxn id="21" idx="1"/>
          </p:cNvCxnSpPr>
          <p:nvPr/>
        </p:nvCxnSpPr>
        <p:spPr>
          <a:xfrm rot="16200000" flipH="1">
            <a:off x="1480137" y="3688755"/>
            <a:ext cx="87772" cy="54250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Content Placeholder 40">
            <a:extLst>
              <a:ext uri="{FF2B5EF4-FFF2-40B4-BE49-F238E27FC236}">
                <a16:creationId xmlns:a16="http://schemas.microsoft.com/office/drawing/2014/main" xmlns="" id="{72908958-8178-442F-A26C-EECF80B40226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/>
              <a:t>Организационная структура </a:t>
            </a:r>
            <a:r>
              <a:rPr lang="ru-RU" sz="2000" dirty="0" smtClean="0"/>
              <a:t>ТОиР</a:t>
            </a:r>
            <a:endParaRPr lang="ru-RU" sz="20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CA66FEB1-6A64-42C0-B7D1-C69537B39736}"/>
              </a:ext>
            </a:extLst>
          </p:cNvPr>
          <p:cNvSpPr txBox="1"/>
          <p:nvPr/>
        </p:nvSpPr>
        <p:spPr>
          <a:xfrm>
            <a:off x="2034952" y="1959708"/>
            <a:ext cx="43849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kumimoji="0" lang="ru-RU" sz="1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Завод расположения (</a:t>
            </a:r>
            <a:r>
              <a:rPr lang="ru-RU" sz="1400" b="1" noProof="0" dirty="0" smtClean="0">
                <a:solidFill>
                  <a:prstClr val="black"/>
                </a:solidFill>
              </a:rPr>
              <a:t>Г</a:t>
            </a:r>
            <a:r>
              <a:rPr lang="ru-RU" sz="1400" b="1" dirty="0" err="1" smtClean="0">
                <a:solidFill>
                  <a:prstClr val="black"/>
                </a:solidFill>
              </a:rPr>
              <a:t>орно</a:t>
            </a:r>
            <a:r>
              <a:rPr lang="ru-RU" sz="1400" b="1" dirty="0" smtClean="0">
                <a:solidFill>
                  <a:prstClr val="black"/>
                </a:solidFill>
              </a:rPr>
              <a:t>-транспортный комплекс)</a:t>
            </a:r>
            <a:endParaRPr lang="ru-RU" sz="1400" b="1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xmlns="" id="{37FE7E8F-72FB-4517-A496-46F4F25779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597" y="1749012"/>
            <a:ext cx="756443" cy="756443"/>
          </a:xfrm>
          <a:prstGeom prst="rect">
            <a:avLst/>
          </a:prstGeom>
        </p:spPr>
      </p:pic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xmlns="" id="{0F914EFE-345F-4856-97FD-0ACEDE102A32}"/>
              </a:ext>
            </a:extLst>
          </p:cNvPr>
          <p:cNvCxnSpPr>
            <a:cxnSpLocks/>
            <a:stCxn id="9" idx="2"/>
          </p:cNvCxnSpPr>
          <p:nvPr/>
        </p:nvCxnSpPr>
        <p:spPr>
          <a:xfrm rot="16200000" flipH="1">
            <a:off x="766716" y="1655247"/>
            <a:ext cx="342884" cy="60108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" name="Picture 32">
            <a:extLst>
              <a:ext uri="{FF2B5EF4-FFF2-40B4-BE49-F238E27FC236}">
                <a16:creationId xmlns:a16="http://schemas.microsoft.com/office/drawing/2014/main" xmlns="" id="{37FE7E8F-72FB-4517-A496-46F4F25779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702" y="2520360"/>
            <a:ext cx="756443" cy="756443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xmlns="" id="{CA66FEB1-6A64-42C0-B7D1-C69537B39736}"/>
              </a:ext>
            </a:extLst>
          </p:cNvPr>
          <p:cNvSpPr txBox="1"/>
          <p:nvPr/>
        </p:nvSpPr>
        <p:spPr>
          <a:xfrm>
            <a:off x="2035159" y="2731028"/>
            <a:ext cx="43606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kumimoji="0" lang="ru-RU" sz="1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Завод расположения (</a:t>
            </a:r>
            <a:r>
              <a:rPr lang="ru-RU" sz="1400" b="1" dirty="0" err="1" smtClean="0">
                <a:solidFill>
                  <a:prstClr val="black"/>
                </a:solidFill>
                <a:latin typeface="Calibri" panose="020F0502020204030204"/>
              </a:rPr>
              <a:t>Золотоизвлекающая</a:t>
            </a:r>
            <a:r>
              <a:rPr lang="ru-RU" sz="1400" b="1" dirty="0" smtClean="0">
                <a:solidFill>
                  <a:prstClr val="black"/>
                </a:solidFill>
                <a:latin typeface="Calibri" panose="020F0502020204030204"/>
              </a:rPr>
              <a:t> фабрика)</a:t>
            </a:r>
            <a:endParaRPr lang="ru-RU" sz="1400" b="1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63" name="Picture 15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988" y="3390485"/>
            <a:ext cx="499568" cy="525636"/>
          </a:xfrm>
          <a:prstGeom prst="rect">
            <a:avLst/>
          </a:prstGeom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xmlns="" id="{28723BFB-ECB8-430E-84E0-DEE5BC0C26DA}"/>
              </a:ext>
            </a:extLst>
          </p:cNvPr>
          <p:cNvSpPr txBox="1"/>
          <p:nvPr/>
        </p:nvSpPr>
        <p:spPr>
          <a:xfrm>
            <a:off x="1960135" y="4202268"/>
            <a:ext cx="10736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</a:rPr>
              <a:t>Энергетики</a:t>
            </a:r>
            <a:endParaRPr lang="ru-RU" sz="1400" b="1" dirty="0">
              <a:solidFill>
                <a:prstClr val="black"/>
              </a:solidFill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xmlns="" id="{28723BFB-ECB8-430E-84E0-DEE5BC0C26DA}"/>
              </a:ext>
            </a:extLst>
          </p:cNvPr>
          <p:cNvSpPr txBox="1"/>
          <p:nvPr/>
        </p:nvSpPr>
        <p:spPr>
          <a:xfrm>
            <a:off x="1963985" y="4610664"/>
            <a:ext cx="11349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</a:rPr>
              <a:t>Метрология</a:t>
            </a:r>
            <a:endParaRPr lang="ru-RU" sz="1400" b="1" dirty="0">
              <a:solidFill>
                <a:prstClr val="black"/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xmlns="" id="{28723BFB-ECB8-430E-84E0-DEE5BC0C26DA}"/>
              </a:ext>
            </a:extLst>
          </p:cNvPr>
          <p:cNvSpPr txBox="1"/>
          <p:nvPr/>
        </p:nvSpPr>
        <p:spPr>
          <a:xfrm>
            <a:off x="1971594" y="5079988"/>
            <a:ext cx="482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</a:rPr>
              <a:t>ЗИС</a:t>
            </a:r>
            <a:endParaRPr lang="ru-RU" sz="1400" b="1" dirty="0">
              <a:solidFill>
                <a:prstClr val="black"/>
              </a:solidFill>
            </a:endParaRPr>
          </a:p>
        </p:txBody>
      </p:sp>
      <p:cxnSp>
        <p:nvCxnSpPr>
          <p:cNvPr id="74" name="Connector: Elbow 28">
            <a:extLst>
              <a:ext uri="{FF2B5EF4-FFF2-40B4-BE49-F238E27FC236}">
                <a16:creationId xmlns:a16="http://schemas.microsoft.com/office/drawing/2014/main" xmlns="" id="{3814E9AF-D996-4CA9-AB03-EAF3EEFC8983}"/>
              </a:ext>
            </a:extLst>
          </p:cNvPr>
          <p:cNvCxnSpPr>
            <a:cxnSpLocks/>
            <a:stCxn id="63" idx="2"/>
            <a:endCxn id="48" idx="1"/>
          </p:cNvCxnSpPr>
          <p:nvPr/>
        </p:nvCxnSpPr>
        <p:spPr>
          <a:xfrm rot="16200000" flipH="1">
            <a:off x="847264" y="4321629"/>
            <a:ext cx="1327039" cy="51602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xmlns="" id="{28723BFB-ECB8-430E-84E0-DEE5BC0C26DA}"/>
              </a:ext>
            </a:extLst>
          </p:cNvPr>
          <p:cNvSpPr txBox="1"/>
          <p:nvPr/>
        </p:nvSpPr>
        <p:spPr>
          <a:xfrm>
            <a:off x="1937235" y="5497486"/>
            <a:ext cx="15684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</a:rPr>
              <a:t>Пожарная охрана</a:t>
            </a:r>
            <a:endParaRPr lang="ru-RU" sz="1400" b="1" dirty="0">
              <a:solidFill>
                <a:prstClr val="black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xmlns="" id="{28723BFB-ECB8-430E-84E0-DEE5BC0C26DA}"/>
              </a:ext>
            </a:extLst>
          </p:cNvPr>
          <p:cNvSpPr txBox="1"/>
          <p:nvPr/>
        </p:nvSpPr>
        <p:spPr>
          <a:xfrm>
            <a:off x="1960135" y="5952259"/>
            <a:ext cx="6662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err="1" smtClean="0">
                <a:solidFill>
                  <a:prstClr val="black"/>
                </a:solidFill>
              </a:rPr>
              <a:t>АГиТО</a:t>
            </a:r>
            <a:endParaRPr lang="ru-RU" sz="1400" b="1" dirty="0">
              <a:solidFill>
                <a:prstClr val="black"/>
              </a:solidFill>
            </a:endParaRPr>
          </a:p>
        </p:txBody>
      </p:sp>
      <p:pic>
        <p:nvPicPr>
          <p:cNvPr id="43" name="Picture 11" descr="q7">
            <a:extLst>
              <a:ext uri="{FF2B5EF4-FFF2-40B4-BE49-F238E27FC236}">
                <a16:creationId xmlns:a16="http://schemas.microsoft.com/office/drawing/2014/main" xmlns="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95275" y="4206718"/>
            <a:ext cx="141960" cy="3833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6" name="Picture 11" descr="q7">
            <a:extLst>
              <a:ext uri="{FF2B5EF4-FFF2-40B4-BE49-F238E27FC236}">
                <a16:creationId xmlns:a16="http://schemas.microsoft.com/office/drawing/2014/main" xmlns="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76028" y="4643580"/>
            <a:ext cx="141960" cy="3833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8" name="Picture 11" descr="q7">
            <a:extLst>
              <a:ext uri="{FF2B5EF4-FFF2-40B4-BE49-F238E27FC236}">
                <a16:creationId xmlns:a16="http://schemas.microsoft.com/office/drawing/2014/main" xmlns="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68794" y="5051465"/>
            <a:ext cx="141960" cy="3833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0" name="Picture 11" descr="q7">
            <a:extLst>
              <a:ext uri="{FF2B5EF4-FFF2-40B4-BE49-F238E27FC236}">
                <a16:creationId xmlns:a16="http://schemas.microsoft.com/office/drawing/2014/main" xmlns="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68794" y="5482959"/>
            <a:ext cx="141960" cy="3833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" name="Picture 11" descr="q7">
            <a:extLst>
              <a:ext uri="{FF2B5EF4-FFF2-40B4-BE49-F238E27FC236}">
                <a16:creationId xmlns:a16="http://schemas.microsoft.com/office/drawing/2014/main" xmlns="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67912" y="5914453"/>
            <a:ext cx="141960" cy="3833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2" name="Picture 11" descr="q7">
            <a:extLst>
              <a:ext uri="{FF2B5EF4-FFF2-40B4-BE49-F238E27FC236}">
                <a16:creationId xmlns:a16="http://schemas.microsoft.com/office/drawing/2014/main" xmlns="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80192" y="6352059"/>
            <a:ext cx="141960" cy="3833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xmlns="" id="{28723BFB-ECB8-430E-84E0-DEE5BC0C26DA}"/>
              </a:ext>
            </a:extLst>
          </p:cNvPr>
          <p:cNvSpPr txBox="1"/>
          <p:nvPr/>
        </p:nvSpPr>
        <p:spPr>
          <a:xfrm>
            <a:off x="1937235" y="6416651"/>
            <a:ext cx="12538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</a:rPr>
              <a:t>Эксплуатация</a:t>
            </a:r>
            <a:endParaRPr lang="ru-RU" sz="1400" b="1" dirty="0">
              <a:solidFill>
                <a:prstClr val="black"/>
              </a:solidFill>
            </a:endParaRPr>
          </a:p>
        </p:txBody>
      </p:sp>
      <p:cxnSp>
        <p:nvCxnSpPr>
          <p:cNvPr id="54" name="Connector: Elbow 28">
            <a:extLst>
              <a:ext uri="{FF2B5EF4-FFF2-40B4-BE49-F238E27FC236}">
                <a16:creationId xmlns:a16="http://schemas.microsoft.com/office/drawing/2014/main" xmlns="" id="{3814E9AF-D996-4CA9-AB03-EAF3EEFC8983}"/>
              </a:ext>
            </a:extLst>
          </p:cNvPr>
          <p:cNvCxnSpPr>
            <a:cxnSpLocks/>
            <a:stCxn id="63" idx="2"/>
            <a:endCxn id="50" idx="1"/>
          </p:cNvCxnSpPr>
          <p:nvPr/>
        </p:nvCxnSpPr>
        <p:spPr>
          <a:xfrm rot="16200000" flipH="1">
            <a:off x="631517" y="4537376"/>
            <a:ext cx="1758533" cy="51602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ctor: Elbow 28">
            <a:extLst>
              <a:ext uri="{FF2B5EF4-FFF2-40B4-BE49-F238E27FC236}">
                <a16:creationId xmlns:a16="http://schemas.microsoft.com/office/drawing/2014/main" xmlns="" id="{3814E9AF-D996-4CA9-AB03-EAF3EEFC8983}"/>
              </a:ext>
            </a:extLst>
          </p:cNvPr>
          <p:cNvCxnSpPr>
            <a:cxnSpLocks/>
            <a:stCxn id="63" idx="2"/>
            <a:endCxn id="51" idx="1"/>
          </p:cNvCxnSpPr>
          <p:nvPr/>
        </p:nvCxnSpPr>
        <p:spPr>
          <a:xfrm rot="16200000" flipH="1">
            <a:off x="415329" y="4753564"/>
            <a:ext cx="2190027" cy="51514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or: Elbow 28">
            <a:extLst>
              <a:ext uri="{FF2B5EF4-FFF2-40B4-BE49-F238E27FC236}">
                <a16:creationId xmlns:a16="http://schemas.microsoft.com/office/drawing/2014/main" xmlns="" id="{3814E9AF-D996-4CA9-AB03-EAF3EEFC8983}"/>
              </a:ext>
            </a:extLst>
          </p:cNvPr>
          <p:cNvCxnSpPr>
            <a:cxnSpLocks/>
            <a:stCxn id="63" idx="2"/>
            <a:endCxn id="52" idx="1"/>
          </p:cNvCxnSpPr>
          <p:nvPr/>
        </p:nvCxnSpPr>
        <p:spPr>
          <a:xfrm rot="16200000" flipH="1">
            <a:off x="202666" y="4966227"/>
            <a:ext cx="2627633" cy="52742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0572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Завод расположения технических объектов</a:t>
            </a:r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D6AF221D-D50C-4215-80A9-F450D2E058D4}"/>
              </a:ext>
            </a:extLst>
          </p:cNvPr>
          <p:cNvSpPr txBox="1"/>
          <p:nvPr/>
        </p:nvSpPr>
        <p:spPr>
          <a:xfrm>
            <a:off x="366282" y="1128786"/>
            <a:ext cx="4877736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 smtClean="0"/>
              <a:t>Заводы расположения ТОРО – </a:t>
            </a:r>
            <a:r>
              <a:rPr lang="ru-RU" dirty="0"/>
              <a:t>организационная единица в системе </a:t>
            </a:r>
            <a:r>
              <a:rPr lang="en-US" dirty="0"/>
              <a:t>S</a:t>
            </a:r>
            <a:r>
              <a:rPr lang="ru-RU" dirty="0"/>
              <a:t>/4</a:t>
            </a:r>
            <a:r>
              <a:rPr lang="en-US" dirty="0"/>
              <a:t>HANA</a:t>
            </a:r>
            <a:r>
              <a:rPr lang="ru-RU" dirty="0"/>
              <a:t>, на которой установлены и физически находятся технические объекты или объекты общего назначения (например, здания и сооружения) предприятия, подлежащие техническому обслуживанию и ремонту</a:t>
            </a:r>
            <a:r>
              <a:rPr lang="ru-RU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 smtClean="0"/>
              <a:t>Заводы расположения ТОРО в рамках группы компания Полюс – это управляющие офисы, производственные заводы: ГТК,ЗИФ и другие, где есть оборудование или здания и сооружения, подлежащие техническому обслуживанию и ремонту.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xmlns="" id="{DADD2EAE-83A2-480E-BC8C-22303421C34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8404" y="1052205"/>
            <a:ext cx="1273592" cy="127359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xmlns="" id="{4FF47B6F-3A74-4140-BB8B-E295612714E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4815" y="2984031"/>
            <a:ext cx="1251887" cy="125188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xmlns="" id="{948FA8B2-F4D0-4001-AC9A-B1EB426BFE1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1214" y="2999134"/>
            <a:ext cx="1236023" cy="1236023"/>
          </a:xfrm>
          <a:prstGeom prst="rect">
            <a:avLst/>
          </a:prstGeom>
        </p:spPr>
      </p:pic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xmlns="" id="{BB67AD97-282B-438C-ACF6-60B5280B028E}"/>
              </a:ext>
            </a:extLst>
          </p:cNvPr>
          <p:cNvCxnSpPr>
            <a:cxnSpLocks/>
            <a:stCxn id="20" idx="2"/>
            <a:endCxn id="21" idx="0"/>
          </p:cNvCxnSpPr>
          <p:nvPr/>
        </p:nvCxnSpPr>
        <p:spPr>
          <a:xfrm rot="5400000">
            <a:off x="6148863" y="1817694"/>
            <a:ext cx="658234" cy="1674441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xmlns="" id="{7CEDCB67-C6D0-40A6-8D3E-5428FC0FFE10}"/>
              </a:ext>
            </a:extLst>
          </p:cNvPr>
          <p:cNvCxnSpPr>
            <a:cxnSpLocks/>
            <a:stCxn id="22" idx="0"/>
            <a:endCxn id="20" idx="2"/>
          </p:cNvCxnSpPr>
          <p:nvPr/>
        </p:nvCxnSpPr>
        <p:spPr>
          <a:xfrm rot="5400000" flipH="1" flipV="1">
            <a:off x="6650545" y="2334479"/>
            <a:ext cx="673337" cy="655974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xmlns="" id="{12B9D54C-5B61-470F-82C8-3EF411A66610}"/>
              </a:ext>
            </a:extLst>
          </p:cNvPr>
          <p:cNvSpPr txBox="1"/>
          <p:nvPr/>
        </p:nvSpPr>
        <p:spPr>
          <a:xfrm>
            <a:off x="5160526" y="4184915"/>
            <a:ext cx="10146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ЗИФ-1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xmlns="" id="{B10C6155-1E34-4112-B75C-415D3606A7A7}"/>
              </a:ext>
            </a:extLst>
          </p:cNvPr>
          <p:cNvSpPr txBox="1"/>
          <p:nvPr/>
        </p:nvSpPr>
        <p:spPr>
          <a:xfrm>
            <a:off x="6086158" y="4195893"/>
            <a:ext cx="11367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ГТК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xmlns="" id="{5C73BF0F-FF52-4B5F-B3C8-5B748BC9634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1996" y="3180317"/>
            <a:ext cx="975250" cy="97525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xmlns="" id="{156EE92B-9A10-4C22-AB81-55F21ACBE04B}"/>
              </a:ext>
            </a:extLst>
          </p:cNvPr>
          <p:cNvSpPr txBox="1"/>
          <p:nvPr/>
        </p:nvSpPr>
        <p:spPr>
          <a:xfrm>
            <a:off x="7786269" y="4168550"/>
            <a:ext cx="130670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Перевалочная база</a:t>
            </a:r>
          </a:p>
          <a:p>
            <a:pPr algn="ctr"/>
            <a:r>
              <a:rPr lang="ru-RU" sz="1400" dirty="0"/>
              <a:t>Лесосибирск</a:t>
            </a:r>
          </a:p>
        </p:txBody>
      </p: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xmlns="" id="{80EB108F-8424-4885-8B36-CC496553939A}"/>
              </a:ext>
            </a:extLst>
          </p:cNvPr>
          <p:cNvCxnSpPr>
            <a:cxnSpLocks/>
            <a:stCxn id="20" idx="2"/>
            <a:endCxn id="33" idx="0"/>
          </p:cNvCxnSpPr>
          <p:nvPr/>
        </p:nvCxnSpPr>
        <p:spPr>
          <a:xfrm rot="16200000" flipH="1">
            <a:off x="7450150" y="2190846"/>
            <a:ext cx="854520" cy="1124421"/>
          </a:xfrm>
          <a:prstGeom prst="bentConnector3">
            <a:avLst>
              <a:gd name="adj1" fmla="val 3929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xmlns="" id="{2190950D-07E0-4696-A65A-BD4D7519F562}"/>
              </a:ext>
            </a:extLst>
          </p:cNvPr>
          <p:cNvSpPr txBox="1"/>
          <p:nvPr/>
        </p:nvSpPr>
        <p:spPr>
          <a:xfrm>
            <a:off x="6524030" y="1005459"/>
            <a:ext cx="11367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Полюс Красноярск</a:t>
            </a:r>
          </a:p>
        </p:txBody>
      </p:sp>
    </p:spTree>
    <p:extLst>
      <p:ext uri="{BB962C8B-B14F-4D97-AF65-F5344CB8AC3E}">
        <p14:creationId xmlns:p14="http://schemas.microsoft.com/office/powerpoint/2010/main" val="3927673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Завод планирования </a:t>
            </a:r>
            <a:r>
              <a:rPr lang="ru-RU" sz="2000" dirty="0" err="1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ТОиР</a:t>
            </a:r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D6AF221D-D50C-4215-80A9-F450D2E058D4}"/>
              </a:ext>
            </a:extLst>
          </p:cNvPr>
          <p:cNvSpPr txBox="1"/>
          <p:nvPr/>
        </p:nvSpPr>
        <p:spPr>
          <a:xfrm>
            <a:off x="366282" y="1128786"/>
            <a:ext cx="487773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 smtClean="0"/>
              <a:t>На заводе планирования </a:t>
            </a:r>
            <a:r>
              <a:rPr lang="ru-RU" dirty="0" err="1" smtClean="0"/>
              <a:t>ТОиР</a:t>
            </a:r>
            <a:r>
              <a:rPr lang="ru-RU" dirty="0" smtClean="0"/>
              <a:t> </a:t>
            </a:r>
            <a:r>
              <a:rPr lang="ru-RU" dirty="0"/>
              <a:t>ведутся все данные, необходимые для технического обслуживания и ремонта оборудования, например, локальные технологические </a:t>
            </a:r>
            <a:r>
              <a:rPr lang="ru-RU" dirty="0" smtClean="0"/>
              <a:t>карты (нормативы) </a:t>
            </a:r>
            <a:r>
              <a:rPr lang="ru-RU" dirty="0" err="1"/>
              <a:t>ТОиР</a:t>
            </a:r>
            <a:r>
              <a:rPr lang="ru-RU" dirty="0"/>
              <a:t>, и собираются затраты на </a:t>
            </a:r>
            <a:r>
              <a:rPr lang="ru-RU" dirty="0" err="1"/>
              <a:t>ТОиР</a:t>
            </a:r>
            <a:r>
              <a:rPr lang="ru-RU" dirty="0"/>
              <a:t>.</a:t>
            </a: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/>
              <a:t>В рамках заводов планирования ТОРО осуществляется разделение полномочий между отдельными </a:t>
            </a:r>
            <a:r>
              <a:rPr lang="ru-RU" dirty="0" smtClean="0"/>
              <a:t>подразделениями, </a:t>
            </a:r>
            <a:r>
              <a:rPr lang="ru-RU" dirty="0"/>
              <a:t>которые выполняют планирование мероприятий </a:t>
            </a:r>
            <a:r>
              <a:rPr lang="ru-RU" dirty="0" err="1"/>
              <a:t>ТОиР</a:t>
            </a:r>
            <a:r>
              <a:rPr lang="ru-RU" dirty="0"/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</p:txBody>
      </p:sp>
      <p:pic>
        <p:nvPicPr>
          <p:cNvPr id="18" name="Picture 22">
            <a:extLst>
              <a:ext uri="{FF2B5EF4-FFF2-40B4-BE49-F238E27FC236}">
                <a16:creationId xmlns:a16="http://schemas.microsoft.com/office/drawing/2014/main" xmlns="" id="{81263A25-CC50-498C-916D-D93984ECAC6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4632" y="1128786"/>
            <a:ext cx="955171" cy="95517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40F468BA-E985-4924-9C60-8A872E4702FE}"/>
              </a:ext>
            </a:extLst>
          </p:cNvPr>
          <p:cNvSpPr txBox="1"/>
          <p:nvPr/>
        </p:nvSpPr>
        <p:spPr>
          <a:xfrm>
            <a:off x="5706435" y="2072686"/>
            <a:ext cx="198782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МТР Производственной площадки</a:t>
            </a:r>
          </a:p>
        </p:txBody>
      </p:sp>
      <p:pic>
        <p:nvPicPr>
          <p:cNvPr id="24" name="Picture 20">
            <a:extLst>
              <a:ext uri="{FF2B5EF4-FFF2-40B4-BE49-F238E27FC236}">
                <a16:creationId xmlns:a16="http://schemas.microsoft.com/office/drawing/2014/main" xmlns="" id="{4FF47B6F-3A74-4140-BB8B-E295612714E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2468" y="2676924"/>
            <a:ext cx="1381793" cy="1381793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40F468BA-E985-4924-9C60-8A872E4702FE}"/>
              </a:ext>
            </a:extLst>
          </p:cNvPr>
          <p:cNvSpPr txBox="1"/>
          <p:nvPr/>
        </p:nvSpPr>
        <p:spPr>
          <a:xfrm>
            <a:off x="5757583" y="4009004"/>
            <a:ext cx="19878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 smtClean="0"/>
              <a:t>Управляющий офис</a:t>
            </a:r>
            <a:endParaRPr lang="ru-RU" sz="1400" dirty="0"/>
          </a:p>
        </p:txBody>
      </p:sp>
      <p:pic>
        <p:nvPicPr>
          <p:cNvPr id="28" name="Picture 32">
            <a:extLst>
              <a:ext uri="{FF2B5EF4-FFF2-40B4-BE49-F238E27FC236}">
                <a16:creationId xmlns:a16="http://schemas.microsoft.com/office/drawing/2014/main" xmlns="" id="{5C73BF0F-FF52-4B5F-B3C8-5B748BC9634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4632" y="4673611"/>
            <a:ext cx="975250" cy="975250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xmlns="" id="{156EE92B-9A10-4C22-AB81-55F21ACBE04B}"/>
              </a:ext>
            </a:extLst>
          </p:cNvPr>
          <p:cNvSpPr txBox="1"/>
          <p:nvPr/>
        </p:nvSpPr>
        <p:spPr>
          <a:xfrm>
            <a:off x="6111382" y="5531512"/>
            <a:ext cx="13067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Перевалочная </a:t>
            </a:r>
            <a:r>
              <a:rPr lang="ru-RU" sz="1400" dirty="0" smtClean="0"/>
              <a:t>база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2322789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Группа планирования </a:t>
            </a:r>
            <a:r>
              <a:rPr lang="ru-RU" sz="2000" dirty="0" err="1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ТОиР</a:t>
            </a:r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D6AF221D-D50C-4215-80A9-F450D2E058D4}"/>
              </a:ext>
            </a:extLst>
          </p:cNvPr>
          <p:cNvSpPr txBox="1"/>
          <p:nvPr/>
        </p:nvSpPr>
        <p:spPr>
          <a:xfrm>
            <a:off x="366282" y="1128786"/>
            <a:ext cx="4877736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/>
              <a:t>Группа планирования ТОРО - это элемент организационной структуры в системе </a:t>
            </a:r>
            <a:r>
              <a:rPr lang="en-US" dirty="0"/>
              <a:t>S</a:t>
            </a:r>
            <a:r>
              <a:rPr lang="ru-RU" dirty="0"/>
              <a:t>/4</a:t>
            </a:r>
            <a:r>
              <a:rPr lang="en-US" dirty="0"/>
              <a:t>HANA</a:t>
            </a:r>
            <a:r>
              <a:rPr lang="ru-RU" dirty="0"/>
              <a:t>, который осуществляет планирование и организацию технического обслуживания и ремонта в рамках отдельного подразделения, службы, </a:t>
            </a:r>
            <a:r>
              <a:rPr lang="ru-RU" dirty="0" smtClean="0"/>
              <a:t>отдела.</a:t>
            </a:r>
            <a:endParaRPr lang="ru-RU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/>
              <a:t>Одному заводу планирования ТОРО может соответствовать несколько групп планирования ТОРО в соответствии с направлениями деятельности по планированию работ ТОРО. </a:t>
            </a: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/>
              <a:t>На уровне группа планирования ТОРО </a:t>
            </a:r>
            <a:r>
              <a:rPr lang="ru-RU" dirty="0" smtClean="0"/>
              <a:t>выполняется системное </a:t>
            </a:r>
            <a:r>
              <a:rPr lang="ru-RU" dirty="0"/>
              <a:t>разделение полномочий к объектам </a:t>
            </a:r>
            <a:r>
              <a:rPr lang="ru-RU" dirty="0" smtClean="0"/>
              <a:t>ТОРО (например заказы ТОРО)</a:t>
            </a:r>
            <a:endParaRPr lang="ru-RU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28723BFB-ECB8-430E-84E0-DEE5BC0C26DA}"/>
              </a:ext>
            </a:extLst>
          </p:cNvPr>
          <p:cNvSpPr txBox="1"/>
          <p:nvPr/>
        </p:nvSpPr>
        <p:spPr>
          <a:xfrm>
            <a:off x="6180357" y="1293879"/>
            <a:ext cx="9847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</a:rPr>
              <a:t>Механики</a:t>
            </a:r>
            <a:endParaRPr lang="ru-RU" sz="1400" b="1" dirty="0">
              <a:solidFill>
                <a:prstClr val="black"/>
              </a:solidFill>
            </a:endParaRPr>
          </a:p>
        </p:txBody>
      </p:sp>
      <p:pic>
        <p:nvPicPr>
          <p:cNvPr id="19" name="Picture 11" descr="q7">
            <a:extLst>
              <a:ext uri="{FF2B5EF4-FFF2-40B4-BE49-F238E27FC236}">
                <a16:creationId xmlns:a16="http://schemas.microsoft.com/office/drawing/2014/main" xmlns="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13592" y="1276032"/>
            <a:ext cx="141960" cy="3833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28723BFB-ECB8-430E-84E0-DEE5BC0C26DA}"/>
              </a:ext>
            </a:extLst>
          </p:cNvPr>
          <p:cNvSpPr txBox="1"/>
          <p:nvPr/>
        </p:nvSpPr>
        <p:spPr>
          <a:xfrm>
            <a:off x="6178452" y="1666102"/>
            <a:ext cx="10736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</a:rPr>
              <a:t>Энергетики</a:t>
            </a:r>
            <a:endParaRPr lang="ru-RU" sz="1400" b="1" dirty="0">
              <a:solidFill>
                <a:prstClr val="black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28723BFB-ECB8-430E-84E0-DEE5BC0C26DA}"/>
              </a:ext>
            </a:extLst>
          </p:cNvPr>
          <p:cNvSpPr txBox="1"/>
          <p:nvPr/>
        </p:nvSpPr>
        <p:spPr>
          <a:xfrm>
            <a:off x="6182302" y="2074498"/>
            <a:ext cx="11349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</a:rPr>
              <a:t>Метрология</a:t>
            </a:r>
            <a:endParaRPr lang="ru-RU" sz="1400" b="1" dirty="0">
              <a:solidFill>
                <a:prstClr val="black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28723BFB-ECB8-430E-84E0-DEE5BC0C26DA}"/>
              </a:ext>
            </a:extLst>
          </p:cNvPr>
          <p:cNvSpPr txBox="1"/>
          <p:nvPr/>
        </p:nvSpPr>
        <p:spPr>
          <a:xfrm>
            <a:off x="6189911" y="2543822"/>
            <a:ext cx="482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</a:rPr>
              <a:t>ЗИС</a:t>
            </a:r>
            <a:endParaRPr lang="ru-RU" sz="1400" b="1" dirty="0">
              <a:solidFill>
                <a:prstClr val="black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28723BFB-ECB8-430E-84E0-DEE5BC0C26DA}"/>
              </a:ext>
            </a:extLst>
          </p:cNvPr>
          <p:cNvSpPr txBox="1"/>
          <p:nvPr/>
        </p:nvSpPr>
        <p:spPr>
          <a:xfrm>
            <a:off x="6178452" y="3416093"/>
            <a:ext cx="6662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err="1" smtClean="0">
                <a:solidFill>
                  <a:prstClr val="black"/>
                </a:solidFill>
              </a:rPr>
              <a:t>АГиТО</a:t>
            </a:r>
            <a:endParaRPr lang="ru-RU" sz="1400" b="1" dirty="0">
              <a:solidFill>
                <a:prstClr val="black"/>
              </a:solidFill>
            </a:endParaRPr>
          </a:p>
        </p:txBody>
      </p:sp>
      <p:pic>
        <p:nvPicPr>
          <p:cNvPr id="25" name="Picture 11" descr="q7">
            <a:extLst>
              <a:ext uri="{FF2B5EF4-FFF2-40B4-BE49-F238E27FC236}">
                <a16:creationId xmlns:a16="http://schemas.microsoft.com/office/drawing/2014/main" xmlns="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13592" y="1670552"/>
            <a:ext cx="141960" cy="3833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" name="Picture 11" descr="q7">
            <a:extLst>
              <a:ext uri="{FF2B5EF4-FFF2-40B4-BE49-F238E27FC236}">
                <a16:creationId xmlns:a16="http://schemas.microsoft.com/office/drawing/2014/main" xmlns="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994345" y="2107414"/>
            <a:ext cx="141960" cy="3833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" name="Picture 11" descr="q7">
            <a:extLst>
              <a:ext uri="{FF2B5EF4-FFF2-40B4-BE49-F238E27FC236}">
                <a16:creationId xmlns:a16="http://schemas.microsoft.com/office/drawing/2014/main" xmlns="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987111" y="2515299"/>
            <a:ext cx="141960" cy="3833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" name="Picture 11" descr="q7">
            <a:extLst>
              <a:ext uri="{FF2B5EF4-FFF2-40B4-BE49-F238E27FC236}">
                <a16:creationId xmlns:a16="http://schemas.microsoft.com/office/drawing/2014/main" xmlns="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987111" y="2946793"/>
            <a:ext cx="141960" cy="3833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9" name="Picture 11" descr="q7">
            <a:extLst>
              <a:ext uri="{FF2B5EF4-FFF2-40B4-BE49-F238E27FC236}">
                <a16:creationId xmlns:a16="http://schemas.microsoft.com/office/drawing/2014/main" xmlns="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986229" y="3378287"/>
            <a:ext cx="141960" cy="3833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" name="Picture 11" descr="q7">
            <a:extLst>
              <a:ext uri="{FF2B5EF4-FFF2-40B4-BE49-F238E27FC236}">
                <a16:creationId xmlns:a16="http://schemas.microsoft.com/office/drawing/2014/main" xmlns="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998509" y="3815893"/>
            <a:ext cx="141960" cy="3833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xmlns="" id="{28723BFB-ECB8-430E-84E0-DEE5BC0C26DA}"/>
              </a:ext>
            </a:extLst>
          </p:cNvPr>
          <p:cNvSpPr txBox="1"/>
          <p:nvPr/>
        </p:nvSpPr>
        <p:spPr>
          <a:xfrm>
            <a:off x="6155552" y="3880485"/>
            <a:ext cx="12538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</a:rPr>
              <a:t>Эксплуатация</a:t>
            </a:r>
            <a:endParaRPr lang="ru-RU" sz="1400" b="1" dirty="0">
              <a:solidFill>
                <a:prstClr val="black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28723BFB-ECB8-430E-84E0-DEE5BC0C26DA}"/>
              </a:ext>
            </a:extLst>
          </p:cNvPr>
          <p:cNvSpPr txBox="1"/>
          <p:nvPr/>
        </p:nvSpPr>
        <p:spPr>
          <a:xfrm>
            <a:off x="6189911" y="2977491"/>
            <a:ext cx="15684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</a:rPr>
              <a:t>Пожарная охрана</a:t>
            </a:r>
            <a:endParaRPr lang="ru-RU" sz="14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3725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E7452D6-2931-4660-B72B-23BEE7756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1600" dirty="0" smtClean="0"/>
              <a:t>Внедрение пилота и </a:t>
            </a:r>
            <a:r>
              <a:rPr lang="ru-RU" sz="1600" dirty="0"/>
              <a:t>с</a:t>
            </a:r>
            <a:r>
              <a:rPr lang="ru-RU" sz="1600" dirty="0" smtClean="0"/>
              <a:t>табилизация</a:t>
            </a:r>
            <a:endParaRPr lang="ru-RU" sz="1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0BEA5EF0-EB5E-4271-800C-F8AFAECFA1F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ABF02-B19E-48F4-8CD1-E615EFE72681}" type="slidenum">
              <a:rPr lang="ru-RU" smtClean="0"/>
              <a:pPr/>
              <a:t>6</a:t>
            </a:fld>
            <a:endParaRPr lang="ru-RU" dirty="0"/>
          </a:p>
        </p:txBody>
      </p:sp>
      <p:sp>
        <p:nvSpPr>
          <p:cNvPr id="41" name="Content Placeholder 40">
            <a:extLst>
              <a:ext uri="{FF2B5EF4-FFF2-40B4-BE49-F238E27FC236}">
                <a16:creationId xmlns:a16="http://schemas.microsoft.com/office/drawing/2014/main" xmlns="" id="{72908958-8178-442F-A26C-EECF80B40226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 smtClean="0"/>
              <a:t>Производственный актив</a:t>
            </a:r>
            <a:endParaRPr lang="ru-RU" sz="2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D6AF221D-D50C-4215-80A9-F450D2E058D4}"/>
              </a:ext>
            </a:extLst>
          </p:cNvPr>
          <p:cNvSpPr txBox="1"/>
          <p:nvPr/>
        </p:nvSpPr>
        <p:spPr>
          <a:xfrm>
            <a:off x="366281" y="1128786"/>
            <a:ext cx="8344581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ru-RU" dirty="0" smtClean="0"/>
              <a:t>Производственные активы: </a:t>
            </a:r>
            <a:r>
              <a:rPr lang="ru-RU" dirty="0"/>
              <a:t>активы, используемые неоднократно или постоянно в течение длительного периода, необходимые для обеспечения основной и вспомогательной производственной деятельности компании. К </a:t>
            </a:r>
            <a:r>
              <a:rPr lang="ru-RU" dirty="0" smtClean="0"/>
              <a:t>производственным активам относят: основное производственное оборудование</a:t>
            </a:r>
            <a:r>
              <a:rPr lang="ru-RU" dirty="0"/>
              <a:t>, вспомогательное </a:t>
            </a:r>
            <a:r>
              <a:rPr lang="ru-RU" dirty="0" smtClean="0"/>
              <a:t>оборудование, здания и сооружения, автотранспортное оборудование, энергетическое оборудование и т.д.</a:t>
            </a:r>
            <a:endParaRPr lang="ru-RU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 smtClean="0"/>
              <a:t>В </a:t>
            </a:r>
            <a:r>
              <a:rPr lang="en-US" dirty="0" smtClean="0"/>
              <a:t>SAP S/4 HANA </a:t>
            </a:r>
            <a:r>
              <a:rPr lang="ru-RU" dirty="0" smtClean="0"/>
              <a:t>производственный актив отражён в различных представлениях:</a:t>
            </a:r>
          </a:p>
          <a:p>
            <a:r>
              <a:rPr lang="ru-RU" dirty="0"/>
              <a:t> </a:t>
            </a:r>
            <a:r>
              <a:rPr lang="ru-RU" dirty="0" smtClean="0"/>
              <a:t>    - производственном</a:t>
            </a:r>
          </a:p>
          <a:p>
            <a:r>
              <a:rPr lang="ru-RU" dirty="0"/>
              <a:t> </a:t>
            </a:r>
            <a:r>
              <a:rPr lang="ru-RU" dirty="0" smtClean="0"/>
              <a:t>    - финансовом (БУ/НУ)</a:t>
            </a:r>
          </a:p>
          <a:p>
            <a:r>
              <a:rPr lang="ru-RU" dirty="0"/>
              <a:t> </a:t>
            </a:r>
            <a:r>
              <a:rPr lang="ru-RU" dirty="0" smtClean="0"/>
              <a:t>    - организационном</a:t>
            </a:r>
          </a:p>
          <a:p>
            <a:r>
              <a:rPr lang="ru-RU" dirty="0"/>
              <a:t> </a:t>
            </a:r>
            <a:r>
              <a:rPr lang="ru-RU" dirty="0" smtClean="0"/>
              <a:t>    - </a:t>
            </a:r>
            <a:r>
              <a:rPr lang="ru-RU" dirty="0" err="1" smtClean="0"/>
              <a:t>ТОиР</a:t>
            </a: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 smtClean="0"/>
              <a:t>Отражением в процессах </a:t>
            </a:r>
            <a:r>
              <a:rPr lang="ru-RU" dirty="0" err="1" smtClean="0"/>
              <a:t>ТОиР</a:t>
            </a:r>
            <a:r>
              <a:rPr lang="ru-RU" dirty="0" smtClean="0"/>
              <a:t> производственных активов является структура технических мест и единиц оборудования и зоны ответственности в рамках этой структуры.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86744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Технические места</a:t>
            </a:r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19" name="Рисунок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3043" y="970056"/>
            <a:ext cx="7126313" cy="4918967"/>
          </a:xfrm>
          <a:prstGeom prst="rect">
            <a:avLst/>
          </a:prstGeom>
        </p:spPr>
      </p:pic>
      <p:sp>
        <p:nvSpPr>
          <p:cNvPr id="24" name="Пятиугольник 23"/>
          <p:cNvSpPr/>
          <p:nvPr/>
        </p:nvSpPr>
        <p:spPr>
          <a:xfrm rot="5400000">
            <a:off x="1176555" y="303456"/>
            <a:ext cx="426611" cy="2605397"/>
          </a:xfrm>
          <a:prstGeom prst="homePlate">
            <a:avLst>
              <a:gd name="adj" fmla="val 31672"/>
            </a:avLst>
          </a:prstGeom>
          <a:solidFill>
            <a:srgbClr val="FFC000"/>
          </a:solidFill>
          <a:ln w="9525" cap="flat" cmpd="sng" algn="ctr">
            <a:solidFill>
              <a:srgbClr val="0070C0"/>
            </a:solidFill>
            <a:prstDash val="solid"/>
          </a:ln>
          <a:effectLst/>
        </p:spPr>
        <p:txBody>
          <a:bodyPr vert="vert270" lIns="72000" tIns="72000" rIns="72000" bIns="72000" rtlCol="0" anchor="ctr"/>
          <a:lstStyle/>
          <a:p>
            <a:pPr marL="0" marR="0" lvl="0" indent="0" algn="ctr" defTabSz="104298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ru-RU" sz="2000" dirty="0" smtClean="0">
                <a:ea typeface="Verdana" panose="020B0604030504040204" pitchFamily="34" charset="0"/>
                <a:cs typeface="Verdana" panose="020B0604030504040204" pitchFamily="34" charset="0"/>
              </a:rPr>
              <a:t>Технические</a:t>
            </a:r>
            <a:r>
              <a:rPr kumimoji="0" lang="ru-RU" sz="1400" b="1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lang="ru-RU" sz="2000" dirty="0" smtClean="0">
                <a:ea typeface="Verdana" panose="020B0604030504040204" pitchFamily="34" charset="0"/>
                <a:cs typeface="Verdana" panose="020B0604030504040204" pitchFamily="34" charset="0"/>
              </a:rPr>
              <a:t>места</a:t>
            </a:r>
            <a:endParaRPr lang="ru-RU" sz="2000" dirty="0"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6" name="Прямоугольник 25"/>
          <p:cNvSpPr/>
          <p:nvPr/>
        </p:nvSpPr>
        <p:spPr>
          <a:xfrm>
            <a:off x="87162" y="1819461"/>
            <a:ext cx="2605397" cy="41857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buFont typeface="Arial" pitchFamily="34" charset="0"/>
              <a:buChar char="•"/>
            </a:pPr>
            <a:r>
              <a:rPr lang="ru-RU" sz="1200" dirty="0"/>
              <a:t>Структурированный список </a:t>
            </a:r>
            <a:r>
              <a:rPr lang="ru-RU" sz="1200" dirty="0" smtClean="0"/>
              <a:t>объектов, описывающий </a:t>
            </a:r>
            <a:r>
              <a:rPr lang="ru-RU" sz="1200" dirty="0"/>
              <a:t>производственные активы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ru-RU" sz="1200" dirty="0"/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ru-RU" sz="1200" dirty="0" smtClean="0"/>
              <a:t>Структурируются </a:t>
            </a:r>
            <a:r>
              <a:rPr lang="ru-RU" sz="1200" dirty="0"/>
              <a:t>на основе </a:t>
            </a:r>
            <a:r>
              <a:rPr lang="ru-RU" sz="1200" dirty="0" smtClean="0"/>
              <a:t>критериев: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ru-RU" sz="1200" dirty="0" smtClean="0"/>
              <a:t>относящихся </a:t>
            </a:r>
            <a:r>
              <a:rPr lang="ru-RU" sz="1200" dirty="0"/>
              <a:t>к </a:t>
            </a:r>
            <a:r>
              <a:rPr lang="ru-RU" sz="1200" dirty="0" smtClean="0"/>
              <a:t>процессу;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ru-RU" sz="1200" dirty="0" smtClean="0"/>
              <a:t>пространственных;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ru-RU" sz="1200" dirty="0"/>
              <a:t>функциональных</a:t>
            </a:r>
            <a:endParaRPr lang="ru-RU" sz="1200" dirty="0" smtClean="0"/>
          </a:p>
          <a:p>
            <a:pPr marL="742950" lvl="1" indent="-285750">
              <a:buFont typeface="Wingdings" panose="05000000000000000000" pitchFamily="2" charset="2"/>
              <a:buChar char="Ø"/>
            </a:pPr>
            <a:endParaRPr lang="ru-RU" sz="1200" dirty="0"/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ru-RU" sz="1200" dirty="0" smtClean="0"/>
              <a:t>Содержит </a:t>
            </a:r>
            <a:r>
              <a:rPr lang="ru-RU" sz="1200" dirty="0"/>
              <a:t>только недвижимые объекты ремонта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ru-RU" sz="1200" dirty="0"/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ru-RU" sz="1200" dirty="0"/>
              <a:t>Содержит информацию о </a:t>
            </a:r>
          </a:p>
          <a:p>
            <a:pPr marL="806450" lvl="1" indent="-285750">
              <a:buFont typeface="Wingdings" panose="05000000000000000000" pitchFamily="2" charset="2"/>
              <a:buChar char="Ø"/>
            </a:pPr>
            <a:r>
              <a:rPr lang="ru-RU" sz="1200" dirty="0"/>
              <a:t>видах оборудования</a:t>
            </a:r>
          </a:p>
          <a:p>
            <a:pPr marL="806450" lvl="1" indent="-285750">
              <a:buFont typeface="Wingdings" panose="05000000000000000000" pitchFamily="2" charset="2"/>
              <a:buChar char="Ø"/>
            </a:pPr>
            <a:r>
              <a:rPr lang="ru-RU" sz="1200" dirty="0"/>
              <a:t>принадлежности</a:t>
            </a:r>
          </a:p>
          <a:p>
            <a:pPr marL="806450" lvl="1" indent="-285750">
              <a:buFont typeface="Wingdings" panose="05000000000000000000" pitchFamily="2" charset="2"/>
              <a:buChar char="Ø"/>
            </a:pPr>
            <a:r>
              <a:rPr lang="ru-RU" sz="1200" dirty="0"/>
              <a:t>степени важности</a:t>
            </a:r>
          </a:p>
          <a:p>
            <a:pPr marL="806450" lvl="1" indent="-285750">
              <a:buFont typeface="Wingdings" panose="05000000000000000000" pitchFamily="2" charset="2"/>
              <a:buChar char="Ø"/>
            </a:pPr>
            <a:r>
              <a:rPr lang="ru-RU" sz="1200" dirty="0"/>
              <a:t>ответственных лицах</a:t>
            </a:r>
          </a:p>
          <a:p>
            <a:pPr marL="806450" lvl="1" indent="-285750">
              <a:buFont typeface="Wingdings" panose="05000000000000000000" pitchFamily="2" charset="2"/>
              <a:buChar char="Ø"/>
            </a:pPr>
            <a:endParaRPr lang="ru-RU" sz="1200" dirty="0"/>
          </a:p>
          <a:p>
            <a:pPr marL="285750" lvl="1" indent="-285750">
              <a:buFont typeface="Wingdings" panose="05000000000000000000" pitchFamily="2" charset="2"/>
              <a:buChar char="Ø"/>
            </a:pPr>
            <a:r>
              <a:rPr lang="ru-RU" sz="1200" dirty="0" smtClean="0"/>
              <a:t>Связаны </a:t>
            </a:r>
            <a:r>
              <a:rPr lang="ru-RU" sz="1200" dirty="0"/>
              <a:t>со структурой учета затрат</a:t>
            </a:r>
          </a:p>
          <a:p>
            <a:pPr marL="285750" lvl="1" indent="-285750">
              <a:buFont typeface="Arial" pitchFamily="34" charset="0"/>
              <a:buChar char="•"/>
            </a:pP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2424303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Единицы оборудования</a:t>
            </a:r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Пятиугольник 7"/>
          <p:cNvSpPr/>
          <p:nvPr/>
        </p:nvSpPr>
        <p:spPr>
          <a:xfrm rot="5400000">
            <a:off x="1252674" y="227336"/>
            <a:ext cx="426611" cy="2757638"/>
          </a:xfrm>
          <a:prstGeom prst="homePlate">
            <a:avLst>
              <a:gd name="adj" fmla="val 31672"/>
            </a:avLst>
          </a:prstGeom>
          <a:solidFill>
            <a:srgbClr val="FFC000"/>
          </a:solidFill>
          <a:ln w="9525" cap="flat" cmpd="sng" algn="ctr">
            <a:solidFill>
              <a:srgbClr val="0070C0"/>
            </a:solidFill>
            <a:prstDash val="solid"/>
          </a:ln>
          <a:effectLst/>
        </p:spPr>
        <p:txBody>
          <a:bodyPr vert="vert270" lIns="72000" tIns="72000" rIns="72000" bIns="72000" rtlCol="0" anchor="ctr"/>
          <a:lstStyle/>
          <a:p>
            <a:pPr marL="0" marR="0" lvl="0" indent="0" algn="ctr" defTabSz="104298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ru-RU" sz="2000" dirty="0" smtClean="0">
                <a:ea typeface="Verdana" panose="020B0604030504040204" pitchFamily="34" charset="0"/>
                <a:cs typeface="Verdana" panose="020B0604030504040204" pitchFamily="34" charset="0"/>
              </a:rPr>
              <a:t>Единицы оборудования</a:t>
            </a:r>
            <a:endParaRPr lang="ru-RU" sz="2000" dirty="0"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87162" y="1819461"/>
            <a:ext cx="2757637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buFont typeface="Arial" pitchFamily="34" charset="0"/>
              <a:buChar char="•"/>
            </a:pPr>
            <a:r>
              <a:rPr lang="ru-RU" sz="1200" dirty="0" smtClean="0"/>
              <a:t>Объекты</a:t>
            </a:r>
            <a:r>
              <a:rPr lang="ru-RU" sz="1200" dirty="0"/>
              <a:t>, которые подлежат </a:t>
            </a:r>
            <a:r>
              <a:rPr lang="ru-RU" sz="1200" dirty="0" err="1"/>
              <a:t>ТОиР</a:t>
            </a:r>
            <a:r>
              <a:rPr lang="ru-RU" sz="1200" dirty="0"/>
              <a:t> в качестве самостоятельных единиц</a:t>
            </a:r>
            <a:r>
              <a:rPr lang="ru-RU" sz="1200" dirty="0" smtClean="0"/>
              <a:t>.</a:t>
            </a:r>
          </a:p>
          <a:p>
            <a:pPr lvl="0"/>
            <a:r>
              <a:rPr lang="ru-RU" sz="1200" dirty="0" smtClean="0"/>
              <a:t> </a:t>
            </a:r>
            <a:endParaRPr lang="ru-RU" sz="12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sz="1200" dirty="0" smtClean="0"/>
              <a:t>В структуре </a:t>
            </a:r>
            <a:r>
              <a:rPr lang="ru-RU" sz="1200" dirty="0"/>
              <a:t>о</a:t>
            </a:r>
            <a:r>
              <a:rPr lang="ru-RU" sz="1200" dirty="0" smtClean="0"/>
              <a:t>пределяет </a:t>
            </a:r>
            <a:r>
              <a:rPr lang="ru-RU" sz="1200" dirty="0"/>
              <a:t>иерархическое место объекта в связи со справочником технических мест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ru-RU" sz="1200" dirty="0"/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ru-RU" sz="1200" dirty="0"/>
              <a:t>Описывает технические характеристики объекта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ru-RU" sz="1200" dirty="0"/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ru-RU" sz="1200" dirty="0"/>
              <a:t>Содержит информацию о функциональном назначении оборудования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ru-RU" sz="1200" dirty="0"/>
          </a:p>
          <a:p>
            <a:pPr marL="285750" lvl="1" indent="-285750">
              <a:buFont typeface="Wingdings" panose="05000000000000000000" pitchFamily="2" charset="2"/>
              <a:buChar char="Ø"/>
            </a:pPr>
            <a:r>
              <a:rPr lang="ru-RU" sz="1200" dirty="0"/>
              <a:t>Связаны со справочником основных средств</a:t>
            </a:r>
          </a:p>
          <a:p>
            <a:pPr marL="285750" lvl="1" indent="-285750">
              <a:buFont typeface="Wingdings" panose="05000000000000000000" pitchFamily="2" charset="2"/>
              <a:buChar char="Ø"/>
            </a:pPr>
            <a:endParaRPr lang="ru-RU" sz="1200" dirty="0"/>
          </a:p>
          <a:p>
            <a:pPr marL="285750" lvl="1" indent="-285750">
              <a:buFont typeface="Wingdings" panose="05000000000000000000" pitchFamily="2" charset="2"/>
              <a:buChar char="Ø"/>
            </a:pPr>
            <a:r>
              <a:rPr lang="ru-RU" sz="1200" dirty="0"/>
              <a:t>Связаны со структурой учета затрат</a:t>
            </a:r>
          </a:p>
          <a:p>
            <a:pPr marL="285750" lvl="0" indent="-285750"/>
            <a:endParaRPr lang="ru-RU" sz="1400" dirty="0"/>
          </a:p>
          <a:p>
            <a:pPr marL="0" lvl="1"/>
            <a:endParaRPr lang="ru-RU" sz="1400" dirty="0"/>
          </a:p>
        </p:txBody>
      </p:sp>
      <p:pic>
        <p:nvPicPr>
          <p:cNvPr id="113" name="Рисунок 1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9082" y="3406379"/>
            <a:ext cx="6147169" cy="3333133"/>
          </a:xfrm>
          <a:prstGeom prst="rect">
            <a:avLst/>
          </a:prstGeom>
        </p:spPr>
      </p:pic>
      <p:pic>
        <p:nvPicPr>
          <p:cNvPr id="115" name="Рисунок 1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4084" y="1111744"/>
            <a:ext cx="2937432" cy="2174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093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Рабочие места</a:t>
            </a:r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6" name="Пятиугольник 15"/>
          <p:cNvSpPr/>
          <p:nvPr/>
        </p:nvSpPr>
        <p:spPr>
          <a:xfrm rot="5400000">
            <a:off x="1281458" y="116665"/>
            <a:ext cx="554483" cy="2757638"/>
          </a:xfrm>
          <a:prstGeom prst="homePlate">
            <a:avLst>
              <a:gd name="adj" fmla="val 31672"/>
            </a:avLst>
          </a:prstGeom>
          <a:solidFill>
            <a:srgbClr val="FFC000"/>
          </a:solidFill>
          <a:ln w="9525" cap="flat" cmpd="sng" algn="ctr">
            <a:solidFill>
              <a:srgbClr val="0070C0"/>
            </a:solidFill>
            <a:prstDash val="solid"/>
          </a:ln>
          <a:effectLst/>
        </p:spPr>
        <p:txBody>
          <a:bodyPr vert="vert270" lIns="72000" tIns="72000" rIns="72000" bIns="72000" rtlCol="0" anchor="ctr"/>
          <a:lstStyle/>
          <a:p>
            <a:pPr marL="0" marR="0" lvl="0" indent="0" algn="ctr" defTabSz="104298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ru-RU" sz="2000" dirty="0" smtClean="0">
                <a:ea typeface="Verdana" panose="020B0604030504040204" pitchFamily="34" charset="0"/>
                <a:cs typeface="Verdana" panose="020B0604030504040204" pitchFamily="34" charset="0"/>
              </a:rPr>
              <a:t>Рабочие места</a:t>
            </a:r>
            <a:endParaRPr lang="ru-RU" sz="2000" dirty="0"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7" name="Прямоугольник 16"/>
          <p:cNvSpPr/>
          <p:nvPr/>
        </p:nvSpPr>
        <p:spPr>
          <a:xfrm>
            <a:off x="0" y="1835831"/>
            <a:ext cx="2937519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ru-RU" sz="1200" dirty="0"/>
              <a:t>Рабочее место – организационная </a:t>
            </a:r>
            <a:r>
              <a:rPr lang="ru-RU" sz="1200" dirty="0" smtClean="0"/>
              <a:t>единица </a:t>
            </a:r>
            <a:r>
              <a:rPr lang="en-US" sz="1200" dirty="0" smtClean="0"/>
              <a:t>SAP S/4 HANA </a:t>
            </a:r>
            <a:r>
              <a:rPr lang="ru-RU" sz="1200" dirty="0" smtClean="0"/>
              <a:t>соответствующая </a:t>
            </a:r>
            <a:r>
              <a:rPr lang="ru-RU" sz="1200" dirty="0"/>
              <a:t>конкретному структурному подразделению или машине (механизму). </a:t>
            </a:r>
            <a:endParaRPr lang="en-US" sz="1200" dirty="0" smtClean="0"/>
          </a:p>
          <a:p>
            <a:pPr marL="285750" indent="-285750">
              <a:buFont typeface="Arial" pitchFamily="34" charset="0"/>
              <a:buChar char="•"/>
            </a:pPr>
            <a:endParaRPr lang="en-US" sz="1200" dirty="0" smtClean="0"/>
          </a:p>
          <a:p>
            <a:pPr marL="285750" lvl="0" indent="-285750">
              <a:buFont typeface="Arial" pitchFamily="34" charset="0"/>
              <a:buChar char="•"/>
            </a:pPr>
            <a:r>
              <a:rPr lang="ru-RU" sz="1200" dirty="0" smtClean="0"/>
              <a:t>Рабочие </a:t>
            </a:r>
            <a:r>
              <a:rPr lang="ru-RU" sz="1200" dirty="0"/>
              <a:t>места подразделяются на </a:t>
            </a:r>
            <a:r>
              <a:rPr lang="ru-RU" sz="1200" dirty="0" smtClean="0"/>
              <a:t>ответственные</a:t>
            </a:r>
            <a:r>
              <a:rPr lang="en-US" sz="1200" dirty="0" smtClean="0"/>
              <a:t> </a:t>
            </a:r>
            <a:r>
              <a:rPr lang="ru-RU" sz="1200" dirty="0" smtClean="0"/>
              <a:t>и выполняющие рабочие места</a:t>
            </a:r>
            <a:r>
              <a:rPr lang="en-US" sz="1200" dirty="0" smtClean="0"/>
              <a:t> (</a:t>
            </a:r>
            <a:r>
              <a:rPr lang="ru-RU" sz="1200" dirty="0" smtClean="0"/>
              <a:t>представлены в виде иерархии рабочих мест)</a:t>
            </a:r>
          </a:p>
          <a:p>
            <a:pPr marL="171450" lvl="0" indent="-171450">
              <a:buFont typeface="Wingdings" panose="05000000000000000000" pitchFamily="2" charset="2"/>
              <a:buChar char="Ø"/>
            </a:pPr>
            <a:endParaRPr lang="ru-RU" sz="1200" dirty="0"/>
          </a:p>
          <a:p>
            <a:pPr marL="171450" lvl="0" indent="-171450">
              <a:buFont typeface="Wingdings" panose="05000000000000000000" pitchFamily="2" charset="2"/>
              <a:buChar char="Ø"/>
            </a:pPr>
            <a:r>
              <a:rPr lang="ru-RU" sz="1200" dirty="0" smtClean="0"/>
              <a:t>Ответственное </a:t>
            </a:r>
            <a:r>
              <a:rPr lang="ru-RU" sz="1200" dirty="0"/>
              <a:t>рабочее место –это подразделение, отвечающее за исправное техническое состояние объекта по направлениям</a:t>
            </a:r>
            <a:r>
              <a:rPr lang="ru-RU" sz="1200" dirty="0" smtClean="0"/>
              <a:t>. . </a:t>
            </a:r>
            <a:endParaRPr lang="ru-RU" sz="1200" dirty="0"/>
          </a:p>
          <a:p>
            <a:pPr marL="171450" lvl="0" indent="-171450">
              <a:buFont typeface="Wingdings" panose="05000000000000000000" pitchFamily="2" charset="2"/>
              <a:buChar char="Ø"/>
            </a:pPr>
            <a:endParaRPr lang="ru-RU" sz="1200" dirty="0"/>
          </a:p>
          <a:p>
            <a:pPr marL="171450" lvl="0" indent="-171450">
              <a:buFont typeface="Wingdings" panose="05000000000000000000" pitchFamily="2" charset="2"/>
              <a:buChar char="Ø"/>
            </a:pPr>
            <a:r>
              <a:rPr lang="ru-RU" sz="1200" dirty="0" smtClean="0"/>
              <a:t>Выполняющее </a:t>
            </a:r>
            <a:r>
              <a:rPr lang="ru-RU" sz="1200" dirty="0"/>
              <a:t>рабочее место – это рабочее место, выполняющее работы по </a:t>
            </a:r>
            <a:r>
              <a:rPr lang="ru-RU" sz="1200" dirty="0" err="1"/>
              <a:t>ТОиР</a:t>
            </a:r>
            <a:r>
              <a:rPr lang="ru-RU" sz="1200" dirty="0"/>
              <a:t> (это собственное подразделение-исполнитель работ или подрядчик- сторонняя организация). </a:t>
            </a:r>
            <a:endParaRPr lang="ru-RU" sz="1400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4681" y="1079289"/>
            <a:ext cx="5945906" cy="5620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616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dirty="0" smtClean="0"/>
              <a:t>Точки измерений</a:t>
            </a:r>
            <a:endParaRPr lang="ru-RU" dirty="0"/>
          </a:p>
        </p:txBody>
      </p:sp>
      <p:sp>
        <p:nvSpPr>
          <p:cNvPr id="4" name="Пятиугольник 3"/>
          <p:cNvSpPr/>
          <p:nvPr/>
        </p:nvSpPr>
        <p:spPr>
          <a:xfrm rot="5400000">
            <a:off x="1281458" y="116665"/>
            <a:ext cx="554483" cy="2757638"/>
          </a:xfrm>
          <a:prstGeom prst="homePlate">
            <a:avLst>
              <a:gd name="adj" fmla="val 31672"/>
            </a:avLst>
          </a:prstGeom>
          <a:solidFill>
            <a:srgbClr val="FFC000"/>
          </a:solidFill>
          <a:ln w="9525" cap="flat" cmpd="sng" algn="ctr">
            <a:solidFill>
              <a:srgbClr val="0070C0"/>
            </a:solidFill>
            <a:prstDash val="solid"/>
          </a:ln>
          <a:effectLst/>
        </p:spPr>
        <p:txBody>
          <a:bodyPr vert="vert270" lIns="72000" tIns="72000" rIns="72000" bIns="72000" rtlCol="0" anchor="ctr"/>
          <a:lstStyle/>
          <a:p>
            <a:pPr marL="0" marR="0" lvl="0" indent="0" algn="ctr" defTabSz="104298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ru-RU" sz="2000" dirty="0" smtClean="0">
                <a:ea typeface="Verdana" panose="020B0604030504040204" pitchFamily="34" charset="0"/>
                <a:cs typeface="Verdana" panose="020B0604030504040204" pitchFamily="34" charset="0"/>
              </a:rPr>
              <a:t>Точки измерений</a:t>
            </a:r>
            <a:endParaRPr lang="ru-RU" sz="2000" dirty="0"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179880" y="1772726"/>
            <a:ext cx="2937519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dirty="0"/>
              <a:t>О</a:t>
            </a:r>
            <a:r>
              <a:rPr lang="ru-RU" sz="1200" dirty="0" smtClean="0"/>
              <a:t>бъекты </a:t>
            </a:r>
            <a:r>
              <a:rPr lang="ru-RU" sz="1200" dirty="0"/>
              <a:t>в системе </a:t>
            </a:r>
            <a:r>
              <a:rPr lang="en-US" sz="1200" dirty="0"/>
              <a:t>SAP S</a:t>
            </a:r>
            <a:r>
              <a:rPr lang="ru-RU" sz="1200" dirty="0"/>
              <a:t>/4</a:t>
            </a:r>
            <a:r>
              <a:rPr lang="en-US" sz="1200" dirty="0"/>
              <a:t>HANA</a:t>
            </a:r>
            <a:r>
              <a:rPr lang="ru-RU" sz="1200" dirty="0"/>
              <a:t>, используемые для регистрации параметров, меняющихся во времени и характеризующих техническое состояние объекта ТОРО (технического места или единицы оборудования).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dirty="0"/>
              <a:t>Измеряемый параметр может являться как </a:t>
            </a:r>
            <a:r>
              <a:rPr lang="ru-RU" sz="1200" dirty="0" smtClean="0"/>
              <a:t>количественной величиной </a:t>
            </a:r>
            <a:r>
              <a:rPr lang="ru-RU" sz="1200" dirty="0"/>
              <a:t>(наработка, температура и пр.), так и </a:t>
            </a:r>
            <a:r>
              <a:rPr lang="ru-RU" sz="1200" dirty="0" smtClean="0"/>
              <a:t>качественной </a:t>
            </a:r>
            <a:r>
              <a:rPr lang="ru-RU" sz="1200" dirty="0"/>
              <a:t>величиной (список предопределенных символьных значений, логический тип – да/нет).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ru-RU" sz="12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ru-RU" sz="1200" dirty="0" smtClean="0"/>
              <a:t> Точка измерения присваивается конкретному объекту структуры (техническом месту или единице оборудования.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ru-RU" sz="12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ru-RU" sz="1200" dirty="0" smtClean="0"/>
              <a:t>Точки измерения могут фиксировать показания с других точек измерения, </a:t>
            </a:r>
            <a:r>
              <a:rPr lang="ru-RU" sz="1200" dirty="0" err="1" smtClean="0"/>
              <a:t>т.о</a:t>
            </a:r>
            <a:r>
              <a:rPr lang="ru-RU" sz="1200" dirty="0" smtClean="0"/>
              <a:t>. осуществляется передача показаний в системе от вышестоящего узла к нижестоящему (например от самосвала к двигателю).</a:t>
            </a:r>
          </a:p>
          <a:p>
            <a:pPr lvl="0"/>
            <a:endParaRPr lang="ru-RU" sz="1200" dirty="0" smtClean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7519" y="1772726"/>
            <a:ext cx="5958831" cy="2115286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4308" y="4086871"/>
            <a:ext cx="4903061" cy="2384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523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dirty="0" smtClean="0"/>
              <a:t>Каталоги кодов</a:t>
            </a:r>
            <a:endParaRPr lang="ru-RU" dirty="0"/>
          </a:p>
        </p:txBody>
      </p:sp>
      <p:sp>
        <p:nvSpPr>
          <p:cNvPr id="4" name="Пятиугольник 3"/>
          <p:cNvSpPr/>
          <p:nvPr/>
        </p:nvSpPr>
        <p:spPr>
          <a:xfrm rot="5400000">
            <a:off x="1281458" y="116665"/>
            <a:ext cx="554483" cy="2757638"/>
          </a:xfrm>
          <a:prstGeom prst="homePlate">
            <a:avLst>
              <a:gd name="adj" fmla="val 31672"/>
            </a:avLst>
          </a:prstGeom>
          <a:solidFill>
            <a:srgbClr val="FFC000"/>
          </a:solidFill>
          <a:ln w="9525" cap="flat" cmpd="sng" algn="ctr">
            <a:solidFill>
              <a:srgbClr val="0070C0"/>
            </a:solidFill>
            <a:prstDash val="solid"/>
          </a:ln>
          <a:effectLst/>
        </p:spPr>
        <p:txBody>
          <a:bodyPr vert="vert270" lIns="72000" tIns="72000" rIns="72000" bIns="72000" rtlCol="0" anchor="ctr"/>
          <a:lstStyle/>
          <a:p>
            <a:pPr marL="0" marR="0" lvl="0" indent="0" algn="ctr" defTabSz="104298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ru-RU" sz="2000" dirty="0" smtClean="0">
                <a:ea typeface="Verdana" panose="020B0604030504040204" pitchFamily="34" charset="0"/>
                <a:cs typeface="Verdana" panose="020B0604030504040204" pitchFamily="34" charset="0"/>
              </a:rPr>
              <a:t>Каталоги кодов</a:t>
            </a:r>
            <a:endParaRPr lang="ru-RU" sz="2000" dirty="0"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179880" y="1772726"/>
            <a:ext cx="2937519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dirty="0" smtClean="0"/>
              <a:t>Каталоги кодов используются </a:t>
            </a:r>
            <a:r>
              <a:rPr lang="ru-RU" sz="1200" dirty="0"/>
              <a:t>для ведения, единообразного определения и стандартизации информации</a:t>
            </a:r>
            <a:r>
              <a:rPr lang="ru-RU" sz="1200" dirty="0" smtClean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dirty="0" smtClean="0"/>
              <a:t>Каталоги кодов подразделяются на группы кодов (в разрезе моделей оборудования), группы кодов в свою очередь содержат перечень конкретных кодов с описанием.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dirty="0" smtClean="0"/>
              <a:t>Примеры каталогов:</a:t>
            </a:r>
          </a:p>
          <a:p>
            <a:pPr marL="171450" lvl="0" indent="-171450">
              <a:buFont typeface="Wingdings" panose="05000000000000000000" pitchFamily="2" charset="2"/>
              <a:buChar char="Ø"/>
            </a:pPr>
            <a:r>
              <a:rPr lang="ru-RU" sz="1200" dirty="0" smtClean="0"/>
              <a:t>Каталог Частей объекта – узлы на которых обнаружен дефект</a:t>
            </a:r>
          </a:p>
          <a:p>
            <a:pPr marL="171450" lvl="0" indent="-171450">
              <a:buFont typeface="Wingdings" panose="05000000000000000000" pitchFamily="2" charset="2"/>
              <a:buChar char="Ø"/>
            </a:pPr>
            <a:r>
              <a:rPr lang="ru-RU" sz="1200" dirty="0" smtClean="0"/>
              <a:t>Каталог Причин – используется для указания причин возникновения дефектов</a:t>
            </a:r>
          </a:p>
          <a:p>
            <a:pPr marL="171450" lvl="0" indent="-171450">
              <a:buFont typeface="Wingdings" panose="05000000000000000000" pitchFamily="2" charset="2"/>
              <a:buChar char="Ø"/>
            </a:pPr>
            <a:r>
              <a:rPr lang="ru-RU" sz="1200" dirty="0" smtClean="0"/>
              <a:t>Каталог Видов дефектов – содержит перечень дефектов с привязкой к группе однотипного оборудования</a:t>
            </a:r>
          </a:p>
          <a:p>
            <a:pPr marL="171450" lvl="0" indent="-171450">
              <a:buFont typeface="Wingdings" panose="05000000000000000000" pitchFamily="2" charset="2"/>
              <a:buChar char="Ø"/>
            </a:pPr>
            <a:r>
              <a:rPr lang="ru-RU" sz="1200" dirty="0" smtClean="0"/>
              <a:t>Каталог состояний – используется при вводе информации в точке измерения</a:t>
            </a:r>
          </a:p>
          <a:p>
            <a:pPr marL="171450" lvl="0" indent="-171450">
              <a:buFont typeface="Wingdings" panose="05000000000000000000" pitchFamily="2" charset="2"/>
              <a:buChar char="Ø"/>
            </a:pPr>
            <a:r>
              <a:rPr lang="ru-RU" sz="1200" dirty="0" smtClean="0"/>
              <a:t>Каталог решений – содержит заключения по результатам диагностики</a:t>
            </a:r>
          </a:p>
          <a:p>
            <a:pPr lvl="0"/>
            <a:r>
              <a:rPr lang="ru-RU" sz="1200" dirty="0" smtClean="0"/>
              <a:t>	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4110" y="1772726"/>
            <a:ext cx="4100404" cy="4130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612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dirty="0" smtClean="0"/>
              <a:t>Каталог кодов ТОРО</a:t>
            </a:r>
            <a:endParaRPr lang="ru-RU" dirty="0"/>
          </a:p>
        </p:txBody>
      </p:sp>
      <p:sp>
        <p:nvSpPr>
          <p:cNvPr id="4" name="Пятиугольник 3"/>
          <p:cNvSpPr/>
          <p:nvPr/>
        </p:nvSpPr>
        <p:spPr>
          <a:xfrm rot="5400000">
            <a:off x="1281458" y="116665"/>
            <a:ext cx="554483" cy="2757638"/>
          </a:xfrm>
          <a:prstGeom prst="homePlate">
            <a:avLst>
              <a:gd name="adj" fmla="val 31672"/>
            </a:avLst>
          </a:prstGeom>
          <a:solidFill>
            <a:srgbClr val="FFC000"/>
          </a:solidFill>
          <a:ln w="9525" cap="flat" cmpd="sng" algn="ctr">
            <a:solidFill>
              <a:srgbClr val="0070C0"/>
            </a:solidFill>
            <a:prstDash val="solid"/>
          </a:ln>
          <a:effectLst/>
        </p:spPr>
        <p:txBody>
          <a:bodyPr vert="vert270" lIns="72000" tIns="72000" rIns="72000" bIns="72000" rtlCol="0" anchor="ctr"/>
          <a:lstStyle/>
          <a:p>
            <a:pPr marL="0" marR="0" lvl="0" indent="0" algn="ctr" defTabSz="104298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ru-RU" sz="2000" dirty="0" smtClean="0">
                <a:ea typeface="Verdana" panose="020B0604030504040204" pitchFamily="34" charset="0"/>
                <a:cs typeface="Verdana" panose="020B0604030504040204" pitchFamily="34" charset="0"/>
              </a:rPr>
              <a:t>Каталог кодов ТОРО</a:t>
            </a:r>
            <a:endParaRPr lang="ru-RU" sz="2000" dirty="0"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179880" y="1772726"/>
            <a:ext cx="2937519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dirty="0"/>
              <a:t>Объект Каталог кодов ТОРО объединяет группы </a:t>
            </a:r>
            <a:r>
              <a:rPr lang="ru-RU" sz="1200" dirty="0" smtClean="0"/>
              <a:t>кодов, </a:t>
            </a:r>
            <a:r>
              <a:rPr lang="ru-RU" sz="1200" dirty="0"/>
              <a:t>содержащих, например, типовые отказы, типовые дефекты для определенного вида (класса) оборудования.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dirty="0"/>
              <a:t>В состав каталогов кодов ТОРО включаются различные комбинации </a:t>
            </a:r>
            <a:r>
              <a:rPr lang="ru-RU" sz="1200" dirty="0" smtClean="0"/>
              <a:t>каталогов </a:t>
            </a:r>
            <a:r>
              <a:rPr lang="ru-RU" sz="1200" dirty="0"/>
              <a:t>с указанием используемых групп кодов.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dirty="0"/>
              <a:t>Каталоги кодов ТОРО присваиваются техническим объектам (техническим местам и единицам оборудования) и документам измерений для классификации простоев, видов дефектов и других данных. Это позволяет использовать только присущие данному объекту коды, например, при описании дефекта в сообщениях ТОРО	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9025" y="1934588"/>
            <a:ext cx="4389866" cy="383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52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303856" y="477422"/>
            <a:ext cx="5945981" cy="308195"/>
          </a:xfrm>
        </p:spPr>
        <p:txBody>
          <a:bodyPr/>
          <a:lstStyle/>
          <a:p>
            <a:r>
              <a:rPr lang="ru-RU" sz="20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20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процесса по  </a:t>
            </a:r>
            <a:r>
              <a:rPr lang="ru-RU" sz="2000" dirty="0" smtClean="0"/>
              <a:t>ведению технических мест</a:t>
            </a:r>
          </a:p>
          <a:p>
            <a:endParaRPr lang="ru-RU" sz="15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cxnSp>
        <p:nvCxnSpPr>
          <p:cNvPr id="43" name="Соединительная линия уступом 42"/>
          <p:cNvCxnSpPr>
            <a:stCxn id="36" idx="2"/>
            <a:endCxn id="49" idx="0"/>
          </p:cNvCxnSpPr>
          <p:nvPr/>
        </p:nvCxnSpPr>
        <p:spPr>
          <a:xfrm rot="5400000">
            <a:off x="1158380" y="4130052"/>
            <a:ext cx="959470" cy="1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Соединительная линия уступом 57"/>
          <p:cNvCxnSpPr>
            <a:stCxn id="49" idx="3"/>
            <a:endCxn id="59" idx="1"/>
          </p:cNvCxnSpPr>
          <p:nvPr/>
        </p:nvCxnSpPr>
        <p:spPr>
          <a:xfrm flipV="1">
            <a:off x="2507602" y="5118356"/>
            <a:ext cx="821158" cy="1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Соединительная линия уступом 163"/>
          <p:cNvCxnSpPr>
            <a:stCxn id="59" idx="3"/>
            <a:endCxn id="79" idx="1"/>
          </p:cNvCxnSpPr>
          <p:nvPr/>
        </p:nvCxnSpPr>
        <p:spPr>
          <a:xfrm flipV="1">
            <a:off x="5067737" y="4660188"/>
            <a:ext cx="881502" cy="458168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Соединительная линия уступом 233"/>
          <p:cNvCxnSpPr>
            <a:stCxn id="79" idx="2"/>
            <a:endCxn id="81" idx="0"/>
          </p:cNvCxnSpPr>
          <p:nvPr/>
        </p:nvCxnSpPr>
        <p:spPr>
          <a:xfrm rot="5400000">
            <a:off x="6674481" y="5197717"/>
            <a:ext cx="153372" cy="12819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Соединительная линия уступом 238"/>
          <p:cNvCxnSpPr>
            <a:stCxn id="74" idx="3"/>
            <a:endCxn id="134" idx="1"/>
          </p:cNvCxnSpPr>
          <p:nvPr/>
        </p:nvCxnSpPr>
        <p:spPr>
          <a:xfrm flipV="1">
            <a:off x="5066930" y="2511914"/>
            <a:ext cx="1914895" cy="1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Соединительная линия уступом 22"/>
          <p:cNvCxnSpPr>
            <a:stCxn id="34" idx="2"/>
            <a:endCxn id="36" idx="0"/>
          </p:cNvCxnSpPr>
          <p:nvPr/>
        </p:nvCxnSpPr>
        <p:spPr>
          <a:xfrm rot="5400000">
            <a:off x="1502550" y="2603074"/>
            <a:ext cx="271132" cy="1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Соединительная линия уступом 62"/>
          <p:cNvCxnSpPr>
            <a:stCxn id="59" idx="0"/>
            <a:endCxn id="74" idx="2"/>
          </p:cNvCxnSpPr>
          <p:nvPr/>
        </p:nvCxnSpPr>
        <p:spPr>
          <a:xfrm rot="16200000" flipV="1">
            <a:off x="3403195" y="3814731"/>
            <a:ext cx="1589302" cy="807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Соединительная линия уступом 187"/>
          <p:cNvCxnSpPr>
            <a:stCxn id="81" idx="3"/>
            <a:endCxn id="134" idx="2"/>
          </p:cNvCxnSpPr>
          <p:nvPr/>
        </p:nvCxnSpPr>
        <p:spPr>
          <a:xfrm flipV="1">
            <a:off x="7553094" y="3020483"/>
            <a:ext cx="237068" cy="2700746"/>
          </a:xfrm>
          <a:prstGeom prst="bentConnector2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Скругленный прямоугольник 311">
            <a:extLst>
              <a:ext uri="{FF2B5EF4-FFF2-40B4-BE49-F238E27FC236}">
                <a16:creationId xmlns:a16="http://schemas.microsoft.com/office/drawing/2014/main" xmlns="" id="{6B94761C-2B1A-43FF-9AEA-440BE2A8FCFD}"/>
              </a:ext>
            </a:extLst>
          </p:cNvPr>
          <p:cNvSpPr/>
          <p:nvPr/>
        </p:nvSpPr>
        <p:spPr>
          <a:xfrm rot="16200000">
            <a:off x="3354136" y="-1668488"/>
            <a:ext cx="2442062" cy="8542624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1200" b="1" dirty="0" smtClean="0">
                <a:solidFill>
                  <a:srgbClr val="595959"/>
                </a:solidFill>
                <a:cs typeface="Arial" panose="020B0604020202020204" pitchFamily="34" charset="0"/>
              </a:rPr>
              <a:t>Инициатор заявки НСИ</a:t>
            </a:r>
            <a:endParaRPr lang="ru-RU" sz="1200" b="1" dirty="0">
              <a:solidFill>
                <a:srgbClr val="595959"/>
              </a:solidFill>
              <a:cs typeface="Arial" panose="020B0604020202020204" pitchFamily="34" charset="0"/>
            </a:endParaRPr>
          </a:p>
        </p:txBody>
      </p:sp>
      <p:sp>
        <p:nvSpPr>
          <p:cNvPr id="33" name="Скругленный прямоугольник 311">
            <a:extLst>
              <a:ext uri="{FF2B5EF4-FFF2-40B4-BE49-F238E27FC236}">
                <a16:creationId xmlns:a16="http://schemas.microsoft.com/office/drawing/2014/main" xmlns="" id="{6B94761C-2B1A-43FF-9AEA-440BE2A8FCFD}"/>
              </a:ext>
            </a:extLst>
          </p:cNvPr>
          <p:cNvSpPr/>
          <p:nvPr/>
        </p:nvSpPr>
        <p:spPr>
          <a:xfrm rot="16200000">
            <a:off x="3343550" y="897368"/>
            <a:ext cx="2480866" cy="8542624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1200" b="1" dirty="0" smtClean="0">
                <a:solidFill>
                  <a:srgbClr val="595959"/>
                </a:solidFill>
                <a:cs typeface="Arial" panose="020B0604020202020204" pitchFamily="34" charset="0"/>
              </a:rPr>
              <a:t>Технический специалист НСИ</a:t>
            </a:r>
            <a:endParaRPr lang="ru-RU" sz="1200" b="1" dirty="0">
              <a:solidFill>
                <a:srgbClr val="595959"/>
              </a:solidFill>
              <a:cs typeface="Arial" panose="020B0604020202020204" pitchFamily="34" charset="0"/>
            </a:endParaRPr>
          </a:p>
        </p:txBody>
      </p:sp>
      <p:sp>
        <p:nvSpPr>
          <p:cNvPr id="34" name="Скругленный прямоугольник 33"/>
          <p:cNvSpPr/>
          <p:nvPr/>
        </p:nvSpPr>
        <p:spPr>
          <a:xfrm>
            <a:off x="768627" y="1555831"/>
            <a:ext cx="1738977" cy="911677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 smtClean="0">
                <a:latin typeface="Arial" panose="020B0604020202020204" pitchFamily="34" charset="0"/>
                <a:cs typeface="Arial" panose="020B0604020202020204" pitchFamily="34" charset="0"/>
              </a:rPr>
              <a:t>Создание </a:t>
            </a:r>
            <a:r>
              <a:rPr lang="ru-RU" sz="800" dirty="0">
                <a:latin typeface="Arial" panose="020B0604020202020204" pitchFamily="34" charset="0"/>
                <a:cs typeface="Arial" panose="020B0604020202020204" pitchFamily="34" charset="0"/>
              </a:rPr>
              <a:t>технического места</a:t>
            </a:r>
          </a:p>
        </p:txBody>
      </p:sp>
      <p:sp>
        <p:nvSpPr>
          <p:cNvPr id="36" name="Скругленный прямоугольник 35"/>
          <p:cNvSpPr/>
          <p:nvPr/>
        </p:nvSpPr>
        <p:spPr>
          <a:xfrm>
            <a:off x="768626" y="2738640"/>
            <a:ext cx="1738977" cy="911677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 smtClean="0">
                <a:latin typeface="Arial" panose="020B0604020202020204" pitchFamily="34" charset="0"/>
                <a:cs typeface="Arial" panose="020B0604020202020204" pitchFamily="34" charset="0"/>
              </a:rPr>
              <a:t>Создание заявки НСИ</a:t>
            </a:r>
            <a:endParaRPr lang="ru-RU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Скругленный прямоугольник 48"/>
          <p:cNvSpPr/>
          <p:nvPr/>
        </p:nvSpPr>
        <p:spPr>
          <a:xfrm>
            <a:off x="768625" y="4609787"/>
            <a:ext cx="1738977" cy="1017139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bg1"/>
                </a:solidFill>
                <a:cs typeface="Arial" panose="020B0604020202020204" pitchFamily="34" charset="0"/>
              </a:rPr>
              <a:t>Проверка на достаточность и корректность данных по техническому месту в </a:t>
            </a:r>
            <a:r>
              <a:rPr lang="en-US" sz="1200" dirty="0">
                <a:solidFill>
                  <a:schemeClr val="bg1"/>
                </a:solidFill>
                <a:cs typeface="Arial" panose="020B0604020202020204" pitchFamily="34" charset="0"/>
              </a:rPr>
              <a:t>S4</a:t>
            </a:r>
            <a:r>
              <a:rPr lang="ru-RU" sz="1200" dirty="0">
                <a:solidFill>
                  <a:schemeClr val="bg1"/>
                </a:solidFill>
                <a:cs typeface="Arial" panose="020B0604020202020204" pitchFamily="34" charset="0"/>
              </a:rPr>
              <a:t>/</a:t>
            </a:r>
            <a:r>
              <a:rPr lang="en-US" sz="1200" dirty="0">
                <a:solidFill>
                  <a:schemeClr val="bg1"/>
                </a:solidFill>
                <a:cs typeface="Arial" panose="020B0604020202020204" pitchFamily="34" charset="0"/>
              </a:rPr>
              <a:t>HANA</a:t>
            </a:r>
            <a:endParaRPr lang="ru-RU" sz="12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59" name="Скругленный прямоугольник 58"/>
          <p:cNvSpPr/>
          <p:nvPr/>
        </p:nvSpPr>
        <p:spPr>
          <a:xfrm>
            <a:off x="3328760" y="4609786"/>
            <a:ext cx="1738977" cy="1017139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latin typeface="Arial" panose="020B0604020202020204" pitchFamily="34" charset="0"/>
                <a:cs typeface="Arial" panose="020B0604020202020204" pitchFamily="34" charset="0"/>
              </a:rPr>
              <a:t>Согласование наряда Техническим специалистом НСИ</a:t>
            </a:r>
          </a:p>
        </p:txBody>
      </p:sp>
      <p:sp>
        <p:nvSpPr>
          <p:cNvPr id="74" name="Скругленный прямоугольник 73"/>
          <p:cNvSpPr/>
          <p:nvPr/>
        </p:nvSpPr>
        <p:spPr>
          <a:xfrm>
            <a:off x="3327953" y="2003345"/>
            <a:ext cx="1738977" cy="1017139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bg1"/>
                </a:solidFill>
                <a:cs typeface="Arial" panose="020B0604020202020204" pitchFamily="34" charset="0"/>
              </a:rPr>
              <a:t>Проверка заявки на ошибки и возможное дублирование технических мест в </a:t>
            </a:r>
            <a:r>
              <a:rPr lang="en-US" sz="1200" dirty="0">
                <a:solidFill>
                  <a:schemeClr val="bg1"/>
                </a:solidFill>
                <a:cs typeface="Arial" panose="020B0604020202020204" pitchFamily="34" charset="0"/>
              </a:rPr>
              <a:t>S4</a:t>
            </a:r>
            <a:r>
              <a:rPr lang="ru-RU" sz="1200" dirty="0">
                <a:solidFill>
                  <a:schemeClr val="bg1"/>
                </a:solidFill>
                <a:cs typeface="Arial" panose="020B0604020202020204" pitchFamily="34" charset="0"/>
              </a:rPr>
              <a:t>/</a:t>
            </a:r>
            <a:r>
              <a:rPr lang="en-US" sz="1200" dirty="0">
                <a:solidFill>
                  <a:schemeClr val="bg1"/>
                </a:solidFill>
                <a:cs typeface="Arial" panose="020B0604020202020204" pitchFamily="34" charset="0"/>
              </a:rPr>
              <a:t>HANA</a:t>
            </a:r>
            <a:endParaRPr lang="ru-RU" sz="12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79" name="Скругленный прямоугольник 78"/>
          <p:cNvSpPr/>
          <p:nvPr/>
        </p:nvSpPr>
        <p:spPr>
          <a:xfrm>
            <a:off x="5949239" y="4192936"/>
            <a:ext cx="1616674" cy="934504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latin typeface="Arial" panose="020B0604020202020204" pitchFamily="34" charset="0"/>
                <a:cs typeface="Arial" panose="020B0604020202020204" pitchFamily="34" charset="0"/>
              </a:rPr>
              <a:t>Изменение технического места </a:t>
            </a:r>
          </a:p>
        </p:txBody>
      </p:sp>
      <p:sp>
        <p:nvSpPr>
          <p:cNvPr id="81" name="Скругленный прямоугольник 80"/>
          <p:cNvSpPr/>
          <p:nvPr/>
        </p:nvSpPr>
        <p:spPr>
          <a:xfrm>
            <a:off x="5936420" y="5280812"/>
            <a:ext cx="1616674" cy="880833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cs typeface="Arial" panose="020B0604020202020204" pitchFamily="34" charset="0"/>
              </a:rPr>
              <a:t>Оповещение инициатора о выполнении заявки НСИ</a:t>
            </a:r>
          </a:p>
        </p:txBody>
      </p:sp>
      <p:sp>
        <p:nvSpPr>
          <p:cNvPr id="134" name="Скругленный прямоугольник 133"/>
          <p:cNvSpPr/>
          <p:nvPr/>
        </p:nvSpPr>
        <p:spPr>
          <a:xfrm>
            <a:off x="6981825" y="2003345"/>
            <a:ext cx="1616674" cy="1017138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cs typeface="Arial" panose="020B0604020202020204" pitchFamily="34" charset="0"/>
              </a:rPr>
              <a:t>Проверка и подтверждение выполнения заявки </a:t>
            </a:r>
          </a:p>
        </p:txBody>
      </p:sp>
    </p:spTree>
    <p:extLst>
      <p:ext uri="{BB962C8B-B14F-4D97-AF65-F5344CB8AC3E}">
        <p14:creationId xmlns:p14="http://schemas.microsoft.com/office/powerpoint/2010/main" val="765845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dirty="0" smtClean="0"/>
              <a:t>Описание шага «Создание технического места»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872836" y="1155470"/>
            <a:ext cx="74398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Данный шаг выполняется после проведения анализа необходимости создания нового технического места(ТМ)  Инициатором заявки НСИ</a:t>
            </a:r>
            <a:endParaRPr lang="ru-RU" dirty="0"/>
          </a:p>
        </p:txBody>
      </p:sp>
      <p:grpSp>
        <p:nvGrpSpPr>
          <p:cNvPr id="5" name="Группа 4"/>
          <p:cNvGrpSpPr/>
          <p:nvPr/>
        </p:nvGrpSpPr>
        <p:grpSpPr>
          <a:xfrm>
            <a:off x="3261496" y="2319147"/>
            <a:ext cx="2496314" cy="2319786"/>
            <a:chOff x="2315329" y="875631"/>
            <a:chExt cx="1343033" cy="992604"/>
          </a:xfrm>
        </p:grpSpPr>
        <p:sp>
          <p:nvSpPr>
            <p:cNvPr id="6" name="Скругленный прямоугольник 5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 smtClean="0"/>
                <a:t>Создание технического места</a:t>
              </a:r>
              <a:endParaRPr lang="ru-RU" sz="1600" dirty="0">
                <a:solidFill>
                  <a:srgbClr val="595959"/>
                </a:solidFill>
              </a:endParaRPr>
            </a:p>
          </p:txBody>
        </p:sp>
      </p:grpSp>
      <p:cxnSp>
        <p:nvCxnSpPr>
          <p:cNvPr id="8" name="Прямая со стрелкой 7"/>
          <p:cNvCxnSpPr>
            <a:endCxn id="6" idx="1"/>
          </p:cNvCxnSpPr>
          <p:nvPr/>
        </p:nvCxnSpPr>
        <p:spPr>
          <a:xfrm>
            <a:off x="1113905" y="3479039"/>
            <a:ext cx="2147591" cy="1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 стрелкой 8"/>
          <p:cNvCxnSpPr>
            <a:stCxn id="6" idx="3"/>
          </p:cNvCxnSpPr>
          <p:nvPr/>
        </p:nvCxnSpPr>
        <p:spPr>
          <a:xfrm>
            <a:off x="5757810" y="3479040"/>
            <a:ext cx="1748583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140928" y="2756224"/>
            <a:ext cx="220161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/>
              <a:t>Проведен анализ необходимости создания технического места</a:t>
            </a:r>
            <a:endParaRPr lang="ru-RU" sz="1400" dirty="0"/>
          </a:p>
        </p:txBody>
      </p:sp>
      <p:sp>
        <p:nvSpPr>
          <p:cNvPr id="17" name="TextBox 16"/>
          <p:cNvSpPr txBox="1"/>
          <p:nvPr/>
        </p:nvSpPr>
        <p:spPr>
          <a:xfrm>
            <a:off x="5757810" y="2955819"/>
            <a:ext cx="16209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/>
              <a:t>Техническое место создано</a:t>
            </a:r>
            <a:endParaRPr lang="ru-RU" sz="1400" dirty="0"/>
          </a:p>
        </p:txBody>
      </p:sp>
      <p:sp>
        <p:nvSpPr>
          <p:cNvPr id="18" name="TextBox 17"/>
          <p:cNvSpPr txBox="1"/>
          <p:nvPr/>
        </p:nvSpPr>
        <p:spPr>
          <a:xfrm>
            <a:off x="806334" y="5078676"/>
            <a:ext cx="772252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Инициатор заявки НСИ заполняется карточку технического места необходимыми данными. После создания технического места Инициатор заявки НСИ оправляет в службу НСИ коды созданных технических мест, для согласования. </a:t>
            </a:r>
            <a:r>
              <a:rPr lang="ru-RU" dirty="0"/>
              <a:t>Подробно </a:t>
            </a:r>
            <a:r>
              <a:rPr lang="ru-RU" dirty="0" smtClean="0"/>
              <a:t>процесс работы заявками НСИ </a:t>
            </a:r>
            <a:r>
              <a:rPr lang="ru-RU" dirty="0"/>
              <a:t>описан в </a:t>
            </a:r>
            <a:r>
              <a:rPr lang="ru-RU" dirty="0">
                <a:hlinkClick r:id="rId2" action="ppaction://hlinksldjump"/>
              </a:rPr>
              <a:t>«Инструкции </a:t>
            </a:r>
            <a:r>
              <a:rPr lang="en-US" dirty="0" err="1">
                <a:hlinkClick r:id="rId2" action="ppaction://hlinksldjump"/>
              </a:rPr>
              <a:t>Naumen</a:t>
            </a:r>
            <a:r>
              <a:rPr lang="en-US" dirty="0">
                <a:hlinkClick r:id="rId2" action="ppaction://hlinksldjump"/>
              </a:rPr>
              <a:t> SD</a:t>
            </a:r>
            <a:r>
              <a:rPr lang="ru-RU" dirty="0">
                <a:hlinkClick r:id="rId2" action="ppaction://hlinksldjump"/>
              </a:rPr>
              <a:t>»</a:t>
            </a:r>
            <a:r>
              <a:rPr lang="ru-RU" dirty="0"/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480231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 smtClean="0"/>
              <a:t>Описание </a:t>
            </a:r>
            <a:r>
              <a:rPr lang="ru-RU" sz="2000" dirty="0"/>
              <a:t>шага «Проверка на достаточность данных в </a:t>
            </a:r>
            <a:r>
              <a:rPr lang="ru-RU" sz="2000" dirty="0" smtClean="0"/>
              <a:t>заявке НСИ»</a:t>
            </a:r>
            <a:endParaRPr lang="ru-RU"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487680" y="1181100"/>
            <a:ext cx="8122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Данный шаг выполняется после получения заявки НСИ Техническим специалистом НСИ</a:t>
            </a:r>
            <a:endParaRPr lang="ru-RU" dirty="0"/>
          </a:p>
        </p:txBody>
      </p:sp>
      <p:grpSp>
        <p:nvGrpSpPr>
          <p:cNvPr id="5" name="Группа 4"/>
          <p:cNvGrpSpPr/>
          <p:nvPr/>
        </p:nvGrpSpPr>
        <p:grpSpPr>
          <a:xfrm>
            <a:off x="3439402" y="2157783"/>
            <a:ext cx="2496314" cy="2319786"/>
            <a:chOff x="2311907" y="846559"/>
            <a:chExt cx="1343033" cy="992604"/>
          </a:xfrm>
        </p:grpSpPr>
        <p:sp>
          <p:nvSpPr>
            <p:cNvPr id="6" name="Скругленный прямоугольник 5"/>
            <p:cNvSpPr/>
            <p:nvPr/>
          </p:nvSpPr>
          <p:spPr>
            <a:xfrm>
              <a:off x="2311907" y="846559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 smtClean="0">
                  <a:solidFill>
                    <a:schemeClr val="bg1"/>
                  </a:solidFill>
                </a:rPr>
                <a:t>Проверяются данные в заявке НСИ и анализируются ранее созданные технические места</a:t>
              </a:r>
              <a:endParaRPr lang="ru-RU" sz="1600" kern="12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8" name="Прямая со стрелкой 7"/>
          <p:cNvCxnSpPr>
            <a:endCxn id="6" idx="1"/>
          </p:cNvCxnSpPr>
          <p:nvPr/>
        </p:nvCxnSpPr>
        <p:spPr>
          <a:xfrm>
            <a:off x="1195644" y="3317674"/>
            <a:ext cx="2243759" cy="1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 стрелкой 8"/>
          <p:cNvCxnSpPr>
            <a:stCxn id="6" idx="3"/>
          </p:cNvCxnSpPr>
          <p:nvPr/>
        </p:nvCxnSpPr>
        <p:spPr>
          <a:xfrm>
            <a:off x="5935717" y="3317675"/>
            <a:ext cx="1928243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54182" y="4548749"/>
            <a:ext cx="812292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/>
              <a:t>Технический специалист НСИ запускает отчет и производит анализ технических мест указанных в заявке, так созданных ранее. Если в заявке НСИ указаны технические места дублирующие ранее созданные или в карточке технического места недостаточно данных, то заявка отклоняется. Дублирующее техническое место перемещается на техническое место «Удаленное оборудование». В случае, если техническое место указано корректно, то заявка переводится в статус «Согласовано» (вне системный шаг) и Технический специалист НСИ приступает к выполнению заявки (изменение статуса технического места</a:t>
            </a:r>
            <a:r>
              <a:rPr lang="ru-RU" sz="1600" dirty="0"/>
              <a:t>). Подробно процесс </a:t>
            </a:r>
            <a:r>
              <a:rPr lang="ru-RU" sz="1600" dirty="0" smtClean="0"/>
              <a:t>работы </a:t>
            </a:r>
            <a:r>
              <a:rPr lang="en-US" sz="1600" dirty="0"/>
              <a:t>c </a:t>
            </a:r>
            <a:r>
              <a:rPr lang="ru-RU" sz="1600" dirty="0" smtClean="0"/>
              <a:t>заявками НСИ </a:t>
            </a:r>
            <a:r>
              <a:rPr lang="ru-RU" sz="1600" dirty="0"/>
              <a:t>описан в </a:t>
            </a:r>
            <a:r>
              <a:rPr lang="ru-RU" sz="1600" dirty="0">
                <a:hlinkClick r:id="rId2" action="ppaction://hlinksldjump"/>
              </a:rPr>
              <a:t>«Инструкции </a:t>
            </a:r>
            <a:r>
              <a:rPr lang="en-US" sz="1600" dirty="0" err="1">
                <a:hlinkClick r:id="rId2" action="ppaction://hlinksldjump"/>
              </a:rPr>
              <a:t>Naumen</a:t>
            </a:r>
            <a:r>
              <a:rPr lang="en-US" sz="1600" dirty="0">
                <a:hlinkClick r:id="rId2" action="ppaction://hlinksldjump"/>
              </a:rPr>
              <a:t> SD</a:t>
            </a:r>
            <a:r>
              <a:rPr lang="ru-RU" sz="1600" dirty="0">
                <a:hlinkClick r:id="rId2" action="ppaction://hlinksldjump"/>
              </a:rPr>
              <a:t>».</a:t>
            </a:r>
            <a:endParaRPr lang="ru-RU" sz="1600" dirty="0"/>
          </a:p>
          <a:p>
            <a:endParaRPr lang="ru-RU" sz="1600" dirty="0"/>
          </a:p>
        </p:txBody>
      </p:sp>
      <p:sp>
        <p:nvSpPr>
          <p:cNvPr id="16" name="TextBox 15"/>
          <p:cNvSpPr txBox="1"/>
          <p:nvPr/>
        </p:nvSpPr>
        <p:spPr>
          <a:xfrm>
            <a:off x="1380662" y="2732900"/>
            <a:ext cx="21287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/>
              <a:t>Получение заявки НСИ</a:t>
            </a:r>
            <a:endParaRPr lang="ru-RU" sz="1600" dirty="0"/>
          </a:p>
        </p:txBody>
      </p:sp>
      <p:sp>
        <p:nvSpPr>
          <p:cNvPr id="17" name="TextBox 16"/>
          <p:cNvSpPr txBox="1"/>
          <p:nvPr/>
        </p:nvSpPr>
        <p:spPr>
          <a:xfrm>
            <a:off x="5867007" y="2732900"/>
            <a:ext cx="23164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/>
              <a:t>Произведен анализ технических мест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12829788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 smtClean="0"/>
              <a:t>Описание шага «Изменение технического места» </a:t>
            </a:r>
          </a:p>
          <a:p>
            <a:endParaRPr lang="ru-RU" dirty="0"/>
          </a:p>
        </p:txBody>
      </p:sp>
      <p:sp>
        <p:nvSpPr>
          <p:cNvPr id="4" name="Скругленный прямоугольник 3"/>
          <p:cNvSpPr/>
          <p:nvPr/>
        </p:nvSpPr>
        <p:spPr>
          <a:xfrm>
            <a:off x="3239316" y="2588618"/>
            <a:ext cx="2496314" cy="2319786"/>
          </a:xfrm>
          <a:prstGeom prst="roundRect">
            <a:avLst>
              <a:gd name="adj" fmla="val 10000"/>
            </a:avLst>
          </a:prstGeom>
          <a:solidFill>
            <a:srgbClr val="FCC917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5" name="TextBox 4"/>
          <p:cNvSpPr txBox="1"/>
          <p:nvPr/>
        </p:nvSpPr>
        <p:spPr>
          <a:xfrm>
            <a:off x="3239316" y="2591554"/>
            <a:ext cx="2496314" cy="2219602"/>
          </a:xfrm>
          <a:prstGeom prst="rect">
            <a:avLst/>
          </a:prstGeom>
          <a:noFill/>
        </p:spPr>
        <p:txBody>
          <a:bodyPr wrap="square" lIns="108000" rIns="72000" rtlCol="0" anchor="ctr" anchorCtr="0">
            <a:noAutofit/>
          </a:bodyPr>
          <a:lstStyle/>
          <a:p>
            <a:pPr algn="ctr"/>
            <a:r>
              <a:rPr lang="ru-RU" dirty="0" smtClean="0">
                <a:solidFill>
                  <a:schemeClr val="bg1"/>
                </a:solidFill>
              </a:rPr>
              <a:t>Изменение технического места</a:t>
            </a:r>
            <a:endParaRPr lang="ru-RU" dirty="0">
              <a:solidFill>
                <a:schemeClr val="bg1"/>
              </a:solidFill>
            </a:endParaRPr>
          </a:p>
        </p:txBody>
      </p:sp>
      <p:cxnSp>
        <p:nvCxnSpPr>
          <p:cNvPr id="6" name="Прямая со стрелкой 5"/>
          <p:cNvCxnSpPr>
            <a:endCxn id="4" idx="1"/>
          </p:cNvCxnSpPr>
          <p:nvPr/>
        </p:nvCxnSpPr>
        <p:spPr>
          <a:xfrm>
            <a:off x="1379220" y="3748511"/>
            <a:ext cx="18600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 стрелкой 6"/>
          <p:cNvCxnSpPr>
            <a:stCxn id="5" idx="3"/>
          </p:cNvCxnSpPr>
          <p:nvPr/>
        </p:nvCxnSpPr>
        <p:spPr>
          <a:xfrm>
            <a:off x="5735630" y="3701355"/>
            <a:ext cx="1930090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672896" y="3409957"/>
            <a:ext cx="12727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/>
              <a:t> Заявка НСИ</a:t>
            </a:r>
            <a:endParaRPr lang="ru-RU" sz="1600" dirty="0"/>
          </a:p>
        </p:txBody>
      </p:sp>
      <p:sp>
        <p:nvSpPr>
          <p:cNvPr id="14" name="TextBox 13"/>
          <p:cNvSpPr txBox="1"/>
          <p:nvPr/>
        </p:nvSpPr>
        <p:spPr>
          <a:xfrm>
            <a:off x="5875020" y="3116580"/>
            <a:ext cx="20040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/>
              <a:t>Статус технического места изменен</a:t>
            </a:r>
            <a:endParaRPr lang="ru-RU" sz="1600" dirty="0"/>
          </a:p>
        </p:txBody>
      </p:sp>
      <p:sp>
        <p:nvSpPr>
          <p:cNvPr id="15" name="TextBox 14"/>
          <p:cNvSpPr txBox="1"/>
          <p:nvPr/>
        </p:nvSpPr>
        <p:spPr>
          <a:xfrm>
            <a:off x="1203253" y="1386362"/>
            <a:ext cx="6568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Технический специалист НСИ переходит на изменение технического места и снимает статус «НОВ – Новый»</a:t>
            </a:r>
            <a:endParaRPr lang="ru-RU" dirty="0"/>
          </a:p>
        </p:txBody>
      </p:sp>
      <p:sp>
        <p:nvSpPr>
          <p:cNvPr id="16" name="TextBox 15"/>
          <p:cNvSpPr txBox="1"/>
          <p:nvPr/>
        </p:nvSpPr>
        <p:spPr>
          <a:xfrm>
            <a:off x="868680" y="5212080"/>
            <a:ext cx="778002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После изменения статуса технического места, Технический специалист НСИ устанавливает статус заявки «Выполнено» (вне системный шаг), после чего информирует Инициатора заявки НСИ по почте о внесении изменений в </a:t>
            </a:r>
            <a:r>
              <a:rPr lang="en-US" dirty="0" smtClean="0"/>
              <a:t>SAP</a:t>
            </a:r>
            <a:r>
              <a:rPr lang="ru-RU" dirty="0" smtClean="0"/>
              <a:t>. </a:t>
            </a:r>
            <a:r>
              <a:rPr lang="ru-RU" dirty="0"/>
              <a:t>Подробно процесс </a:t>
            </a:r>
            <a:r>
              <a:rPr lang="ru-RU" dirty="0" smtClean="0"/>
              <a:t>работы </a:t>
            </a:r>
            <a:r>
              <a:rPr lang="en-US" dirty="0"/>
              <a:t>c </a:t>
            </a:r>
            <a:r>
              <a:rPr lang="ru-RU" dirty="0" smtClean="0"/>
              <a:t>заявками НСИ </a:t>
            </a:r>
            <a:r>
              <a:rPr lang="ru-RU" dirty="0"/>
              <a:t>описан в </a:t>
            </a:r>
            <a:r>
              <a:rPr lang="ru-RU" dirty="0">
                <a:hlinkClick r:id="rId2" action="ppaction://hlinksldjump"/>
              </a:rPr>
              <a:t>«Инструкции </a:t>
            </a:r>
            <a:r>
              <a:rPr lang="en-US" dirty="0" err="1">
                <a:hlinkClick r:id="rId2" action="ppaction://hlinksldjump"/>
              </a:rPr>
              <a:t>Naumen</a:t>
            </a:r>
            <a:r>
              <a:rPr lang="en-US" dirty="0">
                <a:hlinkClick r:id="rId2" action="ppaction://hlinksldjump"/>
              </a:rPr>
              <a:t> SD</a:t>
            </a:r>
            <a:r>
              <a:rPr lang="ru-RU" dirty="0">
                <a:hlinkClick r:id="rId2" action="ppaction://hlinksldjump"/>
              </a:rPr>
              <a:t>»</a:t>
            </a:r>
            <a:r>
              <a:rPr lang="ru-RU" dirty="0"/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962337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dirty="0" smtClean="0"/>
              <a:t>Описание шага «Проверка заявки НСИ на ошибки»</a:t>
            </a:r>
            <a:endParaRPr lang="ru-RU" dirty="0"/>
          </a:p>
        </p:txBody>
      </p:sp>
      <p:sp>
        <p:nvSpPr>
          <p:cNvPr id="2" name="TextBox 1"/>
          <p:cNvSpPr txBox="1"/>
          <p:nvPr/>
        </p:nvSpPr>
        <p:spPr>
          <a:xfrm>
            <a:off x="1005840" y="1263535"/>
            <a:ext cx="72902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Данный шаг выполняется после получения отклоненной заявки Техническим специалистом НСИ с комментариями.</a:t>
            </a:r>
            <a:endParaRPr lang="ru-RU" dirty="0"/>
          </a:p>
        </p:txBody>
      </p:sp>
      <p:sp>
        <p:nvSpPr>
          <p:cNvPr id="4" name="Скругленный прямоугольник 3"/>
          <p:cNvSpPr/>
          <p:nvPr/>
        </p:nvSpPr>
        <p:spPr>
          <a:xfrm>
            <a:off x="3290730" y="2169265"/>
            <a:ext cx="2496314" cy="2319786"/>
          </a:xfrm>
          <a:prstGeom prst="roundRect">
            <a:avLst>
              <a:gd name="adj" fmla="val 10000"/>
            </a:avLst>
          </a:prstGeom>
          <a:solidFill>
            <a:srgbClr val="FCC917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cxnSp>
        <p:nvCxnSpPr>
          <p:cNvPr id="5" name="Прямая со стрелкой 4"/>
          <p:cNvCxnSpPr>
            <a:endCxn id="8" idx="1"/>
          </p:cNvCxnSpPr>
          <p:nvPr/>
        </p:nvCxnSpPr>
        <p:spPr>
          <a:xfrm>
            <a:off x="1388168" y="3327610"/>
            <a:ext cx="1902562" cy="1548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Прямая со стрелкой 5"/>
          <p:cNvCxnSpPr>
            <a:stCxn id="8" idx="3"/>
          </p:cNvCxnSpPr>
          <p:nvPr/>
        </p:nvCxnSpPr>
        <p:spPr>
          <a:xfrm flipV="1">
            <a:off x="5785658" y="3327610"/>
            <a:ext cx="1931476" cy="1548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290730" y="2169265"/>
            <a:ext cx="2494928" cy="2319786"/>
          </a:xfrm>
          <a:prstGeom prst="rect">
            <a:avLst/>
          </a:prstGeom>
          <a:noFill/>
        </p:spPr>
        <p:txBody>
          <a:bodyPr wrap="square" rtlCol="0" anchor="ctr" anchorCtr="1">
            <a:noAutofit/>
          </a:bodyPr>
          <a:lstStyle/>
          <a:p>
            <a:pPr algn="ctr"/>
            <a:r>
              <a:rPr lang="ru-RU" dirty="0" smtClean="0">
                <a:solidFill>
                  <a:schemeClr val="bg1"/>
                </a:solidFill>
              </a:rPr>
              <a:t>Анализ отклоненной заявки НСИ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413875" y="2506148"/>
            <a:ext cx="179973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 smtClean="0"/>
              <a:t>Получение отклоненной заявки НСИ</a:t>
            </a:r>
            <a:endParaRPr lang="ru-RU" sz="1400" dirty="0"/>
          </a:p>
        </p:txBody>
      </p:sp>
      <p:sp>
        <p:nvSpPr>
          <p:cNvPr id="10" name="TextBox 9"/>
          <p:cNvSpPr txBox="1"/>
          <p:nvPr/>
        </p:nvSpPr>
        <p:spPr>
          <a:xfrm>
            <a:off x="5838458" y="2613870"/>
            <a:ext cx="18786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/>
              <a:t>Анализ произведен, ошибки исправлены</a:t>
            </a:r>
            <a:endParaRPr lang="ru-RU" sz="1400" dirty="0"/>
          </a:p>
        </p:txBody>
      </p:sp>
      <p:sp>
        <p:nvSpPr>
          <p:cNvPr id="11" name="TextBox 10"/>
          <p:cNvSpPr txBox="1"/>
          <p:nvPr/>
        </p:nvSpPr>
        <p:spPr>
          <a:xfrm>
            <a:off x="606829" y="4746902"/>
            <a:ext cx="808828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Если заявка была отклонена по причине ошибки или недостаточности данных, то Инициатор корректирует заявку и направляет в службу НСИ заявку повторно. Если заявку отклонили по причине того, что техническое место уже было создано ранее, то Инициатор формирует отчет и убеждается в этом, после чего переходит к следующему шагу.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26677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 smtClean="0"/>
              <a:t>Описание шага «Подтверждение выполнения заявки НСИ»</a:t>
            </a:r>
            <a:endParaRPr lang="ru-RU"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673330" y="985315"/>
            <a:ext cx="80051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Данный шаг выполняется в следующих случаях: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После уведомления Инициатора заявки НСИ о выполнении заявки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В случае обнаружения в отклоненной заявке ранее созданных технических мест</a:t>
            </a:r>
            <a:endParaRPr lang="ru-RU" dirty="0"/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3239315" y="2121001"/>
            <a:ext cx="2496314" cy="2319786"/>
          </a:xfrm>
          <a:prstGeom prst="roundRect">
            <a:avLst>
              <a:gd name="adj" fmla="val 10000"/>
            </a:avLst>
          </a:prstGeom>
          <a:solidFill>
            <a:srgbClr val="FCC917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cxnSp>
        <p:nvCxnSpPr>
          <p:cNvPr id="7" name="Прямая со стрелкой 6"/>
          <p:cNvCxnSpPr>
            <a:stCxn id="6" idx="3"/>
          </p:cNvCxnSpPr>
          <p:nvPr/>
        </p:nvCxnSpPr>
        <p:spPr>
          <a:xfrm>
            <a:off x="5735629" y="3280894"/>
            <a:ext cx="2045083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 стрелкой 7"/>
          <p:cNvCxnSpPr>
            <a:endCxn id="6" idx="1"/>
          </p:cNvCxnSpPr>
          <p:nvPr/>
        </p:nvCxnSpPr>
        <p:spPr>
          <a:xfrm flipV="1">
            <a:off x="1127883" y="3280894"/>
            <a:ext cx="2111432" cy="17243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233650" y="2138245"/>
            <a:ext cx="2496313" cy="2319785"/>
          </a:xfrm>
          <a:prstGeom prst="rect">
            <a:avLst/>
          </a:prstGeom>
          <a:noFill/>
        </p:spPr>
        <p:txBody>
          <a:bodyPr wrap="square" rtlCol="0" anchor="ctr" anchorCtr="1">
            <a:noAutofit/>
          </a:bodyPr>
          <a:lstStyle/>
          <a:p>
            <a:pPr algn="ctr"/>
            <a:r>
              <a:rPr lang="ru-RU" dirty="0" smtClean="0">
                <a:solidFill>
                  <a:schemeClr val="bg1"/>
                </a:solidFill>
              </a:rPr>
              <a:t>Проверка выполнения заявки НСИ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16552" y="2369404"/>
            <a:ext cx="211143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/>
              <a:t>Оповещение о выполнении заявки НСИ/ анализ отклоненной заявки НСИ</a:t>
            </a:r>
            <a:endParaRPr lang="ru-RU" sz="1400" dirty="0"/>
          </a:p>
        </p:txBody>
      </p:sp>
      <p:sp>
        <p:nvSpPr>
          <p:cNvPr id="16" name="TextBox 15"/>
          <p:cNvSpPr txBox="1"/>
          <p:nvPr/>
        </p:nvSpPr>
        <p:spPr>
          <a:xfrm>
            <a:off x="5729963" y="2719202"/>
            <a:ext cx="17207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/>
              <a:t>Подтверждение выполнения заявки</a:t>
            </a:r>
            <a:endParaRPr lang="ru-RU" sz="1400" dirty="0"/>
          </a:p>
        </p:txBody>
      </p:sp>
      <p:sp>
        <p:nvSpPr>
          <p:cNvPr id="17" name="TextBox 16"/>
          <p:cNvSpPr txBox="1"/>
          <p:nvPr/>
        </p:nvSpPr>
        <p:spPr>
          <a:xfrm>
            <a:off x="586047" y="4534974"/>
            <a:ext cx="817972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После получения оповещения по  почте о выполнении заявки НСИ, Инициатор формирует отчет и производит проверку выполненных изменений в </a:t>
            </a:r>
            <a:r>
              <a:rPr lang="en-US" dirty="0" smtClean="0"/>
              <a:t>SAP</a:t>
            </a:r>
            <a:r>
              <a:rPr lang="ru-RU" dirty="0" smtClean="0"/>
              <a:t>, проверяет изменение статуса технического места, после чего подтверждает выполнение заявки НСИ. В случае обнаружения, </a:t>
            </a:r>
            <a:r>
              <a:rPr lang="ru-RU" dirty="0"/>
              <a:t>при выполнении шага «Проверка заявки НСИ на ошибки»</a:t>
            </a:r>
            <a:r>
              <a:rPr lang="ru-RU" dirty="0" smtClean="0"/>
              <a:t> в заявке НСИ технического места, которое дублирует ранее созданное, то производит подтверждение выполнения заявки. </a:t>
            </a:r>
            <a:r>
              <a:rPr lang="ru-RU" dirty="0"/>
              <a:t>Подробно процесс </a:t>
            </a:r>
            <a:r>
              <a:rPr lang="ru-RU" dirty="0" smtClean="0"/>
              <a:t>работы </a:t>
            </a:r>
            <a:r>
              <a:rPr lang="en-US" dirty="0"/>
              <a:t>c </a:t>
            </a:r>
            <a:r>
              <a:rPr lang="ru-RU" dirty="0" smtClean="0"/>
              <a:t>заявками НСИ </a:t>
            </a:r>
            <a:r>
              <a:rPr lang="ru-RU" dirty="0"/>
              <a:t>описан в </a:t>
            </a:r>
            <a:r>
              <a:rPr lang="ru-RU" dirty="0">
                <a:hlinkClick r:id="rId2" action="ppaction://hlinksldjump"/>
              </a:rPr>
              <a:t>«Инструкции </a:t>
            </a:r>
            <a:r>
              <a:rPr lang="en-US" dirty="0" err="1">
                <a:hlinkClick r:id="rId2" action="ppaction://hlinksldjump"/>
              </a:rPr>
              <a:t>Naumen</a:t>
            </a:r>
            <a:r>
              <a:rPr lang="en-US" dirty="0">
                <a:hlinkClick r:id="rId2" action="ppaction://hlinksldjump"/>
              </a:rPr>
              <a:t> SD</a:t>
            </a:r>
            <a:r>
              <a:rPr lang="ru-RU" dirty="0" smtClean="0">
                <a:hlinkClick r:id="rId2" action="ppaction://hlinksldjump"/>
              </a:rPr>
              <a:t>»</a:t>
            </a:r>
            <a:r>
              <a:rPr lang="ru-RU" dirty="0" smtClean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534603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303856" y="477422"/>
            <a:ext cx="5945981" cy="308195"/>
          </a:xfrm>
        </p:spPr>
        <p:txBody>
          <a:bodyPr/>
          <a:lstStyle/>
          <a:p>
            <a:r>
              <a:rPr lang="ru-RU" sz="2000" dirty="0" smtClean="0"/>
              <a:t>Ведение</a:t>
            </a:r>
            <a:r>
              <a:rPr lang="en-US" sz="2000" dirty="0" smtClean="0"/>
              <a:t> </a:t>
            </a:r>
            <a:r>
              <a:rPr lang="ru-RU" sz="2000" dirty="0" smtClean="0"/>
              <a:t>единиц оборудования</a:t>
            </a:r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cxnSp>
        <p:nvCxnSpPr>
          <p:cNvPr id="43" name="Соединительная линия уступом 42"/>
          <p:cNvCxnSpPr>
            <a:stCxn id="34" idx="2"/>
            <a:endCxn id="37" idx="0"/>
          </p:cNvCxnSpPr>
          <p:nvPr/>
        </p:nvCxnSpPr>
        <p:spPr>
          <a:xfrm rot="5400000">
            <a:off x="1025618" y="3938761"/>
            <a:ext cx="1166651" cy="1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Соединительная линия уступом 57"/>
          <p:cNvCxnSpPr>
            <a:stCxn id="37" idx="3"/>
            <a:endCxn id="53" idx="1"/>
          </p:cNvCxnSpPr>
          <p:nvPr/>
        </p:nvCxnSpPr>
        <p:spPr>
          <a:xfrm>
            <a:off x="2478430" y="5095273"/>
            <a:ext cx="750291" cy="2609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Соединительная линия уступом 163"/>
          <p:cNvCxnSpPr>
            <a:stCxn id="53" idx="3"/>
            <a:endCxn id="75" idx="1"/>
          </p:cNvCxnSpPr>
          <p:nvPr/>
        </p:nvCxnSpPr>
        <p:spPr>
          <a:xfrm flipV="1">
            <a:off x="4967698" y="4544023"/>
            <a:ext cx="549632" cy="553859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Соединительная линия уступом 238"/>
          <p:cNvCxnSpPr>
            <a:stCxn id="61" idx="3"/>
            <a:endCxn id="69" idx="1"/>
          </p:cNvCxnSpPr>
          <p:nvPr/>
        </p:nvCxnSpPr>
        <p:spPr>
          <a:xfrm flipV="1">
            <a:off x="4967697" y="2443695"/>
            <a:ext cx="1968757" cy="64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Соединительная линия уступом 22"/>
          <p:cNvCxnSpPr>
            <a:stCxn id="30" idx="2"/>
            <a:endCxn id="34" idx="0"/>
          </p:cNvCxnSpPr>
          <p:nvPr/>
        </p:nvCxnSpPr>
        <p:spPr>
          <a:xfrm rot="5400000">
            <a:off x="1484463" y="2313265"/>
            <a:ext cx="254974" cy="6014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Соединительная линия уступом 62"/>
          <p:cNvCxnSpPr>
            <a:stCxn id="53" idx="0"/>
            <a:endCxn id="61" idx="2"/>
          </p:cNvCxnSpPr>
          <p:nvPr/>
        </p:nvCxnSpPr>
        <p:spPr>
          <a:xfrm rot="16200000" flipV="1">
            <a:off x="3239476" y="3783308"/>
            <a:ext cx="1717469" cy="1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Соединительная линия уступом 187"/>
          <p:cNvCxnSpPr>
            <a:stCxn id="78" idx="3"/>
            <a:endCxn id="69" idx="2"/>
          </p:cNvCxnSpPr>
          <p:nvPr/>
        </p:nvCxnSpPr>
        <p:spPr>
          <a:xfrm flipV="1">
            <a:off x="7256306" y="2924510"/>
            <a:ext cx="549637" cy="2863747"/>
          </a:xfrm>
          <a:prstGeom prst="bentConnector2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Скругленный прямоугольник 29"/>
          <p:cNvSpPr/>
          <p:nvPr/>
        </p:nvSpPr>
        <p:spPr>
          <a:xfrm>
            <a:off x="745468" y="1277108"/>
            <a:ext cx="1738977" cy="911677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cs typeface="Arial" panose="020B0604020202020204" pitchFamily="34" charset="0"/>
              </a:rPr>
              <a:t>Создание единицы оборудования</a:t>
            </a:r>
          </a:p>
        </p:txBody>
      </p:sp>
      <p:sp>
        <p:nvSpPr>
          <p:cNvPr id="31" name="Скругленный прямоугольник 311">
            <a:extLst>
              <a:ext uri="{FF2B5EF4-FFF2-40B4-BE49-F238E27FC236}">
                <a16:creationId xmlns:a16="http://schemas.microsoft.com/office/drawing/2014/main" xmlns="" id="{6B94761C-2B1A-43FF-9AEA-440BE2A8FCFD}"/>
              </a:ext>
            </a:extLst>
          </p:cNvPr>
          <p:cNvSpPr/>
          <p:nvPr/>
        </p:nvSpPr>
        <p:spPr>
          <a:xfrm rot="16200000">
            <a:off x="3354137" y="-1881934"/>
            <a:ext cx="2442062" cy="8542624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1200" b="1" dirty="0" smtClean="0">
                <a:solidFill>
                  <a:srgbClr val="595959"/>
                </a:solidFill>
                <a:cs typeface="Arial" panose="020B0604020202020204" pitchFamily="34" charset="0"/>
              </a:rPr>
              <a:t>Инициатор заявки НСИ</a:t>
            </a:r>
            <a:endParaRPr lang="ru-RU" sz="1200" b="1" dirty="0">
              <a:solidFill>
                <a:srgbClr val="595959"/>
              </a:solidFill>
              <a:cs typeface="Arial" panose="020B0604020202020204" pitchFamily="34" charset="0"/>
            </a:endParaRPr>
          </a:p>
        </p:txBody>
      </p:sp>
      <p:sp>
        <p:nvSpPr>
          <p:cNvPr id="32" name="Скругленный прямоугольник 311">
            <a:extLst>
              <a:ext uri="{FF2B5EF4-FFF2-40B4-BE49-F238E27FC236}">
                <a16:creationId xmlns:a16="http://schemas.microsoft.com/office/drawing/2014/main" xmlns="" id="{6B94761C-2B1A-43FF-9AEA-440BE2A8FCFD}"/>
              </a:ext>
            </a:extLst>
          </p:cNvPr>
          <p:cNvSpPr/>
          <p:nvPr/>
        </p:nvSpPr>
        <p:spPr>
          <a:xfrm rot="16200000">
            <a:off x="3343550" y="897368"/>
            <a:ext cx="2480866" cy="8542624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1200" b="1" dirty="0" smtClean="0">
                <a:solidFill>
                  <a:srgbClr val="595959"/>
                </a:solidFill>
                <a:cs typeface="Arial" panose="020B0604020202020204" pitchFamily="34" charset="0"/>
              </a:rPr>
              <a:t>Технический специалист НСИ</a:t>
            </a:r>
            <a:endParaRPr lang="ru-RU" sz="1200" b="1" dirty="0">
              <a:solidFill>
                <a:srgbClr val="595959"/>
              </a:solidFill>
              <a:cs typeface="Arial" panose="020B0604020202020204" pitchFamily="34" charset="0"/>
            </a:endParaRPr>
          </a:p>
        </p:txBody>
      </p:sp>
      <p:sp>
        <p:nvSpPr>
          <p:cNvPr id="34" name="Скругленный прямоугольник 33"/>
          <p:cNvSpPr/>
          <p:nvPr/>
        </p:nvSpPr>
        <p:spPr>
          <a:xfrm>
            <a:off x="739454" y="2443759"/>
            <a:ext cx="1738977" cy="911677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cs typeface="Arial" panose="020B0604020202020204" pitchFamily="34" charset="0"/>
              </a:rPr>
              <a:t>Создание заявки в </a:t>
            </a:r>
            <a:r>
              <a:rPr lang="en-US" sz="1200" dirty="0" err="1">
                <a:cs typeface="Arial" panose="020B0604020202020204" pitchFamily="34" charset="0"/>
              </a:rPr>
              <a:t>Naumen</a:t>
            </a:r>
            <a:r>
              <a:rPr lang="en-US" sz="1200" dirty="0">
                <a:cs typeface="Arial" panose="020B0604020202020204" pitchFamily="34" charset="0"/>
              </a:rPr>
              <a:t> SD</a:t>
            </a:r>
            <a:endParaRPr lang="ru-RU" sz="1200" dirty="0">
              <a:cs typeface="Arial" panose="020B0604020202020204" pitchFamily="34" charset="0"/>
            </a:endParaRPr>
          </a:p>
        </p:txBody>
      </p:sp>
      <p:sp>
        <p:nvSpPr>
          <p:cNvPr id="37" name="Скругленный прямоугольник 36"/>
          <p:cNvSpPr/>
          <p:nvPr/>
        </p:nvSpPr>
        <p:spPr>
          <a:xfrm>
            <a:off x="739453" y="4522087"/>
            <a:ext cx="1738977" cy="1146371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bg1"/>
                </a:solidFill>
                <a:cs typeface="Arial" panose="020B0604020202020204" pitchFamily="34" charset="0"/>
              </a:rPr>
              <a:t>Проверка на достаточность и корректность данных по единице оборудования в </a:t>
            </a:r>
            <a:r>
              <a:rPr lang="en-US" sz="1200" dirty="0">
                <a:solidFill>
                  <a:schemeClr val="bg1"/>
                </a:solidFill>
                <a:cs typeface="Arial" panose="020B0604020202020204" pitchFamily="34" charset="0"/>
              </a:rPr>
              <a:t>S4</a:t>
            </a:r>
            <a:r>
              <a:rPr lang="ru-RU" sz="1200" dirty="0">
                <a:solidFill>
                  <a:schemeClr val="bg1"/>
                </a:solidFill>
                <a:cs typeface="Arial" panose="020B0604020202020204" pitchFamily="34" charset="0"/>
              </a:rPr>
              <a:t>/</a:t>
            </a:r>
            <a:r>
              <a:rPr lang="en-US" sz="1200" dirty="0">
                <a:solidFill>
                  <a:schemeClr val="bg1"/>
                </a:solidFill>
                <a:cs typeface="Arial" panose="020B0604020202020204" pitchFamily="34" charset="0"/>
              </a:rPr>
              <a:t>HANA</a:t>
            </a:r>
            <a:endParaRPr lang="ru-RU" sz="12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53" name="Скругленный прямоугольник 52"/>
          <p:cNvSpPr/>
          <p:nvPr/>
        </p:nvSpPr>
        <p:spPr>
          <a:xfrm>
            <a:off x="3228721" y="4642043"/>
            <a:ext cx="1738977" cy="911677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cs typeface="Arial" panose="020B0604020202020204" pitchFamily="34" charset="0"/>
              </a:rPr>
              <a:t>Согласование наряда техническим специалистом НСИ</a:t>
            </a:r>
          </a:p>
        </p:txBody>
      </p:sp>
      <p:sp>
        <p:nvSpPr>
          <p:cNvPr id="61" name="Скругленный прямоугольник 60"/>
          <p:cNvSpPr/>
          <p:nvPr/>
        </p:nvSpPr>
        <p:spPr>
          <a:xfrm>
            <a:off x="3228720" y="1962943"/>
            <a:ext cx="1738977" cy="961631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bg1"/>
                </a:solidFill>
                <a:cs typeface="Arial" panose="020B0604020202020204" pitchFamily="34" charset="0"/>
              </a:rPr>
              <a:t>Проверка заявки на ошибки и возможное дублирование единиц оборудования в </a:t>
            </a:r>
            <a:r>
              <a:rPr lang="en-US" sz="1200" dirty="0">
                <a:solidFill>
                  <a:schemeClr val="bg1"/>
                </a:solidFill>
                <a:cs typeface="Arial" panose="020B0604020202020204" pitchFamily="34" charset="0"/>
              </a:rPr>
              <a:t>S4</a:t>
            </a:r>
            <a:r>
              <a:rPr lang="ru-RU" sz="1200" dirty="0">
                <a:solidFill>
                  <a:schemeClr val="bg1"/>
                </a:solidFill>
                <a:cs typeface="Arial" panose="020B0604020202020204" pitchFamily="34" charset="0"/>
              </a:rPr>
              <a:t>/</a:t>
            </a:r>
            <a:r>
              <a:rPr lang="en-US" sz="1200" dirty="0">
                <a:solidFill>
                  <a:schemeClr val="bg1"/>
                </a:solidFill>
                <a:cs typeface="Arial" panose="020B0604020202020204" pitchFamily="34" charset="0"/>
              </a:rPr>
              <a:t>HANA</a:t>
            </a:r>
            <a:endParaRPr lang="ru-RU" sz="12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69" name="Скругленный прямоугольник 68"/>
          <p:cNvSpPr/>
          <p:nvPr/>
        </p:nvSpPr>
        <p:spPr>
          <a:xfrm>
            <a:off x="6936454" y="1962879"/>
            <a:ext cx="1738977" cy="961631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cs typeface="Arial" panose="020B0604020202020204" pitchFamily="34" charset="0"/>
              </a:rPr>
              <a:t>Проверка и подтверждение выполнения заявки </a:t>
            </a:r>
          </a:p>
        </p:txBody>
      </p:sp>
      <p:sp>
        <p:nvSpPr>
          <p:cNvPr id="75" name="Скругленный прямоугольник 74"/>
          <p:cNvSpPr/>
          <p:nvPr/>
        </p:nvSpPr>
        <p:spPr>
          <a:xfrm>
            <a:off x="5517330" y="4063207"/>
            <a:ext cx="1738977" cy="961631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200" dirty="0">
                <a:cs typeface="Arial" panose="020B0604020202020204" pitchFamily="34" charset="0"/>
              </a:rPr>
              <a:t>Изменение единицы оборудования </a:t>
            </a:r>
          </a:p>
        </p:txBody>
      </p:sp>
      <p:sp>
        <p:nvSpPr>
          <p:cNvPr id="78" name="Скругленный прямоугольник 77"/>
          <p:cNvSpPr/>
          <p:nvPr/>
        </p:nvSpPr>
        <p:spPr>
          <a:xfrm>
            <a:off x="5517329" y="5307441"/>
            <a:ext cx="1738977" cy="961631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200" dirty="0">
                <a:cs typeface="Arial" panose="020B0604020202020204" pitchFamily="34" charset="0"/>
              </a:rPr>
              <a:t>Оповещение инициатора о выполнении заявки НСИ</a:t>
            </a:r>
          </a:p>
        </p:txBody>
      </p:sp>
      <p:cxnSp>
        <p:nvCxnSpPr>
          <p:cNvPr id="83" name="Соединительная линия уступом 82"/>
          <p:cNvCxnSpPr>
            <a:stCxn id="75" idx="2"/>
            <a:endCxn id="78" idx="0"/>
          </p:cNvCxnSpPr>
          <p:nvPr/>
        </p:nvCxnSpPr>
        <p:spPr>
          <a:xfrm rot="5400000">
            <a:off x="6245518" y="5166139"/>
            <a:ext cx="282603" cy="1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7847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dirty="0" smtClean="0"/>
              <a:t>Описание шага «Создание единицы оборудования»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872836" y="1155470"/>
            <a:ext cx="74398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Данный шаг выполняется после проведения анализа необходимости создания новой единицы оборудования(ЕО)  Инициатором заявки НСИ</a:t>
            </a:r>
            <a:endParaRPr lang="ru-RU" dirty="0"/>
          </a:p>
        </p:txBody>
      </p:sp>
      <p:grpSp>
        <p:nvGrpSpPr>
          <p:cNvPr id="5" name="Группа 4"/>
          <p:cNvGrpSpPr/>
          <p:nvPr/>
        </p:nvGrpSpPr>
        <p:grpSpPr>
          <a:xfrm>
            <a:off x="3261496" y="2319147"/>
            <a:ext cx="2496314" cy="2319786"/>
            <a:chOff x="2315329" y="875631"/>
            <a:chExt cx="1343033" cy="992604"/>
          </a:xfrm>
        </p:grpSpPr>
        <p:sp>
          <p:nvSpPr>
            <p:cNvPr id="6" name="Скругленный прямоугольник 5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 smtClean="0"/>
                <a:t>Создание единицы оборудования</a:t>
              </a:r>
              <a:endParaRPr lang="ru-RU" sz="1600" dirty="0">
                <a:solidFill>
                  <a:srgbClr val="595959"/>
                </a:solidFill>
              </a:endParaRPr>
            </a:p>
          </p:txBody>
        </p:sp>
      </p:grpSp>
      <p:cxnSp>
        <p:nvCxnSpPr>
          <p:cNvPr id="8" name="Прямая со стрелкой 7"/>
          <p:cNvCxnSpPr>
            <a:endCxn id="6" idx="1"/>
          </p:cNvCxnSpPr>
          <p:nvPr/>
        </p:nvCxnSpPr>
        <p:spPr>
          <a:xfrm>
            <a:off x="1113905" y="3479039"/>
            <a:ext cx="2147591" cy="1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 стрелкой 8"/>
          <p:cNvCxnSpPr>
            <a:stCxn id="6" idx="3"/>
          </p:cNvCxnSpPr>
          <p:nvPr/>
        </p:nvCxnSpPr>
        <p:spPr>
          <a:xfrm flipV="1">
            <a:off x="5757810" y="3479039"/>
            <a:ext cx="1927303" cy="1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140928" y="2756224"/>
            <a:ext cx="220161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/>
              <a:t>Проведен анализ необходимости создания единицы оборудования</a:t>
            </a:r>
            <a:endParaRPr lang="ru-RU" sz="1400" dirty="0"/>
          </a:p>
        </p:txBody>
      </p:sp>
      <p:sp>
        <p:nvSpPr>
          <p:cNvPr id="17" name="TextBox 16"/>
          <p:cNvSpPr txBox="1"/>
          <p:nvPr/>
        </p:nvSpPr>
        <p:spPr>
          <a:xfrm>
            <a:off x="5703774" y="2917018"/>
            <a:ext cx="19813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/>
              <a:t>Единица оборудования создана</a:t>
            </a:r>
            <a:endParaRPr lang="ru-RU" sz="1400" dirty="0"/>
          </a:p>
        </p:txBody>
      </p:sp>
      <p:sp>
        <p:nvSpPr>
          <p:cNvPr id="18" name="TextBox 17"/>
          <p:cNvSpPr txBox="1"/>
          <p:nvPr/>
        </p:nvSpPr>
        <p:spPr>
          <a:xfrm>
            <a:off x="806334" y="5078676"/>
            <a:ext cx="772252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Инициатор заявки НСИ заполняется карточку единицы оборудования необходимыми данными. После создания единицы оборудования Инициатор заявки НСИ оправляет в службу НСИ номера созданной единицы оборудования, для согласования. </a:t>
            </a:r>
            <a:r>
              <a:rPr lang="ru-RU" dirty="0"/>
              <a:t>Подробно процесс </a:t>
            </a:r>
            <a:r>
              <a:rPr lang="ru-RU" dirty="0" smtClean="0"/>
              <a:t>работы </a:t>
            </a:r>
            <a:r>
              <a:rPr lang="en-US" dirty="0"/>
              <a:t>c </a:t>
            </a:r>
            <a:r>
              <a:rPr lang="ru-RU" dirty="0" smtClean="0"/>
              <a:t>заявками НСИ </a:t>
            </a:r>
            <a:r>
              <a:rPr lang="ru-RU" dirty="0"/>
              <a:t>описан в </a:t>
            </a:r>
            <a:r>
              <a:rPr lang="ru-RU" dirty="0">
                <a:hlinkClick r:id="rId2" action="ppaction://hlinksldjump"/>
              </a:rPr>
              <a:t>«Инструкции </a:t>
            </a:r>
            <a:r>
              <a:rPr lang="en-US" dirty="0" err="1">
                <a:hlinkClick r:id="rId2" action="ppaction://hlinksldjump"/>
              </a:rPr>
              <a:t>Naumen</a:t>
            </a:r>
            <a:r>
              <a:rPr lang="en-US" dirty="0">
                <a:hlinkClick r:id="rId2" action="ppaction://hlinksldjump"/>
              </a:rPr>
              <a:t> SD</a:t>
            </a:r>
            <a:r>
              <a:rPr lang="ru-RU" dirty="0">
                <a:hlinkClick r:id="rId2" action="ppaction://hlinksldjump"/>
              </a:rPr>
              <a:t>».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571738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 smtClean="0"/>
              <a:t>Описание </a:t>
            </a:r>
            <a:r>
              <a:rPr lang="ru-RU" sz="2000" dirty="0"/>
              <a:t>шага «Проверка на достаточность данных в </a:t>
            </a:r>
            <a:r>
              <a:rPr lang="ru-RU" sz="2000" dirty="0" smtClean="0"/>
              <a:t>заявке НСИ»</a:t>
            </a:r>
            <a:endParaRPr lang="ru-RU"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487680" y="1181100"/>
            <a:ext cx="8122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Данный шаг выполняется после получения заявки НСИ Техническим специалистом НСИ</a:t>
            </a:r>
            <a:endParaRPr lang="ru-RU" dirty="0"/>
          </a:p>
        </p:txBody>
      </p:sp>
      <p:grpSp>
        <p:nvGrpSpPr>
          <p:cNvPr id="5" name="Группа 4"/>
          <p:cNvGrpSpPr/>
          <p:nvPr/>
        </p:nvGrpSpPr>
        <p:grpSpPr>
          <a:xfrm>
            <a:off x="3450575" y="1812795"/>
            <a:ext cx="2496314" cy="2319786"/>
            <a:chOff x="2311907" y="846559"/>
            <a:chExt cx="1343033" cy="992604"/>
          </a:xfrm>
        </p:grpSpPr>
        <p:sp>
          <p:nvSpPr>
            <p:cNvPr id="6" name="Скругленный прямоугольник 5"/>
            <p:cNvSpPr/>
            <p:nvPr/>
          </p:nvSpPr>
          <p:spPr>
            <a:xfrm>
              <a:off x="2311907" y="846559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 smtClean="0">
                  <a:solidFill>
                    <a:schemeClr val="bg1"/>
                  </a:solidFill>
                </a:rPr>
                <a:t>Проверяются данные в заявке НСИ и анализируются ранее созданные единицы оборудования</a:t>
              </a:r>
              <a:endParaRPr lang="ru-RU" sz="1600" kern="12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8" name="Прямая со стрелкой 7"/>
          <p:cNvCxnSpPr>
            <a:endCxn id="6" idx="1"/>
          </p:cNvCxnSpPr>
          <p:nvPr/>
        </p:nvCxnSpPr>
        <p:spPr>
          <a:xfrm>
            <a:off x="1206817" y="2972686"/>
            <a:ext cx="2243759" cy="1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 стрелкой 8"/>
          <p:cNvCxnSpPr>
            <a:stCxn id="6" idx="3"/>
          </p:cNvCxnSpPr>
          <p:nvPr/>
        </p:nvCxnSpPr>
        <p:spPr>
          <a:xfrm>
            <a:off x="5946890" y="2972687"/>
            <a:ext cx="1928243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37272" y="4150830"/>
            <a:ext cx="812292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/>
              <a:t>Технический специалист НСИ запускает отчет и производит анализ единиц оборудования указанных в заявке и созданных ранее. Если в заявке НСИ указаны единицы оборудования дублирующие ранее созданные или в карточке единицы оборудования недостаточно данных, то заявка отклоняется. Дублирующая единица оборудования перемещается на техническое место «Удаленное оборудование». В случае, если единица оборудования указано корректно, то заявка переводится в статус «Согласовано» (вне системный шаг) и Технический специалист НСИ приступает к выполнению заявки (изменение статуса единицы оборудования</a:t>
            </a:r>
            <a:r>
              <a:rPr lang="ru-RU" sz="1600" dirty="0"/>
              <a:t>). Подробно процесс </a:t>
            </a:r>
            <a:r>
              <a:rPr lang="ru-RU" sz="1600" dirty="0" smtClean="0"/>
              <a:t>работы </a:t>
            </a:r>
            <a:r>
              <a:rPr lang="en-US" sz="1600" dirty="0"/>
              <a:t>c </a:t>
            </a:r>
            <a:r>
              <a:rPr lang="ru-RU" sz="1600" dirty="0" smtClean="0"/>
              <a:t>заявками НСИ </a:t>
            </a:r>
            <a:r>
              <a:rPr lang="ru-RU" sz="1600" dirty="0"/>
              <a:t>описан в </a:t>
            </a:r>
            <a:r>
              <a:rPr lang="ru-RU" sz="1600" dirty="0">
                <a:hlinkClick r:id="" action="ppaction://noaction"/>
              </a:rPr>
              <a:t>«</a:t>
            </a:r>
            <a:r>
              <a:rPr lang="ru-RU" sz="1600" dirty="0">
                <a:hlinkClick r:id="rId2" action="ppaction://hlinksldjump"/>
              </a:rPr>
              <a:t>Инструкции </a:t>
            </a:r>
            <a:r>
              <a:rPr lang="en-US" sz="1600" dirty="0" err="1">
                <a:hlinkClick r:id="rId2" action="ppaction://hlinksldjump"/>
              </a:rPr>
              <a:t>Naumen</a:t>
            </a:r>
            <a:r>
              <a:rPr lang="en-US" sz="1600" dirty="0">
                <a:hlinkClick r:id="rId2" action="ppaction://hlinksldjump"/>
              </a:rPr>
              <a:t> SD</a:t>
            </a:r>
            <a:r>
              <a:rPr lang="ru-RU" sz="1600" dirty="0" smtClean="0">
                <a:hlinkClick r:id="rId2" action="ppaction://hlinksldjump"/>
              </a:rPr>
              <a:t>».</a:t>
            </a:r>
            <a:endParaRPr lang="ru-RU" sz="1600" dirty="0"/>
          </a:p>
        </p:txBody>
      </p:sp>
      <p:sp>
        <p:nvSpPr>
          <p:cNvPr id="16" name="TextBox 15"/>
          <p:cNvSpPr txBox="1"/>
          <p:nvPr/>
        </p:nvSpPr>
        <p:spPr>
          <a:xfrm>
            <a:off x="1382210" y="2420800"/>
            <a:ext cx="21287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/>
              <a:t>Получение заявки НСИ</a:t>
            </a:r>
            <a:endParaRPr lang="ru-RU" sz="1600" dirty="0"/>
          </a:p>
        </p:txBody>
      </p:sp>
      <p:sp>
        <p:nvSpPr>
          <p:cNvPr id="17" name="TextBox 16"/>
          <p:cNvSpPr txBox="1"/>
          <p:nvPr/>
        </p:nvSpPr>
        <p:spPr>
          <a:xfrm>
            <a:off x="5946889" y="2174578"/>
            <a:ext cx="24540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/>
              <a:t>Произведен анализ списка единиц оборудования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7470625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 smtClean="0"/>
              <a:t>Описание шага «Изменение единицы оборудования» </a:t>
            </a:r>
          </a:p>
          <a:p>
            <a:endParaRPr lang="ru-RU" dirty="0"/>
          </a:p>
        </p:txBody>
      </p:sp>
      <p:sp>
        <p:nvSpPr>
          <p:cNvPr id="4" name="Скругленный прямоугольник 3"/>
          <p:cNvSpPr/>
          <p:nvPr/>
        </p:nvSpPr>
        <p:spPr>
          <a:xfrm>
            <a:off x="3239316" y="2588618"/>
            <a:ext cx="2496314" cy="2319786"/>
          </a:xfrm>
          <a:prstGeom prst="roundRect">
            <a:avLst>
              <a:gd name="adj" fmla="val 10000"/>
            </a:avLst>
          </a:prstGeom>
          <a:solidFill>
            <a:srgbClr val="FCC917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5" name="TextBox 4"/>
          <p:cNvSpPr txBox="1"/>
          <p:nvPr/>
        </p:nvSpPr>
        <p:spPr>
          <a:xfrm>
            <a:off x="3239316" y="2591554"/>
            <a:ext cx="2496314" cy="2219602"/>
          </a:xfrm>
          <a:prstGeom prst="rect">
            <a:avLst/>
          </a:prstGeom>
          <a:noFill/>
        </p:spPr>
        <p:txBody>
          <a:bodyPr wrap="square" lIns="108000" rIns="72000" rtlCol="0" anchor="ctr" anchorCtr="0">
            <a:noAutofit/>
          </a:bodyPr>
          <a:lstStyle/>
          <a:p>
            <a:pPr algn="ctr"/>
            <a:r>
              <a:rPr lang="ru-RU" dirty="0" smtClean="0">
                <a:solidFill>
                  <a:schemeClr val="bg1"/>
                </a:solidFill>
              </a:rPr>
              <a:t>Изменение единицы оборудования</a:t>
            </a:r>
            <a:endParaRPr lang="ru-RU" dirty="0">
              <a:solidFill>
                <a:schemeClr val="bg1"/>
              </a:solidFill>
            </a:endParaRPr>
          </a:p>
        </p:txBody>
      </p:sp>
      <p:cxnSp>
        <p:nvCxnSpPr>
          <p:cNvPr id="6" name="Прямая со стрелкой 5"/>
          <p:cNvCxnSpPr>
            <a:endCxn id="4" idx="1"/>
          </p:cNvCxnSpPr>
          <p:nvPr/>
        </p:nvCxnSpPr>
        <p:spPr>
          <a:xfrm>
            <a:off x="1379220" y="3748511"/>
            <a:ext cx="18600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 стрелкой 6"/>
          <p:cNvCxnSpPr>
            <a:stCxn id="5" idx="3"/>
          </p:cNvCxnSpPr>
          <p:nvPr/>
        </p:nvCxnSpPr>
        <p:spPr>
          <a:xfrm>
            <a:off x="5735630" y="3701355"/>
            <a:ext cx="1930090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672896" y="3409957"/>
            <a:ext cx="12727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/>
              <a:t> Заявка НСИ</a:t>
            </a:r>
            <a:endParaRPr lang="ru-RU" sz="1600" dirty="0"/>
          </a:p>
        </p:txBody>
      </p:sp>
      <p:sp>
        <p:nvSpPr>
          <p:cNvPr id="14" name="TextBox 13"/>
          <p:cNvSpPr txBox="1"/>
          <p:nvPr/>
        </p:nvSpPr>
        <p:spPr>
          <a:xfrm>
            <a:off x="5767633" y="2917514"/>
            <a:ext cx="20040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/>
              <a:t>Статус единицы оборудования изменен</a:t>
            </a:r>
            <a:endParaRPr lang="ru-RU" sz="1600" dirty="0"/>
          </a:p>
        </p:txBody>
      </p:sp>
      <p:sp>
        <p:nvSpPr>
          <p:cNvPr id="15" name="TextBox 14"/>
          <p:cNvSpPr txBox="1"/>
          <p:nvPr/>
        </p:nvSpPr>
        <p:spPr>
          <a:xfrm>
            <a:off x="1203253" y="1386362"/>
            <a:ext cx="6568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Технический специалист НСИ переходит на изменение единицы оборудования и снимает статус «НОВ – Новый»</a:t>
            </a:r>
            <a:endParaRPr lang="ru-RU" dirty="0"/>
          </a:p>
        </p:txBody>
      </p:sp>
      <p:sp>
        <p:nvSpPr>
          <p:cNvPr id="16" name="TextBox 15"/>
          <p:cNvSpPr txBox="1"/>
          <p:nvPr/>
        </p:nvSpPr>
        <p:spPr>
          <a:xfrm>
            <a:off x="590204" y="5212080"/>
            <a:ext cx="805849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После изменения статуса единицы оборудования, Технический специалист НСИ устанавливает статус заявки «Выполнено» (вне системный шаг), после чего информирует Инициатора заявки НСИ по почте о внесении изменений в </a:t>
            </a:r>
            <a:r>
              <a:rPr lang="en-US" dirty="0" smtClean="0"/>
              <a:t>SAP</a:t>
            </a:r>
            <a:r>
              <a:rPr lang="ru-RU" dirty="0" smtClean="0"/>
              <a:t>.</a:t>
            </a:r>
            <a:r>
              <a:rPr lang="ru-RU" dirty="0"/>
              <a:t> Подробно процесс </a:t>
            </a:r>
            <a:r>
              <a:rPr lang="ru-RU" dirty="0" smtClean="0"/>
              <a:t>работы </a:t>
            </a:r>
            <a:r>
              <a:rPr lang="en-US" dirty="0"/>
              <a:t>c </a:t>
            </a:r>
            <a:r>
              <a:rPr lang="ru-RU" dirty="0" smtClean="0"/>
              <a:t>заявками НСИ </a:t>
            </a:r>
            <a:r>
              <a:rPr lang="ru-RU" dirty="0"/>
              <a:t>описан в </a:t>
            </a:r>
            <a:r>
              <a:rPr lang="ru-RU" dirty="0">
                <a:hlinkClick r:id="rId2" action="ppaction://hlinksldjump"/>
              </a:rPr>
              <a:t>«Инструкции </a:t>
            </a:r>
            <a:r>
              <a:rPr lang="en-US" dirty="0" err="1">
                <a:hlinkClick r:id="rId2" action="ppaction://hlinksldjump"/>
              </a:rPr>
              <a:t>Naumen</a:t>
            </a:r>
            <a:r>
              <a:rPr lang="en-US" dirty="0">
                <a:hlinkClick r:id="rId2" action="ppaction://hlinksldjump"/>
              </a:rPr>
              <a:t> SD</a:t>
            </a:r>
            <a:r>
              <a:rPr lang="ru-RU" dirty="0">
                <a:hlinkClick r:id="rId2" action="ppaction://hlinksldjump"/>
              </a:rPr>
              <a:t>».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530222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dirty="0" smtClean="0"/>
              <a:t>Описание шага «Проверка заявки НСИ на ошибки»</a:t>
            </a:r>
            <a:endParaRPr lang="ru-RU" dirty="0"/>
          </a:p>
        </p:txBody>
      </p:sp>
      <p:sp>
        <p:nvSpPr>
          <p:cNvPr id="2" name="TextBox 1"/>
          <p:cNvSpPr txBox="1"/>
          <p:nvPr/>
        </p:nvSpPr>
        <p:spPr>
          <a:xfrm>
            <a:off x="1005840" y="1263535"/>
            <a:ext cx="72902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Данный шаг выполняется после получения отклоненной заявки Техническим специалистом НСИ с комментариями.</a:t>
            </a:r>
            <a:endParaRPr lang="ru-RU" dirty="0"/>
          </a:p>
        </p:txBody>
      </p:sp>
      <p:sp>
        <p:nvSpPr>
          <p:cNvPr id="4" name="Скругленный прямоугольник 3"/>
          <p:cNvSpPr/>
          <p:nvPr/>
        </p:nvSpPr>
        <p:spPr>
          <a:xfrm>
            <a:off x="3290730" y="2169265"/>
            <a:ext cx="2496314" cy="2319786"/>
          </a:xfrm>
          <a:prstGeom prst="roundRect">
            <a:avLst>
              <a:gd name="adj" fmla="val 10000"/>
            </a:avLst>
          </a:prstGeom>
          <a:solidFill>
            <a:srgbClr val="FCC917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cxnSp>
        <p:nvCxnSpPr>
          <p:cNvPr id="5" name="Прямая со стрелкой 4"/>
          <p:cNvCxnSpPr>
            <a:endCxn id="8" idx="1"/>
          </p:cNvCxnSpPr>
          <p:nvPr/>
        </p:nvCxnSpPr>
        <p:spPr>
          <a:xfrm>
            <a:off x="1388168" y="3327610"/>
            <a:ext cx="1902562" cy="1548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Прямая со стрелкой 5"/>
          <p:cNvCxnSpPr>
            <a:stCxn id="8" idx="3"/>
          </p:cNvCxnSpPr>
          <p:nvPr/>
        </p:nvCxnSpPr>
        <p:spPr>
          <a:xfrm flipV="1">
            <a:off x="5785658" y="3327610"/>
            <a:ext cx="1931476" cy="1548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290730" y="2169265"/>
            <a:ext cx="2494928" cy="2319786"/>
          </a:xfrm>
          <a:prstGeom prst="rect">
            <a:avLst/>
          </a:prstGeom>
          <a:noFill/>
        </p:spPr>
        <p:txBody>
          <a:bodyPr wrap="square" rtlCol="0" anchor="ctr" anchorCtr="1">
            <a:noAutofit/>
          </a:bodyPr>
          <a:lstStyle/>
          <a:p>
            <a:pPr algn="ctr"/>
            <a:r>
              <a:rPr lang="ru-RU" dirty="0" smtClean="0">
                <a:solidFill>
                  <a:schemeClr val="bg1"/>
                </a:solidFill>
              </a:rPr>
              <a:t>Анализ отклоненной заявки НСИ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413875" y="2506148"/>
            <a:ext cx="179973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 smtClean="0"/>
              <a:t>Получение отклоненной заявки НСИ</a:t>
            </a:r>
            <a:endParaRPr lang="ru-RU" sz="1400" dirty="0"/>
          </a:p>
        </p:txBody>
      </p:sp>
      <p:sp>
        <p:nvSpPr>
          <p:cNvPr id="10" name="TextBox 9"/>
          <p:cNvSpPr txBox="1"/>
          <p:nvPr/>
        </p:nvSpPr>
        <p:spPr>
          <a:xfrm>
            <a:off x="5838458" y="2613870"/>
            <a:ext cx="18786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/>
              <a:t>Анализ произведен, ошибки исправлены</a:t>
            </a:r>
            <a:endParaRPr lang="ru-RU" sz="1400" dirty="0"/>
          </a:p>
        </p:txBody>
      </p:sp>
      <p:sp>
        <p:nvSpPr>
          <p:cNvPr id="11" name="TextBox 10"/>
          <p:cNvSpPr txBox="1"/>
          <p:nvPr/>
        </p:nvSpPr>
        <p:spPr>
          <a:xfrm>
            <a:off x="606829" y="4746902"/>
            <a:ext cx="808828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Если заявка была отклонена по причине ошибки или недостаточности данных, то Инициатор корректирует заявку и направляет в службу НСИ заявку повторно. Если заявку отклонили по причине того, что техническое место уже было создано ранее, то Инициатор формирует отчет и убеждается в этом, после чего переходит к следующему шагу.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759505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 smtClean="0"/>
              <a:t>Описание шага «Подтверждение выполнения заявки НСИ»</a:t>
            </a:r>
            <a:endParaRPr lang="ru-RU"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673330" y="985315"/>
            <a:ext cx="80051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Данный шаг выполняется в следующих случаях: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После уведомления Инициатора заявки НСИ о выполнении заявки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В случае обнаружения в отклоненной заявке ранее созданной единицы оборудования</a:t>
            </a:r>
            <a:endParaRPr lang="ru-RU" dirty="0"/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3239315" y="2121001"/>
            <a:ext cx="2496314" cy="2319786"/>
          </a:xfrm>
          <a:prstGeom prst="roundRect">
            <a:avLst>
              <a:gd name="adj" fmla="val 10000"/>
            </a:avLst>
          </a:prstGeom>
          <a:solidFill>
            <a:srgbClr val="FCC917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cxnSp>
        <p:nvCxnSpPr>
          <p:cNvPr id="7" name="Прямая со стрелкой 6"/>
          <p:cNvCxnSpPr>
            <a:stCxn id="6" idx="3"/>
          </p:cNvCxnSpPr>
          <p:nvPr/>
        </p:nvCxnSpPr>
        <p:spPr>
          <a:xfrm>
            <a:off x="5735629" y="3280894"/>
            <a:ext cx="2045083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 стрелкой 7"/>
          <p:cNvCxnSpPr>
            <a:endCxn id="6" idx="1"/>
          </p:cNvCxnSpPr>
          <p:nvPr/>
        </p:nvCxnSpPr>
        <p:spPr>
          <a:xfrm flipV="1">
            <a:off x="1127883" y="3280894"/>
            <a:ext cx="2111432" cy="17243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233650" y="2138245"/>
            <a:ext cx="2496313" cy="2319785"/>
          </a:xfrm>
          <a:prstGeom prst="rect">
            <a:avLst/>
          </a:prstGeom>
          <a:noFill/>
        </p:spPr>
        <p:txBody>
          <a:bodyPr wrap="square" rtlCol="0" anchor="ctr" anchorCtr="1">
            <a:no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Проверка выполнения заявки НСИ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16552" y="2369404"/>
            <a:ext cx="211143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/>
              <a:t>Оповещение о выполнении заявки НСИ/ анализ отклоненной заявки НСИ</a:t>
            </a:r>
            <a:endParaRPr lang="ru-RU" sz="1400" dirty="0"/>
          </a:p>
        </p:txBody>
      </p:sp>
      <p:sp>
        <p:nvSpPr>
          <p:cNvPr id="16" name="TextBox 15"/>
          <p:cNvSpPr txBox="1"/>
          <p:nvPr/>
        </p:nvSpPr>
        <p:spPr>
          <a:xfrm>
            <a:off x="5729963" y="2719202"/>
            <a:ext cx="17207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/>
              <a:t>Подтверждение выполнения заявки</a:t>
            </a:r>
            <a:endParaRPr lang="ru-RU" sz="1400" dirty="0"/>
          </a:p>
        </p:txBody>
      </p:sp>
      <p:sp>
        <p:nvSpPr>
          <p:cNvPr id="17" name="TextBox 16"/>
          <p:cNvSpPr txBox="1"/>
          <p:nvPr/>
        </p:nvSpPr>
        <p:spPr>
          <a:xfrm>
            <a:off x="586046" y="4402249"/>
            <a:ext cx="817972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После получения оповещения по  почте о выполнении заявки НСИ, Инициатор формирует отчет и производит проверку выполненных изменений в </a:t>
            </a:r>
            <a:r>
              <a:rPr lang="en-US" dirty="0" smtClean="0"/>
              <a:t>SAP</a:t>
            </a:r>
            <a:r>
              <a:rPr lang="ru-RU" dirty="0" smtClean="0"/>
              <a:t>, проверяет изменение статуса единицы оборудования, после чего подтверждает выполнение заявки НСИ. В случае обнаружения, </a:t>
            </a:r>
            <a:r>
              <a:rPr lang="ru-RU" dirty="0"/>
              <a:t>при выполнении шага «Проверка заявки НСИ на ошибки»</a:t>
            </a:r>
            <a:r>
              <a:rPr lang="ru-RU" dirty="0" smtClean="0"/>
              <a:t> в заявке НСИ единицы оборудования, которая дублирует ранее созданную, то производит подтверждение выполнения заявки.</a:t>
            </a:r>
            <a:r>
              <a:rPr lang="ru-RU" dirty="0"/>
              <a:t> Подробно процесс </a:t>
            </a:r>
            <a:r>
              <a:rPr lang="ru-RU" dirty="0" smtClean="0"/>
              <a:t>работы </a:t>
            </a:r>
            <a:r>
              <a:rPr lang="en-US" dirty="0"/>
              <a:t>c </a:t>
            </a:r>
            <a:r>
              <a:rPr lang="ru-RU" dirty="0" smtClean="0"/>
              <a:t>заявками НСИ </a:t>
            </a:r>
            <a:r>
              <a:rPr lang="ru-RU" dirty="0"/>
              <a:t>описан в </a:t>
            </a:r>
            <a:r>
              <a:rPr lang="ru-RU" dirty="0">
                <a:hlinkClick r:id="rId2" action="ppaction://hlinksldjump"/>
              </a:rPr>
              <a:t>«Инструкции </a:t>
            </a:r>
            <a:r>
              <a:rPr lang="en-US" dirty="0" err="1">
                <a:hlinkClick r:id="rId2" action="ppaction://hlinksldjump"/>
              </a:rPr>
              <a:t>Naumen</a:t>
            </a:r>
            <a:r>
              <a:rPr lang="en-US" dirty="0">
                <a:hlinkClick r:id="rId2" action="ppaction://hlinksldjump"/>
              </a:rPr>
              <a:t> SD</a:t>
            </a:r>
            <a:r>
              <a:rPr lang="ru-RU" dirty="0">
                <a:hlinkClick r:id="rId2" action="ppaction://hlinksldjump"/>
              </a:rPr>
              <a:t>».</a:t>
            </a:r>
            <a:endParaRPr lang="ru-RU" dirty="0"/>
          </a:p>
          <a:p>
            <a:endParaRPr lang="ru-RU" dirty="0" smtClean="0"/>
          </a:p>
        </p:txBody>
      </p:sp>
    </p:spTree>
    <p:extLst>
      <p:ext uri="{BB962C8B-B14F-4D97-AF65-F5344CB8AC3E}">
        <p14:creationId xmlns:p14="http://schemas.microsoft.com/office/powerpoint/2010/main" val="30020790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303856" y="477422"/>
            <a:ext cx="5945981" cy="308195"/>
          </a:xfrm>
        </p:spPr>
        <p:txBody>
          <a:bodyPr/>
          <a:lstStyle/>
          <a:p>
            <a:r>
              <a:rPr lang="ru-RU" sz="20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20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процесса по </a:t>
            </a:r>
            <a:r>
              <a:rPr lang="ru-RU" sz="2000" dirty="0" smtClean="0"/>
              <a:t>ведению </a:t>
            </a:r>
            <a:r>
              <a:rPr lang="ru-RU" sz="2000" dirty="0"/>
              <a:t>рабочих </a:t>
            </a:r>
            <a:r>
              <a:rPr lang="ru-RU" sz="2000" dirty="0" smtClean="0"/>
              <a:t>мест</a:t>
            </a:r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cxnSp>
        <p:nvCxnSpPr>
          <p:cNvPr id="43" name="Соединительная линия уступом 42"/>
          <p:cNvCxnSpPr>
            <a:stCxn id="8" idx="2"/>
            <a:endCxn id="85" idx="0"/>
          </p:cNvCxnSpPr>
          <p:nvPr/>
        </p:nvCxnSpPr>
        <p:spPr>
          <a:xfrm rot="16200000" flipH="1">
            <a:off x="828733" y="3697767"/>
            <a:ext cx="1424548" cy="1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Соединительная линия уступом 57"/>
          <p:cNvCxnSpPr>
            <a:stCxn id="85" idx="3"/>
            <a:endCxn id="36" idx="1"/>
          </p:cNvCxnSpPr>
          <p:nvPr/>
        </p:nvCxnSpPr>
        <p:spPr>
          <a:xfrm>
            <a:off x="2375083" y="4916964"/>
            <a:ext cx="482725" cy="2191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Соединительная линия уступом 154"/>
          <p:cNvCxnSpPr>
            <a:stCxn id="36" idx="0"/>
            <a:endCxn id="53" idx="1"/>
          </p:cNvCxnSpPr>
          <p:nvPr/>
        </p:nvCxnSpPr>
        <p:spPr>
          <a:xfrm rot="5400000" flipH="1" flipV="1">
            <a:off x="3094403" y="3107756"/>
            <a:ext cx="1901959" cy="706997"/>
          </a:xfrm>
          <a:prstGeom prst="bentConnector2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Соединительная линия уступом 160"/>
          <p:cNvCxnSpPr>
            <a:stCxn id="36" idx="3"/>
            <a:endCxn id="99" idx="1"/>
          </p:cNvCxnSpPr>
          <p:nvPr/>
        </p:nvCxnSpPr>
        <p:spPr>
          <a:xfrm>
            <a:off x="4525959" y="4919155"/>
            <a:ext cx="602262" cy="496939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Соединительная линия уступом 163"/>
          <p:cNvCxnSpPr>
            <a:stCxn id="36" idx="3"/>
            <a:endCxn id="100" idx="1"/>
          </p:cNvCxnSpPr>
          <p:nvPr/>
        </p:nvCxnSpPr>
        <p:spPr>
          <a:xfrm flipV="1">
            <a:off x="4525959" y="4476094"/>
            <a:ext cx="602262" cy="443061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Соединительная линия уступом 233"/>
          <p:cNvCxnSpPr>
            <a:stCxn id="100" idx="3"/>
            <a:endCxn id="77" idx="1"/>
          </p:cNvCxnSpPr>
          <p:nvPr/>
        </p:nvCxnSpPr>
        <p:spPr>
          <a:xfrm>
            <a:off x="6320667" y="4476094"/>
            <a:ext cx="729340" cy="443062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Соединительная линия уступом 235"/>
          <p:cNvCxnSpPr>
            <a:stCxn id="99" idx="3"/>
            <a:endCxn id="77" idx="1"/>
          </p:cNvCxnSpPr>
          <p:nvPr/>
        </p:nvCxnSpPr>
        <p:spPr>
          <a:xfrm flipV="1">
            <a:off x="6320667" y="4919156"/>
            <a:ext cx="729340" cy="496938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Соединительная линия уступом 238"/>
          <p:cNvCxnSpPr>
            <a:stCxn id="53" idx="3"/>
            <a:endCxn id="59" idx="1"/>
          </p:cNvCxnSpPr>
          <p:nvPr/>
        </p:nvCxnSpPr>
        <p:spPr>
          <a:xfrm flipV="1">
            <a:off x="6067032" y="2510273"/>
            <a:ext cx="982975" cy="1"/>
          </a:xfrm>
          <a:prstGeom prst="bentConnector3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Соединительная линия уступом 246"/>
          <p:cNvCxnSpPr>
            <a:stCxn id="77" idx="0"/>
            <a:endCxn id="59" idx="2"/>
          </p:cNvCxnSpPr>
          <p:nvPr/>
        </p:nvCxnSpPr>
        <p:spPr>
          <a:xfrm rot="5400000" flipH="1" flipV="1">
            <a:off x="7186563" y="3714714"/>
            <a:ext cx="1395040" cy="12700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Скругленный прямоугольник 311">
            <a:extLst>
              <a:ext uri="{FF2B5EF4-FFF2-40B4-BE49-F238E27FC236}">
                <a16:creationId xmlns:a16="http://schemas.microsoft.com/office/drawing/2014/main" xmlns="" id="{6B94761C-2B1A-43FF-9AEA-440BE2A8FCFD}"/>
              </a:ext>
            </a:extLst>
          </p:cNvPr>
          <p:cNvSpPr/>
          <p:nvPr/>
        </p:nvSpPr>
        <p:spPr>
          <a:xfrm rot="16200000">
            <a:off x="3591124" y="-1655945"/>
            <a:ext cx="1968088" cy="8542624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1200" b="1" dirty="0" smtClean="0">
                <a:solidFill>
                  <a:srgbClr val="595959"/>
                </a:solidFill>
                <a:cs typeface="Arial" panose="020B0604020202020204" pitchFamily="34" charset="0"/>
              </a:rPr>
              <a:t>Инициатор заявки НСИ</a:t>
            </a:r>
            <a:endParaRPr lang="ru-RU" sz="1200" b="1" dirty="0">
              <a:solidFill>
                <a:srgbClr val="595959"/>
              </a:solidFill>
              <a:cs typeface="Arial" panose="020B0604020202020204" pitchFamily="34" charset="0"/>
            </a:endParaRPr>
          </a:p>
        </p:txBody>
      </p:sp>
      <p:sp>
        <p:nvSpPr>
          <p:cNvPr id="29" name="Скругленный прямоугольник 311">
            <a:extLst>
              <a:ext uri="{FF2B5EF4-FFF2-40B4-BE49-F238E27FC236}">
                <a16:creationId xmlns:a16="http://schemas.microsoft.com/office/drawing/2014/main" xmlns="" id="{6B94761C-2B1A-43FF-9AEA-440BE2A8FCFD}"/>
              </a:ext>
            </a:extLst>
          </p:cNvPr>
          <p:cNvSpPr/>
          <p:nvPr/>
        </p:nvSpPr>
        <p:spPr>
          <a:xfrm rot="16200000">
            <a:off x="3591124" y="734900"/>
            <a:ext cx="1968088" cy="8542624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1200" b="1" dirty="0" smtClean="0">
                <a:solidFill>
                  <a:srgbClr val="595959"/>
                </a:solidFill>
                <a:cs typeface="Arial" panose="020B0604020202020204" pitchFamily="34" charset="0"/>
              </a:rPr>
              <a:t>Технический специалист НСИ</a:t>
            </a:r>
            <a:endParaRPr lang="ru-RU" sz="1200" b="1" dirty="0">
              <a:solidFill>
                <a:srgbClr val="595959"/>
              </a:solidFill>
              <a:cs typeface="Arial" panose="020B0604020202020204" pitchFamily="34" charset="0"/>
            </a:endParaRPr>
          </a:p>
        </p:txBody>
      </p:sp>
      <p:sp>
        <p:nvSpPr>
          <p:cNvPr id="36" name="Скругленный прямоугольник 35"/>
          <p:cNvSpPr/>
          <p:nvPr/>
        </p:nvSpPr>
        <p:spPr>
          <a:xfrm>
            <a:off x="2857808" y="4412233"/>
            <a:ext cx="1668151" cy="1013843"/>
          </a:xfrm>
          <a:prstGeom prst="roundRect">
            <a:avLst>
              <a:gd name="adj" fmla="val 17375"/>
            </a:avLst>
          </a:prstGeom>
          <a:solidFill>
            <a:schemeClr val="bg2">
              <a:lumMod val="5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8" name="Скругленный прямоугольник 7"/>
          <p:cNvSpPr/>
          <p:nvPr/>
        </p:nvSpPr>
        <p:spPr>
          <a:xfrm>
            <a:off x="748262" y="2073817"/>
            <a:ext cx="1585489" cy="911677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/>
          <p:cNvSpPr txBox="1"/>
          <p:nvPr/>
        </p:nvSpPr>
        <p:spPr>
          <a:xfrm>
            <a:off x="859362" y="2285791"/>
            <a:ext cx="1363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>
                <a:solidFill>
                  <a:schemeClr val="bg1"/>
                </a:solidFill>
              </a:rPr>
              <a:t>Создание заявки НСИ</a:t>
            </a:r>
            <a:endParaRPr lang="ru-RU" sz="1200" dirty="0">
              <a:solidFill>
                <a:schemeClr val="bg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988607" y="4513955"/>
            <a:ext cx="14676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>
                <a:solidFill>
                  <a:schemeClr val="bg1"/>
                </a:solidFill>
              </a:rPr>
              <a:t>Согласование наряда техническим специалистом НСИ</a:t>
            </a:r>
            <a:endParaRPr lang="ru-RU" sz="1200" dirty="0">
              <a:solidFill>
                <a:schemeClr val="bg1"/>
              </a:solidFill>
            </a:endParaRPr>
          </a:p>
        </p:txBody>
      </p:sp>
      <p:sp>
        <p:nvSpPr>
          <p:cNvPr id="53" name="Скругленный прямоугольник 52"/>
          <p:cNvSpPr/>
          <p:nvPr/>
        </p:nvSpPr>
        <p:spPr>
          <a:xfrm>
            <a:off x="4398881" y="2003352"/>
            <a:ext cx="1668151" cy="1013843"/>
          </a:xfrm>
          <a:prstGeom prst="roundRect">
            <a:avLst>
              <a:gd name="adj" fmla="val 17375"/>
            </a:avLst>
          </a:prstGeom>
          <a:solidFill>
            <a:schemeClr val="bg2">
              <a:lumMod val="5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22" name="TextBox 21"/>
          <p:cNvSpPr txBox="1"/>
          <p:nvPr/>
        </p:nvSpPr>
        <p:spPr>
          <a:xfrm>
            <a:off x="4398881" y="2046481"/>
            <a:ext cx="175184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solidFill>
                  <a:schemeClr val="bg1"/>
                </a:solidFill>
                <a:cs typeface="Arial" panose="020B0604020202020204" pitchFamily="34" charset="0"/>
              </a:rPr>
              <a:t>Проверка заявки на ошибки и возможное дублирование рабочих мест в </a:t>
            </a:r>
            <a:r>
              <a:rPr lang="en-US" sz="1200" dirty="0">
                <a:solidFill>
                  <a:schemeClr val="bg1"/>
                </a:solidFill>
                <a:cs typeface="Arial" panose="020B0604020202020204" pitchFamily="34" charset="0"/>
              </a:rPr>
              <a:t>S4</a:t>
            </a:r>
            <a:r>
              <a:rPr lang="ru-RU" sz="1200" dirty="0">
                <a:solidFill>
                  <a:schemeClr val="bg1"/>
                </a:solidFill>
                <a:cs typeface="Arial" panose="020B0604020202020204" pitchFamily="34" charset="0"/>
              </a:rPr>
              <a:t>/</a:t>
            </a:r>
            <a:r>
              <a:rPr lang="en-US" sz="1200" dirty="0">
                <a:solidFill>
                  <a:schemeClr val="bg1"/>
                </a:solidFill>
                <a:cs typeface="Arial" panose="020B0604020202020204" pitchFamily="34" charset="0"/>
              </a:rPr>
              <a:t>HANA</a:t>
            </a:r>
            <a:endParaRPr lang="ru-RU" sz="1200" dirty="0">
              <a:solidFill>
                <a:schemeClr val="bg1"/>
              </a:solidFill>
              <a:cs typeface="Arial" panose="020B0604020202020204" pitchFamily="34" charset="0"/>
            </a:endParaRPr>
          </a:p>
          <a:p>
            <a:endParaRPr lang="ru-RU" dirty="0"/>
          </a:p>
        </p:txBody>
      </p:sp>
      <p:sp>
        <p:nvSpPr>
          <p:cNvPr id="59" name="Скругленный прямоугольник 58"/>
          <p:cNvSpPr/>
          <p:nvPr/>
        </p:nvSpPr>
        <p:spPr>
          <a:xfrm>
            <a:off x="7050007" y="2003351"/>
            <a:ext cx="1668151" cy="1013843"/>
          </a:xfrm>
          <a:prstGeom prst="roundRect">
            <a:avLst>
              <a:gd name="adj" fmla="val 17375"/>
            </a:avLst>
          </a:prstGeom>
          <a:solidFill>
            <a:schemeClr val="bg2">
              <a:lumMod val="5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27" name="TextBox 26"/>
          <p:cNvSpPr txBox="1"/>
          <p:nvPr/>
        </p:nvSpPr>
        <p:spPr>
          <a:xfrm>
            <a:off x="7187697" y="2141686"/>
            <a:ext cx="153046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solidFill>
                  <a:schemeClr val="bg1"/>
                </a:solidFill>
                <a:cs typeface="Arial" panose="020B0604020202020204" pitchFamily="34" charset="0"/>
              </a:rPr>
              <a:t>Проверка и подтверждение выполнения </a:t>
            </a:r>
            <a:r>
              <a:rPr lang="ru-RU" sz="1200" dirty="0" smtClean="0">
                <a:solidFill>
                  <a:schemeClr val="bg1"/>
                </a:solidFill>
                <a:cs typeface="Arial" panose="020B0604020202020204" pitchFamily="34" charset="0"/>
              </a:rPr>
              <a:t>заявки НСИ </a:t>
            </a:r>
            <a:endParaRPr lang="ru-RU" sz="1200" dirty="0">
              <a:solidFill>
                <a:schemeClr val="bg1"/>
              </a:solidFill>
              <a:cs typeface="Arial" panose="020B0604020202020204" pitchFamily="34" charset="0"/>
            </a:endParaRPr>
          </a:p>
          <a:p>
            <a:endParaRPr lang="ru-RU" sz="1200" dirty="0">
              <a:solidFill>
                <a:schemeClr val="bg1"/>
              </a:solidFill>
            </a:endParaRPr>
          </a:p>
        </p:txBody>
      </p:sp>
      <p:sp>
        <p:nvSpPr>
          <p:cNvPr id="77" name="Скругленный прямоугольник 76"/>
          <p:cNvSpPr/>
          <p:nvPr/>
        </p:nvSpPr>
        <p:spPr>
          <a:xfrm>
            <a:off x="7050007" y="4412234"/>
            <a:ext cx="1668151" cy="1013843"/>
          </a:xfrm>
          <a:prstGeom prst="roundRect">
            <a:avLst>
              <a:gd name="adj" fmla="val 17375"/>
            </a:avLst>
          </a:prstGeom>
          <a:solidFill>
            <a:schemeClr val="bg2">
              <a:lumMod val="5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56" name="TextBox 55"/>
          <p:cNvSpPr txBox="1"/>
          <p:nvPr/>
        </p:nvSpPr>
        <p:spPr>
          <a:xfrm>
            <a:off x="7161654" y="4513955"/>
            <a:ext cx="16426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solidFill>
                  <a:schemeClr val="bg1"/>
                </a:solidFill>
                <a:cs typeface="Arial" panose="020B0604020202020204" pitchFamily="34" charset="0"/>
              </a:rPr>
              <a:t>Оповещение инициатора о выполнении заявки НСИ</a:t>
            </a:r>
          </a:p>
        </p:txBody>
      </p:sp>
      <p:sp>
        <p:nvSpPr>
          <p:cNvPr id="85" name="Скругленный прямоугольник 84"/>
          <p:cNvSpPr/>
          <p:nvPr/>
        </p:nvSpPr>
        <p:spPr>
          <a:xfrm>
            <a:off x="706932" y="4410042"/>
            <a:ext cx="1668151" cy="1013843"/>
          </a:xfrm>
          <a:prstGeom prst="roundRect">
            <a:avLst>
              <a:gd name="adj" fmla="val 17375"/>
            </a:avLst>
          </a:prstGeom>
          <a:solidFill>
            <a:schemeClr val="bg2">
              <a:lumMod val="5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71" name="TextBox 70"/>
          <p:cNvSpPr txBox="1"/>
          <p:nvPr/>
        </p:nvSpPr>
        <p:spPr>
          <a:xfrm>
            <a:off x="789594" y="4407140"/>
            <a:ext cx="161238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solidFill>
                  <a:schemeClr val="bg1"/>
                </a:solidFill>
                <a:cs typeface="Arial" panose="020B0604020202020204" pitchFamily="34" charset="0"/>
              </a:rPr>
              <a:t>Проверка на достаточность данных в заявке и созданных рабочих мест</a:t>
            </a:r>
            <a:r>
              <a:rPr lang="en-US" sz="1200" dirty="0"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ru-RU" sz="1200" dirty="0">
                <a:solidFill>
                  <a:schemeClr val="bg1"/>
                </a:solidFill>
                <a:cs typeface="Arial" panose="020B0604020202020204" pitchFamily="34" charset="0"/>
              </a:rPr>
              <a:t>в </a:t>
            </a:r>
            <a:r>
              <a:rPr lang="en-US" sz="1200" dirty="0">
                <a:solidFill>
                  <a:schemeClr val="bg1"/>
                </a:solidFill>
                <a:cs typeface="Arial" panose="020B0604020202020204" pitchFamily="34" charset="0"/>
              </a:rPr>
              <a:t>S4</a:t>
            </a:r>
            <a:r>
              <a:rPr lang="ru-RU" sz="1200" dirty="0">
                <a:solidFill>
                  <a:schemeClr val="bg1"/>
                </a:solidFill>
                <a:cs typeface="Arial" panose="020B0604020202020204" pitchFamily="34" charset="0"/>
              </a:rPr>
              <a:t>/</a:t>
            </a:r>
            <a:r>
              <a:rPr lang="en-US" sz="1200" dirty="0" smtClean="0">
                <a:solidFill>
                  <a:schemeClr val="bg1"/>
                </a:solidFill>
                <a:cs typeface="Arial" panose="020B0604020202020204" pitchFamily="34" charset="0"/>
              </a:rPr>
              <a:t>HANA</a:t>
            </a:r>
            <a:endParaRPr lang="ru-RU" sz="12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99" name="Скругленный прямоугольник 98"/>
          <p:cNvSpPr/>
          <p:nvPr/>
        </p:nvSpPr>
        <p:spPr>
          <a:xfrm>
            <a:off x="5128221" y="5050628"/>
            <a:ext cx="1192446" cy="730932"/>
          </a:xfrm>
          <a:prstGeom prst="roundRect">
            <a:avLst>
              <a:gd name="adj" fmla="val 17375"/>
            </a:avLst>
          </a:prstGeom>
          <a:solidFill>
            <a:schemeClr val="bg2">
              <a:lumMod val="5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00" name="Скругленный прямоугольник 99"/>
          <p:cNvSpPr/>
          <p:nvPr/>
        </p:nvSpPr>
        <p:spPr>
          <a:xfrm>
            <a:off x="5128221" y="4110256"/>
            <a:ext cx="1192446" cy="731676"/>
          </a:xfrm>
          <a:prstGeom prst="roundRect">
            <a:avLst>
              <a:gd name="adj" fmla="val 17375"/>
            </a:avLst>
          </a:prstGeom>
          <a:solidFill>
            <a:schemeClr val="bg2">
              <a:lumMod val="5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83" name="Прямоугольник 82"/>
          <p:cNvSpPr/>
          <p:nvPr/>
        </p:nvSpPr>
        <p:spPr>
          <a:xfrm>
            <a:off x="5171983" y="5092928"/>
            <a:ext cx="109284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dirty="0" smtClean="0">
                <a:solidFill>
                  <a:schemeClr val="bg1"/>
                </a:solidFill>
                <a:cs typeface="Arial" panose="020B0604020202020204" pitchFamily="34" charset="0"/>
              </a:rPr>
              <a:t>Изменение рабочего места</a:t>
            </a:r>
            <a:endParaRPr lang="ru-RU" sz="12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84" name="Прямоугольник 83"/>
          <p:cNvSpPr/>
          <p:nvPr/>
        </p:nvSpPr>
        <p:spPr>
          <a:xfrm>
            <a:off x="5156990" y="4152928"/>
            <a:ext cx="115026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dirty="0">
                <a:solidFill>
                  <a:schemeClr val="bg1"/>
                </a:solidFill>
                <a:cs typeface="Arial" panose="020B0604020202020204" pitchFamily="34" charset="0"/>
              </a:rPr>
              <a:t>Создание  рабочего места</a:t>
            </a:r>
          </a:p>
        </p:txBody>
      </p:sp>
    </p:spTree>
    <p:extLst>
      <p:ext uri="{BB962C8B-B14F-4D97-AF65-F5344CB8AC3E}">
        <p14:creationId xmlns:p14="http://schemas.microsoft.com/office/powerpoint/2010/main" val="1999529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 smtClean="0"/>
              <a:t>Описание </a:t>
            </a:r>
            <a:r>
              <a:rPr lang="ru-RU" sz="2000" dirty="0"/>
              <a:t>шага «Проверка на достаточность данных в </a:t>
            </a:r>
            <a:r>
              <a:rPr lang="ru-RU" sz="2000" dirty="0" smtClean="0"/>
              <a:t>заявке НСИ»</a:t>
            </a:r>
            <a:endParaRPr lang="ru-RU"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487680" y="1181100"/>
            <a:ext cx="8122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Данный шаг выполняется после получения заявки НСИ в формате </a:t>
            </a:r>
            <a:r>
              <a:rPr lang="en-US" dirty="0" smtClean="0"/>
              <a:t>Excel</a:t>
            </a:r>
            <a:r>
              <a:rPr lang="ru-RU" dirty="0" smtClean="0"/>
              <a:t> файла</a:t>
            </a:r>
            <a:endParaRPr lang="ru-RU" dirty="0"/>
          </a:p>
        </p:txBody>
      </p:sp>
      <p:grpSp>
        <p:nvGrpSpPr>
          <p:cNvPr id="5" name="Группа 4"/>
          <p:cNvGrpSpPr/>
          <p:nvPr/>
        </p:nvGrpSpPr>
        <p:grpSpPr>
          <a:xfrm>
            <a:off x="3439402" y="2157783"/>
            <a:ext cx="2496314" cy="2319786"/>
            <a:chOff x="2311907" y="846559"/>
            <a:chExt cx="1343033" cy="992604"/>
          </a:xfrm>
        </p:grpSpPr>
        <p:sp>
          <p:nvSpPr>
            <p:cNvPr id="6" name="Скругленный прямоугольник 5"/>
            <p:cNvSpPr/>
            <p:nvPr/>
          </p:nvSpPr>
          <p:spPr>
            <a:xfrm>
              <a:off x="2311907" y="846559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 smtClean="0">
                  <a:solidFill>
                    <a:schemeClr val="bg1"/>
                  </a:solidFill>
                </a:rPr>
                <a:t>Проверяются данные в заявке НСИ и анализируются ранее созданные рабочие места </a:t>
              </a:r>
              <a:endParaRPr lang="ru-RU" sz="1600" kern="12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8" name="Прямая со стрелкой 7"/>
          <p:cNvCxnSpPr>
            <a:endCxn id="6" idx="1"/>
          </p:cNvCxnSpPr>
          <p:nvPr/>
        </p:nvCxnSpPr>
        <p:spPr>
          <a:xfrm>
            <a:off x="1195644" y="3317674"/>
            <a:ext cx="2243759" cy="1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 стрелкой 8"/>
          <p:cNvCxnSpPr>
            <a:stCxn id="6" idx="3"/>
          </p:cNvCxnSpPr>
          <p:nvPr/>
        </p:nvCxnSpPr>
        <p:spPr>
          <a:xfrm>
            <a:off x="5935717" y="3317675"/>
            <a:ext cx="1928243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87680" y="4856320"/>
            <a:ext cx="812292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/>
              <a:t>Если в заявке НСИ указано недостаточно данных для создания/изменения рабочего места или рабочее место уже было создано ранее, то данные позиции заявки отклоняются. В случае, если данные в заявке НСИ указаны корректно и рабочее место ранее не создавалось, Технический специалист НСИ согласует заявку (вне системный шаг) и приступает к исполнению заявки. Подробно процесс согласования и работы </a:t>
            </a:r>
            <a:r>
              <a:rPr lang="en-US" sz="1600" dirty="0" smtClean="0"/>
              <a:t>c </a:t>
            </a:r>
            <a:r>
              <a:rPr lang="ru-RU" sz="1600" dirty="0" smtClean="0"/>
              <a:t>заявками НСИ описан в </a:t>
            </a:r>
            <a:r>
              <a:rPr lang="ru-RU" sz="1600" dirty="0" smtClean="0">
                <a:hlinkClick r:id="rId2" action="ppaction://hlinksldjump"/>
              </a:rPr>
              <a:t>«Инструкции</a:t>
            </a:r>
            <a:r>
              <a:rPr lang="ru-RU" sz="1600" dirty="0">
                <a:hlinkClick r:id="rId2" action="ppaction://hlinksldjump"/>
              </a:rPr>
              <a:t> </a:t>
            </a:r>
            <a:r>
              <a:rPr lang="en-US" sz="1600" dirty="0" err="1" smtClean="0">
                <a:hlinkClick r:id="rId2" action="ppaction://hlinksldjump"/>
              </a:rPr>
              <a:t>Naumen</a:t>
            </a:r>
            <a:r>
              <a:rPr lang="en-US" sz="1600" dirty="0" smtClean="0">
                <a:hlinkClick r:id="rId2" action="ppaction://hlinksldjump"/>
              </a:rPr>
              <a:t> SD</a:t>
            </a:r>
            <a:r>
              <a:rPr lang="ru-RU" sz="1600" dirty="0" smtClean="0">
                <a:hlinkClick r:id="rId2" action="ppaction://hlinksldjump"/>
              </a:rPr>
              <a:t>»</a:t>
            </a:r>
            <a:r>
              <a:rPr lang="ru-RU" sz="1600" dirty="0" smtClean="0"/>
              <a:t>.</a:t>
            </a:r>
            <a:endParaRPr lang="ru-RU" sz="1600" dirty="0"/>
          </a:p>
        </p:txBody>
      </p:sp>
      <p:sp>
        <p:nvSpPr>
          <p:cNvPr id="16" name="TextBox 15"/>
          <p:cNvSpPr txBox="1"/>
          <p:nvPr/>
        </p:nvSpPr>
        <p:spPr>
          <a:xfrm>
            <a:off x="1380662" y="2732900"/>
            <a:ext cx="21287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/>
              <a:t>Получение заявки НСИ</a:t>
            </a:r>
            <a:endParaRPr lang="ru-RU" sz="1600" dirty="0"/>
          </a:p>
        </p:txBody>
      </p:sp>
      <p:sp>
        <p:nvSpPr>
          <p:cNvPr id="17" name="TextBox 16"/>
          <p:cNvSpPr txBox="1"/>
          <p:nvPr/>
        </p:nvSpPr>
        <p:spPr>
          <a:xfrm>
            <a:off x="5867007" y="2732900"/>
            <a:ext cx="23164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/>
              <a:t>Произведен анализ рабочих мест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2425014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 smtClean="0"/>
              <a:t>Описание шага «Создание/изменение рабочего места» </a:t>
            </a:r>
          </a:p>
          <a:p>
            <a:endParaRPr lang="ru-RU" dirty="0"/>
          </a:p>
        </p:txBody>
      </p:sp>
      <p:sp>
        <p:nvSpPr>
          <p:cNvPr id="4" name="Скругленный прямоугольник 3"/>
          <p:cNvSpPr/>
          <p:nvPr/>
        </p:nvSpPr>
        <p:spPr>
          <a:xfrm>
            <a:off x="3239316" y="2588618"/>
            <a:ext cx="2496314" cy="2319786"/>
          </a:xfrm>
          <a:prstGeom prst="roundRect">
            <a:avLst>
              <a:gd name="adj" fmla="val 10000"/>
            </a:avLst>
          </a:prstGeom>
          <a:solidFill>
            <a:srgbClr val="FCC917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5" name="TextBox 4"/>
          <p:cNvSpPr txBox="1"/>
          <p:nvPr/>
        </p:nvSpPr>
        <p:spPr>
          <a:xfrm>
            <a:off x="3239316" y="2591554"/>
            <a:ext cx="2496314" cy="2219602"/>
          </a:xfrm>
          <a:prstGeom prst="rect">
            <a:avLst/>
          </a:prstGeom>
          <a:noFill/>
        </p:spPr>
        <p:txBody>
          <a:bodyPr wrap="square" lIns="108000" rIns="72000" rtlCol="0" anchor="ctr" anchorCtr="0">
            <a:noAutofit/>
          </a:bodyPr>
          <a:lstStyle/>
          <a:p>
            <a:pPr algn="ctr"/>
            <a:r>
              <a:rPr lang="ru-RU" dirty="0" smtClean="0">
                <a:solidFill>
                  <a:schemeClr val="bg1"/>
                </a:solidFill>
              </a:rPr>
              <a:t>Создание/изменение рабочего места </a:t>
            </a:r>
            <a:endParaRPr lang="ru-RU" dirty="0">
              <a:solidFill>
                <a:schemeClr val="bg1"/>
              </a:solidFill>
            </a:endParaRPr>
          </a:p>
        </p:txBody>
      </p:sp>
      <p:cxnSp>
        <p:nvCxnSpPr>
          <p:cNvPr id="6" name="Прямая со стрелкой 5"/>
          <p:cNvCxnSpPr>
            <a:endCxn id="4" idx="1"/>
          </p:cNvCxnSpPr>
          <p:nvPr/>
        </p:nvCxnSpPr>
        <p:spPr>
          <a:xfrm>
            <a:off x="1379220" y="3748511"/>
            <a:ext cx="18600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 стрелкой 6"/>
          <p:cNvCxnSpPr>
            <a:stCxn id="5" idx="3"/>
          </p:cNvCxnSpPr>
          <p:nvPr/>
        </p:nvCxnSpPr>
        <p:spPr>
          <a:xfrm>
            <a:off x="5735630" y="3701355"/>
            <a:ext cx="1930090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672896" y="3409957"/>
            <a:ext cx="12727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/>
              <a:t> Заявка НСИ</a:t>
            </a:r>
            <a:endParaRPr lang="ru-RU" sz="1600" dirty="0"/>
          </a:p>
        </p:txBody>
      </p:sp>
      <p:sp>
        <p:nvSpPr>
          <p:cNvPr id="14" name="TextBox 13"/>
          <p:cNvSpPr txBox="1"/>
          <p:nvPr/>
        </p:nvSpPr>
        <p:spPr>
          <a:xfrm>
            <a:off x="5875020" y="3116580"/>
            <a:ext cx="20040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/>
              <a:t>Рабочее место создано/изменено</a:t>
            </a:r>
            <a:endParaRPr lang="ru-RU" sz="1600" dirty="0"/>
          </a:p>
        </p:txBody>
      </p:sp>
      <p:sp>
        <p:nvSpPr>
          <p:cNvPr id="15" name="TextBox 14"/>
          <p:cNvSpPr txBox="1"/>
          <p:nvPr/>
        </p:nvSpPr>
        <p:spPr>
          <a:xfrm>
            <a:off x="1203253" y="1386362"/>
            <a:ext cx="6568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Технический специалист НСИ вносит данные из заявки НСИ в карточку рабочего места </a:t>
            </a:r>
            <a:endParaRPr lang="ru-RU" dirty="0"/>
          </a:p>
        </p:txBody>
      </p:sp>
      <p:sp>
        <p:nvSpPr>
          <p:cNvPr id="16" name="TextBox 15"/>
          <p:cNvSpPr txBox="1"/>
          <p:nvPr/>
        </p:nvSpPr>
        <p:spPr>
          <a:xfrm>
            <a:off x="868680" y="5212080"/>
            <a:ext cx="778002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После создания/изменения всех рабочих мест из заявки НСИ Технический специалист НСИ устанавливает статус заявки «Выполнено», после чего информирует Инициатора заявки НСИ по почте о внесении изменений в </a:t>
            </a:r>
            <a:r>
              <a:rPr lang="en-US" dirty="0" smtClean="0"/>
              <a:t>SAP</a:t>
            </a:r>
            <a:r>
              <a:rPr lang="ru-RU" dirty="0" smtClean="0"/>
              <a:t>. </a:t>
            </a:r>
            <a:r>
              <a:rPr lang="ru-RU" dirty="0"/>
              <a:t>Подробно процесс </a:t>
            </a:r>
            <a:r>
              <a:rPr lang="ru-RU" dirty="0" smtClean="0"/>
              <a:t>работы </a:t>
            </a:r>
            <a:r>
              <a:rPr lang="en-US" dirty="0"/>
              <a:t>c </a:t>
            </a:r>
            <a:r>
              <a:rPr lang="ru-RU" dirty="0" smtClean="0"/>
              <a:t>заявками НСИ </a:t>
            </a:r>
            <a:r>
              <a:rPr lang="ru-RU" dirty="0"/>
              <a:t>описан в </a:t>
            </a:r>
            <a:r>
              <a:rPr lang="ru-RU" dirty="0">
                <a:hlinkClick r:id="rId2" action="ppaction://hlinksldjump"/>
              </a:rPr>
              <a:t>«Инструкции </a:t>
            </a:r>
            <a:r>
              <a:rPr lang="en-US" dirty="0" err="1">
                <a:hlinkClick r:id="rId2" action="ppaction://hlinksldjump"/>
              </a:rPr>
              <a:t>Naumen</a:t>
            </a:r>
            <a:r>
              <a:rPr lang="en-US" dirty="0">
                <a:hlinkClick r:id="rId2" action="ppaction://hlinksldjump"/>
              </a:rPr>
              <a:t> SD</a:t>
            </a:r>
            <a:r>
              <a:rPr lang="ru-RU" dirty="0">
                <a:hlinkClick r:id="rId2" action="ppaction://hlinksldjump"/>
              </a:rPr>
              <a:t>»</a:t>
            </a:r>
            <a:r>
              <a:rPr lang="ru-RU" dirty="0"/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876622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dirty="0" smtClean="0"/>
              <a:t>Описание шага «Проверка заявки НСИ на ошибки»</a:t>
            </a:r>
            <a:endParaRPr lang="ru-RU" dirty="0"/>
          </a:p>
        </p:txBody>
      </p:sp>
      <p:sp>
        <p:nvSpPr>
          <p:cNvPr id="2" name="TextBox 1"/>
          <p:cNvSpPr txBox="1"/>
          <p:nvPr/>
        </p:nvSpPr>
        <p:spPr>
          <a:xfrm>
            <a:off x="1005840" y="1263535"/>
            <a:ext cx="72902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Данный шаг выполняется после получения отклоненной заявки Техническим специалистом НСИ с комментариями.</a:t>
            </a:r>
            <a:endParaRPr lang="ru-RU" dirty="0"/>
          </a:p>
        </p:txBody>
      </p:sp>
      <p:sp>
        <p:nvSpPr>
          <p:cNvPr id="4" name="Скругленный прямоугольник 3"/>
          <p:cNvSpPr/>
          <p:nvPr/>
        </p:nvSpPr>
        <p:spPr>
          <a:xfrm>
            <a:off x="3290730" y="2169265"/>
            <a:ext cx="2496314" cy="2319786"/>
          </a:xfrm>
          <a:prstGeom prst="roundRect">
            <a:avLst>
              <a:gd name="adj" fmla="val 10000"/>
            </a:avLst>
          </a:prstGeom>
          <a:solidFill>
            <a:srgbClr val="FCC917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cxnSp>
        <p:nvCxnSpPr>
          <p:cNvPr id="5" name="Прямая со стрелкой 4"/>
          <p:cNvCxnSpPr>
            <a:endCxn id="8" idx="1"/>
          </p:cNvCxnSpPr>
          <p:nvPr/>
        </p:nvCxnSpPr>
        <p:spPr>
          <a:xfrm>
            <a:off x="1388168" y="3327610"/>
            <a:ext cx="1902562" cy="1548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Прямая со стрелкой 5"/>
          <p:cNvCxnSpPr>
            <a:stCxn id="8" idx="3"/>
          </p:cNvCxnSpPr>
          <p:nvPr/>
        </p:nvCxnSpPr>
        <p:spPr>
          <a:xfrm flipV="1">
            <a:off x="5785658" y="3327610"/>
            <a:ext cx="1931476" cy="1548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290730" y="2169265"/>
            <a:ext cx="2494928" cy="2319786"/>
          </a:xfrm>
          <a:prstGeom prst="rect">
            <a:avLst/>
          </a:prstGeom>
          <a:noFill/>
        </p:spPr>
        <p:txBody>
          <a:bodyPr wrap="square" rtlCol="0" anchor="ctr" anchorCtr="1">
            <a:noAutofit/>
          </a:bodyPr>
          <a:lstStyle/>
          <a:p>
            <a:pPr algn="ctr"/>
            <a:r>
              <a:rPr lang="ru-RU" dirty="0" smtClean="0">
                <a:solidFill>
                  <a:schemeClr val="bg1"/>
                </a:solidFill>
              </a:rPr>
              <a:t>Анализ отклоненной заявки НСИ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413875" y="2506148"/>
            <a:ext cx="179973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 smtClean="0"/>
              <a:t>Получение отклоненной заявки НСИ</a:t>
            </a:r>
            <a:endParaRPr lang="ru-RU" sz="1400" dirty="0"/>
          </a:p>
        </p:txBody>
      </p:sp>
      <p:sp>
        <p:nvSpPr>
          <p:cNvPr id="10" name="TextBox 9"/>
          <p:cNvSpPr txBox="1"/>
          <p:nvPr/>
        </p:nvSpPr>
        <p:spPr>
          <a:xfrm>
            <a:off x="5838458" y="2613870"/>
            <a:ext cx="18786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/>
              <a:t>Анализ произведен, ошибки исправлены</a:t>
            </a:r>
            <a:endParaRPr lang="ru-RU" sz="1400" dirty="0"/>
          </a:p>
        </p:txBody>
      </p:sp>
      <p:sp>
        <p:nvSpPr>
          <p:cNvPr id="11" name="TextBox 10"/>
          <p:cNvSpPr txBox="1"/>
          <p:nvPr/>
        </p:nvSpPr>
        <p:spPr>
          <a:xfrm>
            <a:off x="606829" y="4746902"/>
            <a:ext cx="808828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Если заявка была отклонена по причине ошибки или недостаточности данных для создания рабочего места, то Инициатор корректирует заявку и направляет в службу НСИ заявку повторно. Если заявку отклонили по причине того, что рабочее место уже было создано ранее, то Инициатор формирует отчет и убеждается в этом, после чего переходит к следующему шагу.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017456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 smtClean="0"/>
              <a:t>Описание шага «Подтверждение выполнения заявки НСИ»</a:t>
            </a:r>
            <a:endParaRPr lang="ru-RU"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673331" y="1188720"/>
            <a:ext cx="80051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Данный шаг выполняется в следующих случаях: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После уведомления Инициатора заявки НСИ о выполнении заявки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В случае обнаружения в отклоненной заявке ранее созданных  рабочих мест</a:t>
            </a:r>
            <a:endParaRPr lang="ru-RU" dirty="0"/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3239315" y="2121001"/>
            <a:ext cx="2496314" cy="2319786"/>
          </a:xfrm>
          <a:prstGeom prst="roundRect">
            <a:avLst>
              <a:gd name="adj" fmla="val 10000"/>
            </a:avLst>
          </a:prstGeom>
          <a:solidFill>
            <a:srgbClr val="FCC917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cxnSp>
        <p:nvCxnSpPr>
          <p:cNvPr id="7" name="Прямая со стрелкой 6"/>
          <p:cNvCxnSpPr>
            <a:stCxn id="6" idx="3"/>
          </p:cNvCxnSpPr>
          <p:nvPr/>
        </p:nvCxnSpPr>
        <p:spPr>
          <a:xfrm>
            <a:off x="5735629" y="3280894"/>
            <a:ext cx="2045083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 стрелкой 7"/>
          <p:cNvCxnSpPr>
            <a:endCxn id="6" idx="1"/>
          </p:cNvCxnSpPr>
          <p:nvPr/>
        </p:nvCxnSpPr>
        <p:spPr>
          <a:xfrm flipV="1">
            <a:off x="1127883" y="3280894"/>
            <a:ext cx="2111432" cy="17243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233650" y="2138245"/>
            <a:ext cx="2496313" cy="2319785"/>
          </a:xfrm>
          <a:prstGeom prst="rect">
            <a:avLst/>
          </a:prstGeom>
          <a:noFill/>
        </p:spPr>
        <p:txBody>
          <a:bodyPr wrap="square" rtlCol="0" anchor="ctr" anchorCtr="1">
            <a:no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Проверка выполнения заявки НСИ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16552" y="2369404"/>
            <a:ext cx="211143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/>
              <a:t>Оповещение о выполнении заявки НСИ/ анализ отклоненной заявки НСИ</a:t>
            </a:r>
            <a:endParaRPr lang="ru-RU" sz="1400" dirty="0"/>
          </a:p>
        </p:txBody>
      </p:sp>
      <p:sp>
        <p:nvSpPr>
          <p:cNvPr id="16" name="TextBox 15"/>
          <p:cNvSpPr txBox="1"/>
          <p:nvPr/>
        </p:nvSpPr>
        <p:spPr>
          <a:xfrm>
            <a:off x="5729963" y="2719202"/>
            <a:ext cx="17207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/>
              <a:t>Подтверждение выполнения заявки</a:t>
            </a:r>
            <a:endParaRPr lang="ru-RU" sz="1400" dirty="0"/>
          </a:p>
        </p:txBody>
      </p:sp>
      <p:sp>
        <p:nvSpPr>
          <p:cNvPr id="17" name="TextBox 16"/>
          <p:cNvSpPr txBox="1"/>
          <p:nvPr/>
        </p:nvSpPr>
        <p:spPr>
          <a:xfrm>
            <a:off x="586047" y="4534974"/>
            <a:ext cx="817972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После получения оповещения по  почте о выполнении заявки НСИ, Инициатор формирует отчет и производит проверку выполненных изменений в </a:t>
            </a:r>
            <a:r>
              <a:rPr lang="en-US" dirty="0" smtClean="0"/>
              <a:t>SAP</a:t>
            </a:r>
            <a:r>
              <a:rPr lang="ru-RU" dirty="0" smtClean="0"/>
              <a:t>, при необходимости просматривает карточку каждого рабочего места, после чего подтверждает выполнение заявки НСИ. В случае обнаружения, </a:t>
            </a:r>
            <a:r>
              <a:rPr lang="ru-RU" dirty="0"/>
              <a:t>при выполнении шага «Проверка заявки НСИ на ошибки»</a:t>
            </a:r>
            <a:r>
              <a:rPr lang="ru-RU" dirty="0" smtClean="0"/>
              <a:t> в заявке НСИ рабочего места, которое уже создано, то производит подтверждение выполнения заявки. Подробно </a:t>
            </a:r>
            <a:r>
              <a:rPr lang="ru-RU" dirty="0"/>
              <a:t>процесс </a:t>
            </a:r>
            <a:r>
              <a:rPr lang="ru-RU" dirty="0" smtClean="0"/>
              <a:t>работы </a:t>
            </a:r>
            <a:r>
              <a:rPr lang="en-US" dirty="0"/>
              <a:t>c </a:t>
            </a:r>
            <a:r>
              <a:rPr lang="ru-RU" dirty="0" smtClean="0"/>
              <a:t>заявками НСИ </a:t>
            </a:r>
            <a:r>
              <a:rPr lang="ru-RU" dirty="0"/>
              <a:t>описан в </a:t>
            </a:r>
            <a:r>
              <a:rPr lang="ru-RU" dirty="0">
                <a:hlinkClick r:id="rId2" action="ppaction://hlinksldjump"/>
              </a:rPr>
              <a:t>«Инструкции </a:t>
            </a:r>
            <a:r>
              <a:rPr lang="en-US" dirty="0" err="1">
                <a:hlinkClick r:id="rId2" action="ppaction://hlinksldjump"/>
              </a:rPr>
              <a:t>Naumen</a:t>
            </a:r>
            <a:r>
              <a:rPr lang="en-US" dirty="0">
                <a:hlinkClick r:id="rId2" action="ppaction://hlinksldjump"/>
              </a:rPr>
              <a:t> SD</a:t>
            </a:r>
            <a:r>
              <a:rPr lang="ru-RU" dirty="0">
                <a:hlinkClick r:id="rId2" action="ppaction://hlinksldjump"/>
              </a:rPr>
              <a:t>»</a:t>
            </a:r>
            <a:r>
              <a:rPr lang="ru-RU" dirty="0"/>
              <a:t>.</a:t>
            </a:r>
          </a:p>
          <a:p>
            <a:endParaRPr lang="ru-RU" dirty="0" smtClean="0"/>
          </a:p>
        </p:txBody>
      </p:sp>
    </p:spTree>
    <p:extLst>
      <p:ext uri="{BB962C8B-B14F-4D97-AF65-F5344CB8AC3E}">
        <p14:creationId xmlns:p14="http://schemas.microsoft.com/office/powerpoint/2010/main" val="36352652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303856" y="477422"/>
            <a:ext cx="5945981" cy="308195"/>
          </a:xfrm>
        </p:spPr>
        <p:txBody>
          <a:bodyPr/>
          <a:lstStyle/>
          <a:p>
            <a:r>
              <a:rPr lang="ru-RU" sz="20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20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процесса по </a:t>
            </a:r>
            <a:r>
              <a:rPr lang="ru-RU" sz="2000" dirty="0" smtClean="0"/>
              <a:t>ведению точек измерения</a:t>
            </a:r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cxnSp>
        <p:nvCxnSpPr>
          <p:cNvPr id="40" name="Соединительная линия уступом 39"/>
          <p:cNvCxnSpPr>
            <a:stCxn id="34" idx="0"/>
            <a:endCxn id="75" idx="2"/>
          </p:cNvCxnSpPr>
          <p:nvPr/>
        </p:nvCxnSpPr>
        <p:spPr>
          <a:xfrm rot="16200000" flipV="1">
            <a:off x="3299551" y="3737231"/>
            <a:ext cx="1382992" cy="1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Соединительная линия уступом 42"/>
          <p:cNvCxnSpPr>
            <a:stCxn id="28" idx="2"/>
            <a:endCxn id="33" idx="0"/>
          </p:cNvCxnSpPr>
          <p:nvPr/>
        </p:nvCxnSpPr>
        <p:spPr>
          <a:xfrm rot="5400000">
            <a:off x="993777" y="3648104"/>
            <a:ext cx="1561008" cy="245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Соединительная линия уступом 57"/>
          <p:cNvCxnSpPr>
            <a:stCxn id="7" idx="3"/>
            <a:endCxn id="34" idx="1"/>
          </p:cNvCxnSpPr>
          <p:nvPr/>
        </p:nvCxnSpPr>
        <p:spPr>
          <a:xfrm flipV="1">
            <a:off x="2623201" y="4936560"/>
            <a:ext cx="575101" cy="1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Соединительная линия уступом 160"/>
          <p:cNvCxnSpPr>
            <a:stCxn id="34" idx="3"/>
            <a:endCxn id="100" idx="1"/>
          </p:cNvCxnSpPr>
          <p:nvPr/>
        </p:nvCxnSpPr>
        <p:spPr>
          <a:xfrm>
            <a:off x="4783791" y="4936560"/>
            <a:ext cx="648095" cy="464234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Соединительная линия уступом 163"/>
          <p:cNvCxnSpPr>
            <a:stCxn id="34" idx="3"/>
            <a:endCxn id="101" idx="1"/>
          </p:cNvCxnSpPr>
          <p:nvPr/>
        </p:nvCxnSpPr>
        <p:spPr>
          <a:xfrm flipV="1">
            <a:off x="4783791" y="4500450"/>
            <a:ext cx="634160" cy="436110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Соединительная линия уступом 233"/>
          <p:cNvCxnSpPr>
            <a:stCxn id="101" idx="3"/>
            <a:endCxn id="124" idx="1"/>
          </p:cNvCxnSpPr>
          <p:nvPr/>
        </p:nvCxnSpPr>
        <p:spPr>
          <a:xfrm>
            <a:off x="6741766" y="4500450"/>
            <a:ext cx="566818" cy="426915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Соединительная линия уступом 235"/>
          <p:cNvCxnSpPr>
            <a:stCxn id="100" idx="3"/>
            <a:endCxn id="124" idx="1"/>
          </p:cNvCxnSpPr>
          <p:nvPr/>
        </p:nvCxnSpPr>
        <p:spPr>
          <a:xfrm flipV="1">
            <a:off x="6755701" y="4927365"/>
            <a:ext cx="552883" cy="473429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Соединительная линия уступом 238"/>
          <p:cNvCxnSpPr>
            <a:stCxn id="57" idx="3"/>
            <a:endCxn id="132" idx="1"/>
          </p:cNvCxnSpPr>
          <p:nvPr/>
        </p:nvCxnSpPr>
        <p:spPr>
          <a:xfrm flipV="1">
            <a:off x="4790698" y="2462667"/>
            <a:ext cx="2511801" cy="1"/>
          </a:xfrm>
          <a:prstGeom prst="bentConnector3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Соединительная линия уступом 246"/>
          <p:cNvCxnSpPr>
            <a:stCxn id="124" idx="0"/>
            <a:endCxn id="132" idx="2"/>
          </p:cNvCxnSpPr>
          <p:nvPr/>
        </p:nvCxnSpPr>
        <p:spPr>
          <a:xfrm rot="16200000" flipV="1">
            <a:off x="7129913" y="3693494"/>
            <a:ext cx="1678117" cy="3043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Скругленный прямоугольник 27"/>
          <p:cNvSpPr/>
          <p:nvPr/>
        </p:nvSpPr>
        <p:spPr>
          <a:xfrm>
            <a:off x="904914" y="1956045"/>
            <a:ext cx="1738977" cy="911677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Скругленный прямоугольник 311">
            <a:extLst>
              <a:ext uri="{FF2B5EF4-FFF2-40B4-BE49-F238E27FC236}">
                <a16:creationId xmlns:a16="http://schemas.microsoft.com/office/drawing/2014/main" xmlns="" id="{6B94761C-2B1A-43FF-9AEA-440BE2A8FCFD}"/>
              </a:ext>
            </a:extLst>
          </p:cNvPr>
          <p:cNvSpPr/>
          <p:nvPr/>
        </p:nvSpPr>
        <p:spPr>
          <a:xfrm rot="16200000">
            <a:off x="3591123" y="-1635102"/>
            <a:ext cx="1968088" cy="8542624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1200" b="1" dirty="0" smtClean="0">
                <a:solidFill>
                  <a:srgbClr val="595959"/>
                </a:solidFill>
                <a:cs typeface="Arial" panose="020B0604020202020204" pitchFamily="34" charset="0"/>
              </a:rPr>
              <a:t>Инициатор заявки НСИ</a:t>
            </a:r>
            <a:endParaRPr lang="ru-RU" sz="1200" b="1" dirty="0">
              <a:solidFill>
                <a:srgbClr val="595959"/>
              </a:solidFill>
              <a:cs typeface="Arial" panose="020B0604020202020204" pitchFamily="34" charset="0"/>
            </a:endParaRPr>
          </a:p>
        </p:txBody>
      </p:sp>
      <p:sp>
        <p:nvSpPr>
          <p:cNvPr id="30" name="Скругленный прямоугольник 311">
            <a:extLst>
              <a:ext uri="{FF2B5EF4-FFF2-40B4-BE49-F238E27FC236}">
                <a16:creationId xmlns:a16="http://schemas.microsoft.com/office/drawing/2014/main" xmlns="" id="{6B94761C-2B1A-43FF-9AEA-440BE2A8FCFD}"/>
              </a:ext>
            </a:extLst>
          </p:cNvPr>
          <p:cNvSpPr/>
          <p:nvPr/>
        </p:nvSpPr>
        <p:spPr>
          <a:xfrm rot="16200000">
            <a:off x="3591124" y="734900"/>
            <a:ext cx="1968088" cy="8542624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1200" b="1" dirty="0" smtClean="0">
                <a:solidFill>
                  <a:srgbClr val="595959"/>
                </a:solidFill>
                <a:cs typeface="Arial" panose="020B0604020202020204" pitchFamily="34" charset="0"/>
              </a:rPr>
              <a:t>Технический специалист НСИ</a:t>
            </a:r>
            <a:endParaRPr lang="ru-RU" sz="1200" b="1" dirty="0">
              <a:solidFill>
                <a:srgbClr val="595959"/>
              </a:solidFill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02334" y="2174544"/>
            <a:ext cx="13436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 smtClean="0">
                <a:solidFill>
                  <a:schemeClr val="bg1"/>
                </a:solidFill>
              </a:rPr>
              <a:t>Создание заявки НСИ</a:t>
            </a:r>
            <a:endParaRPr lang="ru-RU" sz="1200" dirty="0">
              <a:solidFill>
                <a:schemeClr val="bg1"/>
              </a:solidFill>
            </a:endParaRPr>
          </a:p>
        </p:txBody>
      </p:sp>
      <p:sp>
        <p:nvSpPr>
          <p:cNvPr id="33" name="Скругленный прямоугольник 32"/>
          <p:cNvSpPr/>
          <p:nvPr/>
        </p:nvSpPr>
        <p:spPr>
          <a:xfrm>
            <a:off x="904424" y="4428730"/>
            <a:ext cx="1739467" cy="972064"/>
          </a:xfrm>
          <a:prstGeom prst="roundRect">
            <a:avLst>
              <a:gd name="adj" fmla="val 17375"/>
            </a:avLst>
          </a:prstGeom>
          <a:solidFill>
            <a:schemeClr val="bg2">
              <a:lumMod val="5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34" name="Скругленный прямоугольник 33"/>
          <p:cNvSpPr/>
          <p:nvPr/>
        </p:nvSpPr>
        <p:spPr>
          <a:xfrm>
            <a:off x="3198302" y="4428728"/>
            <a:ext cx="1585489" cy="1015663"/>
          </a:xfrm>
          <a:prstGeom prst="roundRect">
            <a:avLst>
              <a:gd name="adj" fmla="val 17375"/>
            </a:avLst>
          </a:prstGeom>
          <a:solidFill>
            <a:schemeClr val="bg2">
              <a:lumMod val="5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7" name="TextBox 6"/>
          <p:cNvSpPr txBox="1"/>
          <p:nvPr/>
        </p:nvSpPr>
        <p:spPr>
          <a:xfrm>
            <a:off x="868851" y="4428729"/>
            <a:ext cx="17543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solidFill>
                  <a:schemeClr val="bg1"/>
                </a:solidFill>
                <a:cs typeface="Arial" panose="020B0604020202020204" pitchFamily="34" charset="0"/>
              </a:rPr>
              <a:t>Проверка на достаточность данных в заявке и созданных точек измерения в </a:t>
            </a:r>
            <a:r>
              <a:rPr lang="en-US" sz="1200" dirty="0">
                <a:solidFill>
                  <a:schemeClr val="bg1"/>
                </a:solidFill>
                <a:cs typeface="Arial" panose="020B0604020202020204" pitchFamily="34" charset="0"/>
              </a:rPr>
              <a:t>S4</a:t>
            </a:r>
            <a:r>
              <a:rPr lang="ru-RU" sz="1200" dirty="0">
                <a:solidFill>
                  <a:schemeClr val="bg1"/>
                </a:solidFill>
                <a:cs typeface="Arial" panose="020B0604020202020204" pitchFamily="34" charset="0"/>
              </a:rPr>
              <a:t>/</a:t>
            </a:r>
            <a:r>
              <a:rPr lang="en-US" sz="1200" dirty="0" smtClean="0">
                <a:solidFill>
                  <a:schemeClr val="bg1"/>
                </a:solidFill>
                <a:cs typeface="Arial" panose="020B0604020202020204" pitchFamily="34" charset="0"/>
              </a:rPr>
              <a:t>HANA</a:t>
            </a:r>
            <a:endParaRPr lang="ru-RU" sz="12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235967" y="4470828"/>
            <a:ext cx="14959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solidFill>
                  <a:schemeClr val="bg1"/>
                </a:solidFill>
                <a:cs typeface="Arial" panose="020B0604020202020204" pitchFamily="34" charset="0"/>
              </a:rPr>
              <a:t>Согласование наряда Техническим специалистом НСИ</a:t>
            </a:r>
          </a:p>
        </p:txBody>
      </p:sp>
      <p:sp>
        <p:nvSpPr>
          <p:cNvPr id="75" name="Скругленный прямоугольник 74"/>
          <p:cNvSpPr/>
          <p:nvPr/>
        </p:nvSpPr>
        <p:spPr>
          <a:xfrm>
            <a:off x="3198301" y="1879600"/>
            <a:ext cx="1585490" cy="1166136"/>
          </a:xfrm>
          <a:prstGeom prst="roundRect">
            <a:avLst>
              <a:gd name="adj" fmla="val 17375"/>
            </a:avLst>
          </a:prstGeom>
          <a:solidFill>
            <a:schemeClr val="bg2">
              <a:lumMod val="5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57" name="TextBox 56"/>
          <p:cNvSpPr txBox="1"/>
          <p:nvPr/>
        </p:nvSpPr>
        <p:spPr>
          <a:xfrm>
            <a:off x="3207505" y="1862503"/>
            <a:ext cx="158319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solidFill>
                  <a:schemeClr val="bg1"/>
                </a:solidFill>
                <a:cs typeface="Arial" panose="020B0604020202020204" pitchFamily="34" charset="0"/>
              </a:rPr>
              <a:t>Проверка заявки на ошибки и возможное дублирование точек измерения в </a:t>
            </a:r>
            <a:r>
              <a:rPr lang="en-US" sz="1200" dirty="0">
                <a:solidFill>
                  <a:schemeClr val="bg1"/>
                </a:solidFill>
                <a:cs typeface="Arial" panose="020B0604020202020204" pitchFamily="34" charset="0"/>
              </a:rPr>
              <a:t>S4</a:t>
            </a:r>
            <a:r>
              <a:rPr lang="ru-RU" sz="1200" dirty="0">
                <a:solidFill>
                  <a:schemeClr val="bg1"/>
                </a:solidFill>
                <a:cs typeface="Arial" panose="020B0604020202020204" pitchFamily="34" charset="0"/>
              </a:rPr>
              <a:t>/</a:t>
            </a:r>
            <a:r>
              <a:rPr lang="en-US" sz="1200" dirty="0" smtClean="0">
                <a:solidFill>
                  <a:schemeClr val="bg1"/>
                </a:solidFill>
                <a:cs typeface="Arial" panose="020B0604020202020204" pitchFamily="34" charset="0"/>
              </a:rPr>
              <a:t>HANA</a:t>
            </a:r>
            <a:endParaRPr lang="ru-RU" sz="12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00" name="Скругленный прямоугольник 99"/>
          <p:cNvSpPr/>
          <p:nvPr/>
        </p:nvSpPr>
        <p:spPr>
          <a:xfrm>
            <a:off x="5431886" y="5041906"/>
            <a:ext cx="1323815" cy="717775"/>
          </a:xfrm>
          <a:prstGeom prst="roundRect">
            <a:avLst>
              <a:gd name="adj" fmla="val 17375"/>
            </a:avLst>
          </a:prstGeom>
          <a:solidFill>
            <a:schemeClr val="bg2">
              <a:lumMod val="5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01" name="Скругленный прямоугольник 100"/>
          <p:cNvSpPr/>
          <p:nvPr/>
        </p:nvSpPr>
        <p:spPr>
          <a:xfrm>
            <a:off x="5417951" y="4145837"/>
            <a:ext cx="1323815" cy="709225"/>
          </a:xfrm>
          <a:prstGeom prst="roundRect">
            <a:avLst>
              <a:gd name="adj" fmla="val 17375"/>
            </a:avLst>
          </a:prstGeom>
          <a:solidFill>
            <a:schemeClr val="bg2">
              <a:lumMod val="5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03" name="TextBox 102"/>
          <p:cNvSpPr txBox="1"/>
          <p:nvPr/>
        </p:nvSpPr>
        <p:spPr>
          <a:xfrm>
            <a:off x="5477458" y="4188215"/>
            <a:ext cx="12001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>
                <a:solidFill>
                  <a:schemeClr val="bg1"/>
                </a:solidFill>
              </a:rPr>
              <a:t>Создание точки измерения</a:t>
            </a:r>
            <a:endParaRPr lang="ru-RU" sz="1200" dirty="0">
              <a:solidFill>
                <a:schemeClr val="bg1"/>
              </a:solidFill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5509403" y="5041906"/>
            <a:ext cx="11682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>
                <a:solidFill>
                  <a:schemeClr val="bg1"/>
                </a:solidFill>
              </a:rPr>
              <a:t>Изменение точки измерения</a:t>
            </a:r>
            <a:endParaRPr lang="ru-RU" sz="1200" dirty="0">
              <a:solidFill>
                <a:schemeClr val="bg1"/>
              </a:solidFill>
            </a:endParaRPr>
          </a:p>
        </p:txBody>
      </p:sp>
      <p:sp>
        <p:nvSpPr>
          <p:cNvPr id="124" name="Скругленный прямоугольник 123"/>
          <p:cNvSpPr/>
          <p:nvPr/>
        </p:nvSpPr>
        <p:spPr>
          <a:xfrm>
            <a:off x="7308584" y="4534074"/>
            <a:ext cx="1323815" cy="786581"/>
          </a:xfrm>
          <a:prstGeom prst="roundRect">
            <a:avLst>
              <a:gd name="adj" fmla="val 17375"/>
            </a:avLst>
          </a:prstGeom>
          <a:solidFill>
            <a:schemeClr val="bg2">
              <a:lumMod val="5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10" name="TextBox 109"/>
          <p:cNvSpPr txBox="1"/>
          <p:nvPr/>
        </p:nvSpPr>
        <p:spPr>
          <a:xfrm>
            <a:off x="7339551" y="4503887"/>
            <a:ext cx="11838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solidFill>
                  <a:schemeClr val="bg1"/>
                </a:solidFill>
                <a:cs typeface="Arial" panose="020B0604020202020204" pitchFamily="34" charset="0"/>
              </a:rPr>
              <a:t>Оповещение инициатора о выполнении заявки </a:t>
            </a:r>
            <a:r>
              <a:rPr lang="ru-RU" sz="1200" dirty="0" smtClean="0">
                <a:solidFill>
                  <a:schemeClr val="bg1"/>
                </a:solidFill>
                <a:cs typeface="Arial" panose="020B0604020202020204" pitchFamily="34" charset="0"/>
              </a:rPr>
              <a:t>НСИ</a:t>
            </a:r>
            <a:endParaRPr lang="ru-RU" sz="12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32" name="Скругленный прямоугольник 131"/>
          <p:cNvSpPr/>
          <p:nvPr/>
        </p:nvSpPr>
        <p:spPr>
          <a:xfrm>
            <a:off x="7302499" y="2069376"/>
            <a:ext cx="1329899" cy="786581"/>
          </a:xfrm>
          <a:prstGeom prst="roundRect">
            <a:avLst>
              <a:gd name="adj" fmla="val 17375"/>
            </a:avLst>
          </a:prstGeom>
          <a:solidFill>
            <a:schemeClr val="bg2">
              <a:lumMod val="5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17" name="TextBox 116"/>
          <p:cNvSpPr txBox="1"/>
          <p:nvPr/>
        </p:nvSpPr>
        <p:spPr>
          <a:xfrm>
            <a:off x="7379469" y="2043663"/>
            <a:ext cx="10086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solidFill>
                  <a:schemeClr val="bg1"/>
                </a:solidFill>
                <a:cs typeface="Arial" panose="020B0604020202020204" pitchFamily="34" charset="0"/>
              </a:rPr>
              <a:t>Проверка и подтверждение выполнения заявки </a:t>
            </a:r>
          </a:p>
        </p:txBody>
      </p:sp>
    </p:spTree>
    <p:extLst>
      <p:ext uri="{BB962C8B-B14F-4D97-AF65-F5344CB8AC3E}">
        <p14:creationId xmlns:p14="http://schemas.microsoft.com/office/powerpoint/2010/main" val="167206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 smtClean="0"/>
              <a:t>Описание </a:t>
            </a:r>
            <a:r>
              <a:rPr lang="ru-RU" sz="2000" dirty="0"/>
              <a:t>шага «Проверка на достаточность данных в </a:t>
            </a:r>
            <a:r>
              <a:rPr lang="ru-RU" sz="2000" dirty="0" smtClean="0"/>
              <a:t>заявке НСИ»</a:t>
            </a:r>
            <a:endParaRPr lang="ru-RU"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487680" y="1181100"/>
            <a:ext cx="8122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Данный шаг выполняется после получения заявки НСИ в формате </a:t>
            </a:r>
            <a:r>
              <a:rPr lang="en-US" dirty="0" smtClean="0"/>
              <a:t>Excel</a:t>
            </a:r>
            <a:r>
              <a:rPr lang="ru-RU" dirty="0" smtClean="0"/>
              <a:t> файла</a:t>
            </a:r>
            <a:endParaRPr lang="ru-RU" dirty="0"/>
          </a:p>
        </p:txBody>
      </p:sp>
      <p:grpSp>
        <p:nvGrpSpPr>
          <p:cNvPr id="5" name="Группа 4"/>
          <p:cNvGrpSpPr/>
          <p:nvPr/>
        </p:nvGrpSpPr>
        <p:grpSpPr>
          <a:xfrm>
            <a:off x="3439402" y="2157783"/>
            <a:ext cx="2496314" cy="2319786"/>
            <a:chOff x="2311907" y="846559"/>
            <a:chExt cx="1343033" cy="992604"/>
          </a:xfrm>
        </p:grpSpPr>
        <p:sp>
          <p:nvSpPr>
            <p:cNvPr id="6" name="Скругленный прямоугольник 5"/>
            <p:cNvSpPr/>
            <p:nvPr/>
          </p:nvSpPr>
          <p:spPr>
            <a:xfrm>
              <a:off x="2311907" y="846559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 smtClean="0">
                  <a:solidFill>
                    <a:schemeClr val="bg1"/>
                  </a:solidFill>
                </a:rPr>
                <a:t>Проверяются данные в заявке НСИ и анализируются ранее созданные рабочие места </a:t>
              </a:r>
              <a:endParaRPr lang="ru-RU" sz="1600" kern="12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8" name="Прямая со стрелкой 7"/>
          <p:cNvCxnSpPr>
            <a:endCxn id="6" idx="1"/>
          </p:cNvCxnSpPr>
          <p:nvPr/>
        </p:nvCxnSpPr>
        <p:spPr>
          <a:xfrm>
            <a:off x="1195644" y="3317674"/>
            <a:ext cx="2243759" cy="1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 стрелкой 8"/>
          <p:cNvCxnSpPr>
            <a:stCxn id="6" idx="3"/>
          </p:cNvCxnSpPr>
          <p:nvPr/>
        </p:nvCxnSpPr>
        <p:spPr>
          <a:xfrm>
            <a:off x="5935717" y="3317675"/>
            <a:ext cx="1928243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32459" y="4613456"/>
            <a:ext cx="812292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/>
              <a:t>Если в заявке НСИ указано недостаточно данных для создания/изменения точки измерения или точка измерения уже была создана ранее, то данные позиции заявки отклоняются. В случае, если данные в заявке НСИ указаны корректно и точка измерения ранее не создавалась, Технический специалист НСИ согласует заявку НСИ (вне системный шаг) и приступает к исполнению заявки НСИ</a:t>
            </a:r>
            <a:r>
              <a:rPr lang="ru-RU" sz="1600" dirty="0"/>
              <a:t>. Подробно процесс согласования и работы </a:t>
            </a:r>
            <a:r>
              <a:rPr lang="en-US" sz="1600" dirty="0"/>
              <a:t>c </a:t>
            </a:r>
            <a:r>
              <a:rPr lang="ru-RU" sz="1600" dirty="0" smtClean="0"/>
              <a:t>заявками НСИ </a:t>
            </a:r>
            <a:r>
              <a:rPr lang="ru-RU" sz="1600" dirty="0"/>
              <a:t>описан в </a:t>
            </a:r>
            <a:r>
              <a:rPr lang="ru-RU" sz="1600" dirty="0">
                <a:hlinkClick r:id="rId2" action="ppaction://hlinksldjump"/>
              </a:rPr>
              <a:t>«Инструкции </a:t>
            </a:r>
            <a:r>
              <a:rPr lang="en-US" sz="1600" dirty="0" err="1">
                <a:hlinkClick r:id="rId2" action="ppaction://hlinksldjump"/>
              </a:rPr>
              <a:t>Naumen</a:t>
            </a:r>
            <a:r>
              <a:rPr lang="en-US" sz="1600" dirty="0">
                <a:hlinkClick r:id="rId2" action="ppaction://hlinksldjump"/>
              </a:rPr>
              <a:t> SD</a:t>
            </a:r>
            <a:r>
              <a:rPr lang="ru-RU" sz="1600" dirty="0" smtClean="0">
                <a:hlinkClick r:id="rId2" action="ppaction://hlinksldjump"/>
              </a:rPr>
              <a:t>»</a:t>
            </a:r>
            <a:r>
              <a:rPr lang="ru-RU" sz="1600" dirty="0" smtClean="0"/>
              <a:t>.</a:t>
            </a:r>
            <a:endParaRPr lang="ru-RU" sz="1600" dirty="0"/>
          </a:p>
        </p:txBody>
      </p:sp>
      <p:sp>
        <p:nvSpPr>
          <p:cNvPr id="16" name="TextBox 15"/>
          <p:cNvSpPr txBox="1"/>
          <p:nvPr/>
        </p:nvSpPr>
        <p:spPr>
          <a:xfrm>
            <a:off x="1380662" y="2732900"/>
            <a:ext cx="21287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/>
              <a:t>Получение заявки НСИ</a:t>
            </a:r>
            <a:endParaRPr lang="ru-RU" sz="1600" dirty="0"/>
          </a:p>
        </p:txBody>
      </p:sp>
      <p:sp>
        <p:nvSpPr>
          <p:cNvPr id="17" name="TextBox 16"/>
          <p:cNvSpPr txBox="1"/>
          <p:nvPr/>
        </p:nvSpPr>
        <p:spPr>
          <a:xfrm>
            <a:off x="5867007" y="2732900"/>
            <a:ext cx="23164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/>
              <a:t>Произведен анализ точек измерения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38166245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 smtClean="0"/>
              <a:t>Описание шага «Создание/изменение точки измерения» </a:t>
            </a:r>
          </a:p>
          <a:p>
            <a:endParaRPr lang="ru-RU" dirty="0"/>
          </a:p>
        </p:txBody>
      </p:sp>
      <p:sp>
        <p:nvSpPr>
          <p:cNvPr id="4" name="Скругленный прямоугольник 3"/>
          <p:cNvSpPr/>
          <p:nvPr/>
        </p:nvSpPr>
        <p:spPr>
          <a:xfrm>
            <a:off x="3239316" y="2588618"/>
            <a:ext cx="2496314" cy="2319786"/>
          </a:xfrm>
          <a:prstGeom prst="roundRect">
            <a:avLst>
              <a:gd name="adj" fmla="val 10000"/>
            </a:avLst>
          </a:prstGeom>
          <a:solidFill>
            <a:srgbClr val="FCC917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5" name="TextBox 4"/>
          <p:cNvSpPr txBox="1"/>
          <p:nvPr/>
        </p:nvSpPr>
        <p:spPr>
          <a:xfrm>
            <a:off x="3239316" y="2591554"/>
            <a:ext cx="2496314" cy="2219602"/>
          </a:xfrm>
          <a:prstGeom prst="rect">
            <a:avLst/>
          </a:prstGeom>
          <a:noFill/>
        </p:spPr>
        <p:txBody>
          <a:bodyPr wrap="square" lIns="108000" rIns="72000" rtlCol="0" anchor="ctr" anchorCtr="0">
            <a:noAutofit/>
          </a:bodyPr>
          <a:lstStyle/>
          <a:p>
            <a:pPr algn="ctr"/>
            <a:r>
              <a:rPr lang="ru-RU" dirty="0" smtClean="0">
                <a:solidFill>
                  <a:schemeClr val="bg1"/>
                </a:solidFill>
              </a:rPr>
              <a:t>Создание/изменение точки измерения</a:t>
            </a:r>
            <a:endParaRPr lang="ru-RU" dirty="0">
              <a:solidFill>
                <a:schemeClr val="bg1"/>
              </a:solidFill>
            </a:endParaRPr>
          </a:p>
        </p:txBody>
      </p:sp>
      <p:cxnSp>
        <p:nvCxnSpPr>
          <p:cNvPr id="6" name="Прямая со стрелкой 5"/>
          <p:cNvCxnSpPr>
            <a:endCxn id="4" idx="1"/>
          </p:cNvCxnSpPr>
          <p:nvPr/>
        </p:nvCxnSpPr>
        <p:spPr>
          <a:xfrm>
            <a:off x="1379220" y="3748511"/>
            <a:ext cx="18600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 стрелкой 6"/>
          <p:cNvCxnSpPr>
            <a:stCxn id="5" idx="3"/>
          </p:cNvCxnSpPr>
          <p:nvPr/>
        </p:nvCxnSpPr>
        <p:spPr>
          <a:xfrm>
            <a:off x="5735630" y="3701355"/>
            <a:ext cx="1930090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672896" y="3409957"/>
            <a:ext cx="12727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/>
              <a:t> Заявка НСИ</a:t>
            </a:r>
            <a:endParaRPr lang="ru-RU" sz="1600" dirty="0"/>
          </a:p>
        </p:txBody>
      </p:sp>
      <p:sp>
        <p:nvSpPr>
          <p:cNvPr id="14" name="TextBox 13"/>
          <p:cNvSpPr txBox="1"/>
          <p:nvPr/>
        </p:nvSpPr>
        <p:spPr>
          <a:xfrm>
            <a:off x="5875020" y="3116580"/>
            <a:ext cx="20040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/>
              <a:t>Точка измерения создана/изменена</a:t>
            </a:r>
            <a:endParaRPr lang="ru-RU" sz="1600" dirty="0"/>
          </a:p>
        </p:txBody>
      </p:sp>
      <p:sp>
        <p:nvSpPr>
          <p:cNvPr id="15" name="TextBox 14"/>
          <p:cNvSpPr txBox="1"/>
          <p:nvPr/>
        </p:nvSpPr>
        <p:spPr>
          <a:xfrm>
            <a:off x="1203253" y="1386362"/>
            <a:ext cx="6568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Технический специалист НСИ вносит данные из заявки НСИ в карточку точки измерения </a:t>
            </a:r>
            <a:endParaRPr lang="ru-RU" dirty="0"/>
          </a:p>
        </p:txBody>
      </p:sp>
      <p:sp>
        <p:nvSpPr>
          <p:cNvPr id="16" name="TextBox 15"/>
          <p:cNvSpPr txBox="1"/>
          <p:nvPr/>
        </p:nvSpPr>
        <p:spPr>
          <a:xfrm>
            <a:off x="868680" y="5212080"/>
            <a:ext cx="778002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После создания/изменения всех точек измерения из заявки НСИ Технический специалист НСИ устанавливает статус заявки «Выполнено», после чего информирует Инициатора заявки НСИ по почте о внесении изменений в </a:t>
            </a:r>
            <a:r>
              <a:rPr lang="en-US" dirty="0" smtClean="0"/>
              <a:t>SAP</a:t>
            </a:r>
            <a:r>
              <a:rPr lang="ru-RU" dirty="0" smtClean="0"/>
              <a:t>.</a:t>
            </a:r>
            <a:r>
              <a:rPr lang="ru-RU" dirty="0"/>
              <a:t> Подробно процесс </a:t>
            </a:r>
            <a:r>
              <a:rPr lang="ru-RU" dirty="0" smtClean="0"/>
              <a:t>работы </a:t>
            </a:r>
            <a:r>
              <a:rPr lang="en-US" dirty="0"/>
              <a:t>c </a:t>
            </a:r>
            <a:r>
              <a:rPr lang="ru-RU" dirty="0" smtClean="0"/>
              <a:t>заявками НСИ </a:t>
            </a:r>
            <a:r>
              <a:rPr lang="ru-RU" dirty="0"/>
              <a:t>описан в </a:t>
            </a:r>
            <a:r>
              <a:rPr lang="ru-RU" dirty="0">
                <a:hlinkClick r:id="rId2" action="ppaction://hlinksldjump"/>
              </a:rPr>
              <a:t>«Инструкции </a:t>
            </a:r>
            <a:r>
              <a:rPr lang="en-US" dirty="0" err="1">
                <a:hlinkClick r:id="rId2" action="ppaction://hlinksldjump"/>
              </a:rPr>
              <a:t>Naumen</a:t>
            </a:r>
            <a:r>
              <a:rPr lang="en-US" dirty="0">
                <a:hlinkClick r:id="rId2" action="ppaction://hlinksldjump"/>
              </a:rPr>
              <a:t> SD</a:t>
            </a:r>
            <a:r>
              <a:rPr lang="ru-RU" dirty="0">
                <a:hlinkClick r:id="rId2" action="ppaction://hlinksldjump"/>
              </a:rPr>
              <a:t>»</a:t>
            </a:r>
            <a:r>
              <a:rPr lang="ru-RU" dirty="0"/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1453427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dirty="0" smtClean="0"/>
              <a:t>Описание шага «Проверка заявки НСИ на ошибки»</a:t>
            </a:r>
            <a:endParaRPr lang="ru-RU" dirty="0"/>
          </a:p>
        </p:txBody>
      </p:sp>
      <p:sp>
        <p:nvSpPr>
          <p:cNvPr id="2" name="TextBox 1"/>
          <p:cNvSpPr txBox="1"/>
          <p:nvPr/>
        </p:nvSpPr>
        <p:spPr>
          <a:xfrm>
            <a:off x="1005840" y="1263535"/>
            <a:ext cx="72902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Данный шаг выполняется после получения отклоненной заявки Техническим специалистом НСИ с комментариями.</a:t>
            </a:r>
            <a:endParaRPr lang="ru-RU" dirty="0"/>
          </a:p>
        </p:txBody>
      </p:sp>
      <p:sp>
        <p:nvSpPr>
          <p:cNvPr id="4" name="Скругленный прямоугольник 3"/>
          <p:cNvSpPr/>
          <p:nvPr/>
        </p:nvSpPr>
        <p:spPr>
          <a:xfrm>
            <a:off x="3290730" y="2169265"/>
            <a:ext cx="2496314" cy="2319786"/>
          </a:xfrm>
          <a:prstGeom prst="roundRect">
            <a:avLst>
              <a:gd name="adj" fmla="val 10000"/>
            </a:avLst>
          </a:prstGeom>
          <a:solidFill>
            <a:srgbClr val="FCC917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cxnSp>
        <p:nvCxnSpPr>
          <p:cNvPr id="5" name="Прямая со стрелкой 4"/>
          <p:cNvCxnSpPr>
            <a:endCxn id="8" idx="1"/>
          </p:cNvCxnSpPr>
          <p:nvPr/>
        </p:nvCxnSpPr>
        <p:spPr>
          <a:xfrm>
            <a:off x="1388168" y="3327610"/>
            <a:ext cx="1902562" cy="1548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Прямая со стрелкой 5"/>
          <p:cNvCxnSpPr>
            <a:stCxn id="8" idx="3"/>
          </p:cNvCxnSpPr>
          <p:nvPr/>
        </p:nvCxnSpPr>
        <p:spPr>
          <a:xfrm flipV="1">
            <a:off x="5785658" y="3327610"/>
            <a:ext cx="1931476" cy="1548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290730" y="2169265"/>
            <a:ext cx="2494928" cy="2319786"/>
          </a:xfrm>
          <a:prstGeom prst="rect">
            <a:avLst/>
          </a:prstGeom>
          <a:noFill/>
        </p:spPr>
        <p:txBody>
          <a:bodyPr wrap="square" rtlCol="0" anchor="ctr" anchorCtr="1">
            <a:noAutofit/>
          </a:bodyPr>
          <a:lstStyle/>
          <a:p>
            <a:pPr algn="ctr"/>
            <a:r>
              <a:rPr lang="ru-RU" dirty="0" smtClean="0">
                <a:solidFill>
                  <a:schemeClr val="bg1"/>
                </a:solidFill>
              </a:rPr>
              <a:t>Анализ отклоненной заявки НСИ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413875" y="2506148"/>
            <a:ext cx="179973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 smtClean="0"/>
              <a:t>Получение отклоненной заявки НСИ</a:t>
            </a:r>
            <a:endParaRPr lang="ru-RU" sz="1400" dirty="0"/>
          </a:p>
        </p:txBody>
      </p:sp>
      <p:sp>
        <p:nvSpPr>
          <p:cNvPr id="10" name="TextBox 9"/>
          <p:cNvSpPr txBox="1"/>
          <p:nvPr/>
        </p:nvSpPr>
        <p:spPr>
          <a:xfrm>
            <a:off x="5838458" y="2613870"/>
            <a:ext cx="18786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/>
              <a:t>Анализ произведен, ошибки исправлены</a:t>
            </a:r>
            <a:endParaRPr lang="ru-RU" sz="1400" dirty="0"/>
          </a:p>
        </p:txBody>
      </p:sp>
      <p:sp>
        <p:nvSpPr>
          <p:cNvPr id="11" name="TextBox 10"/>
          <p:cNvSpPr txBox="1"/>
          <p:nvPr/>
        </p:nvSpPr>
        <p:spPr>
          <a:xfrm>
            <a:off x="606829" y="4746902"/>
            <a:ext cx="808828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Если заявка была отклонена по причине ошибки или недостаточности данных для создания рабочего места, то Инициатор корректирует заявку и направляет в службу НСИ заявку повторно. Если заявку отклонили по причине того, что рабочее место уже было создано ранее, то Инициатор формирует отчет и убеждается в этом, после чего переходит к следующему шагу.</a:t>
            </a:r>
            <a:r>
              <a:rPr lang="ru-RU" dirty="0"/>
              <a:t> Подробно </a:t>
            </a:r>
            <a:r>
              <a:rPr lang="ru-RU" dirty="0" smtClean="0"/>
              <a:t>процесс работы </a:t>
            </a:r>
            <a:r>
              <a:rPr lang="en-US" dirty="0" smtClean="0"/>
              <a:t>c </a:t>
            </a:r>
            <a:r>
              <a:rPr lang="ru-RU" dirty="0" smtClean="0"/>
              <a:t>заявками НСИ </a:t>
            </a:r>
            <a:r>
              <a:rPr lang="ru-RU" dirty="0"/>
              <a:t>описан в </a:t>
            </a:r>
            <a:r>
              <a:rPr lang="ru-RU" dirty="0">
                <a:hlinkClick r:id="rId2" action="ppaction://hlinksldjump"/>
              </a:rPr>
              <a:t>«Инструкции </a:t>
            </a:r>
            <a:r>
              <a:rPr lang="en-US" dirty="0" err="1">
                <a:hlinkClick r:id="rId2" action="ppaction://hlinksldjump"/>
              </a:rPr>
              <a:t>Naumen</a:t>
            </a:r>
            <a:r>
              <a:rPr lang="en-US" dirty="0">
                <a:hlinkClick r:id="rId2" action="ppaction://hlinksldjump"/>
              </a:rPr>
              <a:t> SD</a:t>
            </a:r>
            <a:r>
              <a:rPr lang="ru-RU" dirty="0" smtClean="0">
                <a:hlinkClick r:id="rId2" action="ppaction://hlinksldjump"/>
              </a:rPr>
              <a:t>»</a:t>
            </a:r>
            <a:r>
              <a:rPr lang="ru-RU" dirty="0" smtClean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3639634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 smtClean="0"/>
              <a:t>Описание шага «Подтверждение выполнения заявки НСИ»</a:t>
            </a:r>
            <a:endParaRPr lang="ru-RU"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586047" y="1024656"/>
            <a:ext cx="80051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Данный шаг выполняется в следующих случаях: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После уведомления Инициатора заявки НСИ о выполнении заявки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В случае обнаружения в отклоненной заявке ранее созданной точки измерения</a:t>
            </a:r>
            <a:endParaRPr lang="ru-RU" dirty="0"/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3239315" y="2121001"/>
            <a:ext cx="2496314" cy="2319786"/>
          </a:xfrm>
          <a:prstGeom prst="roundRect">
            <a:avLst>
              <a:gd name="adj" fmla="val 10000"/>
            </a:avLst>
          </a:prstGeom>
          <a:solidFill>
            <a:srgbClr val="FCC917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cxnSp>
        <p:nvCxnSpPr>
          <p:cNvPr id="7" name="Прямая со стрелкой 6"/>
          <p:cNvCxnSpPr>
            <a:stCxn id="6" idx="3"/>
          </p:cNvCxnSpPr>
          <p:nvPr/>
        </p:nvCxnSpPr>
        <p:spPr>
          <a:xfrm>
            <a:off x="5735629" y="3280894"/>
            <a:ext cx="2045083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 стрелкой 7"/>
          <p:cNvCxnSpPr>
            <a:endCxn id="6" idx="1"/>
          </p:cNvCxnSpPr>
          <p:nvPr/>
        </p:nvCxnSpPr>
        <p:spPr>
          <a:xfrm flipV="1">
            <a:off x="1127883" y="3280894"/>
            <a:ext cx="2111432" cy="17243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233650" y="2138245"/>
            <a:ext cx="2496313" cy="2319785"/>
          </a:xfrm>
          <a:prstGeom prst="rect">
            <a:avLst/>
          </a:prstGeom>
          <a:noFill/>
        </p:spPr>
        <p:txBody>
          <a:bodyPr wrap="square" rtlCol="0" anchor="ctr" anchorCtr="1">
            <a:no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Проверка выполнения заявки НСИ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16552" y="2369404"/>
            <a:ext cx="211143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/>
              <a:t>Оповещение о выполнении заявки НСИ/ анализ отклоненной заявки НСИ</a:t>
            </a:r>
            <a:endParaRPr lang="ru-RU" sz="1400" dirty="0"/>
          </a:p>
        </p:txBody>
      </p:sp>
      <p:sp>
        <p:nvSpPr>
          <p:cNvPr id="16" name="TextBox 15"/>
          <p:cNvSpPr txBox="1"/>
          <p:nvPr/>
        </p:nvSpPr>
        <p:spPr>
          <a:xfrm>
            <a:off x="5729963" y="2719202"/>
            <a:ext cx="17207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/>
              <a:t>Подтверждение выполнения заявки</a:t>
            </a:r>
            <a:endParaRPr lang="ru-RU" sz="1400" dirty="0"/>
          </a:p>
        </p:txBody>
      </p:sp>
      <p:sp>
        <p:nvSpPr>
          <p:cNvPr id="17" name="TextBox 16"/>
          <p:cNvSpPr txBox="1"/>
          <p:nvPr/>
        </p:nvSpPr>
        <p:spPr>
          <a:xfrm>
            <a:off x="586047" y="4534974"/>
            <a:ext cx="817972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После получения оповещения по  почте о выполнении заявки НСИ, Инициатор формирует отчет и производит проверку выполненных изменений в </a:t>
            </a:r>
            <a:r>
              <a:rPr lang="en-US" dirty="0" smtClean="0"/>
              <a:t>SAP</a:t>
            </a:r>
            <a:r>
              <a:rPr lang="ru-RU" dirty="0" smtClean="0"/>
              <a:t>, при необходимости просматривает карточку каждой точки измерения, после чего подтверждает выполнение заявки НСИ. В случае обнаружения,</a:t>
            </a:r>
            <a:r>
              <a:rPr lang="ru-RU" dirty="0"/>
              <a:t> при выполнении шага «Проверка заявки НСИ на ошибки»</a:t>
            </a:r>
            <a:r>
              <a:rPr lang="ru-RU" dirty="0" smtClean="0"/>
              <a:t>  в заявке НСИ точки измерения, которая уже создана, то производит подтверждение выполнения заявки.</a:t>
            </a:r>
            <a:r>
              <a:rPr lang="ru-RU" dirty="0"/>
              <a:t> Подробно процесс </a:t>
            </a:r>
            <a:r>
              <a:rPr lang="ru-RU" dirty="0" smtClean="0"/>
              <a:t>работы </a:t>
            </a:r>
            <a:r>
              <a:rPr lang="en-US" dirty="0"/>
              <a:t>c </a:t>
            </a:r>
            <a:r>
              <a:rPr lang="ru-RU" dirty="0" smtClean="0"/>
              <a:t>заявками НСИ </a:t>
            </a:r>
            <a:r>
              <a:rPr lang="ru-RU" dirty="0"/>
              <a:t>описан в </a:t>
            </a:r>
            <a:r>
              <a:rPr lang="ru-RU" dirty="0">
                <a:hlinkClick r:id="rId2" action="ppaction://hlinksldjump"/>
              </a:rPr>
              <a:t>«Инструкции </a:t>
            </a:r>
            <a:r>
              <a:rPr lang="en-US" dirty="0" err="1">
                <a:hlinkClick r:id="rId2" action="ppaction://hlinksldjump"/>
              </a:rPr>
              <a:t>Naumen</a:t>
            </a:r>
            <a:r>
              <a:rPr lang="en-US" dirty="0">
                <a:hlinkClick r:id="rId2" action="ppaction://hlinksldjump"/>
              </a:rPr>
              <a:t> SD</a:t>
            </a:r>
            <a:r>
              <a:rPr lang="ru-RU" dirty="0" smtClean="0">
                <a:hlinkClick r:id="rId2" action="ppaction://hlinksldjump"/>
              </a:rPr>
              <a:t>»</a:t>
            </a:r>
            <a:r>
              <a:rPr lang="ru-RU" dirty="0" smtClean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4433411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80845" y="456736"/>
            <a:ext cx="7927975" cy="410926"/>
          </a:xfrm>
        </p:spPr>
        <p:txBody>
          <a:bodyPr/>
          <a:lstStyle/>
          <a:p>
            <a:r>
              <a:rPr lang="ru-RU" sz="2000" dirty="0" smtClean="0"/>
              <a:t>Ведение каталога кодов</a:t>
            </a:r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cxnSp>
        <p:nvCxnSpPr>
          <p:cNvPr id="43" name="Соединительная линия уступом 42"/>
          <p:cNvCxnSpPr>
            <a:stCxn id="36" idx="2"/>
            <a:endCxn id="37" idx="0"/>
          </p:cNvCxnSpPr>
          <p:nvPr/>
        </p:nvCxnSpPr>
        <p:spPr>
          <a:xfrm rot="5400000">
            <a:off x="966966" y="2913821"/>
            <a:ext cx="1008221" cy="27972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Соединительная линия уступом 57"/>
          <p:cNvCxnSpPr>
            <a:stCxn id="37" idx="3"/>
            <a:endCxn id="45" idx="1"/>
          </p:cNvCxnSpPr>
          <p:nvPr/>
        </p:nvCxnSpPr>
        <p:spPr>
          <a:xfrm flipV="1">
            <a:off x="2298606" y="3887756"/>
            <a:ext cx="445640" cy="1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Соединительная линия уступом 134"/>
          <p:cNvCxnSpPr>
            <a:stCxn id="45" idx="2"/>
            <a:endCxn id="54" idx="1"/>
          </p:cNvCxnSpPr>
          <p:nvPr/>
        </p:nvCxnSpPr>
        <p:spPr>
          <a:xfrm rot="16200000" flipH="1">
            <a:off x="3044931" y="4864942"/>
            <a:ext cx="1243884" cy="201187"/>
          </a:xfrm>
          <a:prstGeom prst="bentConnector2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Соединительная линия уступом 156"/>
          <p:cNvCxnSpPr>
            <a:stCxn id="54" idx="0"/>
            <a:endCxn id="45" idx="3"/>
          </p:cNvCxnSpPr>
          <p:nvPr/>
        </p:nvCxnSpPr>
        <p:spPr>
          <a:xfrm rot="16200000" flipV="1">
            <a:off x="3828533" y="4447537"/>
            <a:ext cx="1243883" cy="124321"/>
          </a:xfrm>
          <a:prstGeom prst="bentConnector2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Соединительная линия уступом 160"/>
          <p:cNvCxnSpPr>
            <a:stCxn id="54" idx="3"/>
            <a:endCxn id="81" idx="1"/>
          </p:cNvCxnSpPr>
          <p:nvPr/>
        </p:nvCxnSpPr>
        <p:spPr>
          <a:xfrm flipV="1">
            <a:off x="5257800" y="4286947"/>
            <a:ext cx="225366" cy="1300531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Соединительная линия уступом 163"/>
          <p:cNvCxnSpPr>
            <a:stCxn id="54" idx="3"/>
            <a:endCxn id="80" idx="1"/>
          </p:cNvCxnSpPr>
          <p:nvPr/>
        </p:nvCxnSpPr>
        <p:spPr>
          <a:xfrm flipV="1">
            <a:off x="5257800" y="3467867"/>
            <a:ext cx="228063" cy="2119611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Соединительная линия уступом 233"/>
          <p:cNvCxnSpPr>
            <a:stCxn id="80" idx="3"/>
            <a:endCxn id="82" idx="1"/>
          </p:cNvCxnSpPr>
          <p:nvPr/>
        </p:nvCxnSpPr>
        <p:spPr>
          <a:xfrm>
            <a:off x="7224840" y="3467867"/>
            <a:ext cx="222264" cy="419888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Соединительная линия уступом 235"/>
          <p:cNvCxnSpPr>
            <a:stCxn id="81" idx="3"/>
            <a:endCxn id="82" idx="1"/>
          </p:cNvCxnSpPr>
          <p:nvPr/>
        </p:nvCxnSpPr>
        <p:spPr>
          <a:xfrm flipV="1">
            <a:off x="7222143" y="3887755"/>
            <a:ext cx="224961" cy="399192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Соединительная линия уступом 238"/>
          <p:cNvCxnSpPr>
            <a:stCxn id="72" idx="3"/>
            <a:endCxn id="77" idx="1"/>
          </p:cNvCxnSpPr>
          <p:nvPr/>
        </p:nvCxnSpPr>
        <p:spPr>
          <a:xfrm flipV="1">
            <a:off x="4388314" y="1886944"/>
            <a:ext cx="3058789" cy="6652"/>
          </a:xfrm>
          <a:prstGeom prst="bentConnector3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Соединительная линия уступом 246"/>
          <p:cNvCxnSpPr>
            <a:stCxn id="82" idx="0"/>
            <a:endCxn id="77" idx="2"/>
          </p:cNvCxnSpPr>
          <p:nvPr/>
        </p:nvCxnSpPr>
        <p:spPr>
          <a:xfrm rot="16200000" flipV="1">
            <a:off x="7632039" y="2973354"/>
            <a:ext cx="1099315" cy="1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Соединительная линия уступом 7"/>
          <p:cNvCxnSpPr>
            <a:stCxn id="45" idx="0"/>
            <a:endCxn id="72" idx="2"/>
          </p:cNvCxnSpPr>
          <p:nvPr/>
        </p:nvCxnSpPr>
        <p:spPr>
          <a:xfrm rot="5400000" flipH="1" flipV="1">
            <a:off x="3082167" y="2947804"/>
            <a:ext cx="968226" cy="12700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Скругленный прямоугольник 311">
            <a:extLst>
              <a:ext uri="{FF2B5EF4-FFF2-40B4-BE49-F238E27FC236}">
                <a16:creationId xmlns:a16="http://schemas.microsoft.com/office/drawing/2014/main" xmlns="" id="{6B94761C-2B1A-43FF-9AEA-440BE2A8FCFD}"/>
              </a:ext>
            </a:extLst>
          </p:cNvPr>
          <p:cNvSpPr/>
          <p:nvPr/>
        </p:nvSpPr>
        <p:spPr>
          <a:xfrm rot="16200000">
            <a:off x="3646547" y="-2454625"/>
            <a:ext cx="1877880" cy="8918906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1200" b="1" dirty="0" smtClean="0">
                <a:solidFill>
                  <a:srgbClr val="595959"/>
                </a:solidFill>
                <a:cs typeface="Arial" panose="020B0604020202020204" pitchFamily="34" charset="0"/>
              </a:rPr>
              <a:t>Инициатор заявки НСИ</a:t>
            </a:r>
            <a:endParaRPr lang="ru-RU" sz="1200" b="1" dirty="0">
              <a:solidFill>
                <a:srgbClr val="595959"/>
              </a:solidFill>
              <a:cs typeface="Arial" panose="020B0604020202020204" pitchFamily="34" charset="0"/>
            </a:endParaRPr>
          </a:p>
        </p:txBody>
      </p:sp>
      <p:sp>
        <p:nvSpPr>
          <p:cNvPr id="34" name="Скругленный прямоугольник 311">
            <a:extLst>
              <a:ext uri="{FF2B5EF4-FFF2-40B4-BE49-F238E27FC236}">
                <a16:creationId xmlns:a16="http://schemas.microsoft.com/office/drawing/2014/main" xmlns="" id="{6B94761C-2B1A-43FF-9AEA-440BE2A8FCFD}"/>
              </a:ext>
            </a:extLst>
          </p:cNvPr>
          <p:cNvSpPr/>
          <p:nvPr/>
        </p:nvSpPr>
        <p:spPr>
          <a:xfrm rot="16200000">
            <a:off x="3723644" y="-533914"/>
            <a:ext cx="1723690" cy="8918902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1200" b="1" dirty="0" smtClean="0">
                <a:solidFill>
                  <a:srgbClr val="595959"/>
                </a:solidFill>
                <a:cs typeface="Arial" panose="020B0604020202020204" pitchFamily="34" charset="0"/>
              </a:rPr>
              <a:t>Технический специалист НСИ</a:t>
            </a:r>
            <a:endParaRPr lang="ru-RU" sz="1200" b="1" dirty="0">
              <a:solidFill>
                <a:srgbClr val="595959"/>
              </a:solidFill>
              <a:cs typeface="Arial" panose="020B0604020202020204" pitchFamily="34" charset="0"/>
            </a:endParaRPr>
          </a:p>
        </p:txBody>
      </p:sp>
      <p:sp>
        <p:nvSpPr>
          <p:cNvPr id="35" name="Скругленный прямоугольник 311">
            <a:extLst>
              <a:ext uri="{FF2B5EF4-FFF2-40B4-BE49-F238E27FC236}">
                <a16:creationId xmlns:a16="http://schemas.microsoft.com/office/drawing/2014/main" xmlns="" id="{6B94761C-2B1A-43FF-9AEA-440BE2A8FCFD}"/>
              </a:ext>
            </a:extLst>
          </p:cNvPr>
          <p:cNvSpPr/>
          <p:nvPr/>
        </p:nvSpPr>
        <p:spPr>
          <a:xfrm rot="16200000">
            <a:off x="3780625" y="1205392"/>
            <a:ext cx="1609725" cy="8918904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1200" b="1" dirty="0" smtClean="0">
                <a:solidFill>
                  <a:srgbClr val="595959"/>
                </a:solidFill>
                <a:cs typeface="Arial" panose="020B0604020202020204" pitchFamily="34" charset="0"/>
              </a:rPr>
              <a:t>Методолог </a:t>
            </a:r>
            <a:r>
              <a:rPr lang="ru-RU" sz="1200" b="1" dirty="0" err="1" smtClean="0">
                <a:solidFill>
                  <a:srgbClr val="595959"/>
                </a:solidFill>
                <a:cs typeface="Arial" panose="020B0604020202020204" pitchFamily="34" charset="0"/>
              </a:rPr>
              <a:t>ТОиР</a:t>
            </a:r>
            <a:endParaRPr lang="ru-RU" sz="1200" b="1" dirty="0" smtClean="0">
              <a:solidFill>
                <a:srgbClr val="595959"/>
              </a:solidFill>
              <a:cs typeface="Arial" panose="020B0604020202020204" pitchFamily="34" charset="0"/>
            </a:endParaRPr>
          </a:p>
          <a:p>
            <a:pPr algn="ctr"/>
            <a:r>
              <a:rPr lang="ru-RU" sz="1200" b="1" dirty="0" smtClean="0">
                <a:solidFill>
                  <a:srgbClr val="595959"/>
                </a:solidFill>
                <a:cs typeface="Arial" panose="020B0604020202020204" pitchFamily="34" charset="0"/>
              </a:rPr>
              <a:t>(Централизованный)</a:t>
            </a:r>
            <a:endParaRPr lang="ru-RU" sz="1200" b="1" dirty="0">
              <a:solidFill>
                <a:srgbClr val="595959"/>
              </a:solidFill>
              <a:cs typeface="Arial" panose="020B0604020202020204" pitchFamily="34" charset="0"/>
            </a:endParaRPr>
          </a:p>
        </p:txBody>
      </p:sp>
      <p:sp>
        <p:nvSpPr>
          <p:cNvPr id="36" name="Скругленный прямоугольник 35"/>
          <p:cNvSpPr/>
          <p:nvPr/>
        </p:nvSpPr>
        <p:spPr>
          <a:xfrm>
            <a:off x="615573" y="1512020"/>
            <a:ext cx="1738977" cy="911677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bg1"/>
                </a:solidFill>
                <a:cs typeface="Arial" panose="020B0604020202020204" pitchFamily="34" charset="0"/>
              </a:rPr>
              <a:t>Создание заявки НСИ</a:t>
            </a:r>
          </a:p>
        </p:txBody>
      </p:sp>
      <p:sp>
        <p:nvSpPr>
          <p:cNvPr id="37" name="Скругленный прямоугольник 36"/>
          <p:cNvSpPr/>
          <p:nvPr/>
        </p:nvSpPr>
        <p:spPr>
          <a:xfrm>
            <a:off x="615573" y="3431918"/>
            <a:ext cx="1683033" cy="911677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bg1"/>
                </a:solidFill>
                <a:cs typeface="Arial" panose="020B0604020202020204" pitchFamily="34" charset="0"/>
              </a:rPr>
              <a:t>Проверка на достаточность данных в заявке и созданных </a:t>
            </a:r>
            <a:r>
              <a:rPr lang="ru-RU" sz="1200" dirty="0" smtClean="0">
                <a:solidFill>
                  <a:schemeClr val="bg1"/>
                </a:solidFill>
                <a:cs typeface="Arial" panose="020B0604020202020204" pitchFamily="34" charset="0"/>
              </a:rPr>
              <a:t>каталогов кодов </a:t>
            </a:r>
            <a:r>
              <a:rPr lang="ru-RU" sz="1200" dirty="0">
                <a:solidFill>
                  <a:schemeClr val="bg1"/>
                </a:solidFill>
                <a:cs typeface="Arial" panose="020B0604020202020204" pitchFamily="34" charset="0"/>
              </a:rPr>
              <a:t>в </a:t>
            </a:r>
            <a:r>
              <a:rPr lang="en-US" sz="1200" dirty="0">
                <a:solidFill>
                  <a:schemeClr val="bg1"/>
                </a:solidFill>
                <a:cs typeface="Arial" panose="020B0604020202020204" pitchFamily="34" charset="0"/>
              </a:rPr>
              <a:t>S4</a:t>
            </a:r>
            <a:r>
              <a:rPr lang="ru-RU" sz="1200" dirty="0">
                <a:solidFill>
                  <a:schemeClr val="bg1"/>
                </a:solidFill>
                <a:cs typeface="Arial" panose="020B0604020202020204" pitchFamily="34" charset="0"/>
              </a:rPr>
              <a:t>/</a:t>
            </a:r>
            <a:r>
              <a:rPr lang="en-US" sz="1200" dirty="0">
                <a:solidFill>
                  <a:schemeClr val="bg1"/>
                </a:solidFill>
                <a:cs typeface="Arial" panose="020B0604020202020204" pitchFamily="34" charset="0"/>
              </a:rPr>
              <a:t>HANA</a:t>
            </a:r>
            <a:endParaRPr lang="ru-RU" sz="12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45" name="Скругленный прямоугольник 44"/>
          <p:cNvSpPr/>
          <p:nvPr/>
        </p:nvSpPr>
        <p:spPr>
          <a:xfrm>
            <a:off x="2744246" y="3431917"/>
            <a:ext cx="1644067" cy="911677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cs typeface="Arial" panose="020B0604020202020204" pitchFamily="34" charset="0"/>
              </a:rPr>
              <a:t>Согласование наряда Техническим специалистом НСИ</a:t>
            </a:r>
          </a:p>
        </p:txBody>
      </p:sp>
      <p:sp>
        <p:nvSpPr>
          <p:cNvPr id="54" name="Скругленный прямоугольник 53"/>
          <p:cNvSpPr/>
          <p:nvPr/>
        </p:nvSpPr>
        <p:spPr>
          <a:xfrm>
            <a:off x="3767467" y="5131639"/>
            <a:ext cx="1490333" cy="911677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cs typeface="Arial" panose="020B0604020202020204" pitchFamily="34" charset="0"/>
              </a:rPr>
              <a:t>Согласование наряда Методологом </a:t>
            </a:r>
          </a:p>
        </p:txBody>
      </p:sp>
      <p:sp>
        <p:nvSpPr>
          <p:cNvPr id="72" name="Скругленный прямоугольник 71"/>
          <p:cNvSpPr/>
          <p:nvPr/>
        </p:nvSpPr>
        <p:spPr>
          <a:xfrm>
            <a:off x="2744246" y="1323501"/>
            <a:ext cx="1644068" cy="1140190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bg1"/>
                </a:solidFill>
                <a:cs typeface="Arial" panose="020B0604020202020204" pitchFamily="34" charset="0"/>
              </a:rPr>
              <a:t>Проверка заявки на ошибки и возможное дублирование каталогов кодов в </a:t>
            </a:r>
            <a:r>
              <a:rPr lang="en-US" sz="1200" dirty="0">
                <a:solidFill>
                  <a:schemeClr val="bg1"/>
                </a:solidFill>
                <a:cs typeface="Arial" panose="020B0604020202020204" pitchFamily="34" charset="0"/>
              </a:rPr>
              <a:t>S4</a:t>
            </a:r>
            <a:r>
              <a:rPr lang="ru-RU" sz="1200" dirty="0">
                <a:solidFill>
                  <a:schemeClr val="bg1"/>
                </a:solidFill>
                <a:cs typeface="Arial" panose="020B0604020202020204" pitchFamily="34" charset="0"/>
              </a:rPr>
              <a:t>/</a:t>
            </a:r>
            <a:r>
              <a:rPr lang="en-US" sz="1200" dirty="0">
                <a:solidFill>
                  <a:schemeClr val="bg1"/>
                </a:solidFill>
                <a:cs typeface="Arial" panose="020B0604020202020204" pitchFamily="34" charset="0"/>
              </a:rPr>
              <a:t>HANA</a:t>
            </a:r>
            <a:endParaRPr lang="ru-RU" sz="12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77" name="Скругленный прямоугольник 76"/>
          <p:cNvSpPr/>
          <p:nvPr/>
        </p:nvSpPr>
        <p:spPr>
          <a:xfrm>
            <a:off x="7447103" y="1350190"/>
            <a:ext cx="1469183" cy="1073507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bg1"/>
                </a:solidFill>
                <a:cs typeface="Arial" panose="020B0604020202020204" pitchFamily="34" charset="0"/>
              </a:rPr>
              <a:t>Проверка и подтверждение выполнения заявки </a:t>
            </a:r>
          </a:p>
        </p:txBody>
      </p:sp>
      <p:sp>
        <p:nvSpPr>
          <p:cNvPr id="80" name="Скругленный прямоугольник 79"/>
          <p:cNvSpPr/>
          <p:nvPr/>
        </p:nvSpPr>
        <p:spPr>
          <a:xfrm>
            <a:off x="5485863" y="3245116"/>
            <a:ext cx="1738977" cy="445501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200" dirty="0">
                <a:cs typeface="Arial" panose="020B0604020202020204" pitchFamily="34" charset="0"/>
              </a:rPr>
              <a:t>Создание каталога кодов</a:t>
            </a:r>
          </a:p>
        </p:txBody>
      </p:sp>
      <p:sp>
        <p:nvSpPr>
          <p:cNvPr id="81" name="Скругленный прямоугольник 80"/>
          <p:cNvSpPr/>
          <p:nvPr/>
        </p:nvSpPr>
        <p:spPr>
          <a:xfrm>
            <a:off x="5483166" y="4064196"/>
            <a:ext cx="1738977" cy="445501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200" dirty="0">
                <a:cs typeface="Arial" panose="020B0604020202020204" pitchFamily="34" charset="0"/>
              </a:rPr>
              <a:t>Изменение каталога дефектов</a:t>
            </a:r>
          </a:p>
        </p:txBody>
      </p:sp>
      <p:sp>
        <p:nvSpPr>
          <p:cNvPr id="82" name="Скругленный прямоугольник 81"/>
          <p:cNvSpPr/>
          <p:nvPr/>
        </p:nvSpPr>
        <p:spPr>
          <a:xfrm>
            <a:off x="7447104" y="3523012"/>
            <a:ext cx="1469183" cy="729486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cs typeface="Arial" panose="020B0604020202020204" pitchFamily="34" charset="0"/>
              </a:rPr>
              <a:t>Оповещение инициатора о выполнении заявки НСИ</a:t>
            </a:r>
          </a:p>
        </p:txBody>
      </p:sp>
    </p:spTree>
    <p:extLst>
      <p:ext uri="{BB962C8B-B14F-4D97-AF65-F5344CB8AC3E}">
        <p14:creationId xmlns:p14="http://schemas.microsoft.com/office/powerpoint/2010/main" val="1597668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 smtClean="0"/>
              <a:t>Описание </a:t>
            </a:r>
            <a:r>
              <a:rPr lang="ru-RU" sz="2000" dirty="0"/>
              <a:t>шага «Проверка на достаточность данных в </a:t>
            </a:r>
            <a:r>
              <a:rPr lang="ru-RU" sz="2000" dirty="0" smtClean="0"/>
              <a:t>заявке НСИ»</a:t>
            </a:r>
            <a:endParaRPr lang="ru-RU"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487680" y="1181100"/>
            <a:ext cx="8122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Данный шаг выполняется после получения заявки НСИ в формате </a:t>
            </a:r>
            <a:r>
              <a:rPr lang="en-US" dirty="0" smtClean="0"/>
              <a:t>Excel</a:t>
            </a:r>
            <a:r>
              <a:rPr lang="ru-RU" dirty="0" smtClean="0"/>
              <a:t> файла</a:t>
            </a:r>
            <a:endParaRPr lang="ru-RU" dirty="0"/>
          </a:p>
        </p:txBody>
      </p:sp>
      <p:grpSp>
        <p:nvGrpSpPr>
          <p:cNvPr id="5" name="Группа 4"/>
          <p:cNvGrpSpPr/>
          <p:nvPr/>
        </p:nvGrpSpPr>
        <p:grpSpPr>
          <a:xfrm>
            <a:off x="3439402" y="2157783"/>
            <a:ext cx="2496314" cy="2319786"/>
            <a:chOff x="2311907" y="846559"/>
            <a:chExt cx="1343033" cy="992604"/>
          </a:xfrm>
        </p:grpSpPr>
        <p:sp>
          <p:nvSpPr>
            <p:cNvPr id="6" name="Скругленный прямоугольник 5"/>
            <p:cNvSpPr/>
            <p:nvPr/>
          </p:nvSpPr>
          <p:spPr>
            <a:xfrm>
              <a:off x="2311907" y="846559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 smtClean="0">
                  <a:solidFill>
                    <a:schemeClr val="bg1"/>
                  </a:solidFill>
                </a:rPr>
                <a:t>Проверяются данные в заявке НСИ и анализируются ранее созданные коды и группы кодов</a:t>
              </a:r>
              <a:endParaRPr lang="ru-RU" sz="1600" kern="12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8" name="Прямая со стрелкой 7"/>
          <p:cNvCxnSpPr>
            <a:endCxn id="6" idx="1"/>
          </p:cNvCxnSpPr>
          <p:nvPr/>
        </p:nvCxnSpPr>
        <p:spPr>
          <a:xfrm>
            <a:off x="1195644" y="3317674"/>
            <a:ext cx="2243759" cy="1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 стрелкой 8"/>
          <p:cNvCxnSpPr>
            <a:stCxn id="6" idx="3"/>
          </p:cNvCxnSpPr>
          <p:nvPr/>
        </p:nvCxnSpPr>
        <p:spPr>
          <a:xfrm>
            <a:off x="5935717" y="3317675"/>
            <a:ext cx="1928243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62494" y="4613456"/>
            <a:ext cx="812292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/>
              <a:t>Если в заявке НСИ указано недостаточно данных для создания/изменения кодов (группы кодов) или код (группа кодов) уже была создана ранее, то данные позиции заявки отклоняются. В случае, если данные в заявке НСИ указаны корректно, то Технический специалист НСИ отправляет на согласование Методологу </a:t>
            </a:r>
            <a:r>
              <a:rPr lang="ru-RU" sz="1600" dirty="0" err="1" smtClean="0"/>
              <a:t>ТОиР</a:t>
            </a:r>
            <a:r>
              <a:rPr lang="ru-RU" sz="1600" dirty="0" smtClean="0"/>
              <a:t>. В случае если заявка была отклонена Методологом </a:t>
            </a:r>
            <a:r>
              <a:rPr lang="ru-RU" sz="1600" dirty="0" err="1" smtClean="0"/>
              <a:t>ТОиР</a:t>
            </a:r>
            <a:r>
              <a:rPr lang="ru-RU" sz="1600" dirty="0" smtClean="0"/>
              <a:t>, Технический специалист НСИ возвращает заявку Инициатору на д</a:t>
            </a:r>
            <a:r>
              <a:rPr lang="ru-RU" sz="1600" dirty="0"/>
              <a:t>оработку. Подробно процесс </a:t>
            </a:r>
            <a:r>
              <a:rPr lang="ru-RU" sz="1600" dirty="0" smtClean="0"/>
              <a:t>работы </a:t>
            </a:r>
            <a:r>
              <a:rPr lang="en-US" sz="1600" dirty="0"/>
              <a:t>c </a:t>
            </a:r>
            <a:r>
              <a:rPr lang="ru-RU" sz="1600" dirty="0" smtClean="0"/>
              <a:t>заявками НСИ </a:t>
            </a:r>
            <a:r>
              <a:rPr lang="ru-RU" sz="1600" dirty="0"/>
              <a:t>описан в </a:t>
            </a:r>
            <a:r>
              <a:rPr lang="ru-RU" sz="1600" dirty="0">
                <a:hlinkClick r:id="rId2" action="ppaction://hlinksldjump"/>
              </a:rPr>
              <a:t>«Инструкции </a:t>
            </a:r>
            <a:r>
              <a:rPr lang="en-US" sz="1600" dirty="0" err="1">
                <a:hlinkClick r:id="rId2" action="ppaction://hlinksldjump"/>
              </a:rPr>
              <a:t>Naumen</a:t>
            </a:r>
            <a:r>
              <a:rPr lang="en-US" sz="1600" dirty="0">
                <a:hlinkClick r:id="rId2" action="ppaction://hlinksldjump"/>
              </a:rPr>
              <a:t> SD</a:t>
            </a:r>
            <a:r>
              <a:rPr lang="ru-RU" sz="1600" dirty="0">
                <a:hlinkClick r:id="rId2" action="ppaction://hlinksldjump"/>
              </a:rPr>
              <a:t>».</a:t>
            </a:r>
            <a:endParaRPr lang="ru-RU" sz="1600" dirty="0"/>
          </a:p>
          <a:p>
            <a:endParaRPr lang="ru-RU" sz="1600" dirty="0"/>
          </a:p>
        </p:txBody>
      </p:sp>
      <p:sp>
        <p:nvSpPr>
          <p:cNvPr id="16" name="TextBox 15"/>
          <p:cNvSpPr txBox="1"/>
          <p:nvPr/>
        </p:nvSpPr>
        <p:spPr>
          <a:xfrm>
            <a:off x="1380662" y="2732900"/>
            <a:ext cx="21287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/>
              <a:t>Получение заявки НСИ</a:t>
            </a:r>
            <a:endParaRPr lang="ru-RU" sz="1600" dirty="0"/>
          </a:p>
        </p:txBody>
      </p:sp>
      <p:sp>
        <p:nvSpPr>
          <p:cNvPr id="17" name="TextBox 16"/>
          <p:cNvSpPr txBox="1"/>
          <p:nvPr/>
        </p:nvSpPr>
        <p:spPr>
          <a:xfrm>
            <a:off x="5867007" y="2732900"/>
            <a:ext cx="23164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/>
              <a:t>Произведен анализ каталогов кодов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76922942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 smtClean="0"/>
              <a:t>Описание </a:t>
            </a:r>
            <a:r>
              <a:rPr lang="ru-RU" sz="2000" dirty="0"/>
              <a:t>ш</a:t>
            </a:r>
            <a:r>
              <a:rPr lang="ru-RU" sz="2000" dirty="0" smtClean="0"/>
              <a:t>ага «Согласование заявки НСИ Методологом»</a:t>
            </a:r>
            <a:endParaRPr lang="ru-RU" sz="2000" dirty="0"/>
          </a:p>
        </p:txBody>
      </p:sp>
      <p:sp>
        <p:nvSpPr>
          <p:cNvPr id="5" name="TextBox 4"/>
          <p:cNvSpPr txBox="1"/>
          <p:nvPr/>
        </p:nvSpPr>
        <p:spPr>
          <a:xfrm>
            <a:off x="822960" y="1122218"/>
            <a:ext cx="73644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Данный шаг выполняется после проведения проверки заявки НСИ Техническим специалистом НСИ </a:t>
            </a:r>
          </a:p>
          <a:p>
            <a:endParaRPr lang="ru-RU" dirty="0"/>
          </a:p>
        </p:txBody>
      </p:sp>
      <p:grpSp>
        <p:nvGrpSpPr>
          <p:cNvPr id="6" name="Группа 5"/>
          <p:cNvGrpSpPr/>
          <p:nvPr/>
        </p:nvGrpSpPr>
        <p:grpSpPr>
          <a:xfrm>
            <a:off x="3439402" y="2157783"/>
            <a:ext cx="2496314" cy="2319786"/>
            <a:chOff x="2311907" y="846559"/>
            <a:chExt cx="1343033" cy="992604"/>
          </a:xfrm>
        </p:grpSpPr>
        <p:sp>
          <p:nvSpPr>
            <p:cNvPr id="7" name="Скругленный прямоугольник 6"/>
            <p:cNvSpPr/>
            <p:nvPr/>
          </p:nvSpPr>
          <p:spPr>
            <a:xfrm>
              <a:off x="2311907" y="846559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8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 smtClean="0">
                  <a:solidFill>
                    <a:schemeClr val="bg1"/>
                  </a:solidFill>
                </a:rPr>
                <a:t>Проверяются данные в заявке НСИ и анализируются ранее созданные коды и группы кодов</a:t>
              </a:r>
              <a:endParaRPr lang="ru-RU" sz="1600" kern="1200" dirty="0">
                <a:solidFill>
                  <a:schemeClr val="bg1"/>
                </a:solidFill>
              </a:endParaRP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473825" y="4605251"/>
            <a:ext cx="810491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Методолог </a:t>
            </a:r>
            <a:r>
              <a:rPr lang="ru-RU" dirty="0" err="1" smtClean="0"/>
              <a:t>ТОиР</a:t>
            </a:r>
            <a:r>
              <a:rPr lang="ru-RU" dirty="0" smtClean="0"/>
              <a:t> просматривает коды и группы кодов  и определяет необходимость создания новых кодов/групп кодов. В случае согласования Методологом </a:t>
            </a:r>
            <a:r>
              <a:rPr lang="ru-RU" dirty="0" err="1" smtClean="0"/>
              <a:t>ТОиР</a:t>
            </a:r>
            <a:r>
              <a:rPr lang="ru-RU" dirty="0" smtClean="0"/>
              <a:t> заявки НСИ, заявка отправляется Техническому специалисту для внесения изменений. Если заявка НСИ отклоняется Методологом, заявка с комментариями возвращается Техническому специалисту НСИ, для отправки Инициатору. </a:t>
            </a:r>
            <a:r>
              <a:rPr lang="ru-RU" dirty="0"/>
              <a:t>Подробно процесс </a:t>
            </a:r>
            <a:r>
              <a:rPr lang="ru-RU" dirty="0" smtClean="0"/>
              <a:t>работы </a:t>
            </a:r>
            <a:r>
              <a:rPr lang="en-US" dirty="0"/>
              <a:t>c </a:t>
            </a:r>
            <a:r>
              <a:rPr lang="ru-RU" dirty="0" smtClean="0"/>
              <a:t>заявками НСИ </a:t>
            </a:r>
            <a:r>
              <a:rPr lang="ru-RU" dirty="0"/>
              <a:t>описан в </a:t>
            </a:r>
            <a:r>
              <a:rPr lang="ru-RU" dirty="0">
                <a:hlinkClick r:id="rId2" action="ppaction://hlinksldjump"/>
              </a:rPr>
              <a:t>«Инструкции </a:t>
            </a:r>
            <a:r>
              <a:rPr lang="en-US" dirty="0" err="1">
                <a:hlinkClick r:id="rId2" action="ppaction://hlinksldjump"/>
              </a:rPr>
              <a:t>Naumen</a:t>
            </a:r>
            <a:r>
              <a:rPr lang="en-US" dirty="0">
                <a:hlinkClick r:id="rId2" action="ppaction://hlinksldjump"/>
              </a:rPr>
              <a:t> SD</a:t>
            </a:r>
            <a:r>
              <a:rPr lang="ru-RU" dirty="0">
                <a:hlinkClick r:id="rId2" action="ppaction://hlinksldjump"/>
              </a:rPr>
              <a:t>».</a:t>
            </a:r>
            <a:endParaRPr lang="ru-RU" dirty="0"/>
          </a:p>
          <a:p>
            <a:endParaRPr lang="ru-RU" dirty="0"/>
          </a:p>
        </p:txBody>
      </p:sp>
      <p:cxnSp>
        <p:nvCxnSpPr>
          <p:cNvPr id="10" name="Прямая со стрелкой 9"/>
          <p:cNvCxnSpPr>
            <a:stCxn id="7" idx="3"/>
          </p:cNvCxnSpPr>
          <p:nvPr/>
        </p:nvCxnSpPr>
        <p:spPr>
          <a:xfrm>
            <a:off x="5935716" y="3317676"/>
            <a:ext cx="1739568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 стрелкой 10"/>
          <p:cNvCxnSpPr>
            <a:endCxn id="7" idx="1"/>
          </p:cNvCxnSpPr>
          <p:nvPr/>
        </p:nvCxnSpPr>
        <p:spPr>
          <a:xfrm>
            <a:off x="1286947" y="3317676"/>
            <a:ext cx="2152455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378274" y="2579012"/>
            <a:ext cx="189530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/>
              <a:t>Заявка проверена Техническим специалистом НСИ</a:t>
            </a:r>
            <a:endParaRPr lang="ru-RU" sz="1400" dirty="0"/>
          </a:p>
        </p:txBody>
      </p:sp>
      <p:sp>
        <p:nvSpPr>
          <p:cNvPr id="19" name="TextBox 18"/>
          <p:cNvSpPr txBox="1"/>
          <p:nvPr/>
        </p:nvSpPr>
        <p:spPr>
          <a:xfrm>
            <a:off x="5996113" y="2579012"/>
            <a:ext cx="167917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/>
              <a:t>Заявка согласована/ заявка отклонена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22487388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 smtClean="0"/>
              <a:t>Описание шага «Создание/изменение кодов/групп кодов» </a:t>
            </a:r>
          </a:p>
          <a:p>
            <a:endParaRPr lang="ru-RU" dirty="0"/>
          </a:p>
        </p:txBody>
      </p:sp>
      <p:sp>
        <p:nvSpPr>
          <p:cNvPr id="4" name="Скругленный прямоугольник 3"/>
          <p:cNvSpPr/>
          <p:nvPr/>
        </p:nvSpPr>
        <p:spPr>
          <a:xfrm>
            <a:off x="3239316" y="2588618"/>
            <a:ext cx="2496314" cy="2319786"/>
          </a:xfrm>
          <a:prstGeom prst="roundRect">
            <a:avLst>
              <a:gd name="adj" fmla="val 10000"/>
            </a:avLst>
          </a:prstGeom>
          <a:solidFill>
            <a:srgbClr val="FCC917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5" name="TextBox 4"/>
          <p:cNvSpPr txBox="1"/>
          <p:nvPr/>
        </p:nvSpPr>
        <p:spPr>
          <a:xfrm>
            <a:off x="3239316" y="2591554"/>
            <a:ext cx="2496314" cy="2219602"/>
          </a:xfrm>
          <a:prstGeom prst="rect">
            <a:avLst/>
          </a:prstGeom>
          <a:noFill/>
        </p:spPr>
        <p:txBody>
          <a:bodyPr wrap="square" lIns="108000" rIns="72000" rtlCol="0" anchor="ctr" anchorCtr="0">
            <a:noAutofit/>
          </a:bodyPr>
          <a:lstStyle/>
          <a:p>
            <a:pPr algn="ctr"/>
            <a:r>
              <a:rPr lang="ru-RU" dirty="0" smtClean="0">
                <a:solidFill>
                  <a:schemeClr val="bg1"/>
                </a:solidFill>
              </a:rPr>
              <a:t>Создание/изменение кодов/групп кодов</a:t>
            </a:r>
            <a:endParaRPr lang="ru-RU" dirty="0">
              <a:solidFill>
                <a:schemeClr val="bg1"/>
              </a:solidFill>
            </a:endParaRPr>
          </a:p>
        </p:txBody>
      </p:sp>
      <p:cxnSp>
        <p:nvCxnSpPr>
          <p:cNvPr id="6" name="Прямая со стрелкой 5"/>
          <p:cNvCxnSpPr>
            <a:endCxn id="4" idx="1"/>
          </p:cNvCxnSpPr>
          <p:nvPr/>
        </p:nvCxnSpPr>
        <p:spPr>
          <a:xfrm>
            <a:off x="1379220" y="3748511"/>
            <a:ext cx="18600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 стрелкой 6"/>
          <p:cNvCxnSpPr>
            <a:stCxn id="5" idx="3"/>
          </p:cNvCxnSpPr>
          <p:nvPr/>
        </p:nvCxnSpPr>
        <p:spPr>
          <a:xfrm>
            <a:off x="5735630" y="3701355"/>
            <a:ext cx="1930090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485961" y="2948291"/>
            <a:ext cx="164661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/>
              <a:t> </a:t>
            </a:r>
            <a:r>
              <a:rPr lang="ru-RU" sz="1400" dirty="0" smtClean="0"/>
              <a:t>Заявка НСИ согласована Методологом НСИ</a:t>
            </a:r>
            <a:endParaRPr lang="ru-RU" sz="1400" dirty="0"/>
          </a:p>
        </p:txBody>
      </p:sp>
      <p:sp>
        <p:nvSpPr>
          <p:cNvPr id="14" name="TextBox 13"/>
          <p:cNvSpPr txBox="1"/>
          <p:nvPr/>
        </p:nvSpPr>
        <p:spPr>
          <a:xfrm>
            <a:off x="5735630" y="3161783"/>
            <a:ext cx="20040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/>
              <a:t>Коды/группы кодов созданы/изменены </a:t>
            </a:r>
            <a:endParaRPr lang="ru-RU" sz="1400" dirty="0"/>
          </a:p>
        </p:txBody>
      </p:sp>
      <p:sp>
        <p:nvSpPr>
          <p:cNvPr id="15" name="TextBox 14"/>
          <p:cNvSpPr txBox="1"/>
          <p:nvPr/>
        </p:nvSpPr>
        <p:spPr>
          <a:xfrm>
            <a:off x="1474470" y="1210503"/>
            <a:ext cx="6568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Данный шаг выполняется после согласования заявки НСИ Методологом </a:t>
            </a:r>
            <a:r>
              <a:rPr lang="ru-RU" dirty="0" err="1" smtClean="0"/>
              <a:t>ТОиР</a:t>
            </a:r>
            <a:endParaRPr lang="ru-RU" dirty="0"/>
          </a:p>
        </p:txBody>
      </p:sp>
      <p:sp>
        <p:nvSpPr>
          <p:cNvPr id="16" name="TextBox 15"/>
          <p:cNvSpPr txBox="1"/>
          <p:nvPr/>
        </p:nvSpPr>
        <p:spPr>
          <a:xfrm>
            <a:off x="631767" y="5212080"/>
            <a:ext cx="801693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После</a:t>
            </a:r>
            <a:r>
              <a:rPr lang="en-US" dirty="0" smtClean="0"/>
              <a:t> </a:t>
            </a:r>
            <a:r>
              <a:rPr lang="ru-RU" dirty="0" smtClean="0"/>
              <a:t>после внесения изменений в </a:t>
            </a:r>
            <a:r>
              <a:rPr lang="en-US" dirty="0" smtClean="0"/>
              <a:t>SAP</a:t>
            </a:r>
            <a:r>
              <a:rPr lang="ru-RU" dirty="0" smtClean="0"/>
              <a:t>, Технический специалист НСИ устанавливает статус заявки «Выполнено» (вне системный шаг), после чего информирует Инициатора заявки НСИ по почте о внесении изменений в </a:t>
            </a:r>
            <a:r>
              <a:rPr lang="en-US" dirty="0" smtClean="0"/>
              <a:t>SAP</a:t>
            </a:r>
            <a:r>
              <a:rPr lang="ru-RU" dirty="0" smtClean="0"/>
              <a:t>. </a:t>
            </a:r>
            <a:r>
              <a:rPr lang="ru-RU" dirty="0"/>
              <a:t>Подробно процесс </a:t>
            </a:r>
            <a:r>
              <a:rPr lang="ru-RU" dirty="0" smtClean="0"/>
              <a:t>работы </a:t>
            </a:r>
            <a:r>
              <a:rPr lang="en-US" dirty="0"/>
              <a:t>c </a:t>
            </a:r>
            <a:r>
              <a:rPr lang="ru-RU" dirty="0" smtClean="0"/>
              <a:t>заявками НСИ </a:t>
            </a:r>
            <a:r>
              <a:rPr lang="ru-RU" dirty="0"/>
              <a:t>описан в </a:t>
            </a:r>
            <a:r>
              <a:rPr lang="ru-RU" dirty="0">
                <a:hlinkClick r:id="rId2" action="ppaction://hlinksldjump"/>
              </a:rPr>
              <a:t>«Инструкции </a:t>
            </a:r>
            <a:r>
              <a:rPr lang="en-US" dirty="0" err="1">
                <a:hlinkClick r:id="rId2" action="ppaction://hlinksldjump"/>
              </a:rPr>
              <a:t>Naumen</a:t>
            </a:r>
            <a:r>
              <a:rPr lang="en-US" dirty="0">
                <a:hlinkClick r:id="rId2" action="ppaction://hlinksldjump"/>
              </a:rPr>
              <a:t> SD</a:t>
            </a:r>
            <a:r>
              <a:rPr lang="ru-RU" dirty="0">
                <a:hlinkClick r:id="rId2" action="ppaction://hlinksldjump"/>
              </a:rPr>
              <a:t>».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7414375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dirty="0" smtClean="0"/>
              <a:t>Описание шага «Проверка заявки НСИ на ошибки»</a:t>
            </a:r>
            <a:endParaRPr lang="ru-RU" dirty="0"/>
          </a:p>
        </p:txBody>
      </p:sp>
      <p:sp>
        <p:nvSpPr>
          <p:cNvPr id="2" name="TextBox 1"/>
          <p:cNvSpPr txBox="1"/>
          <p:nvPr/>
        </p:nvSpPr>
        <p:spPr>
          <a:xfrm>
            <a:off x="1005840" y="1263535"/>
            <a:ext cx="72902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Данный шаг выполняется после получения отклоненной заявки Техническим специалистом НСИ с комментариями.</a:t>
            </a:r>
            <a:endParaRPr lang="ru-RU" dirty="0"/>
          </a:p>
        </p:txBody>
      </p:sp>
      <p:sp>
        <p:nvSpPr>
          <p:cNvPr id="4" name="Скругленный прямоугольник 3"/>
          <p:cNvSpPr/>
          <p:nvPr/>
        </p:nvSpPr>
        <p:spPr>
          <a:xfrm>
            <a:off x="3290730" y="2169265"/>
            <a:ext cx="2496314" cy="2319786"/>
          </a:xfrm>
          <a:prstGeom prst="roundRect">
            <a:avLst>
              <a:gd name="adj" fmla="val 10000"/>
            </a:avLst>
          </a:prstGeom>
          <a:solidFill>
            <a:srgbClr val="FCC917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cxnSp>
        <p:nvCxnSpPr>
          <p:cNvPr id="5" name="Прямая со стрелкой 4"/>
          <p:cNvCxnSpPr>
            <a:endCxn id="8" idx="1"/>
          </p:cNvCxnSpPr>
          <p:nvPr/>
        </p:nvCxnSpPr>
        <p:spPr>
          <a:xfrm>
            <a:off x="1388168" y="3327610"/>
            <a:ext cx="1902562" cy="1548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Прямая со стрелкой 5"/>
          <p:cNvCxnSpPr>
            <a:stCxn id="8" idx="3"/>
          </p:cNvCxnSpPr>
          <p:nvPr/>
        </p:nvCxnSpPr>
        <p:spPr>
          <a:xfrm flipV="1">
            <a:off x="5785658" y="3327610"/>
            <a:ext cx="1931476" cy="1548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290730" y="2169265"/>
            <a:ext cx="2494928" cy="2319786"/>
          </a:xfrm>
          <a:prstGeom prst="rect">
            <a:avLst/>
          </a:prstGeom>
          <a:noFill/>
        </p:spPr>
        <p:txBody>
          <a:bodyPr wrap="square" rtlCol="0" anchor="ctr" anchorCtr="1">
            <a:noAutofit/>
          </a:bodyPr>
          <a:lstStyle/>
          <a:p>
            <a:pPr algn="ctr"/>
            <a:r>
              <a:rPr lang="ru-RU" dirty="0" smtClean="0">
                <a:solidFill>
                  <a:schemeClr val="bg1"/>
                </a:solidFill>
              </a:rPr>
              <a:t>Анализ отклоненной заявки НСИ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413875" y="2506148"/>
            <a:ext cx="179973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 smtClean="0"/>
              <a:t>Получение отклоненной заявки НСИ</a:t>
            </a:r>
            <a:endParaRPr lang="ru-RU" sz="1400" dirty="0"/>
          </a:p>
        </p:txBody>
      </p:sp>
      <p:sp>
        <p:nvSpPr>
          <p:cNvPr id="10" name="TextBox 9"/>
          <p:cNvSpPr txBox="1"/>
          <p:nvPr/>
        </p:nvSpPr>
        <p:spPr>
          <a:xfrm>
            <a:off x="5838458" y="2613870"/>
            <a:ext cx="18786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/>
              <a:t>Анализ произведен, ошибки исправлены</a:t>
            </a:r>
            <a:endParaRPr lang="ru-RU" sz="1400" dirty="0"/>
          </a:p>
        </p:txBody>
      </p:sp>
      <p:sp>
        <p:nvSpPr>
          <p:cNvPr id="11" name="TextBox 10"/>
          <p:cNvSpPr txBox="1"/>
          <p:nvPr/>
        </p:nvSpPr>
        <p:spPr>
          <a:xfrm>
            <a:off x="606829" y="4746902"/>
            <a:ext cx="808828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Если заявка была отклонена по причине ошибки или недостаточности данных, то Инициатор корректирует заявку и направляет в службу НСИ заявку повторно. Если заявку отклонили по причине того, что код или группа кодов уже были созданы ранее, то Инициатор просматривает  каталог кодов и убеждается в этом, после чего переходит к следующему шагу. </a:t>
            </a:r>
            <a:r>
              <a:rPr lang="ru-RU" dirty="0"/>
              <a:t>Подробно процесс </a:t>
            </a:r>
            <a:r>
              <a:rPr lang="ru-RU" dirty="0" smtClean="0"/>
              <a:t>работы </a:t>
            </a:r>
            <a:r>
              <a:rPr lang="en-US" dirty="0"/>
              <a:t>c </a:t>
            </a:r>
            <a:r>
              <a:rPr lang="ru-RU" dirty="0" smtClean="0"/>
              <a:t>заявками НСИ </a:t>
            </a:r>
            <a:r>
              <a:rPr lang="ru-RU" dirty="0"/>
              <a:t>описан в </a:t>
            </a:r>
            <a:r>
              <a:rPr lang="ru-RU" dirty="0">
                <a:hlinkClick r:id="rId2" action="ppaction://hlinksldjump"/>
              </a:rPr>
              <a:t>«Инструкции </a:t>
            </a:r>
            <a:r>
              <a:rPr lang="en-US" dirty="0" err="1">
                <a:hlinkClick r:id="rId2" action="ppaction://hlinksldjump"/>
              </a:rPr>
              <a:t>Naumen</a:t>
            </a:r>
            <a:r>
              <a:rPr lang="en-US" dirty="0">
                <a:hlinkClick r:id="rId2" action="ppaction://hlinksldjump"/>
              </a:rPr>
              <a:t> SD</a:t>
            </a:r>
            <a:r>
              <a:rPr lang="ru-RU" dirty="0" smtClean="0">
                <a:hlinkClick r:id="rId2" action="ppaction://hlinksldjump"/>
              </a:rPr>
              <a:t>».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3648588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 smtClean="0"/>
              <a:t>Описание шага «Подтверждение выполнения заявки НСИ»</a:t>
            </a:r>
            <a:endParaRPr lang="ru-RU"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586047" y="996716"/>
            <a:ext cx="80051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Данный шаг выполняется в следующих случаях: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После уведомления Инициатора заявки НСИ о выполнении заявки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В случае обнаружения в отклоненной заявке ранее созданных кодов/групп кодов</a:t>
            </a:r>
            <a:endParaRPr lang="ru-RU" dirty="0"/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3239315" y="2121001"/>
            <a:ext cx="2496314" cy="2319786"/>
          </a:xfrm>
          <a:prstGeom prst="roundRect">
            <a:avLst>
              <a:gd name="adj" fmla="val 10000"/>
            </a:avLst>
          </a:prstGeom>
          <a:solidFill>
            <a:srgbClr val="FCC917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cxnSp>
        <p:nvCxnSpPr>
          <p:cNvPr id="7" name="Прямая со стрелкой 6"/>
          <p:cNvCxnSpPr>
            <a:stCxn id="6" idx="3"/>
          </p:cNvCxnSpPr>
          <p:nvPr/>
        </p:nvCxnSpPr>
        <p:spPr>
          <a:xfrm>
            <a:off x="5735629" y="3280894"/>
            <a:ext cx="2045083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 стрелкой 7"/>
          <p:cNvCxnSpPr>
            <a:endCxn id="6" idx="1"/>
          </p:cNvCxnSpPr>
          <p:nvPr/>
        </p:nvCxnSpPr>
        <p:spPr>
          <a:xfrm flipV="1">
            <a:off x="1127883" y="3280894"/>
            <a:ext cx="2111432" cy="17243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233650" y="2138245"/>
            <a:ext cx="2496313" cy="2319785"/>
          </a:xfrm>
          <a:prstGeom prst="rect">
            <a:avLst/>
          </a:prstGeom>
          <a:noFill/>
        </p:spPr>
        <p:txBody>
          <a:bodyPr wrap="square" rtlCol="0" anchor="ctr" anchorCtr="1">
            <a:no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Проверка выполнения заявки НСИ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16552" y="2369404"/>
            <a:ext cx="211143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/>
              <a:t>Оповещение о выполнении заявки НСИ/ анализ отклоненной заявки НСИ</a:t>
            </a:r>
            <a:endParaRPr lang="ru-RU" sz="1400" dirty="0"/>
          </a:p>
        </p:txBody>
      </p:sp>
      <p:sp>
        <p:nvSpPr>
          <p:cNvPr id="16" name="TextBox 15"/>
          <p:cNvSpPr txBox="1"/>
          <p:nvPr/>
        </p:nvSpPr>
        <p:spPr>
          <a:xfrm>
            <a:off x="5729963" y="2719202"/>
            <a:ext cx="17207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/>
              <a:t>Подтверждение выполнения заявки</a:t>
            </a:r>
            <a:endParaRPr lang="ru-RU" sz="1400" dirty="0"/>
          </a:p>
        </p:txBody>
      </p:sp>
      <p:sp>
        <p:nvSpPr>
          <p:cNvPr id="17" name="TextBox 16"/>
          <p:cNvSpPr txBox="1"/>
          <p:nvPr/>
        </p:nvSpPr>
        <p:spPr>
          <a:xfrm>
            <a:off x="586047" y="4534974"/>
            <a:ext cx="817972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После получения оповещения по  почте о выполнении заявки НСИ, Инициатор просматривает  коды/группы кодов и производит проверку выполненных изменений в </a:t>
            </a:r>
            <a:r>
              <a:rPr lang="en-US" dirty="0" smtClean="0"/>
              <a:t>SAP</a:t>
            </a:r>
            <a:r>
              <a:rPr lang="ru-RU" dirty="0" smtClean="0"/>
              <a:t>, после чего подтверждает выполнение заявки НСИ. В случае обнаружения, </a:t>
            </a:r>
            <a:r>
              <a:rPr lang="ru-RU" dirty="0"/>
              <a:t>при выполнении шага «Проверка заявки НСИ на ошибки»</a:t>
            </a:r>
            <a:r>
              <a:rPr lang="ru-RU" dirty="0" smtClean="0"/>
              <a:t> в заявке НСИ ранее созданных кодов/групп кодов, то производит подтверждение выполнения заявки. </a:t>
            </a:r>
            <a:r>
              <a:rPr lang="ru-RU" dirty="0"/>
              <a:t>Подробно процесс </a:t>
            </a:r>
            <a:r>
              <a:rPr lang="ru-RU" dirty="0" smtClean="0"/>
              <a:t>работы </a:t>
            </a:r>
            <a:r>
              <a:rPr lang="en-US" dirty="0"/>
              <a:t>c </a:t>
            </a:r>
            <a:r>
              <a:rPr lang="ru-RU" dirty="0" smtClean="0"/>
              <a:t>заявками НСИ </a:t>
            </a:r>
            <a:r>
              <a:rPr lang="ru-RU" dirty="0"/>
              <a:t>описан в </a:t>
            </a:r>
            <a:r>
              <a:rPr lang="ru-RU" dirty="0">
                <a:hlinkClick r:id="rId2" action="ppaction://hlinksldjump"/>
              </a:rPr>
              <a:t>«Инструкции </a:t>
            </a:r>
            <a:r>
              <a:rPr lang="en-US" dirty="0" err="1">
                <a:hlinkClick r:id="rId2" action="ppaction://hlinksldjump"/>
              </a:rPr>
              <a:t>Naumen</a:t>
            </a:r>
            <a:r>
              <a:rPr lang="en-US" dirty="0">
                <a:hlinkClick r:id="rId2" action="ppaction://hlinksldjump"/>
              </a:rPr>
              <a:t> SD</a:t>
            </a:r>
            <a:r>
              <a:rPr lang="ru-RU" dirty="0">
                <a:hlinkClick r:id="rId2" action="ppaction://hlinksldjump"/>
              </a:rPr>
              <a:t>».</a:t>
            </a:r>
            <a:endParaRPr lang="ru-RU" dirty="0"/>
          </a:p>
          <a:p>
            <a:endParaRPr lang="ru-RU" dirty="0" smtClean="0"/>
          </a:p>
        </p:txBody>
      </p:sp>
    </p:spTree>
    <p:extLst>
      <p:ext uri="{BB962C8B-B14F-4D97-AF65-F5344CB8AC3E}">
        <p14:creationId xmlns:p14="http://schemas.microsoft.com/office/powerpoint/2010/main" val="410902703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01" y="469231"/>
            <a:ext cx="7927975" cy="410926"/>
          </a:xfrm>
        </p:spPr>
        <p:txBody>
          <a:bodyPr/>
          <a:lstStyle/>
          <a:p>
            <a:r>
              <a:rPr lang="ru-RU" sz="2000" dirty="0"/>
              <a:t>В</a:t>
            </a:r>
            <a:r>
              <a:rPr lang="ru-RU" sz="2000" dirty="0" smtClean="0"/>
              <a:t>едение </a:t>
            </a:r>
            <a:r>
              <a:rPr lang="ru-RU" sz="2000" dirty="0"/>
              <a:t>каталога кодов </a:t>
            </a:r>
            <a:r>
              <a:rPr lang="ru-RU" sz="2000" dirty="0" smtClean="0"/>
              <a:t>ТОРО</a:t>
            </a:r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cxnSp>
        <p:nvCxnSpPr>
          <p:cNvPr id="43" name="Соединительная линия уступом 42"/>
          <p:cNvCxnSpPr>
            <a:stCxn id="36" idx="2"/>
            <a:endCxn id="39" idx="0"/>
          </p:cNvCxnSpPr>
          <p:nvPr/>
        </p:nvCxnSpPr>
        <p:spPr>
          <a:xfrm rot="16200000" flipH="1">
            <a:off x="683916" y="3069877"/>
            <a:ext cx="1298239" cy="5311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Соединительная линия уступом 57"/>
          <p:cNvCxnSpPr>
            <a:stCxn id="39" idx="3"/>
            <a:endCxn id="45" idx="1"/>
          </p:cNvCxnSpPr>
          <p:nvPr/>
        </p:nvCxnSpPr>
        <p:spPr>
          <a:xfrm>
            <a:off x="2210490" y="4177492"/>
            <a:ext cx="371688" cy="3091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Соединительная линия уступом 134"/>
          <p:cNvCxnSpPr>
            <a:stCxn id="45" idx="2"/>
            <a:endCxn id="67" idx="1"/>
          </p:cNvCxnSpPr>
          <p:nvPr/>
        </p:nvCxnSpPr>
        <p:spPr>
          <a:xfrm rot="16200000" flipH="1">
            <a:off x="2877156" y="5163478"/>
            <a:ext cx="1284481" cy="230368"/>
          </a:xfrm>
          <a:prstGeom prst="bentConnector2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Соединительная линия уступом 154"/>
          <p:cNvCxnSpPr>
            <a:stCxn id="45" idx="0"/>
            <a:endCxn id="44" idx="2"/>
          </p:cNvCxnSpPr>
          <p:nvPr/>
        </p:nvCxnSpPr>
        <p:spPr>
          <a:xfrm rot="16200000" flipV="1">
            <a:off x="2803503" y="3124034"/>
            <a:ext cx="1201419" cy="1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Соединительная линия уступом 156"/>
          <p:cNvCxnSpPr>
            <a:stCxn id="67" idx="0"/>
            <a:endCxn id="45" idx="3"/>
          </p:cNvCxnSpPr>
          <p:nvPr/>
        </p:nvCxnSpPr>
        <p:spPr>
          <a:xfrm rot="16200000" flipV="1">
            <a:off x="3660756" y="4746073"/>
            <a:ext cx="1284481" cy="153502"/>
          </a:xfrm>
          <a:prstGeom prst="bentConnector2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Соединительная линия уступом 160"/>
          <p:cNvCxnSpPr>
            <a:stCxn id="67" idx="3"/>
            <a:endCxn id="82" idx="1"/>
          </p:cNvCxnSpPr>
          <p:nvPr/>
        </p:nvCxnSpPr>
        <p:spPr>
          <a:xfrm flipV="1">
            <a:off x="5124913" y="4802329"/>
            <a:ext cx="230368" cy="1118574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Соединительная линия уступом 163"/>
          <p:cNvCxnSpPr>
            <a:stCxn id="67" idx="3"/>
            <a:endCxn id="81" idx="1"/>
          </p:cNvCxnSpPr>
          <p:nvPr/>
        </p:nvCxnSpPr>
        <p:spPr>
          <a:xfrm flipV="1">
            <a:off x="5124913" y="3493385"/>
            <a:ext cx="230175" cy="2427518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Соединительная линия уступом 233"/>
          <p:cNvCxnSpPr>
            <a:stCxn id="82" idx="3"/>
            <a:endCxn id="110" idx="1"/>
          </p:cNvCxnSpPr>
          <p:nvPr/>
        </p:nvCxnSpPr>
        <p:spPr>
          <a:xfrm flipV="1">
            <a:off x="7094258" y="4168365"/>
            <a:ext cx="372976" cy="633964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Соединительная линия уступом 235"/>
          <p:cNvCxnSpPr>
            <a:stCxn id="81" idx="3"/>
            <a:endCxn id="110" idx="1"/>
          </p:cNvCxnSpPr>
          <p:nvPr/>
        </p:nvCxnSpPr>
        <p:spPr>
          <a:xfrm>
            <a:off x="7094065" y="3493385"/>
            <a:ext cx="373169" cy="674980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Соединительная линия уступом 238"/>
          <p:cNvCxnSpPr>
            <a:stCxn id="44" idx="3"/>
            <a:endCxn id="83" idx="1"/>
          </p:cNvCxnSpPr>
          <p:nvPr/>
        </p:nvCxnSpPr>
        <p:spPr>
          <a:xfrm>
            <a:off x="4226245" y="1953230"/>
            <a:ext cx="3231539" cy="12700"/>
          </a:xfrm>
          <a:prstGeom prst="bentConnector3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Скругленный прямоугольник 311">
            <a:extLst>
              <a:ext uri="{FF2B5EF4-FFF2-40B4-BE49-F238E27FC236}">
                <a16:creationId xmlns:a16="http://schemas.microsoft.com/office/drawing/2014/main" xmlns="" id="{6B94761C-2B1A-43FF-9AEA-440BE2A8FCFD}"/>
              </a:ext>
            </a:extLst>
          </p:cNvPr>
          <p:cNvSpPr/>
          <p:nvPr/>
        </p:nvSpPr>
        <p:spPr>
          <a:xfrm rot="16200000">
            <a:off x="3646547" y="-2454625"/>
            <a:ext cx="1877880" cy="8918906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1200" b="1" dirty="0" smtClean="0">
                <a:solidFill>
                  <a:srgbClr val="595959"/>
                </a:solidFill>
                <a:cs typeface="Arial" panose="020B0604020202020204" pitchFamily="34" charset="0"/>
              </a:rPr>
              <a:t>Инициатор заявки НСИ</a:t>
            </a:r>
            <a:endParaRPr lang="ru-RU" sz="1200" b="1" dirty="0">
              <a:solidFill>
                <a:srgbClr val="595959"/>
              </a:solidFill>
              <a:cs typeface="Arial" panose="020B0604020202020204" pitchFamily="34" charset="0"/>
            </a:endParaRPr>
          </a:p>
        </p:txBody>
      </p:sp>
      <p:sp>
        <p:nvSpPr>
          <p:cNvPr id="34" name="Скругленный прямоугольник 311">
            <a:extLst>
              <a:ext uri="{FF2B5EF4-FFF2-40B4-BE49-F238E27FC236}">
                <a16:creationId xmlns:a16="http://schemas.microsoft.com/office/drawing/2014/main" xmlns="" id="{6B94761C-2B1A-43FF-9AEA-440BE2A8FCFD}"/>
              </a:ext>
            </a:extLst>
          </p:cNvPr>
          <p:cNvSpPr/>
          <p:nvPr/>
        </p:nvSpPr>
        <p:spPr>
          <a:xfrm rot="16200000">
            <a:off x="3480815" y="-291085"/>
            <a:ext cx="2209348" cy="8918902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1200" b="1" dirty="0" smtClean="0">
                <a:solidFill>
                  <a:srgbClr val="595959"/>
                </a:solidFill>
                <a:cs typeface="Arial" panose="020B0604020202020204" pitchFamily="34" charset="0"/>
              </a:rPr>
              <a:t>Технический специалист НСИ</a:t>
            </a:r>
            <a:endParaRPr lang="ru-RU" sz="1200" b="1" dirty="0">
              <a:solidFill>
                <a:srgbClr val="595959"/>
              </a:solidFill>
              <a:cs typeface="Arial" panose="020B0604020202020204" pitchFamily="34" charset="0"/>
            </a:endParaRPr>
          </a:p>
        </p:txBody>
      </p:sp>
      <p:sp>
        <p:nvSpPr>
          <p:cNvPr id="35" name="Скругленный прямоугольник 311">
            <a:extLst>
              <a:ext uri="{FF2B5EF4-FFF2-40B4-BE49-F238E27FC236}">
                <a16:creationId xmlns:a16="http://schemas.microsoft.com/office/drawing/2014/main" xmlns="" id="{6B94761C-2B1A-43FF-9AEA-440BE2A8FCFD}"/>
              </a:ext>
            </a:extLst>
          </p:cNvPr>
          <p:cNvSpPr/>
          <p:nvPr/>
        </p:nvSpPr>
        <p:spPr>
          <a:xfrm rot="16200000">
            <a:off x="4036684" y="1461451"/>
            <a:ext cx="1097607" cy="8918904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1200" b="1" dirty="0" smtClean="0">
                <a:solidFill>
                  <a:srgbClr val="595959"/>
                </a:solidFill>
                <a:cs typeface="Arial" panose="020B0604020202020204" pitchFamily="34" charset="0"/>
              </a:rPr>
              <a:t>Методолог </a:t>
            </a:r>
            <a:r>
              <a:rPr lang="ru-RU" sz="1200" b="1" dirty="0" err="1" smtClean="0">
                <a:solidFill>
                  <a:srgbClr val="595959"/>
                </a:solidFill>
                <a:cs typeface="Arial" panose="020B0604020202020204" pitchFamily="34" charset="0"/>
              </a:rPr>
              <a:t>ТОиР</a:t>
            </a:r>
            <a:endParaRPr lang="ru-RU" sz="1200" b="1" dirty="0" smtClean="0">
              <a:solidFill>
                <a:srgbClr val="595959"/>
              </a:solidFill>
              <a:cs typeface="Arial" panose="020B0604020202020204" pitchFamily="34" charset="0"/>
            </a:endParaRPr>
          </a:p>
          <a:p>
            <a:pPr algn="ctr"/>
            <a:r>
              <a:rPr lang="ru-RU" sz="1200" b="1" dirty="0" smtClean="0">
                <a:solidFill>
                  <a:srgbClr val="595959"/>
                </a:solidFill>
                <a:cs typeface="Arial" panose="020B0604020202020204" pitchFamily="34" charset="0"/>
              </a:rPr>
              <a:t>(Централизованный)</a:t>
            </a:r>
            <a:endParaRPr lang="ru-RU" sz="1200" b="1" dirty="0">
              <a:solidFill>
                <a:srgbClr val="595959"/>
              </a:solidFill>
              <a:cs typeface="Arial" panose="020B0604020202020204" pitchFamily="34" charset="0"/>
            </a:endParaRPr>
          </a:p>
        </p:txBody>
      </p:sp>
      <p:sp>
        <p:nvSpPr>
          <p:cNvPr id="36" name="Скругленный прямоугольник 35"/>
          <p:cNvSpPr/>
          <p:nvPr/>
        </p:nvSpPr>
        <p:spPr>
          <a:xfrm>
            <a:off x="460891" y="1511737"/>
            <a:ext cx="1738977" cy="911677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bg1"/>
                </a:solidFill>
                <a:cs typeface="Arial" panose="020B0604020202020204" pitchFamily="34" charset="0"/>
              </a:rPr>
              <a:t>Создание заявки НСИ</a:t>
            </a:r>
          </a:p>
        </p:txBody>
      </p:sp>
      <p:sp>
        <p:nvSpPr>
          <p:cNvPr id="39" name="Скругленный прямоугольник 38"/>
          <p:cNvSpPr/>
          <p:nvPr/>
        </p:nvSpPr>
        <p:spPr>
          <a:xfrm>
            <a:off x="460891" y="3721653"/>
            <a:ext cx="1749599" cy="911677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bg1"/>
                </a:solidFill>
                <a:cs typeface="Arial" panose="020B0604020202020204" pitchFamily="34" charset="0"/>
              </a:rPr>
              <a:t>Проверка на достаточность данных в заявке и созданных </a:t>
            </a:r>
            <a:r>
              <a:rPr lang="ru-RU" sz="1200" dirty="0" smtClean="0">
                <a:solidFill>
                  <a:schemeClr val="bg1"/>
                </a:solidFill>
                <a:cs typeface="Arial" panose="020B0604020202020204" pitchFamily="34" charset="0"/>
              </a:rPr>
              <a:t>каталогов кодов ТОРО </a:t>
            </a:r>
            <a:r>
              <a:rPr lang="ru-RU" sz="1200" dirty="0">
                <a:solidFill>
                  <a:schemeClr val="bg1"/>
                </a:solidFill>
                <a:cs typeface="Arial" panose="020B0604020202020204" pitchFamily="34" charset="0"/>
              </a:rPr>
              <a:t>в </a:t>
            </a:r>
            <a:r>
              <a:rPr lang="en-US" sz="1200" dirty="0">
                <a:solidFill>
                  <a:schemeClr val="bg1"/>
                </a:solidFill>
                <a:cs typeface="Arial" panose="020B0604020202020204" pitchFamily="34" charset="0"/>
              </a:rPr>
              <a:t>S4</a:t>
            </a:r>
            <a:r>
              <a:rPr lang="ru-RU" sz="1200" dirty="0">
                <a:solidFill>
                  <a:schemeClr val="bg1"/>
                </a:solidFill>
                <a:cs typeface="Arial" panose="020B0604020202020204" pitchFamily="34" charset="0"/>
              </a:rPr>
              <a:t>/</a:t>
            </a:r>
            <a:r>
              <a:rPr lang="en-US" sz="1200" dirty="0">
                <a:solidFill>
                  <a:schemeClr val="bg1"/>
                </a:solidFill>
                <a:cs typeface="Arial" panose="020B0604020202020204" pitchFamily="34" charset="0"/>
              </a:rPr>
              <a:t>HANA</a:t>
            </a:r>
            <a:endParaRPr lang="ru-RU" sz="12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44" name="Скругленный прямоугольник 43"/>
          <p:cNvSpPr/>
          <p:nvPr/>
        </p:nvSpPr>
        <p:spPr>
          <a:xfrm>
            <a:off x="2582177" y="1383135"/>
            <a:ext cx="1644068" cy="1140190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bg1"/>
                </a:solidFill>
                <a:cs typeface="Arial" panose="020B0604020202020204" pitchFamily="34" charset="0"/>
              </a:rPr>
              <a:t>Проверка заявки на ошибки и возможное дублирование каталогов </a:t>
            </a:r>
            <a:r>
              <a:rPr lang="ru-RU" sz="1200" dirty="0" smtClean="0">
                <a:solidFill>
                  <a:schemeClr val="bg1"/>
                </a:solidFill>
                <a:cs typeface="Arial" panose="020B0604020202020204" pitchFamily="34" charset="0"/>
              </a:rPr>
              <a:t>кодов ТОРО </a:t>
            </a:r>
            <a:r>
              <a:rPr lang="ru-RU" sz="1200" dirty="0">
                <a:solidFill>
                  <a:schemeClr val="bg1"/>
                </a:solidFill>
                <a:cs typeface="Arial" panose="020B0604020202020204" pitchFamily="34" charset="0"/>
              </a:rPr>
              <a:t>в </a:t>
            </a:r>
            <a:r>
              <a:rPr lang="en-US" sz="1200" dirty="0">
                <a:solidFill>
                  <a:schemeClr val="bg1"/>
                </a:solidFill>
                <a:cs typeface="Arial" panose="020B0604020202020204" pitchFamily="34" charset="0"/>
              </a:rPr>
              <a:t>S4</a:t>
            </a:r>
            <a:r>
              <a:rPr lang="ru-RU" sz="1200" dirty="0">
                <a:solidFill>
                  <a:schemeClr val="bg1"/>
                </a:solidFill>
                <a:cs typeface="Arial" panose="020B0604020202020204" pitchFamily="34" charset="0"/>
              </a:rPr>
              <a:t>/</a:t>
            </a:r>
            <a:r>
              <a:rPr lang="en-US" sz="1200" dirty="0">
                <a:solidFill>
                  <a:schemeClr val="bg1"/>
                </a:solidFill>
                <a:cs typeface="Arial" panose="020B0604020202020204" pitchFamily="34" charset="0"/>
              </a:rPr>
              <a:t>HANA</a:t>
            </a:r>
            <a:endParaRPr lang="ru-RU" sz="12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45" name="Скругленный прямоугольник 44"/>
          <p:cNvSpPr/>
          <p:nvPr/>
        </p:nvSpPr>
        <p:spPr>
          <a:xfrm>
            <a:off x="2582178" y="3724744"/>
            <a:ext cx="1644067" cy="911678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cs typeface="Arial" panose="020B0604020202020204" pitchFamily="34" charset="0"/>
              </a:rPr>
              <a:t>Согласование наряда Техническим специалистом НСИ</a:t>
            </a:r>
          </a:p>
        </p:txBody>
      </p:sp>
      <p:sp>
        <p:nvSpPr>
          <p:cNvPr id="67" name="Скругленный прямоугольник 66"/>
          <p:cNvSpPr/>
          <p:nvPr/>
        </p:nvSpPr>
        <p:spPr>
          <a:xfrm>
            <a:off x="3634580" y="5465064"/>
            <a:ext cx="1490333" cy="911677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cs typeface="Arial" panose="020B0604020202020204" pitchFamily="34" charset="0"/>
              </a:rPr>
              <a:t>Согласование наряда Методологом </a:t>
            </a:r>
          </a:p>
        </p:txBody>
      </p:sp>
      <p:sp>
        <p:nvSpPr>
          <p:cNvPr id="81" name="Скругленный прямоугольник 80"/>
          <p:cNvSpPr/>
          <p:nvPr/>
        </p:nvSpPr>
        <p:spPr>
          <a:xfrm>
            <a:off x="5355088" y="3270634"/>
            <a:ext cx="1738977" cy="445501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200" dirty="0">
                <a:cs typeface="Arial" panose="020B0604020202020204" pitchFamily="34" charset="0"/>
              </a:rPr>
              <a:t>Создание каталога </a:t>
            </a:r>
            <a:r>
              <a:rPr lang="ru-RU" sz="1200" dirty="0" smtClean="0">
                <a:cs typeface="Arial" panose="020B0604020202020204" pitchFamily="34" charset="0"/>
              </a:rPr>
              <a:t>кодов ТОРО</a:t>
            </a:r>
            <a:endParaRPr lang="ru-RU" sz="1200" dirty="0">
              <a:cs typeface="Arial" panose="020B0604020202020204" pitchFamily="34" charset="0"/>
            </a:endParaRPr>
          </a:p>
        </p:txBody>
      </p:sp>
      <p:sp>
        <p:nvSpPr>
          <p:cNvPr id="82" name="Скругленный прямоугольник 81"/>
          <p:cNvSpPr/>
          <p:nvPr/>
        </p:nvSpPr>
        <p:spPr>
          <a:xfrm>
            <a:off x="5355281" y="4579578"/>
            <a:ext cx="1738977" cy="445501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200" dirty="0">
                <a:cs typeface="Arial" panose="020B0604020202020204" pitchFamily="34" charset="0"/>
              </a:rPr>
              <a:t>Изменение каталога </a:t>
            </a:r>
            <a:r>
              <a:rPr lang="ru-RU" sz="1200" dirty="0" smtClean="0">
                <a:cs typeface="Arial" panose="020B0604020202020204" pitchFamily="34" charset="0"/>
              </a:rPr>
              <a:t>кодов ТОРО</a:t>
            </a:r>
            <a:endParaRPr lang="ru-RU" sz="1200" dirty="0">
              <a:cs typeface="Arial" panose="020B0604020202020204" pitchFamily="34" charset="0"/>
            </a:endParaRPr>
          </a:p>
        </p:txBody>
      </p:sp>
      <p:sp>
        <p:nvSpPr>
          <p:cNvPr id="83" name="Скругленный прямоугольник 82"/>
          <p:cNvSpPr/>
          <p:nvPr/>
        </p:nvSpPr>
        <p:spPr>
          <a:xfrm>
            <a:off x="7457784" y="1416476"/>
            <a:ext cx="1469183" cy="1073507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bg1"/>
                </a:solidFill>
                <a:cs typeface="Arial" panose="020B0604020202020204" pitchFamily="34" charset="0"/>
              </a:rPr>
              <a:t>Проверка и подтверждение выполнения заявки </a:t>
            </a:r>
          </a:p>
        </p:txBody>
      </p:sp>
      <p:sp>
        <p:nvSpPr>
          <p:cNvPr id="110" name="Скругленный прямоугольник 109"/>
          <p:cNvSpPr/>
          <p:nvPr/>
        </p:nvSpPr>
        <p:spPr>
          <a:xfrm>
            <a:off x="7467234" y="3803622"/>
            <a:ext cx="1469183" cy="729486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cs typeface="Arial" panose="020B0604020202020204" pitchFamily="34" charset="0"/>
              </a:rPr>
              <a:t>Оповещение инициатора о выполнении заявки НСИ</a:t>
            </a:r>
          </a:p>
        </p:txBody>
      </p:sp>
      <p:cxnSp>
        <p:nvCxnSpPr>
          <p:cNvPr id="139" name="Соединительная линия уступом 138"/>
          <p:cNvCxnSpPr>
            <a:stCxn id="110" idx="0"/>
            <a:endCxn id="83" idx="2"/>
          </p:cNvCxnSpPr>
          <p:nvPr/>
        </p:nvCxnSpPr>
        <p:spPr>
          <a:xfrm rot="16200000" flipV="1">
            <a:off x="7540282" y="3142078"/>
            <a:ext cx="1313639" cy="9450"/>
          </a:xfrm>
          <a:prstGeom prst="bentConnector3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6539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 smtClean="0"/>
              <a:t>Описание </a:t>
            </a:r>
            <a:r>
              <a:rPr lang="ru-RU" sz="2000" dirty="0"/>
              <a:t>шага «Проверка на достаточность данных в </a:t>
            </a:r>
            <a:r>
              <a:rPr lang="ru-RU" sz="2000" dirty="0" smtClean="0"/>
              <a:t>заявке НСИ»</a:t>
            </a:r>
            <a:endParaRPr lang="ru-RU"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487680" y="1181100"/>
            <a:ext cx="8122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Данный шаг выполняется после получения заявки НСИ в формате </a:t>
            </a:r>
            <a:r>
              <a:rPr lang="en-US" dirty="0" smtClean="0"/>
              <a:t>Excel</a:t>
            </a:r>
            <a:r>
              <a:rPr lang="ru-RU" dirty="0" smtClean="0"/>
              <a:t> файла</a:t>
            </a:r>
            <a:endParaRPr lang="ru-RU" dirty="0"/>
          </a:p>
        </p:txBody>
      </p:sp>
      <p:grpSp>
        <p:nvGrpSpPr>
          <p:cNvPr id="5" name="Группа 4"/>
          <p:cNvGrpSpPr/>
          <p:nvPr/>
        </p:nvGrpSpPr>
        <p:grpSpPr>
          <a:xfrm>
            <a:off x="3439402" y="2157783"/>
            <a:ext cx="2496314" cy="2319786"/>
            <a:chOff x="2311907" y="846559"/>
            <a:chExt cx="1343033" cy="992604"/>
          </a:xfrm>
        </p:grpSpPr>
        <p:sp>
          <p:nvSpPr>
            <p:cNvPr id="6" name="Скругленный прямоугольник 5"/>
            <p:cNvSpPr/>
            <p:nvPr/>
          </p:nvSpPr>
          <p:spPr>
            <a:xfrm>
              <a:off x="2311907" y="846559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 smtClean="0">
                  <a:solidFill>
                    <a:schemeClr val="bg1"/>
                  </a:solidFill>
                </a:rPr>
                <a:t>Проверяются данные в заявке НСИ и анализируются ранее созданные каталоги кодов ТОРО</a:t>
              </a:r>
              <a:endParaRPr lang="ru-RU" sz="1600" kern="12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8" name="Прямая со стрелкой 7"/>
          <p:cNvCxnSpPr>
            <a:endCxn id="6" idx="1"/>
          </p:cNvCxnSpPr>
          <p:nvPr/>
        </p:nvCxnSpPr>
        <p:spPr>
          <a:xfrm>
            <a:off x="1195644" y="3317674"/>
            <a:ext cx="2243759" cy="1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 стрелкой 8"/>
          <p:cNvCxnSpPr>
            <a:stCxn id="6" idx="3"/>
          </p:cNvCxnSpPr>
          <p:nvPr/>
        </p:nvCxnSpPr>
        <p:spPr>
          <a:xfrm flipV="1">
            <a:off x="5935716" y="3317674"/>
            <a:ext cx="2144255" cy="2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87680" y="4613456"/>
            <a:ext cx="812292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/>
              <a:t>Если в заявке НСИ указано недостаточно данных для создания/изменения </a:t>
            </a:r>
            <a:r>
              <a:rPr lang="ru-RU" sz="1600" dirty="0"/>
              <a:t>к</a:t>
            </a:r>
            <a:r>
              <a:rPr lang="ru-RU" sz="1600" dirty="0" smtClean="0"/>
              <a:t>аталога кодов ТОРО или каталог кодов уже был создан ранее, то данные позиции заявки отклоняются. В случае, если данные в заявке НСИ указаны корректно, то Технический специалист НСИ отправляет заявку на согласование Методологу </a:t>
            </a:r>
            <a:r>
              <a:rPr lang="ru-RU" sz="1600" dirty="0" err="1" smtClean="0"/>
              <a:t>ТОиР</a:t>
            </a:r>
            <a:r>
              <a:rPr lang="ru-RU" sz="1600" dirty="0" smtClean="0"/>
              <a:t>. В случае если заявка была отклонена Методологом </a:t>
            </a:r>
            <a:r>
              <a:rPr lang="ru-RU" sz="1600" dirty="0" err="1" smtClean="0"/>
              <a:t>ТОиР</a:t>
            </a:r>
            <a:r>
              <a:rPr lang="ru-RU" sz="1600" dirty="0" smtClean="0"/>
              <a:t>, Технический специалист НСИ возвращает заявку НСИ Инициатору заявки на доработку</a:t>
            </a:r>
            <a:r>
              <a:rPr lang="ru-RU" sz="1600" dirty="0"/>
              <a:t>. Подробно </a:t>
            </a:r>
            <a:r>
              <a:rPr lang="ru-RU" sz="1600" dirty="0" smtClean="0"/>
              <a:t>процесс работы </a:t>
            </a:r>
            <a:r>
              <a:rPr lang="en-US" sz="1600" dirty="0"/>
              <a:t>c </a:t>
            </a:r>
            <a:r>
              <a:rPr lang="ru-RU" sz="1600" dirty="0" smtClean="0"/>
              <a:t>заявками НСИ </a:t>
            </a:r>
            <a:r>
              <a:rPr lang="ru-RU" sz="1600" dirty="0"/>
              <a:t>описан в </a:t>
            </a:r>
            <a:r>
              <a:rPr lang="ru-RU" sz="1600" dirty="0">
                <a:hlinkClick r:id="rId2" action="ppaction://hlinksldjump"/>
              </a:rPr>
              <a:t>«Инструкции </a:t>
            </a:r>
            <a:r>
              <a:rPr lang="en-US" sz="1600" dirty="0" err="1">
                <a:hlinkClick r:id="rId2" action="ppaction://hlinksldjump"/>
              </a:rPr>
              <a:t>Naumen</a:t>
            </a:r>
            <a:r>
              <a:rPr lang="en-US" sz="1600" dirty="0">
                <a:hlinkClick r:id="rId2" action="ppaction://hlinksldjump"/>
              </a:rPr>
              <a:t> SD</a:t>
            </a:r>
            <a:r>
              <a:rPr lang="ru-RU" sz="1600" dirty="0" smtClean="0">
                <a:hlinkClick r:id="rId2" action="ppaction://hlinksldjump"/>
              </a:rPr>
              <a:t>».</a:t>
            </a:r>
            <a:endParaRPr lang="ru-RU" sz="1600" dirty="0"/>
          </a:p>
        </p:txBody>
      </p:sp>
      <p:sp>
        <p:nvSpPr>
          <p:cNvPr id="16" name="TextBox 15"/>
          <p:cNvSpPr txBox="1"/>
          <p:nvPr/>
        </p:nvSpPr>
        <p:spPr>
          <a:xfrm>
            <a:off x="1380662" y="2732900"/>
            <a:ext cx="21287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/>
              <a:t>Получение заявки НСИ</a:t>
            </a:r>
            <a:endParaRPr lang="ru-RU" sz="1600" dirty="0"/>
          </a:p>
        </p:txBody>
      </p:sp>
      <p:sp>
        <p:nvSpPr>
          <p:cNvPr id="17" name="TextBox 16"/>
          <p:cNvSpPr txBox="1"/>
          <p:nvPr/>
        </p:nvSpPr>
        <p:spPr>
          <a:xfrm>
            <a:off x="5867007" y="2732900"/>
            <a:ext cx="23164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/>
              <a:t>Произведен анализ каталогов кодов ТОРО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326815716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 smtClean="0"/>
              <a:t>Описание </a:t>
            </a:r>
            <a:r>
              <a:rPr lang="ru-RU" sz="2000" dirty="0"/>
              <a:t>ш</a:t>
            </a:r>
            <a:r>
              <a:rPr lang="ru-RU" sz="2000" dirty="0" smtClean="0"/>
              <a:t>ага «Согласование заявки НСИ Методологом»</a:t>
            </a:r>
            <a:endParaRPr lang="ru-RU" sz="2000" dirty="0"/>
          </a:p>
        </p:txBody>
      </p:sp>
      <p:sp>
        <p:nvSpPr>
          <p:cNvPr id="5" name="TextBox 4"/>
          <p:cNvSpPr txBox="1"/>
          <p:nvPr/>
        </p:nvSpPr>
        <p:spPr>
          <a:xfrm>
            <a:off x="822960" y="1122218"/>
            <a:ext cx="73644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Данный шаг выполняется после проведения проверки заявки НСИ Техническим специалистом НСИ </a:t>
            </a:r>
          </a:p>
          <a:p>
            <a:endParaRPr lang="ru-RU" dirty="0"/>
          </a:p>
        </p:txBody>
      </p:sp>
      <p:grpSp>
        <p:nvGrpSpPr>
          <p:cNvPr id="6" name="Группа 5"/>
          <p:cNvGrpSpPr/>
          <p:nvPr/>
        </p:nvGrpSpPr>
        <p:grpSpPr>
          <a:xfrm>
            <a:off x="3439402" y="2157783"/>
            <a:ext cx="2496314" cy="2319786"/>
            <a:chOff x="2311907" y="846559"/>
            <a:chExt cx="1343033" cy="992604"/>
          </a:xfrm>
        </p:grpSpPr>
        <p:sp>
          <p:nvSpPr>
            <p:cNvPr id="7" name="Скругленный прямоугольник 6"/>
            <p:cNvSpPr/>
            <p:nvPr/>
          </p:nvSpPr>
          <p:spPr>
            <a:xfrm>
              <a:off x="2311907" y="846559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8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 smtClean="0">
                  <a:solidFill>
                    <a:schemeClr val="bg1"/>
                  </a:solidFill>
                </a:rPr>
                <a:t>Проверяются данные в заявке НСИ и анализируются ранее созданные каталоги кодов ТОРО</a:t>
              </a:r>
              <a:endParaRPr lang="ru-RU" sz="1600" kern="1200" dirty="0">
                <a:solidFill>
                  <a:schemeClr val="bg1"/>
                </a:solidFill>
              </a:endParaRP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763951" y="4589804"/>
            <a:ext cx="784721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Методолог </a:t>
            </a:r>
            <a:r>
              <a:rPr lang="ru-RU" dirty="0" err="1" smtClean="0"/>
              <a:t>ТОиР</a:t>
            </a:r>
            <a:r>
              <a:rPr lang="ru-RU" dirty="0" smtClean="0"/>
              <a:t>  анализирует каталоги кодов ТОРО и определяет необходимость создания новых кодов/групп кодов. В случае согласования Методологом </a:t>
            </a:r>
            <a:r>
              <a:rPr lang="ru-RU" dirty="0" err="1" smtClean="0"/>
              <a:t>ТОиР</a:t>
            </a:r>
            <a:r>
              <a:rPr lang="ru-RU" dirty="0" smtClean="0"/>
              <a:t> заявки НСИ, заявка отправляется Техническому специалисту для внесения изменений. Если заявка НСИ отклоняется Методологом, заявка с комментариями возвращается Техническому специалисту НСИ, для отправки Инициатору заявки. </a:t>
            </a:r>
            <a:r>
              <a:rPr lang="ru-RU" dirty="0"/>
              <a:t>Подробно процесс </a:t>
            </a:r>
            <a:r>
              <a:rPr lang="ru-RU" dirty="0" smtClean="0"/>
              <a:t>работы </a:t>
            </a:r>
            <a:r>
              <a:rPr lang="en-US" dirty="0"/>
              <a:t>c </a:t>
            </a:r>
            <a:r>
              <a:rPr lang="ru-RU" dirty="0" smtClean="0"/>
              <a:t>заявками НСИ </a:t>
            </a:r>
            <a:r>
              <a:rPr lang="ru-RU" dirty="0"/>
              <a:t>описан в </a:t>
            </a:r>
            <a:r>
              <a:rPr lang="ru-RU" dirty="0">
                <a:hlinkClick r:id="rId2" action="ppaction://hlinksldjump"/>
              </a:rPr>
              <a:t>«Инструкции </a:t>
            </a:r>
            <a:r>
              <a:rPr lang="en-US" dirty="0" err="1">
                <a:hlinkClick r:id="rId2" action="ppaction://hlinksldjump"/>
              </a:rPr>
              <a:t>Naumen</a:t>
            </a:r>
            <a:r>
              <a:rPr lang="en-US" dirty="0">
                <a:hlinkClick r:id="rId2" action="ppaction://hlinksldjump"/>
              </a:rPr>
              <a:t> SD</a:t>
            </a:r>
            <a:r>
              <a:rPr lang="ru-RU" dirty="0" smtClean="0">
                <a:hlinkClick r:id="rId2" action="ppaction://hlinksldjump"/>
              </a:rPr>
              <a:t>».</a:t>
            </a:r>
            <a:endParaRPr lang="ru-RU" dirty="0"/>
          </a:p>
        </p:txBody>
      </p:sp>
      <p:cxnSp>
        <p:nvCxnSpPr>
          <p:cNvPr id="10" name="Прямая со стрелкой 9"/>
          <p:cNvCxnSpPr>
            <a:stCxn id="7" idx="3"/>
          </p:cNvCxnSpPr>
          <p:nvPr/>
        </p:nvCxnSpPr>
        <p:spPr>
          <a:xfrm>
            <a:off x="5935716" y="3317676"/>
            <a:ext cx="1739568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 стрелкой 10"/>
          <p:cNvCxnSpPr>
            <a:endCxn id="7" idx="1"/>
          </p:cNvCxnSpPr>
          <p:nvPr/>
        </p:nvCxnSpPr>
        <p:spPr>
          <a:xfrm>
            <a:off x="1286947" y="3317676"/>
            <a:ext cx="2152455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378274" y="2579012"/>
            <a:ext cx="189530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/>
              <a:t>Заявка проверена Техническим специалистом НСИ</a:t>
            </a:r>
            <a:endParaRPr lang="ru-RU" sz="1400" dirty="0"/>
          </a:p>
        </p:txBody>
      </p:sp>
      <p:sp>
        <p:nvSpPr>
          <p:cNvPr id="19" name="TextBox 18"/>
          <p:cNvSpPr txBox="1"/>
          <p:nvPr/>
        </p:nvSpPr>
        <p:spPr>
          <a:xfrm>
            <a:off x="5996113" y="2579012"/>
            <a:ext cx="167917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/>
              <a:t>Заявка согласована/ заявка отклонена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708041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 smtClean="0"/>
              <a:t>Описание шага «Создание/изменение кодов/групп кодов» </a:t>
            </a:r>
          </a:p>
          <a:p>
            <a:endParaRPr lang="ru-RU" dirty="0"/>
          </a:p>
        </p:txBody>
      </p:sp>
      <p:sp>
        <p:nvSpPr>
          <p:cNvPr id="4" name="Скругленный прямоугольник 3"/>
          <p:cNvSpPr/>
          <p:nvPr/>
        </p:nvSpPr>
        <p:spPr>
          <a:xfrm>
            <a:off x="3239316" y="2588618"/>
            <a:ext cx="2496314" cy="2319786"/>
          </a:xfrm>
          <a:prstGeom prst="roundRect">
            <a:avLst>
              <a:gd name="adj" fmla="val 10000"/>
            </a:avLst>
          </a:prstGeom>
          <a:solidFill>
            <a:srgbClr val="FCC917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5" name="TextBox 4"/>
          <p:cNvSpPr txBox="1"/>
          <p:nvPr/>
        </p:nvSpPr>
        <p:spPr>
          <a:xfrm>
            <a:off x="3239316" y="2591554"/>
            <a:ext cx="2496314" cy="2219602"/>
          </a:xfrm>
          <a:prstGeom prst="rect">
            <a:avLst/>
          </a:prstGeom>
          <a:noFill/>
        </p:spPr>
        <p:txBody>
          <a:bodyPr wrap="square" lIns="108000" rIns="72000" rtlCol="0" anchor="ctr" anchorCtr="0">
            <a:noAutofit/>
          </a:bodyPr>
          <a:lstStyle/>
          <a:p>
            <a:pPr algn="ctr"/>
            <a:r>
              <a:rPr lang="ru-RU" dirty="0" smtClean="0">
                <a:solidFill>
                  <a:schemeClr val="bg1"/>
                </a:solidFill>
              </a:rPr>
              <a:t>Создание/изменение каталога кодов ТОРО</a:t>
            </a:r>
            <a:endParaRPr lang="ru-RU" dirty="0">
              <a:solidFill>
                <a:schemeClr val="bg1"/>
              </a:solidFill>
            </a:endParaRPr>
          </a:p>
        </p:txBody>
      </p:sp>
      <p:cxnSp>
        <p:nvCxnSpPr>
          <p:cNvPr id="6" name="Прямая со стрелкой 5"/>
          <p:cNvCxnSpPr>
            <a:endCxn id="4" idx="1"/>
          </p:cNvCxnSpPr>
          <p:nvPr/>
        </p:nvCxnSpPr>
        <p:spPr>
          <a:xfrm>
            <a:off x="1379220" y="3748511"/>
            <a:ext cx="18600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 стрелкой 6"/>
          <p:cNvCxnSpPr>
            <a:stCxn id="5" idx="3"/>
          </p:cNvCxnSpPr>
          <p:nvPr/>
        </p:nvCxnSpPr>
        <p:spPr>
          <a:xfrm>
            <a:off x="5735630" y="3701355"/>
            <a:ext cx="1930090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485961" y="2948291"/>
            <a:ext cx="164661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/>
              <a:t> </a:t>
            </a:r>
            <a:r>
              <a:rPr lang="ru-RU" sz="1400" dirty="0" smtClean="0"/>
              <a:t>Заявка НСИ согласована Методологом НСИ</a:t>
            </a:r>
            <a:endParaRPr lang="ru-RU" sz="1400" dirty="0"/>
          </a:p>
        </p:txBody>
      </p:sp>
      <p:sp>
        <p:nvSpPr>
          <p:cNvPr id="14" name="TextBox 13"/>
          <p:cNvSpPr txBox="1"/>
          <p:nvPr/>
        </p:nvSpPr>
        <p:spPr>
          <a:xfrm>
            <a:off x="5735630" y="3161783"/>
            <a:ext cx="20040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/>
              <a:t>Каталог кодов ТОРО создан/изменен</a:t>
            </a:r>
            <a:endParaRPr lang="ru-RU" sz="1400" dirty="0"/>
          </a:p>
        </p:txBody>
      </p:sp>
      <p:sp>
        <p:nvSpPr>
          <p:cNvPr id="15" name="TextBox 14"/>
          <p:cNvSpPr txBox="1"/>
          <p:nvPr/>
        </p:nvSpPr>
        <p:spPr>
          <a:xfrm>
            <a:off x="1474470" y="1210503"/>
            <a:ext cx="6568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Данный шаг выполняется после согласования заявки НСИ Методологом </a:t>
            </a:r>
            <a:r>
              <a:rPr lang="ru-RU" dirty="0" err="1" smtClean="0"/>
              <a:t>ТОиР</a:t>
            </a:r>
            <a:endParaRPr lang="ru-RU" dirty="0"/>
          </a:p>
        </p:txBody>
      </p:sp>
      <p:sp>
        <p:nvSpPr>
          <p:cNvPr id="16" name="TextBox 15"/>
          <p:cNvSpPr txBox="1"/>
          <p:nvPr/>
        </p:nvSpPr>
        <p:spPr>
          <a:xfrm>
            <a:off x="702425" y="5022681"/>
            <a:ext cx="778002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После</a:t>
            </a:r>
            <a:r>
              <a:rPr lang="en-US" dirty="0" smtClean="0"/>
              <a:t> </a:t>
            </a:r>
            <a:r>
              <a:rPr lang="ru-RU" dirty="0" smtClean="0"/>
              <a:t>после внесения изменений в </a:t>
            </a:r>
            <a:r>
              <a:rPr lang="en-US" dirty="0" smtClean="0"/>
              <a:t>SAP</a:t>
            </a:r>
            <a:r>
              <a:rPr lang="ru-RU" dirty="0" smtClean="0"/>
              <a:t>, Технический специалист НСИ устанавливает статус заявки «Выполнено» (вне системный шаг), после чего информирует Инициатора заявки НСИ по почте о внесении изменений в </a:t>
            </a:r>
            <a:r>
              <a:rPr lang="en-US" dirty="0" smtClean="0"/>
              <a:t>SAP</a:t>
            </a:r>
            <a:r>
              <a:rPr lang="ru-RU" dirty="0" smtClean="0"/>
              <a:t>. </a:t>
            </a:r>
            <a:r>
              <a:rPr lang="ru-RU" dirty="0"/>
              <a:t>Подробно процесс </a:t>
            </a:r>
            <a:r>
              <a:rPr lang="ru-RU" dirty="0" smtClean="0"/>
              <a:t>работы </a:t>
            </a:r>
            <a:r>
              <a:rPr lang="en-US" dirty="0"/>
              <a:t>c </a:t>
            </a:r>
            <a:r>
              <a:rPr lang="ru-RU" dirty="0" smtClean="0"/>
              <a:t>заявками НСИ </a:t>
            </a:r>
            <a:r>
              <a:rPr lang="ru-RU" dirty="0"/>
              <a:t>описан в </a:t>
            </a:r>
            <a:r>
              <a:rPr lang="ru-RU" dirty="0">
                <a:hlinkClick r:id="rId2" action="ppaction://hlinksldjump"/>
              </a:rPr>
              <a:t>«Инструкции </a:t>
            </a:r>
            <a:r>
              <a:rPr lang="en-US" dirty="0" err="1">
                <a:hlinkClick r:id="rId2" action="ppaction://hlinksldjump"/>
              </a:rPr>
              <a:t>Naumen</a:t>
            </a:r>
            <a:r>
              <a:rPr lang="en-US" dirty="0">
                <a:hlinkClick r:id="rId2" action="ppaction://hlinksldjump"/>
              </a:rPr>
              <a:t> SD</a:t>
            </a:r>
            <a:r>
              <a:rPr lang="ru-RU" dirty="0" smtClean="0">
                <a:hlinkClick r:id="rId2" action="ppaction://hlinksldjump"/>
              </a:rPr>
              <a:t>».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8698462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dirty="0" smtClean="0"/>
              <a:t>Описание шага «Проверка заявки НСИ на ошибки»</a:t>
            </a:r>
            <a:endParaRPr lang="ru-RU" dirty="0"/>
          </a:p>
        </p:txBody>
      </p:sp>
      <p:sp>
        <p:nvSpPr>
          <p:cNvPr id="2" name="TextBox 1"/>
          <p:cNvSpPr txBox="1"/>
          <p:nvPr/>
        </p:nvSpPr>
        <p:spPr>
          <a:xfrm>
            <a:off x="1005840" y="1263535"/>
            <a:ext cx="72902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Данный шаг выполняется после получения отклоненной заявки Техническим специалистом НСИ с комментариями.</a:t>
            </a:r>
            <a:endParaRPr lang="ru-RU" dirty="0"/>
          </a:p>
        </p:txBody>
      </p:sp>
      <p:sp>
        <p:nvSpPr>
          <p:cNvPr id="4" name="Скругленный прямоугольник 3"/>
          <p:cNvSpPr/>
          <p:nvPr/>
        </p:nvSpPr>
        <p:spPr>
          <a:xfrm>
            <a:off x="3290730" y="2169265"/>
            <a:ext cx="2496314" cy="2319786"/>
          </a:xfrm>
          <a:prstGeom prst="roundRect">
            <a:avLst>
              <a:gd name="adj" fmla="val 10000"/>
            </a:avLst>
          </a:prstGeom>
          <a:solidFill>
            <a:srgbClr val="FCC917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cxnSp>
        <p:nvCxnSpPr>
          <p:cNvPr id="5" name="Прямая со стрелкой 4"/>
          <p:cNvCxnSpPr>
            <a:endCxn id="8" idx="1"/>
          </p:cNvCxnSpPr>
          <p:nvPr/>
        </p:nvCxnSpPr>
        <p:spPr>
          <a:xfrm>
            <a:off x="1388168" y="3327610"/>
            <a:ext cx="1902562" cy="1548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Прямая со стрелкой 5"/>
          <p:cNvCxnSpPr>
            <a:stCxn id="8" idx="3"/>
          </p:cNvCxnSpPr>
          <p:nvPr/>
        </p:nvCxnSpPr>
        <p:spPr>
          <a:xfrm flipV="1">
            <a:off x="5785658" y="3327610"/>
            <a:ext cx="1931476" cy="1548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290730" y="2169265"/>
            <a:ext cx="2494928" cy="2319786"/>
          </a:xfrm>
          <a:prstGeom prst="rect">
            <a:avLst/>
          </a:prstGeom>
          <a:noFill/>
        </p:spPr>
        <p:txBody>
          <a:bodyPr wrap="square" rtlCol="0" anchor="ctr" anchorCtr="1">
            <a:noAutofit/>
          </a:bodyPr>
          <a:lstStyle/>
          <a:p>
            <a:pPr algn="ctr"/>
            <a:r>
              <a:rPr lang="ru-RU" dirty="0" smtClean="0">
                <a:solidFill>
                  <a:schemeClr val="bg1"/>
                </a:solidFill>
              </a:rPr>
              <a:t>Анализ отклоненной заявки НСИ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413875" y="2506148"/>
            <a:ext cx="179973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 smtClean="0"/>
              <a:t>Получение отклоненной заявки НСИ</a:t>
            </a:r>
            <a:endParaRPr lang="ru-RU" sz="1400" dirty="0"/>
          </a:p>
        </p:txBody>
      </p:sp>
      <p:sp>
        <p:nvSpPr>
          <p:cNvPr id="10" name="TextBox 9"/>
          <p:cNvSpPr txBox="1"/>
          <p:nvPr/>
        </p:nvSpPr>
        <p:spPr>
          <a:xfrm>
            <a:off x="5838458" y="2613870"/>
            <a:ext cx="18786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/>
              <a:t>Анализ произведен, ошибки исправлены</a:t>
            </a:r>
            <a:endParaRPr lang="ru-RU" sz="1400" dirty="0"/>
          </a:p>
        </p:txBody>
      </p:sp>
      <p:sp>
        <p:nvSpPr>
          <p:cNvPr id="11" name="TextBox 10"/>
          <p:cNvSpPr txBox="1"/>
          <p:nvPr/>
        </p:nvSpPr>
        <p:spPr>
          <a:xfrm>
            <a:off x="606829" y="4746902"/>
            <a:ext cx="808828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Если заявка была отклонена по причине ошибки или недостаточности данных, то Инициатор корректирует заявку и направляет в службу НСИ заявку повторно. Если заявку отклонили по причине того, что каталог кодов ТОРО уже был создан ранее, то Инициатор просматривает  каталоги кодов ТОРО и убеждается в этом, после чего переходит к следующему шагу.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869793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 smtClean="0"/>
              <a:t>Описание шага «Подтверждение выполнения заявки НСИ»</a:t>
            </a:r>
            <a:endParaRPr lang="ru-RU"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586047" y="996716"/>
            <a:ext cx="80051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Данный шаг выполняется в следующих случаях: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После уведомления Инициатора заявки НСИ о выполнении заявки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В случае обнаружения в отклоненной заявке ранее созданных каталогов кодов ТОРО</a:t>
            </a:r>
            <a:endParaRPr lang="ru-RU" dirty="0"/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3239315" y="2121001"/>
            <a:ext cx="2496314" cy="2319786"/>
          </a:xfrm>
          <a:prstGeom prst="roundRect">
            <a:avLst>
              <a:gd name="adj" fmla="val 10000"/>
            </a:avLst>
          </a:prstGeom>
          <a:solidFill>
            <a:srgbClr val="FCC917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cxnSp>
        <p:nvCxnSpPr>
          <p:cNvPr id="7" name="Прямая со стрелкой 6"/>
          <p:cNvCxnSpPr>
            <a:stCxn id="6" idx="3"/>
          </p:cNvCxnSpPr>
          <p:nvPr/>
        </p:nvCxnSpPr>
        <p:spPr>
          <a:xfrm>
            <a:off x="5735629" y="3280894"/>
            <a:ext cx="2045083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 стрелкой 7"/>
          <p:cNvCxnSpPr>
            <a:endCxn id="6" idx="1"/>
          </p:cNvCxnSpPr>
          <p:nvPr/>
        </p:nvCxnSpPr>
        <p:spPr>
          <a:xfrm flipV="1">
            <a:off x="1127883" y="3280894"/>
            <a:ext cx="2111432" cy="17243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233650" y="2138245"/>
            <a:ext cx="2496313" cy="2319785"/>
          </a:xfrm>
          <a:prstGeom prst="rect">
            <a:avLst/>
          </a:prstGeom>
          <a:noFill/>
        </p:spPr>
        <p:txBody>
          <a:bodyPr wrap="square" rtlCol="0" anchor="ctr" anchorCtr="1">
            <a:no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Проверка выполнения заявки НСИ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16552" y="2369404"/>
            <a:ext cx="211143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/>
              <a:t>Оповещение о выполнении заявки НСИ/ анализ отклоненной заявки НСИ</a:t>
            </a:r>
            <a:endParaRPr lang="ru-RU" sz="1400" dirty="0"/>
          </a:p>
        </p:txBody>
      </p:sp>
      <p:sp>
        <p:nvSpPr>
          <p:cNvPr id="16" name="TextBox 15"/>
          <p:cNvSpPr txBox="1"/>
          <p:nvPr/>
        </p:nvSpPr>
        <p:spPr>
          <a:xfrm>
            <a:off x="5729963" y="2719202"/>
            <a:ext cx="17207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/>
              <a:t>Подтверждение выполнения заявки</a:t>
            </a:r>
            <a:endParaRPr lang="ru-RU" sz="1400" dirty="0"/>
          </a:p>
        </p:txBody>
      </p:sp>
      <p:sp>
        <p:nvSpPr>
          <p:cNvPr id="17" name="TextBox 16"/>
          <p:cNvSpPr txBox="1"/>
          <p:nvPr/>
        </p:nvSpPr>
        <p:spPr>
          <a:xfrm>
            <a:off x="586047" y="4534974"/>
            <a:ext cx="817972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После получения оповещения по  почте о выполнении заявки НСИ, Инициатор просматривает  каталоги кодов ТОРО и производит проверку выполненных изменений в </a:t>
            </a:r>
            <a:r>
              <a:rPr lang="en-US" dirty="0" smtClean="0"/>
              <a:t>SAP</a:t>
            </a:r>
            <a:r>
              <a:rPr lang="ru-RU" dirty="0" smtClean="0"/>
              <a:t>, после чего подтверждает выполнение заявки НСИ. В случае обнаружения, </a:t>
            </a:r>
            <a:r>
              <a:rPr lang="ru-RU" dirty="0"/>
              <a:t>при выполнении шага «Проверка заявки НСИ на ошибки»</a:t>
            </a:r>
            <a:r>
              <a:rPr lang="ru-RU" dirty="0" smtClean="0"/>
              <a:t> в заявке НСИ ранее каталогов кодов, то производит подтверждение выполнения заявки. </a:t>
            </a:r>
            <a:r>
              <a:rPr lang="ru-RU" dirty="0"/>
              <a:t>Подробно процесс </a:t>
            </a:r>
            <a:r>
              <a:rPr lang="ru-RU" dirty="0" smtClean="0"/>
              <a:t>работы </a:t>
            </a:r>
            <a:r>
              <a:rPr lang="en-US" dirty="0"/>
              <a:t>c </a:t>
            </a:r>
            <a:r>
              <a:rPr lang="ru-RU" dirty="0" smtClean="0"/>
              <a:t>заявками НСИ </a:t>
            </a:r>
            <a:r>
              <a:rPr lang="ru-RU" dirty="0"/>
              <a:t>описан в </a:t>
            </a:r>
            <a:r>
              <a:rPr lang="ru-RU" dirty="0">
                <a:hlinkClick r:id="rId2" action="ppaction://hlinksldjump"/>
              </a:rPr>
              <a:t>«Инструкции </a:t>
            </a:r>
            <a:r>
              <a:rPr lang="en-US" dirty="0" err="1">
                <a:hlinkClick r:id="rId2" action="ppaction://hlinksldjump"/>
              </a:rPr>
              <a:t>Naumen</a:t>
            </a:r>
            <a:r>
              <a:rPr lang="en-US" dirty="0">
                <a:hlinkClick r:id="rId2" action="ppaction://hlinksldjump"/>
              </a:rPr>
              <a:t> SD</a:t>
            </a:r>
            <a:r>
              <a:rPr lang="ru-RU" dirty="0" smtClean="0">
                <a:hlinkClick r:id="rId2" action="ppaction://hlinksldjump"/>
              </a:rPr>
              <a:t>».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4831060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Ключевые транзакции</a:t>
            </a:r>
            <a:r>
              <a:rPr lang="en-US" sz="20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ru-RU" sz="20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курса</a:t>
            </a:r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3012595"/>
              </p:ext>
            </p:extLst>
          </p:nvPr>
        </p:nvGraphicFramePr>
        <p:xfrm>
          <a:off x="392744" y="1069456"/>
          <a:ext cx="8351206" cy="5422305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792391">
                  <a:extLst>
                    <a:ext uri="{9D8B030D-6E8A-4147-A177-3AD203B41FA5}">
                      <a16:colId xmlns:a16="http://schemas.microsoft.com/office/drawing/2014/main" xmlns="" val="2604700304"/>
                    </a:ext>
                  </a:extLst>
                </a:gridCol>
                <a:gridCol w="7558815">
                  <a:extLst>
                    <a:ext uri="{9D8B030D-6E8A-4147-A177-3AD203B41FA5}">
                      <a16:colId xmlns:a16="http://schemas.microsoft.com/office/drawing/2014/main" xmlns="" val="2796505780"/>
                    </a:ext>
                  </a:extLst>
                </a:gridCol>
              </a:tblGrid>
              <a:tr h="388194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№/П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Перечень</a:t>
                      </a:r>
                      <a:r>
                        <a:rPr lang="ru-RU" sz="1400" baseline="0" dirty="0" smtClean="0"/>
                        <a:t> ключевых транзакций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070584000"/>
                  </a:ext>
                </a:extLst>
              </a:tr>
              <a:tr h="75850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1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Ведение рабочих мест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IR01</a:t>
                      </a:r>
                      <a:r>
                        <a:rPr kumimoji="0" lang="ru-RU" sz="1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/</a:t>
                      </a:r>
                      <a:r>
                        <a:rPr kumimoji="0" lang="en-US" sz="1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IR02 –</a:t>
                      </a:r>
                      <a:r>
                        <a:rPr kumimoji="0" lang="ru-RU" sz="1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создание/изменение рабочих мест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CR05 – </a:t>
                      </a:r>
                      <a:r>
                        <a:rPr kumimoji="0" lang="ru-RU" sz="1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просмотр списком рабочих мест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547018079"/>
                  </a:ext>
                </a:extLst>
              </a:tr>
              <a:tr h="75565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2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Ведение точек измерения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IK01</a:t>
                      </a:r>
                      <a:r>
                        <a:rPr kumimoji="0" lang="ru-RU" sz="1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/</a:t>
                      </a:r>
                      <a:r>
                        <a:rPr kumimoji="0" lang="en-US" sz="1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IK02 –</a:t>
                      </a:r>
                      <a:r>
                        <a:rPr kumimoji="0" lang="ru-RU" sz="1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Создание/изменение точек измерения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IK07 – </a:t>
                      </a:r>
                      <a:r>
                        <a:rPr kumimoji="0" lang="ru-RU" sz="1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Просмотр списка точек измерения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545606660"/>
                  </a:ext>
                </a:extLst>
              </a:tr>
              <a:tr h="731821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3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Ведение документов измерения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IK</a:t>
                      </a:r>
                      <a:r>
                        <a:rPr kumimoji="0" lang="ru-RU" sz="1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11/</a:t>
                      </a:r>
                      <a:r>
                        <a:rPr kumimoji="0" lang="en-US" sz="1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IK</a:t>
                      </a:r>
                      <a:r>
                        <a:rPr kumimoji="0" lang="ru-RU" sz="1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12</a:t>
                      </a:r>
                      <a:r>
                        <a:rPr kumimoji="0" lang="en-US" sz="1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–</a:t>
                      </a:r>
                      <a:r>
                        <a:rPr kumimoji="0" lang="ru-RU" sz="1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создание/изменение документов измерения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ZPM_DOCIZM </a:t>
                      </a:r>
                      <a:r>
                        <a:rPr kumimoji="0" lang="en-US" sz="1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– </a:t>
                      </a:r>
                      <a:r>
                        <a:rPr kumimoji="0" lang="ru-RU" sz="1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Просмотр списка документов измерения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12521366"/>
                  </a:ext>
                </a:extLst>
              </a:tr>
              <a:tr h="731821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4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Ведение</a:t>
                      </a:r>
                      <a:r>
                        <a:rPr kumimoji="0" lang="en-US" sz="1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ru-RU" sz="1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технических мест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IL01</a:t>
                      </a:r>
                      <a:r>
                        <a:rPr kumimoji="0" lang="ru-RU" sz="1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/</a:t>
                      </a:r>
                      <a:r>
                        <a:rPr kumimoji="0" lang="en-US" sz="1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IL0</a:t>
                      </a:r>
                      <a:r>
                        <a:rPr kumimoji="0" lang="ru-RU" sz="1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</a:t>
                      </a:r>
                      <a:r>
                        <a:rPr kumimoji="0" lang="en-US" sz="1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–</a:t>
                      </a:r>
                      <a:r>
                        <a:rPr kumimoji="0" lang="ru-RU" sz="1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создание/изменение технических мест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IH06 – </a:t>
                      </a:r>
                      <a:r>
                        <a:rPr kumimoji="0" lang="ru-RU" sz="1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Просмотр списком технических мест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207450821"/>
                  </a:ext>
                </a:extLst>
              </a:tr>
              <a:tr h="731821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5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Ведение единиц оборудования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IE01</a:t>
                      </a:r>
                      <a:r>
                        <a:rPr kumimoji="0" lang="ru-RU" sz="1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/</a:t>
                      </a:r>
                      <a:r>
                        <a:rPr kumimoji="0" lang="en-US" sz="1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IE0</a:t>
                      </a:r>
                      <a:r>
                        <a:rPr kumimoji="0" lang="ru-RU" sz="1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</a:t>
                      </a:r>
                      <a:r>
                        <a:rPr kumimoji="0" lang="en-US" sz="1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–</a:t>
                      </a:r>
                      <a:r>
                        <a:rPr kumimoji="0" lang="ru-RU" sz="1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Создание/изменение</a:t>
                      </a:r>
                      <a:r>
                        <a:rPr kumimoji="0" lang="en-US" sz="1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ru-RU" sz="1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единиц оборудования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IH08</a:t>
                      </a:r>
                      <a:r>
                        <a:rPr kumimoji="0" lang="ru-RU" sz="1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– Просмотр списка единиц оборудования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032576410"/>
                  </a:ext>
                </a:extLst>
              </a:tr>
              <a:tr h="731821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6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Ведение каталога кодов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QS41 –</a:t>
                      </a:r>
                      <a:r>
                        <a:rPr kumimoji="0" lang="ru-RU" sz="1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Создание/изменение</a:t>
                      </a:r>
                      <a:r>
                        <a:rPr kumimoji="0" lang="en-US" sz="1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ru-RU" sz="1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каталога кодов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QS42 – </a:t>
                      </a:r>
                      <a:r>
                        <a:rPr kumimoji="0" lang="ru-RU" sz="1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Просмотр каталога кодов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486166101"/>
                  </a:ext>
                </a:extLst>
              </a:tr>
              <a:tr h="592677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7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Ведение каталога кодов ТОРО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OQN6 –</a:t>
                      </a:r>
                      <a:r>
                        <a:rPr kumimoji="0" lang="ru-RU" sz="1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Создание/изменение</a:t>
                      </a:r>
                      <a:r>
                        <a:rPr kumimoji="0" lang="en-US" sz="1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ru-RU" sz="1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каталога кодов</a:t>
                      </a:r>
                      <a:r>
                        <a:rPr kumimoji="0" lang="en-US" sz="1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ru-RU" sz="1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ТОРО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7268067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7031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dirty="0" smtClean="0"/>
              <a:t>Инструкции по работе с заявками НСИ в </a:t>
            </a:r>
            <a:r>
              <a:rPr lang="en-US" dirty="0" err="1" smtClean="0"/>
              <a:t>Naumen</a:t>
            </a:r>
            <a:r>
              <a:rPr lang="en-US" dirty="0" smtClean="0"/>
              <a:t> SD</a:t>
            </a:r>
            <a:endParaRPr lang="ru-RU" dirty="0"/>
          </a:p>
        </p:txBody>
      </p:sp>
      <p:graphicFrame>
        <p:nvGraphicFramePr>
          <p:cNvPr id="5" name="Объект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2891793"/>
              </p:ext>
            </p:extLst>
          </p:nvPr>
        </p:nvGraphicFramePr>
        <p:xfrm>
          <a:off x="5361043" y="2859578"/>
          <a:ext cx="2649290" cy="22353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3" name="Документ" showAsIcon="1" r:id="rId3" imgW="914400" imgH="771480" progId="Word.Document.12">
                  <p:embed/>
                </p:oleObj>
              </mc:Choice>
              <mc:Fallback>
                <p:oleObj name="Документ" showAsIcon="1" r:id="rId3" imgW="914400" imgH="77148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361043" y="2859578"/>
                        <a:ext cx="2649290" cy="223533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Объект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8149730"/>
              </p:ext>
            </p:extLst>
          </p:nvPr>
        </p:nvGraphicFramePr>
        <p:xfrm>
          <a:off x="1088969" y="2936466"/>
          <a:ext cx="2393398" cy="20065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4" name="Документ" showAsIcon="1" r:id="rId5" imgW="914400" imgH="771480" progId="Word.Document.12">
                  <p:embed/>
                </p:oleObj>
              </mc:Choice>
              <mc:Fallback>
                <p:oleObj name="Документ" showAsIcon="1" r:id="rId5" imgW="914400" imgH="77148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88969" y="2936466"/>
                        <a:ext cx="2393398" cy="200652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7001128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9903329750A3B44499F5D2E787C86944" ma:contentTypeVersion="0" ma:contentTypeDescription="Создание документа." ma:contentTypeScope="" ma:versionID="bb8435fbffccf5a4c924888fb1f4e1ba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76d57dbf9a77af284536b0872d26941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38B5284-4F25-453C-8235-20B9D019EAC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EA8D3441-DF26-4C7E-9641-F6E293897DF1}">
  <ds:schemaRefs>
    <ds:schemaRef ds:uri="http://purl.org/dc/terms/"/>
    <ds:schemaRef ds:uri="http://purl.org/dc/dcmitype/"/>
    <ds:schemaRef ds:uri="http://schemas.openxmlformats.org/package/2006/metadata/core-properties"/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F974C5F2-EB3C-42DA-802D-F2BCA964531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110465</TotalTime>
  <Words>5227</Words>
  <Application>Microsoft Office PowerPoint</Application>
  <PresentationFormat>Экран (4:3)</PresentationFormat>
  <Paragraphs>487</Paragraphs>
  <Slides>48</Slides>
  <Notes>8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48</vt:i4>
      </vt:variant>
    </vt:vector>
  </HeadingPairs>
  <TitlesOfParts>
    <vt:vector size="56" baseType="lpstr">
      <vt:lpstr>Arial</vt:lpstr>
      <vt:lpstr>Calibri</vt:lpstr>
      <vt:lpstr>Calibri Body</vt:lpstr>
      <vt:lpstr>Calibri Light</vt:lpstr>
      <vt:lpstr>Verdana</vt:lpstr>
      <vt:lpstr>Wingdings</vt:lpstr>
      <vt:lpstr>Тема Office</vt:lpstr>
      <vt:lpstr>Документ</vt:lpstr>
      <vt:lpstr>Инструктаж по функциональному направлению «ТОиР»</vt:lpstr>
      <vt:lpstr>Внедрение пилота и стабилизация</vt:lpstr>
      <vt:lpstr>Презентация PowerPoint</vt:lpstr>
      <vt:lpstr>Презентация PowerPoint</vt:lpstr>
      <vt:lpstr>Презентация PowerPoint</vt:lpstr>
      <vt:lpstr>Внедрение пилота и стабилизация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Tis</dc:creator>
  <cp:lastModifiedBy>Kalashnikova Ekaterina</cp:lastModifiedBy>
  <cp:revision>4405</cp:revision>
  <cp:lastPrinted>2018-04-09T09:22:20Z</cp:lastPrinted>
  <dcterms:created xsi:type="dcterms:W3CDTF">2015-07-14T13:53:28Z</dcterms:created>
  <dcterms:modified xsi:type="dcterms:W3CDTF">2020-11-16T04:43:29Z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NewReviewCycle">
    <vt:lpwstr/>
  </property>
  <property fmtid="{D5CDD505-2E9C-101B-9397-08002B2CF9AE}" pid="3" name="ContentTypeId">
    <vt:lpwstr>0x0101009903329750A3B44499F5D2E787C86944</vt:lpwstr>
  </property>
</Properties>
</file>